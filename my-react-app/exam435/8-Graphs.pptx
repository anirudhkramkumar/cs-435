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87"/>
  </p:notesMasterIdLst>
  <p:sldIdLst>
    <p:sldId id="257" r:id="rId2"/>
    <p:sldId id="511" r:id="rId3"/>
    <p:sldId id="522" r:id="rId4"/>
    <p:sldId id="519" r:id="rId5"/>
    <p:sldId id="520" r:id="rId6"/>
    <p:sldId id="521" r:id="rId7"/>
    <p:sldId id="518" r:id="rId8"/>
    <p:sldId id="384" r:id="rId9"/>
    <p:sldId id="380" r:id="rId10"/>
    <p:sldId id="369" r:id="rId11"/>
    <p:sldId id="342" r:id="rId12"/>
    <p:sldId id="383" r:id="rId13"/>
    <p:sldId id="382" r:id="rId14"/>
    <p:sldId id="343" r:id="rId15"/>
    <p:sldId id="513" r:id="rId16"/>
    <p:sldId id="344" r:id="rId17"/>
    <p:sldId id="514" r:id="rId18"/>
    <p:sldId id="516" r:id="rId19"/>
    <p:sldId id="517" r:id="rId20"/>
    <p:sldId id="515" r:id="rId21"/>
    <p:sldId id="512" r:id="rId22"/>
    <p:sldId id="348" r:id="rId23"/>
    <p:sldId id="350" r:id="rId24"/>
    <p:sldId id="349" r:id="rId25"/>
    <p:sldId id="351" r:id="rId26"/>
    <p:sldId id="352" r:id="rId27"/>
    <p:sldId id="354" r:id="rId28"/>
    <p:sldId id="355" r:id="rId29"/>
    <p:sldId id="356" r:id="rId30"/>
    <p:sldId id="357" r:id="rId31"/>
    <p:sldId id="358" r:id="rId32"/>
    <p:sldId id="359" r:id="rId33"/>
    <p:sldId id="360" r:id="rId34"/>
    <p:sldId id="361" r:id="rId35"/>
    <p:sldId id="362" r:id="rId36"/>
    <p:sldId id="363" r:id="rId37"/>
    <p:sldId id="364" r:id="rId38"/>
    <p:sldId id="365" r:id="rId39"/>
    <p:sldId id="385" r:id="rId40"/>
    <p:sldId id="367" r:id="rId41"/>
    <p:sldId id="375" r:id="rId42"/>
    <p:sldId id="376" r:id="rId43"/>
    <p:sldId id="377" r:id="rId44"/>
    <p:sldId id="378" r:id="rId45"/>
    <p:sldId id="379" r:id="rId46"/>
    <p:sldId id="374" r:id="rId47"/>
    <p:sldId id="263" r:id="rId48"/>
    <p:sldId id="280" r:id="rId49"/>
    <p:sldId id="293" r:id="rId50"/>
    <p:sldId id="287" r:id="rId51"/>
    <p:sldId id="288" r:id="rId52"/>
    <p:sldId id="289" r:id="rId53"/>
    <p:sldId id="386" r:id="rId54"/>
    <p:sldId id="294" r:id="rId55"/>
    <p:sldId id="297" r:id="rId56"/>
    <p:sldId id="298" r:id="rId57"/>
    <p:sldId id="301" r:id="rId58"/>
    <p:sldId id="304" r:id="rId59"/>
    <p:sldId id="305" r:id="rId60"/>
    <p:sldId id="322" r:id="rId61"/>
    <p:sldId id="310" r:id="rId62"/>
    <p:sldId id="311" r:id="rId63"/>
    <p:sldId id="314" r:id="rId64"/>
    <p:sldId id="317" r:id="rId65"/>
    <p:sldId id="318" r:id="rId66"/>
    <p:sldId id="323" r:id="rId67"/>
    <p:sldId id="325" r:id="rId68"/>
    <p:sldId id="284" r:id="rId69"/>
    <p:sldId id="328" r:id="rId70"/>
    <p:sldId id="329" r:id="rId71"/>
    <p:sldId id="330" r:id="rId72"/>
    <p:sldId id="331" r:id="rId73"/>
    <p:sldId id="332" r:id="rId74"/>
    <p:sldId id="333" r:id="rId75"/>
    <p:sldId id="334" r:id="rId76"/>
    <p:sldId id="335" r:id="rId77"/>
    <p:sldId id="336" r:id="rId78"/>
    <p:sldId id="337" r:id="rId79"/>
    <p:sldId id="338" r:id="rId80"/>
    <p:sldId id="339" r:id="rId81"/>
    <p:sldId id="340" r:id="rId82"/>
    <p:sldId id="533" r:id="rId83"/>
    <p:sldId id="534" r:id="rId84"/>
    <p:sldId id="535" r:id="rId85"/>
    <p:sldId id="261" r:id="rId86"/>
  </p:sldIdLst>
  <p:sldSz cx="12192000" cy="6858000"/>
  <p:notesSz cx="6858000" cy="9144000"/>
  <p:custDataLst>
    <p:tags r:id="rId8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D0FA2"/>
    <a:srgbClr val="D012C2"/>
    <a:srgbClr val="42B82E"/>
    <a:srgbClr val="66FF33"/>
    <a:srgbClr val="F0DCA7"/>
    <a:srgbClr val="B07852"/>
    <a:srgbClr val="F8B2F3"/>
    <a:srgbClr val="D4D4D6"/>
    <a:srgbClr val="F5C4CB"/>
    <a:srgbClr val="F4DA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867" autoAdjust="0"/>
    <p:restoredTop sz="94660"/>
  </p:normalViewPr>
  <p:slideViewPr>
    <p:cSldViewPr snapToGrid="0">
      <p:cViewPr varScale="1">
        <p:scale>
          <a:sx n="66" d="100"/>
          <a:sy n="66" d="100"/>
        </p:scale>
        <p:origin x="756"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gs" Target="tags/tag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4703BD-F754-4911-8474-9BEA183D8AD2}" type="datetimeFigureOut">
              <a:rPr lang="en-US" smtClean="0"/>
              <a:t>4/1/2026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7AFCE0-8595-4565-BBCA-3D2A04B3B495}" type="slidenum">
              <a:rPr lang="en-US" smtClean="0"/>
              <a:t>‹#›</a:t>
            </a:fld>
            <a:endParaRPr lang="en-US"/>
          </a:p>
        </p:txBody>
      </p:sp>
    </p:spTree>
    <p:extLst>
      <p:ext uri="{BB962C8B-B14F-4D97-AF65-F5344CB8AC3E}">
        <p14:creationId xmlns:p14="http://schemas.microsoft.com/office/powerpoint/2010/main" val="2412335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E3200B34-6535-4988-B6D9-9B8318B82C92}" type="datetime1">
              <a:rPr kumimoji="0" lang="en-US" sz="1200" b="0" i="0" u="none" strike="noStrike" kern="1200" cap="none" spc="0" normalizeH="0" baseline="0" noProof="0" smtClean="0">
                <a:ln>
                  <a:noFill/>
                </a:ln>
                <a:solidFill>
                  <a:prstClr val="white">
                    <a:tint val="95000"/>
                  </a:prstClr>
                </a:solidFill>
                <a:effectLst/>
                <a:uLnTx/>
                <a:uFillTx/>
                <a:latin typeface="Corbel"/>
                <a:ea typeface="+mn-ea"/>
                <a:cs typeface="+mn-cs"/>
              </a:rPr>
              <a:t>4/1/2026</a:t>
            </a:fld>
            <a:endParaRPr kumimoji="0" lang="en-US" sz="1200" b="0" i="0" u="none" strike="noStrike" kern="1200" cap="none" spc="0" normalizeH="0" baseline="0" noProof="0">
              <a:ln>
                <a:noFill/>
              </a:ln>
              <a:solidFill>
                <a:prstClr val="white">
                  <a:tint val="95000"/>
                </a:prstClr>
              </a:solidFill>
              <a:effectLst/>
              <a:uLnTx/>
              <a:uFillTx/>
              <a:latin typeface="Corbel"/>
              <a:ea typeface="+mn-ea"/>
              <a:cs typeface="+mn-cs"/>
            </a:endParaRPr>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tint val="95000"/>
                </a:prstClr>
              </a:solidFill>
              <a:effectLst/>
              <a:uLnTx/>
              <a:uFillTx/>
              <a:latin typeface="Corbel"/>
              <a:ea typeface="+mn-ea"/>
              <a:cs typeface="+mn-cs"/>
            </a:endParaRPr>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87DF407-17F1-42D7-87D5-7CFAC9688370}" type="slidenum">
              <a:rPr kumimoji="0" lang="en-US" sz="1200" b="0" i="0" u="none" strike="noStrike" kern="1200" cap="none" spc="0" normalizeH="0" baseline="0" noProof="0" smtClean="0">
                <a:ln>
                  <a:noFill/>
                </a:ln>
                <a:solidFill>
                  <a:prstClr val="white">
                    <a:tint val="95000"/>
                  </a:prstClr>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white">
                  <a:tint val="95000"/>
                </a:prstClr>
              </a:solidFill>
              <a:effectLst/>
              <a:uLnTx/>
              <a:uFillTx/>
              <a:latin typeface="Corbel"/>
              <a:ea typeface="+mn-ea"/>
              <a:cs typeface="+mn-cs"/>
            </a:endParaRPr>
          </a:p>
        </p:txBody>
      </p:sp>
    </p:spTree>
    <p:extLst>
      <p:ext uri="{BB962C8B-B14F-4D97-AF65-F5344CB8AC3E}">
        <p14:creationId xmlns:p14="http://schemas.microsoft.com/office/powerpoint/2010/main" val="25110668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EB340CB-823C-4AAA-9AC6-CD56B1FBFDFE}" type="datetime1">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t>4/1/2026</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6" name="Slide Number Placeholder 5"/>
          <p:cNvSpPr>
            <a:spLocks noGrp="1"/>
          </p:cNvSpPr>
          <p:nvPr>
            <p:ph type="sldNum" sz="quarter" idx="12"/>
          </p:nvPr>
        </p:nvSpPr>
        <p:spPr>
          <a:xfrm>
            <a:off x="10558300" y="5956137"/>
            <a:ext cx="1052508"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7DF407-17F1-42D7-87D5-7CFAC9688370}" type="slidenum">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Tree>
    <p:extLst>
      <p:ext uri="{BB962C8B-B14F-4D97-AF65-F5344CB8AC3E}">
        <p14:creationId xmlns:p14="http://schemas.microsoft.com/office/powerpoint/2010/main" val="3848435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95166F1-B48E-43A9-A9E3-CD82DEA23DCA}" type="datetime1">
              <a:rPr kumimoji="0" lang="en-US" sz="1200" b="0" i="0" u="none" strike="noStrike" kern="1200" cap="none" spc="0" normalizeH="0" baseline="0" noProof="0" smtClean="0">
                <a:ln>
                  <a:noFill/>
                </a:ln>
                <a:solidFill>
                  <a:prstClr val="white">
                    <a:tint val="95000"/>
                  </a:prstClr>
                </a:solidFill>
                <a:effectLst/>
                <a:uLnTx/>
                <a:uFillTx/>
                <a:latin typeface="Corbel"/>
                <a:ea typeface="+mn-ea"/>
                <a:cs typeface="+mn-cs"/>
              </a:rPr>
              <a:t>4/1/2026</a:t>
            </a:fld>
            <a:endParaRPr kumimoji="0" lang="en-US" sz="1200" b="0" i="0" u="none" strike="noStrike" kern="1200" cap="none" spc="0" normalizeH="0" baseline="0" noProof="0">
              <a:ln>
                <a:noFill/>
              </a:ln>
              <a:solidFill>
                <a:prstClr val="white">
                  <a:tint val="95000"/>
                </a:prstClr>
              </a:solidFill>
              <a:effectLst/>
              <a:uLnTx/>
              <a:uFillTx/>
              <a:latin typeface="Corbel"/>
              <a:ea typeface="+mn-ea"/>
              <a:cs typeface="+mn-cs"/>
            </a:endParaRPr>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tint val="95000"/>
                </a:prstClr>
              </a:solidFill>
              <a:effectLst/>
              <a:uLnTx/>
              <a:uFillTx/>
              <a:latin typeface="Corbel"/>
              <a:ea typeface="+mn-ea"/>
              <a:cs typeface="+mn-cs"/>
            </a:endParaRPr>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87DF407-17F1-42D7-87D5-7CFAC9688370}" type="slidenum">
              <a:rPr kumimoji="0" lang="en-US" sz="1200" b="0" i="0" u="none" strike="noStrike" kern="1200" cap="none" spc="0" normalizeH="0" baseline="0" noProof="0" smtClean="0">
                <a:ln>
                  <a:noFill/>
                </a:ln>
                <a:solidFill>
                  <a:prstClr val="white">
                    <a:tint val="95000"/>
                  </a:prstClr>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white">
                  <a:tint val="95000"/>
                </a:prstClr>
              </a:solidFill>
              <a:effectLst/>
              <a:uLnTx/>
              <a:uFillTx/>
              <a:latin typeface="Corbel"/>
              <a:ea typeface="+mn-ea"/>
              <a:cs typeface="+mn-cs"/>
            </a:endParaRPr>
          </a:p>
        </p:txBody>
      </p:sp>
    </p:spTree>
    <p:extLst>
      <p:ext uri="{BB962C8B-B14F-4D97-AF65-F5344CB8AC3E}">
        <p14:creationId xmlns:p14="http://schemas.microsoft.com/office/powerpoint/2010/main" val="2856553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B8114C4-A967-4328-B288-32813BDEC983}" type="datetime1">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t>4/1/2026</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6" name="Footer Placeholder 5"/>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7DF407-17F1-42D7-87D5-7CFAC9688370}" type="slidenum">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Tree>
    <p:extLst>
      <p:ext uri="{BB962C8B-B14F-4D97-AF65-F5344CB8AC3E}">
        <p14:creationId xmlns:p14="http://schemas.microsoft.com/office/powerpoint/2010/main" val="7568085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650CEE9-D4CC-4B54-A250-94CA54E4D756}" type="datetime1">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t>4/1/2026</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8" name="Footer Placeholder 7"/>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7DF407-17F1-42D7-87D5-7CFAC9688370}" type="slidenum">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Tree>
    <p:extLst>
      <p:ext uri="{BB962C8B-B14F-4D97-AF65-F5344CB8AC3E}">
        <p14:creationId xmlns:p14="http://schemas.microsoft.com/office/powerpoint/2010/main" val="3396212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06CE010-9ABA-46D0-8967-C7800BD238CA}" type="datetime1">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t>4/1/2026</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4" name="Footer Placeholder 3"/>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7DF407-17F1-42D7-87D5-7CFAC9688370}" type="slidenum">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12310650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8095DC9-AC5F-4800-ADA5-AFEDFB922A04}" type="datetime1">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t>4/1/2026</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3" name="Footer Placeholder 2"/>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7DF407-17F1-42D7-87D5-7CFAC9688370}" type="slidenum">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Tree>
    <p:extLst>
      <p:ext uri="{BB962C8B-B14F-4D97-AF65-F5344CB8AC3E}">
        <p14:creationId xmlns:p14="http://schemas.microsoft.com/office/powerpoint/2010/main" val="2923962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68CF8562-19AF-407A-858C-BB195C287FBF}" type="datetime1">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t>4/1/2026</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87DF407-17F1-42D7-87D5-7CFAC9688370}" type="slidenum">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Tree>
    <p:extLst>
      <p:ext uri="{BB962C8B-B14F-4D97-AF65-F5344CB8AC3E}">
        <p14:creationId xmlns:p14="http://schemas.microsoft.com/office/powerpoint/2010/main" val="1464381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C0624FA-0042-4F6B-9E6E-EAB3BB0EA633}" type="datetime1">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t>4/1/2026</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6" name="Footer Placeholder 5"/>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hade val="50000"/>
                </a:prstClr>
              </a:solidFill>
              <a:effectLst/>
              <a:uLnTx/>
              <a:uFillTx/>
              <a:latin typeface="Corbel"/>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7DF407-17F1-42D7-87D5-7CFAC9688370}" type="slidenum">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Tree>
    <p:extLst>
      <p:ext uri="{BB962C8B-B14F-4D97-AF65-F5344CB8AC3E}">
        <p14:creationId xmlns:p14="http://schemas.microsoft.com/office/powerpoint/2010/main" val="513614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EE6A12D-6F89-4058-8196-0B349EBEDBB7}" type="datetime1">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t>4/1/2026</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7DF407-17F1-42D7-87D5-7CFAC9688370}" type="slidenum">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Tree>
    <p:extLst>
      <p:ext uri="{BB962C8B-B14F-4D97-AF65-F5344CB8AC3E}">
        <p14:creationId xmlns:p14="http://schemas.microsoft.com/office/powerpoint/2010/main" val="19823195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D5CA9AA-4C73-4BBC-A4C2-4A707850A089}" type="datetime1">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t>4/1/2026</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5" name="Footer Placeholder 4"/>
          <p:cNvSpPr>
            <a:spLocks noGrp="1"/>
          </p:cNvSpPr>
          <p:nvPr>
            <p:ph type="ftr" sz="quarter" idx="11"/>
          </p:nvPr>
        </p:nvSpPr>
        <p:spPr>
          <a:xfrm>
            <a:off x="774923" y="5951811"/>
            <a:ext cx="7896279"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87DF407-17F1-42D7-87D5-7CFAC9688370}" type="slidenum">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Tree>
    <p:extLst>
      <p:ext uri="{BB962C8B-B14F-4D97-AF65-F5344CB8AC3E}">
        <p14:creationId xmlns:p14="http://schemas.microsoft.com/office/powerpoint/2010/main" val="32799348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3A04FD96-06E1-49CA-9346-D0ABCD911DD2}" type="datetime1">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t>4/1/2026</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87DF407-17F1-42D7-87D5-7CFAC9688370}" type="slidenum">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630484132"/>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xml"/><Relationship Id="rId1" Type="http://schemas.openxmlformats.org/officeDocument/2006/relationships/tags" Target="../tags/tag4.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xml"/><Relationship Id="rId1" Type="http://schemas.openxmlformats.org/officeDocument/2006/relationships/tags" Target="../tags/tag6.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xml"/><Relationship Id="rId1" Type="http://schemas.openxmlformats.org/officeDocument/2006/relationships/tags" Target="../tags/tag8.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xml"/><Relationship Id="rId1" Type="http://schemas.openxmlformats.org/officeDocument/2006/relationships/tags" Target="../tags/tag1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xml"/><Relationship Id="rId1" Type="http://schemas.openxmlformats.org/officeDocument/2006/relationships/tags" Target="../tags/tag14.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xml"/><Relationship Id="rId1" Type="http://schemas.openxmlformats.org/officeDocument/2006/relationships/tags" Target="../tags/tag16.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xml"/><Relationship Id="rId1" Type="http://schemas.openxmlformats.org/officeDocument/2006/relationships/tags" Target="../tags/tag18.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1.xml"/><Relationship Id="rId1" Type="http://schemas.openxmlformats.org/officeDocument/2006/relationships/tags" Target="../tags/tag2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3.xml"/><Relationship Id="rId1" Type="http://schemas.openxmlformats.org/officeDocument/2006/relationships/tags" Target="../tags/tag2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5.xml"/><Relationship Id="rId1" Type="http://schemas.openxmlformats.org/officeDocument/2006/relationships/tags" Target="../tags/tag24.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7.xml"/><Relationship Id="rId1" Type="http://schemas.openxmlformats.org/officeDocument/2006/relationships/tags" Target="../tags/tag26.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9.xml"/><Relationship Id="rId1" Type="http://schemas.openxmlformats.org/officeDocument/2006/relationships/tags" Target="../tags/tag28.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1.xml"/><Relationship Id="rId1" Type="http://schemas.openxmlformats.org/officeDocument/2006/relationships/tags" Target="../tags/tag30.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3.xml"/><Relationship Id="rId1" Type="http://schemas.openxmlformats.org/officeDocument/2006/relationships/tags" Target="../tags/tag3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5.xml"/><Relationship Id="rId1" Type="http://schemas.openxmlformats.org/officeDocument/2006/relationships/tags" Target="../tags/tag34.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7.xml"/><Relationship Id="rId1" Type="http://schemas.openxmlformats.org/officeDocument/2006/relationships/tags" Target="../tags/tag36.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9.xml"/><Relationship Id="rId1" Type="http://schemas.openxmlformats.org/officeDocument/2006/relationships/tags" Target="../tags/tag38.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xml"/><Relationship Id="rId1" Type="http://schemas.openxmlformats.org/officeDocument/2006/relationships/tags" Target="../tags/tag4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3.xml"/><Relationship Id="rId1" Type="http://schemas.openxmlformats.org/officeDocument/2006/relationships/tags" Target="../tags/tag42.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5.xml"/><Relationship Id="rId1" Type="http://schemas.openxmlformats.org/officeDocument/2006/relationships/tags" Target="../tags/tag44.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7.xml"/><Relationship Id="rId1" Type="http://schemas.openxmlformats.org/officeDocument/2006/relationships/tags" Target="../tags/tag46.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9.xml"/><Relationship Id="rId1" Type="http://schemas.openxmlformats.org/officeDocument/2006/relationships/tags" Target="../tags/tag48.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1.xml"/><Relationship Id="rId1" Type="http://schemas.openxmlformats.org/officeDocument/2006/relationships/tags" Target="../tags/tag50.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3.xml"/><Relationship Id="rId1" Type="http://schemas.openxmlformats.org/officeDocument/2006/relationships/tags" Target="../tags/tag52.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5.xml"/><Relationship Id="rId1" Type="http://schemas.openxmlformats.org/officeDocument/2006/relationships/tags" Target="../tags/tag54.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7.xml"/><Relationship Id="rId1" Type="http://schemas.openxmlformats.org/officeDocument/2006/relationships/tags" Target="../tags/tag56.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9.xml"/><Relationship Id="rId1" Type="http://schemas.openxmlformats.org/officeDocument/2006/relationships/tags" Target="../tags/tag58.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1.xml"/><Relationship Id="rId1" Type="http://schemas.openxmlformats.org/officeDocument/2006/relationships/tags" Target="../tags/tag60.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3.xml"/><Relationship Id="rId1" Type="http://schemas.openxmlformats.org/officeDocument/2006/relationships/tags" Target="../tags/tag62.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5.xml"/><Relationship Id="rId1" Type="http://schemas.openxmlformats.org/officeDocument/2006/relationships/tags" Target="../tags/tag64.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7.xml"/><Relationship Id="rId1" Type="http://schemas.openxmlformats.org/officeDocument/2006/relationships/tags" Target="../tags/tag66.xml"/><Relationship Id="rId4" Type="http://schemas.openxmlformats.org/officeDocument/2006/relationships/image" Target="../media/image7.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9.xml"/><Relationship Id="rId1" Type="http://schemas.openxmlformats.org/officeDocument/2006/relationships/tags" Target="../tags/tag68.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1.xml"/><Relationship Id="rId1" Type="http://schemas.openxmlformats.org/officeDocument/2006/relationships/tags" Target="../tags/tag70.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3.xml"/><Relationship Id="rId1" Type="http://schemas.openxmlformats.org/officeDocument/2006/relationships/tags" Target="../tags/tag72.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5.xml"/><Relationship Id="rId1" Type="http://schemas.openxmlformats.org/officeDocument/2006/relationships/tags" Target="../tags/tag74.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7.xml"/><Relationship Id="rId1" Type="http://schemas.openxmlformats.org/officeDocument/2006/relationships/tags" Target="../tags/tag76.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9.xml"/><Relationship Id="rId1" Type="http://schemas.openxmlformats.org/officeDocument/2006/relationships/tags" Target="../tags/tag78.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1.xml"/><Relationship Id="rId1" Type="http://schemas.openxmlformats.org/officeDocument/2006/relationships/tags" Target="../tags/tag80.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3.xml"/><Relationship Id="rId1" Type="http://schemas.openxmlformats.org/officeDocument/2006/relationships/tags" Target="../tags/tag82.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5.xml"/><Relationship Id="rId1" Type="http://schemas.openxmlformats.org/officeDocument/2006/relationships/tags" Target="../tags/tag84.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7.xml"/><Relationship Id="rId1" Type="http://schemas.openxmlformats.org/officeDocument/2006/relationships/tags" Target="../tags/tag86.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9.xml"/><Relationship Id="rId1" Type="http://schemas.openxmlformats.org/officeDocument/2006/relationships/tags" Target="../tags/tag88.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1.xml"/><Relationship Id="rId1" Type="http://schemas.openxmlformats.org/officeDocument/2006/relationships/tags" Target="../tags/tag90.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3.xml"/><Relationship Id="rId1" Type="http://schemas.openxmlformats.org/officeDocument/2006/relationships/tags" Target="../tags/tag92.xml"/><Relationship Id="rId4" Type="http://schemas.openxmlformats.org/officeDocument/2006/relationships/image" Target="../media/image8.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5.xml"/><Relationship Id="rId1" Type="http://schemas.openxmlformats.org/officeDocument/2006/relationships/tags" Target="../tags/tag94.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7.xml"/><Relationship Id="rId1" Type="http://schemas.openxmlformats.org/officeDocument/2006/relationships/tags" Target="../tags/tag96.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9.xml"/><Relationship Id="rId1" Type="http://schemas.openxmlformats.org/officeDocument/2006/relationships/tags" Target="../tags/tag98.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1.xml"/><Relationship Id="rId1" Type="http://schemas.openxmlformats.org/officeDocument/2006/relationships/tags" Target="../tags/tag100.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3.xml"/><Relationship Id="rId1" Type="http://schemas.openxmlformats.org/officeDocument/2006/relationships/tags" Target="../tags/tag102.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5.xml"/><Relationship Id="rId1" Type="http://schemas.openxmlformats.org/officeDocument/2006/relationships/tags" Target="../tags/tag104.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7.xml"/><Relationship Id="rId1" Type="http://schemas.openxmlformats.org/officeDocument/2006/relationships/tags" Target="../tags/tag106.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9.xml"/><Relationship Id="rId1" Type="http://schemas.openxmlformats.org/officeDocument/2006/relationships/tags" Target="../tags/tag108.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1.xml"/><Relationship Id="rId1" Type="http://schemas.openxmlformats.org/officeDocument/2006/relationships/tags" Target="../tags/tag110.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3.xml"/><Relationship Id="rId1" Type="http://schemas.openxmlformats.org/officeDocument/2006/relationships/tags" Target="../tags/tag112.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5.xml"/><Relationship Id="rId1" Type="http://schemas.openxmlformats.org/officeDocument/2006/relationships/tags" Target="../tags/tag114.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7.xml"/><Relationship Id="rId1" Type="http://schemas.openxmlformats.org/officeDocument/2006/relationships/tags" Target="../tags/tag116.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9.xml"/><Relationship Id="rId1" Type="http://schemas.openxmlformats.org/officeDocument/2006/relationships/tags" Target="../tags/tag118.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1.xml"/><Relationship Id="rId1" Type="http://schemas.openxmlformats.org/officeDocument/2006/relationships/tags" Target="../tags/tag120.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3.xml"/><Relationship Id="rId1" Type="http://schemas.openxmlformats.org/officeDocument/2006/relationships/tags" Target="../tags/tag122.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5.xml"/><Relationship Id="rId1" Type="http://schemas.openxmlformats.org/officeDocument/2006/relationships/tags" Target="../tags/tag124.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7.xml"/><Relationship Id="rId1" Type="http://schemas.openxmlformats.org/officeDocument/2006/relationships/tags" Target="../tags/tag126.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9.xml"/><Relationship Id="rId1" Type="http://schemas.openxmlformats.org/officeDocument/2006/relationships/tags" Target="../tags/tag128.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1.xml"/><Relationship Id="rId1" Type="http://schemas.openxmlformats.org/officeDocument/2006/relationships/tags" Target="../tags/tag130.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3.xml"/><Relationship Id="rId1" Type="http://schemas.openxmlformats.org/officeDocument/2006/relationships/tags" Target="../tags/tag132.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5.xml"/><Relationship Id="rId1" Type="http://schemas.openxmlformats.org/officeDocument/2006/relationships/tags" Target="../tags/tag134.xml"/></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7.xml"/><Relationship Id="rId1" Type="http://schemas.openxmlformats.org/officeDocument/2006/relationships/tags" Target="../tags/tag136.xml"/><Relationship Id="rId4" Type="http://schemas.openxmlformats.org/officeDocument/2006/relationships/image" Target="../media/image9.png"/></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9.xml"/><Relationship Id="rId1" Type="http://schemas.openxmlformats.org/officeDocument/2006/relationships/tags" Target="../tags/tag138.xml"/></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1.xml"/><Relationship Id="rId1" Type="http://schemas.openxmlformats.org/officeDocument/2006/relationships/tags" Target="../tags/tag140.xml"/></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3.xml"/><Relationship Id="rId1" Type="http://schemas.openxmlformats.org/officeDocument/2006/relationships/tags" Target="../tags/tag142.xml"/></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5.xml"/><Relationship Id="rId1" Type="http://schemas.openxmlformats.org/officeDocument/2006/relationships/tags" Target="../tags/tag144.xml"/></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7.xml"/><Relationship Id="rId1" Type="http://schemas.openxmlformats.org/officeDocument/2006/relationships/tags" Target="../tags/tag146.xml"/></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9.xml"/><Relationship Id="rId1" Type="http://schemas.openxmlformats.org/officeDocument/2006/relationships/tags" Target="../tags/tag148.xml"/></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1.xml"/><Relationship Id="rId1" Type="http://schemas.openxmlformats.org/officeDocument/2006/relationships/tags" Target="../tags/tag150.xml"/></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3.xml"/><Relationship Id="rId1" Type="http://schemas.openxmlformats.org/officeDocument/2006/relationships/tags" Target="../tags/tag152.xml"/></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5.xml"/><Relationship Id="rId1" Type="http://schemas.openxmlformats.org/officeDocument/2006/relationships/tags" Target="../tags/tag154.xml"/></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7.xml"/><Relationship Id="rId1" Type="http://schemas.openxmlformats.org/officeDocument/2006/relationships/tags" Target="../tags/tag156.xml"/></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9.xml"/><Relationship Id="rId1" Type="http://schemas.openxmlformats.org/officeDocument/2006/relationships/tags" Target="../tags/tag158.xml"/></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1.xml"/><Relationship Id="rId1" Type="http://schemas.openxmlformats.org/officeDocument/2006/relationships/tags" Target="../tags/tag160.xml"/></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3.xml"/><Relationship Id="rId1" Type="http://schemas.openxmlformats.org/officeDocument/2006/relationships/tags" Target="../tags/tag162.xml"/><Relationship Id="rId4" Type="http://schemas.openxmlformats.org/officeDocument/2006/relationships/image" Target="../media/image9.png"/></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3.svg"/><Relationship Id="rId2" Type="http://schemas.openxmlformats.org/officeDocument/2006/relationships/tags" Target="../tags/tag165.xml"/><Relationship Id="rId1" Type="http://schemas.openxmlformats.org/officeDocument/2006/relationships/tags" Target="../tags/tag164.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7.xml"/><Relationship Id="rId1" Type="http://schemas.openxmlformats.org/officeDocument/2006/relationships/tags" Target="../tags/tag166.xml"/></Relationships>
</file>

<file path=ppt/slides/_rels/slide8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9.xml"/><Relationship Id="rId1" Type="http://schemas.openxmlformats.org/officeDocument/2006/relationships/tags" Target="../tags/tag168.xml"/></Relationships>
</file>

<file path=ppt/slides/_rels/slide8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71.xml"/><Relationship Id="rId1" Type="http://schemas.openxmlformats.org/officeDocument/2006/relationships/tags" Target="../tags/tag17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effectLst>
            <a:glow rad="228600">
              <a:schemeClr val="accent1">
                <a:satMod val="175000"/>
                <a:alpha val="40000"/>
              </a:schemeClr>
            </a:glow>
          </a:effectLst>
        </p:spPr>
        <p:txBody>
          <a:bodyPr>
            <a:normAutofit/>
          </a:bodyPr>
          <a:lstStyle/>
          <a:p>
            <a:r>
              <a:rPr lang="en-US" altLang="en-US" dirty="0"/>
              <a:t>Graph Traversal Techniques</a:t>
            </a:r>
            <a:endParaRPr lang="en-US" dirty="0"/>
          </a:p>
        </p:txBody>
      </p:sp>
      <p:sp>
        <p:nvSpPr>
          <p:cNvPr id="3" name="Subtitle 2"/>
          <p:cNvSpPr>
            <a:spLocks noGrp="1"/>
          </p:cNvSpPr>
          <p:nvPr>
            <p:ph type="subTitle" idx="1"/>
          </p:nvPr>
        </p:nvSpPr>
        <p:spPr>
          <a:xfrm>
            <a:off x="2971800" y="4572000"/>
            <a:ext cx="6400800" cy="1752600"/>
          </a:xfrm>
        </p:spPr>
        <p:txBody>
          <a:bodyPr>
            <a:normAutofit/>
          </a:bodyPr>
          <a:lstStyle/>
          <a:p>
            <a:r>
              <a:rPr lang="en-US" sz="2400" dirty="0" err="1">
                <a:solidFill>
                  <a:schemeClr val="bg1"/>
                </a:solidFill>
              </a:rPr>
              <a:t>Marzieh</a:t>
            </a:r>
            <a:r>
              <a:rPr lang="en-US" sz="2400" dirty="0">
                <a:solidFill>
                  <a:schemeClr val="bg1"/>
                </a:solidFill>
              </a:rPr>
              <a:t> </a:t>
            </a:r>
            <a:r>
              <a:rPr lang="en-US" sz="2400" dirty="0" err="1">
                <a:solidFill>
                  <a:schemeClr val="bg1"/>
                </a:solidFill>
              </a:rPr>
              <a:t>Eskandari</a:t>
            </a:r>
            <a:endParaRPr lang="en-US" sz="2400" dirty="0">
              <a:solidFill>
                <a:schemeClr val="bg1"/>
              </a:solidFill>
            </a:endParaRPr>
          </a:p>
          <a:p>
            <a:r>
              <a:rPr lang="en-US" sz="2400" dirty="0">
                <a:solidFill>
                  <a:schemeClr val="bg1"/>
                </a:solidFill>
              </a:rPr>
              <a:t>NJIT</a:t>
            </a:r>
          </a:p>
        </p:txBody>
      </p:sp>
      <p:sp>
        <p:nvSpPr>
          <p:cNvPr id="4" name="Slide Number Placeholder 3">
            <a:extLst>
              <a:ext uri="{FF2B5EF4-FFF2-40B4-BE49-F238E27FC236}">
                <a16:creationId xmlns:a16="http://schemas.microsoft.com/office/drawing/2014/main" id="{0584D175-9DC6-4E3E-9446-D8DA3C969898}"/>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tint val="95000"/>
                  </a:prstClr>
                </a:solidFill>
                <a:effectLst/>
                <a:uLnTx/>
                <a:uFillTx/>
                <a:latin typeface="Corbel"/>
                <a:ea typeface="+mn-ea"/>
                <a:cs typeface="+mn-cs"/>
              </a:rPr>
              <a:t>1/110</a:t>
            </a:r>
          </a:p>
        </p:txBody>
      </p:sp>
    </p:spTree>
    <p:custDataLst>
      <p:tags r:id="rId1"/>
    </p:custDataLst>
    <p:extLst>
      <p:ext uri="{BB962C8B-B14F-4D97-AF65-F5344CB8AC3E}">
        <p14:creationId xmlns:p14="http://schemas.microsoft.com/office/powerpoint/2010/main" val="23409689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What is a Graph?</a:t>
            </a:r>
          </a:p>
        </p:txBody>
      </p:sp>
      <p:sp>
        <p:nvSpPr>
          <p:cNvPr id="17" name="Slide Number Placeholder 16">
            <a:extLst>
              <a:ext uri="{FF2B5EF4-FFF2-40B4-BE49-F238E27FC236}">
                <a16:creationId xmlns:a16="http://schemas.microsoft.com/office/drawing/2014/main" id="{F4807552-A4F5-49E6-9A36-0D3A9F5EC6FA}"/>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2/110</a:t>
            </a:r>
          </a:p>
        </p:txBody>
      </p:sp>
      <p:cxnSp>
        <p:nvCxnSpPr>
          <p:cNvPr id="5" name="Straight Connector 4"/>
          <p:cNvCxnSpPr>
            <a:stCxn id="14" idx="1"/>
          </p:cNvCxnSpPr>
          <p:nvPr/>
        </p:nvCxnSpPr>
        <p:spPr>
          <a:xfrm flipH="1" flipV="1">
            <a:off x="1097669" y="3434342"/>
            <a:ext cx="2198288" cy="933175"/>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Straight Connector 5"/>
          <p:cNvCxnSpPr>
            <a:stCxn id="9" idx="5"/>
          </p:cNvCxnSpPr>
          <p:nvPr/>
        </p:nvCxnSpPr>
        <p:spPr>
          <a:xfrm>
            <a:off x="2328832" y="3162018"/>
            <a:ext cx="1158049" cy="1337765"/>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flipV="1">
            <a:off x="2174848" y="3077522"/>
            <a:ext cx="1856048" cy="24517"/>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1948920" y="3181462"/>
            <a:ext cx="175670" cy="1109474"/>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Oval 16"/>
          <p:cNvSpPr>
            <a:spLocks noChangeArrowheads="1"/>
          </p:cNvSpPr>
          <p:nvPr/>
        </p:nvSpPr>
        <p:spPr bwMode="auto">
          <a:xfrm>
            <a:off x="1957083" y="279026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0" name="Straight Connector 9"/>
          <p:cNvCxnSpPr/>
          <p:nvPr/>
        </p:nvCxnSpPr>
        <p:spPr>
          <a:xfrm flipH="1">
            <a:off x="2120774" y="4499783"/>
            <a:ext cx="1119177" cy="6846"/>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endCxn id="23" idx="1"/>
          </p:cNvCxnSpPr>
          <p:nvPr/>
        </p:nvCxnSpPr>
        <p:spPr>
          <a:xfrm>
            <a:off x="1167927" y="3635918"/>
            <a:ext cx="563889" cy="863865"/>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Oval 16"/>
          <p:cNvSpPr>
            <a:spLocks noChangeArrowheads="1"/>
          </p:cNvSpPr>
          <p:nvPr/>
        </p:nvSpPr>
        <p:spPr bwMode="auto">
          <a:xfrm>
            <a:off x="1686531" y="428201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3" name="Oval 16"/>
          <p:cNvSpPr>
            <a:spLocks noChangeArrowheads="1"/>
          </p:cNvSpPr>
          <p:nvPr/>
        </p:nvSpPr>
        <p:spPr bwMode="auto">
          <a:xfrm>
            <a:off x="796178" y="330985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4" name="Oval 16"/>
          <p:cNvSpPr>
            <a:spLocks noChangeArrowheads="1"/>
          </p:cNvSpPr>
          <p:nvPr/>
        </p:nvSpPr>
        <p:spPr bwMode="auto">
          <a:xfrm>
            <a:off x="3232175" y="4303735"/>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5" name="Straight Connector 14"/>
          <p:cNvCxnSpPr>
            <a:stCxn id="14" idx="7"/>
          </p:cNvCxnSpPr>
          <p:nvPr/>
        </p:nvCxnSpPr>
        <p:spPr>
          <a:xfrm flipV="1">
            <a:off x="3603924" y="3129039"/>
            <a:ext cx="650011" cy="1238478"/>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4029021" y="2895425"/>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2" name="TextBox 21"/>
          <p:cNvSpPr txBox="1"/>
          <p:nvPr/>
        </p:nvSpPr>
        <p:spPr>
          <a:xfrm>
            <a:off x="2006372" y="2812129"/>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1</a:t>
            </a:r>
            <a:endParaRPr lang="en-US" b="1" dirty="0">
              <a:solidFill>
                <a:prstClr val="black"/>
              </a:solidFill>
              <a:latin typeface="Arial Rounded MT Bold" panose="020F0704030504030204" pitchFamily="34" charset="0"/>
            </a:endParaRPr>
          </a:p>
        </p:txBody>
      </p:sp>
      <p:sp>
        <p:nvSpPr>
          <p:cNvPr id="23" name="TextBox 22"/>
          <p:cNvSpPr txBox="1"/>
          <p:nvPr/>
        </p:nvSpPr>
        <p:spPr>
          <a:xfrm>
            <a:off x="1731816" y="4315117"/>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2</a:t>
            </a:r>
            <a:endParaRPr lang="en-US" b="1" dirty="0">
              <a:solidFill>
                <a:prstClr val="black"/>
              </a:solidFill>
              <a:latin typeface="Arial Rounded MT Bold" panose="020F0704030504030204" pitchFamily="34" charset="0"/>
            </a:endParaRPr>
          </a:p>
        </p:txBody>
      </p:sp>
      <p:sp>
        <p:nvSpPr>
          <p:cNvPr id="24" name="TextBox 23"/>
          <p:cNvSpPr txBox="1"/>
          <p:nvPr/>
        </p:nvSpPr>
        <p:spPr>
          <a:xfrm>
            <a:off x="4096606" y="2917373"/>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3</a:t>
            </a:r>
            <a:endParaRPr lang="en-US" b="1" dirty="0">
              <a:solidFill>
                <a:prstClr val="black"/>
              </a:solidFill>
              <a:latin typeface="Arial Rounded MT Bold" panose="020F0704030504030204" pitchFamily="34" charset="0"/>
            </a:endParaRPr>
          </a:p>
        </p:txBody>
      </p:sp>
      <p:sp>
        <p:nvSpPr>
          <p:cNvPr id="25" name="Rectangle 24"/>
          <p:cNvSpPr/>
          <p:nvPr/>
        </p:nvSpPr>
        <p:spPr>
          <a:xfrm>
            <a:off x="844245" y="3347522"/>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4</a:t>
            </a:r>
            <a:endParaRPr lang="en-US" b="1" dirty="0">
              <a:solidFill>
                <a:prstClr val="black"/>
              </a:solidFill>
              <a:latin typeface="Arial Rounded MT Bold" panose="020F0704030504030204" pitchFamily="34" charset="0"/>
            </a:endParaRPr>
          </a:p>
        </p:txBody>
      </p:sp>
      <p:sp>
        <p:nvSpPr>
          <p:cNvPr id="28" name="Rectangle 27"/>
          <p:cNvSpPr/>
          <p:nvPr/>
        </p:nvSpPr>
        <p:spPr>
          <a:xfrm>
            <a:off x="3291957" y="4328668"/>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5</a:t>
            </a:r>
            <a:endParaRPr lang="en-US" b="1" dirty="0">
              <a:solidFill>
                <a:prstClr val="black"/>
              </a:solidFill>
              <a:latin typeface="Arial Rounded MT Bold" panose="020F0704030504030204" pitchFamily="34" charset="0"/>
            </a:endParaRPr>
          </a:p>
        </p:txBody>
      </p:sp>
      <p:sp>
        <p:nvSpPr>
          <p:cNvPr id="30" name="Rectangle 29">
            <a:extLst>
              <a:ext uri="{FF2B5EF4-FFF2-40B4-BE49-F238E27FC236}">
                <a16:creationId xmlns:a16="http://schemas.microsoft.com/office/drawing/2014/main" id="{C9B8AFE2-54D4-4F00-B6CF-5B289233E463}"/>
              </a:ext>
            </a:extLst>
          </p:cNvPr>
          <p:cNvSpPr/>
          <p:nvPr/>
        </p:nvSpPr>
        <p:spPr>
          <a:xfrm>
            <a:off x="1741235" y="5322398"/>
            <a:ext cx="1862689" cy="1077218"/>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latin typeface="Arial Rounded MT Bold" panose="020F0704030504030204" pitchFamily="34" charset="0"/>
              </a:rPr>
              <a:t>G=(E,V)</a:t>
            </a:r>
          </a:p>
          <a:p>
            <a:pPr marL="118872" lvl="0">
              <a:buClr>
                <a:srgbClr val="F0AD00"/>
              </a:buClr>
              <a:buSzPct val="80000"/>
            </a:pPr>
            <a:endParaRPr lang="en-US" sz="3200" b="1" dirty="0">
              <a:effectLst>
                <a:outerShdw blurRad="38100" dist="38100" dir="2700000" algn="tl">
                  <a:srgbClr val="000000">
                    <a:alpha val="43137"/>
                  </a:srgbClr>
                </a:outerShdw>
              </a:effectLst>
            </a:endParaRPr>
          </a:p>
        </p:txBody>
      </p:sp>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E4441973-3426-47C5-81CE-0EF63B28FF72}"/>
                  </a:ext>
                </a:extLst>
              </p:cNvPr>
              <p:cNvSpPr/>
              <p:nvPr/>
            </p:nvSpPr>
            <p:spPr>
              <a:xfrm>
                <a:off x="5163110" y="2072187"/>
                <a:ext cx="6447698" cy="2960169"/>
              </a:xfrm>
              <a:prstGeom prst="rect">
                <a:avLst/>
              </a:prstGeom>
            </p:spPr>
            <p:txBody>
              <a:bodyPr wrap="square">
                <a:spAutoFit/>
              </a:bodyPr>
              <a:lstStyle/>
              <a:p>
                <a:pPr marL="118872" lvl="0">
                  <a:lnSpc>
                    <a:spcPct val="150000"/>
                  </a:lnSpc>
                  <a:buClr>
                    <a:srgbClr val="F0AD00"/>
                  </a:buClr>
                  <a:buSzPct val="80000"/>
                </a:pPr>
                <a14:m>
                  <m:oMathPara xmlns:m="http://schemas.openxmlformats.org/officeDocument/2006/math">
                    <m:oMathParaPr>
                      <m:jc m:val="left"/>
                    </m:oMathParaPr>
                    <m:oMath xmlns:m="http://schemas.openxmlformats.org/officeDocument/2006/math">
                      <m:r>
                        <a:rPr lang="en-US" sz="3200" b="1" i="1" smtClean="0">
                          <a:effectLst>
                            <a:outerShdw blurRad="38100" dist="38100" dir="2700000" algn="tl">
                              <a:srgbClr val="000000">
                                <a:alpha val="43137"/>
                              </a:srgbClr>
                            </a:outerShdw>
                          </a:effectLst>
                          <a:latin typeface="Cambria Math" panose="02040503050406030204" pitchFamily="18" charset="0"/>
                        </a:rPr>
                        <m:t>𝑽</m:t>
                      </m:r>
                      <m:r>
                        <a:rPr lang="en-US" sz="3200" b="1" i="1" smtClean="0">
                          <a:effectLst>
                            <a:outerShdw blurRad="38100" dist="38100" dir="2700000" algn="tl">
                              <a:srgbClr val="000000">
                                <a:alpha val="43137"/>
                              </a:srgbClr>
                            </a:outerShdw>
                          </a:effectLst>
                          <a:latin typeface="Cambria Math" panose="02040503050406030204" pitchFamily="18" charset="0"/>
                        </a:rPr>
                        <m:t>=</m:t>
                      </m:r>
                      <m:d>
                        <m:dPr>
                          <m:begChr m:val="{"/>
                          <m:endChr m:val="}"/>
                          <m:ctrlPr>
                            <a:rPr lang="en-US" sz="3200" b="1" i="1" smtClean="0">
                              <a:effectLst>
                                <a:outerShdw blurRad="38100" dist="38100" dir="2700000" algn="tl">
                                  <a:srgbClr val="000000">
                                    <a:alpha val="43137"/>
                                  </a:srgbClr>
                                </a:outerShdw>
                              </a:effectLst>
                              <a:latin typeface="Cambria Math" panose="02040503050406030204" pitchFamily="18" charset="0"/>
                            </a:rPr>
                          </m:ctrlPr>
                        </m:dPr>
                        <m:e>
                          <m:sSub>
                            <m:sSubPr>
                              <m:ctrlPr>
                                <a:rPr lang="en-US" sz="3200" b="1" i="1" smtClean="0">
                                  <a:effectLst>
                                    <a:outerShdw blurRad="38100" dist="38100" dir="2700000" algn="tl">
                                      <a:srgbClr val="000000">
                                        <a:alpha val="43137"/>
                                      </a:srgbClr>
                                    </a:outerShdw>
                                  </a:effectLst>
                                  <a:latin typeface="Cambria Math" panose="02040503050406030204" pitchFamily="18" charset="0"/>
                                </a:rPr>
                              </m:ctrlPr>
                            </m:sSubPr>
                            <m:e>
                              <m:r>
                                <a:rPr lang="en-US" sz="3200" b="1" i="1" smtClean="0">
                                  <a:effectLst>
                                    <a:outerShdw blurRad="38100" dist="38100" dir="2700000" algn="tl">
                                      <a:srgbClr val="000000">
                                        <a:alpha val="43137"/>
                                      </a:srgbClr>
                                    </a:outerShdw>
                                  </a:effectLst>
                                  <a:latin typeface="Cambria Math" panose="02040503050406030204" pitchFamily="18" charset="0"/>
                                </a:rPr>
                                <m:t>𝒗</m:t>
                              </m:r>
                            </m:e>
                            <m:sub>
                              <m:r>
                                <a:rPr lang="en-US" sz="3200" b="1" i="1" smtClean="0">
                                  <a:effectLst>
                                    <a:outerShdw blurRad="38100" dist="38100" dir="2700000" algn="tl">
                                      <a:srgbClr val="000000">
                                        <a:alpha val="43137"/>
                                      </a:srgbClr>
                                    </a:outerShdw>
                                  </a:effectLst>
                                  <a:latin typeface="Cambria Math" panose="02040503050406030204" pitchFamily="18" charset="0"/>
                                </a:rPr>
                                <m:t>𝟏</m:t>
                              </m:r>
                            </m:sub>
                          </m:sSub>
                          <m:r>
                            <a:rPr lang="en-US" sz="3200" b="1" i="1" smtClean="0">
                              <a:effectLst>
                                <a:outerShdw blurRad="38100" dist="38100" dir="2700000" algn="tl">
                                  <a:srgbClr val="000000">
                                    <a:alpha val="43137"/>
                                  </a:srgbClr>
                                </a:outerShdw>
                              </a:effectLst>
                              <a:latin typeface="Cambria Math" panose="02040503050406030204" pitchFamily="18" charset="0"/>
                            </a:rPr>
                            <m:t>,</m:t>
                          </m:r>
                          <m:sSub>
                            <m:sSubPr>
                              <m:ctrlPr>
                                <a:rPr lang="en-US" sz="3200" b="1" i="1" smtClean="0">
                                  <a:effectLst>
                                    <a:outerShdw blurRad="38100" dist="38100" dir="2700000" algn="tl">
                                      <a:srgbClr val="000000">
                                        <a:alpha val="43137"/>
                                      </a:srgbClr>
                                    </a:outerShdw>
                                  </a:effectLst>
                                  <a:latin typeface="Cambria Math" panose="02040503050406030204" pitchFamily="18" charset="0"/>
                                </a:rPr>
                              </m:ctrlPr>
                            </m:sSubPr>
                            <m:e>
                              <m:r>
                                <a:rPr lang="en-US" sz="3200" b="1" i="1" smtClean="0">
                                  <a:effectLst>
                                    <a:outerShdw blurRad="38100" dist="38100" dir="2700000" algn="tl">
                                      <a:srgbClr val="000000">
                                        <a:alpha val="43137"/>
                                      </a:srgbClr>
                                    </a:outerShdw>
                                  </a:effectLst>
                                  <a:latin typeface="Cambria Math" panose="02040503050406030204" pitchFamily="18" charset="0"/>
                                </a:rPr>
                                <m:t>𝒗</m:t>
                              </m:r>
                            </m:e>
                            <m:sub>
                              <m:r>
                                <a:rPr lang="en-US" sz="3200" b="1" i="1" smtClean="0">
                                  <a:effectLst>
                                    <a:outerShdw blurRad="38100" dist="38100" dir="2700000" algn="tl">
                                      <a:srgbClr val="000000">
                                        <a:alpha val="43137"/>
                                      </a:srgbClr>
                                    </a:outerShdw>
                                  </a:effectLst>
                                  <a:latin typeface="Cambria Math" panose="02040503050406030204" pitchFamily="18" charset="0"/>
                                </a:rPr>
                                <m:t>𝟐</m:t>
                              </m:r>
                            </m:sub>
                          </m:sSub>
                          <m:r>
                            <a:rPr lang="en-US" sz="3200" b="1" i="1" smtClean="0">
                              <a:effectLst>
                                <a:outerShdw blurRad="38100" dist="38100" dir="2700000" algn="tl">
                                  <a:srgbClr val="000000">
                                    <a:alpha val="43137"/>
                                  </a:srgbClr>
                                </a:outerShdw>
                              </a:effectLst>
                              <a:latin typeface="Cambria Math" panose="02040503050406030204" pitchFamily="18" charset="0"/>
                            </a:rPr>
                            <m:t>,</m:t>
                          </m:r>
                          <m:sSub>
                            <m:sSubPr>
                              <m:ctrlPr>
                                <a:rPr lang="en-US" sz="3200" b="1" i="1" smtClean="0">
                                  <a:effectLst>
                                    <a:outerShdw blurRad="38100" dist="38100" dir="2700000" algn="tl">
                                      <a:srgbClr val="000000">
                                        <a:alpha val="43137"/>
                                      </a:srgbClr>
                                    </a:outerShdw>
                                  </a:effectLst>
                                  <a:latin typeface="Cambria Math" panose="02040503050406030204" pitchFamily="18" charset="0"/>
                                </a:rPr>
                              </m:ctrlPr>
                            </m:sSubPr>
                            <m:e>
                              <m:r>
                                <a:rPr lang="en-US" sz="3200" b="1" i="1" smtClean="0">
                                  <a:effectLst>
                                    <a:outerShdw blurRad="38100" dist="38100" dir="2700000" algn="tl">
                                      <a:srgbClr val="000000">
                                        <a:alpha val="43137"/>
                                      </a:srgbClr>
                                    </a:outerShdw>
                                  </a:effectLst>
                                  <a:latin typeface="Cambria Math" panose="02040503050406030204" pitchFamily="18" charset="0"/>
                                </a:rPr>
                                <m:t>𝒗</m:t>
                              </m:r>
                            </m:e>
                            <m:sub>
                              <m:r>
                                <a:rPr lang="en-US" sz="3200" b="1" i="1" smtClean="0">
                                  <a:effectLst>
                                    <a:outerShdw blurRad="38100" dist="38100" dir="2700000" algn="tl">
                                      <a:srgbClr val="000000">
                                        <a:alpha val="43137"/>
                                      </a:srgbClr>
                                    </a:outerShdw>
                                  </a:effectLst>
                                  <a:latin typeface="Cambria Math" panose="02040503050406030204" pitchFamily="18" charset="0"/>
                                </a:rPr>
                                <m:t>𝟑</m:t>
                              </m:r>
                            </m:sub>
                          </m:sSub>
                          <m:r>
                            <a:rPr lang="en-US" sz="3200" b="1" i="1" smtClean="0">
                              <a:effectLst>
                                <a:outerShdw blurRad="38100" dist="38100" dir="2700000" algn="tl">
                                  <a:srgbClr val="000000">
                                    <a:alpha val="43137"/>
                                  </a:srgbClr>
                                </a:outerShdw>
                              </a:effectLst>
                              <a:latin typeface="Cambria Math" panose="02040503050406030204" pitchFamily="18" charset="0"/>
                            </a:rPr>
                            <m:t>,</m:t>
                          </m:r>
                          <m:sSub>
                            <m:sSubPr>
                              <m:ctrlPr>
                                <a:rPr lang="en-US" sz="3200" b="1" i="1" smtClean="0">
                                  <a:effectLst>
                                    <a:outerShdw blurRad="38100" dist="38100" dir="2700000" algn="tl">
                                      <a:srgbClr val="000000">
                                        <a:alpha val="43137"/>
                                      </a:srgbClr>
                                    </a:outerShdw>
                                  </a:effectLst>
                                  <a:latin typeface="Cambria Math" panose="02040503050406030204" pitchFamily="18" charset="0"/>
                                </a:rPr>
                              </m:ctrlPr>
                            </m:sSubPr>
                            <m:e>
                              <m:r>
                                <a:rPr lang="en-US" sz="3200" b="1" i="1" smtClean="0">
                                  <a:effectLst>
                                    <a:outerShdw blurRad="38100" dist="38100" dir="2700000" algn="tl">
                                      <a:srgbClr val="000000">
                                        <a:alpha val="43137"/>
                                      </a:srgbClr>
                                    </a:outerShdw>
                                  </a:effectLst>
                                  <a:latin typeface="Cambria Math" panose="02040503050406030204" pitchFamily="18" charset="0"/>
                                </a:rPr>
                                <m:t>𝒗</m:t>
                              </m:r>
                            </m:e>
                            <m:sub>
                              <m:r>
                                <a:rPr lang="en-US" sz="3200" b="1" i="1" smtClean="0">
                                  <a:effectLst>
                                    <a:outerShdw blurRad="38100" dist="38100" dir="2700000" algn="tl">
                                      <a:srgbClr val="000000">
                                        <a:alpha val="43137"/>
                                      </a:srgbClr>
                                    </a:outerShdw>
                                  </a:effectLst>
                                  <a:latin typeface="Cambria Math" panose="02040503050406030204" pitchFamily="18" charset="0"/>
                                </a:rPr>
                                <m:t>𝟒</m:t>
                              </m:r>
                            </m:sub>
                          </m:sSub>
                          <m:r>
                            <a:rPr lang="en-US" sz="3200" b="1" i="1" smtClean="0">
                              <a:effectLst>
                                <a:outerShdw blurRad="38100" dist="38100" dir="2700000" algn="tl">
                                  <a:srgbClr val="000000">
                                    <a:alpha val="43137"/>
                                  </a:srgbClr>
                                </a:outerShdw>
                              </a:effectLst>
                              <a:latin typeface="Cambria Math" panose="02040503050406030204" pitchFamily="18" charset="0"/>
                            </a:rPr>
                            <m:t>,</m:t>
                          </m:r>
                          <m:sSub>
                            <m:sSubPr>
                              <m:ctrlPr>
                                <a:rPr lang="en-US" sz="3200" b="1" i="1" smtClean="0">
                                  <a:effectLst>
                                    <a:outerShdw blurRad="38100" dist="38100" dir="2700000" algn="tl">
                                      <a:srgbClr val="000000">
                                        <a:alpha val="43137"/>
                                      </a:srgbClr>
                                    </a:outerShdw>
                                  </a:effectLst>
                                  <a:latin typeface="Cambria Math" panose="02040503050406030204" pitchFamily="18" charset="0"/>
                                </a:rPr>
                              </m:ctrlPr>
                            </m:sSubPr>
                            <m:e>
                              <m:r>
                                <a:rPr lang="en-US" sz="3200" b="1" i="1" smtClean="0">
                                  <a:effectLst>
                                    <a:outerShdw blurRad="38100" dist="38100" dir="2700000" algn="tl">
                                      <a:srgbClr val="000000">
                                        <a:alpha val="43137"/>
                                      </a:srgbClr>
                                    </a:outerShdw>
                                  </a:effectLst>
                                  <a:latin typeface="Cambria Math" panose="02040503050406030204" pitchFamily="18" charset="0"/>
                                </a:rPr>
                                <m:t>𝒗</m:t>
                              </m:r>
                            </m:e>
                            <m:sub>
                              <m:r>
                                <a:rPr lang="en-US" sz="3200" b="1" i="1" smtClean="0">
                                  <a:effectLst>
                                    <a:outerShdw blurRad="38100" dist="38100" dir="2700000" algn="tl">
                                      <a:srgbClr val="000000">
                                        <a:alpha val="43137"/>
                                      </a:srgbClr>
                                    </a:outerShdw>
                                  </a:effectLst>
                                  <a:latin typeface="Cambria Math" panose="02040503050406030204" pitchFamily="18" charset="0"/>
                                </a:rPr>
                                <m:t>𝟓</m:t>
                              </m:r>
                            </m:sub>
                          </m:sSub>
                        </m:e>
                      </m:d>
                    </m:oMath>
                  </m:oMathPara>
                </a14:m>
                <a:br>
                  <a:rPr lang="en-US" sz="3200" b="1" dirty="0">
                    <a:effectLst>
                      <a:outerShdw blurRad="38100" dist="38100" dir="2700000" algn="tl">
                        <a:srgbClr val="000000">
                          <a:alpha val="43137"/>
                        </a:srgbClr>
                      </a:outerShdw>
                    </a:effectLst>
                  </a:rPr>
                </a:br>
                <a14:m>
                  <m:oMath xmlns:m="http://schemas.openxmlformats.org/officeDocument/2006/math">
                    <m:r>
                      <a:rPr lang="en-US" sz="3200" b="1" i="1" smtClean="0">
                        <a:effectLst>
                          <a:outerShdw blurRad="38100" dist="38100" dir="2700000" algn="tl">
                            <a:srgbClr val="000000">
                              <a:alpha val="43137"/>
                            </a:srgbClr>
                          </a:outerShdw>
                        </a:effectLst>
                        <a:latin typeface="Cambria Math" panose="02040503050406030204" pitchFamily="18" charset="0"/>
                      </a:rPr>
                      <m:t>𝑬</m:t>
                    </m:r>
                    <m:r>
                      <a:rPr lang="en-US" sz="3200" b="1" i="1" smtClean="0">
                        <a:effectLst>
                          <a:outerShdw blurRad="38100" dist="38100" dir="2700000" algn="tl">
                            <a:srgbClr val="000000">
                              <a:alpha val="43137"/>
                            </a:srgbClr>
                          </a:outerShdw>
                        </a:effectLst>
                        <a:latin typeface="Cambria Math" panose="02040503050406030204" pitchFamily="18" charset="0"/>
                      </a:rPr>
                      <m:t>={</m:t>
                    </m:r>
                    <m:d>
                      <m:dPr>
                        <m:begChr m:val="{"/>
                        <m:endChr m:val="}"/>
                        <m:ctrlPr>
                          <a:rPr lang="en-US" sz="3200" b="1" i="1" smtClean="0">
                            <a:effectLst>
                              <a:outerShdw blurRad="38100" dist="38100" dir="2700000" algn="tl">
                                <a:srgbClr val="000000">
                                  <a:alpha val="43137"/>
                                </a:srgbClr>
                              </a:outerShdw>
                            </a:effectLst>
                            <a:latin typeface="Cambria Math" panose="02040503050406030204" pitchFamily="18" charset="0"/>
                          </a:rPr>
                        </m:ctrlPr>
                      </m:dPr>
                      <m:e>
                        <m:sSub>
                          <m:sSubPr>
                            <m:ctrlPr>
                              <a:rPr lang="en-US" sz="3200" b="1" i="1">
                                <a:effectLst>
                                  <a:outerShdw blurRad="38100" dist="38100" dir="2700000" algn="tl">
                                    <a:srgbClr val="000000">
                                      <a:alpha val="43137"/>
                                    </a:srgbClr>
                                  </a:outerShdw>
                                </a:effectLst>
                                <a:latin typeface="Cambria Math" panose="02040503050406030204" pitchFamily="18" charset="0"/>
                              </a:rPr>
                            </m:ctrlPr>
                          </m:sSubPr>
                          <m:e>
                            <m:r>
                              <a:rPr lang="en-US" sz="3200" b="1" i="1">
                                <a:effectLst>
                                  <a:outerShdw blurRad="38100" dist="38100" dir="2700000" algn="tl">
                                    <a:srgbClr val="000000">
                                      <a:alpha val="43137"/>
                                    </a:srgbClr>
                                  </a:outerShdw>
                                </a:effectLst>
                                <a:latin typeface="Cambria Math" panose="02040503050406030204" pitchFamily="18" charset="0"/>
                              </a:rPr>
                              <m:t>𝒗</m:t>
                            </m:r>
                          </m:e>
                          <m:sub>
                            <m:r>
                              <a:rPr lang="en-US" sz="3200" b="1" i="1">
                                <a:effectLst>
                                  <a:outerShdw blurRad="38100" dist="38100" dir="2700000" algn="tl">
                                    <a:srgbClr val="000000">
                                      <a:alpha val="43137"/>
                                    </a:srgbClr>
                                  </a:outerShdw>
                                </a:effectLst>
                                <a:latin typeface="Cambria Math" panose="02040503050406030204" pitchFamily="18" charset="0"/>
                              </a:rPr>
                              <m:t>𝟏</m:t>
                            </m:r>
                          </m:sub>
                        </m:sSub>
                        <m:r>
                          <a:rPr lang="en-US" sz="3200" b="1" i="1">
                            <a:effectLst>
                              <a:outerShdw blurRad="38100" dist="38100" dir="2700000" algn="tl">
                                <a:srgbClr val="000000">
                                  <a:alpha val="43137"/>
                                </a:srgbClr>
                              </a:outerShdw>
                            </a:effectLst>
                            <a:latin typeface="Cambria Math" panose="02040503050406030204" pitchFamily="18" charset="0"/>
                          </a:rPr>
                          <m:t>,</m:t>
                        </m:r>
                        <m:sSub>
                          <m:sSubPr>
                            <m:ctrlPr>
                              <a:rPr lang="en-US" sz="3200" b="1" i="1">
                                <a:effectLst>
                                  <a:outerShdw blurRad="38100" dist="38100" dir="2700000" algn="tl">
                                    <a:srgbClr val="000000">
                                      <a:alpha val="43137"/>
                                    </a:srgbClr>
                                  </a:outerShdw>
                                </a:effectLst>
                                <a:latin typeface="Cambria Math" panose="02040503050406030204" pitchFamily="18" charset="0"/>
                              </a:rPr>
                            </m:ctrlPr>
                          </m:sSubPr>
                          <m:e>
                            <m:r>
                              <a:rPr lang="en-US" sz="3200" b="1" i="1">
                                <a:effectLst>
                                  <a:outerShdw blurRad="38100" dist="38100" dir="2700000" algn="tl">
                                    <a:srgbClr val="000000">
                                      <a:alpha val="43137"/>
                                    </a:srgbClr>
                                  </a:outerShdw>
                                </a:effectLst>
                                <a:latin typeface="Cambria Math" panose="02040503050406030204" pitchFamily="18" charset="0"/>
                              </a:rPr>
                              <m:t>𝒗</m:t>
                            </m:r>
                          </m:e>
                          <m:sub>
                            <m:r>
                              <a:rPr lang="en-US" sz="3200" b="1" i="1">
                                <a:effectLst>
                                  <a:outerShdw blurRad="38100" dist="38100" dir="2700000" algn="tl">
                                    <a:srgbClr val="000000">
                                      <a:alpha val="43137"/>
                                    </a:srgbClr>
                                  </a:outerShdw>
                                </a:effectLst>
                                <a:latin typeface="Cambria Math" panose="02040503050406030204" pitchFamily="18" charset="0"/>
                              </a:rPr>
                              <m:t>𝟐</m:t>
                            </m:r>
                          </m:sub>
                        </m:sSub>
                      </m:e>
                    </m:d>
                    <m:r>
                      <a:rPr lang="en-US" sz="3200" b="1" i="1" smtClean="0">
                        <a:effectLst>
                          <a:outerShdw blurRad="38100" dist="38100" dir="2700000" algn="tl">
                            <a:srgbClr val="000000">
                              <a:alpha val="43137"/>
                            </a:srgbClr>
                          </a:outerShdw>
                        </a:effectLst>
                        <a:latin typeface="Cambria Math" panose="02040503050406030204" pitchFamily="18" charset="0"/>
                      </a:rPr>
                      <m:t>,</m:t>
                    </m:r>
                    <m:d>
                      <m:dPr>
                        <m:begChr m:val="{"/>
                        <m:endChr m:val="}"/>
                        <m:ctrlPr>
                          <a:rPr lang="en-US" sz="3200" b="1" i="1">
                            <a:effectLst>
                              <a:outerShdw blurRad="38100" dist="38100" dir="2700000" algn="tl">
                                <a:srgbClr val="000000">
                                  <a:alpha val="43137"/>
                                </a:srgbClr>
                              </a:outerShdw>
                            </a:effectLst>
                            <a:latin typeface="Cambria Math" panose="02040503050406030204" pitchFamily="18" charset="0"/>
                          </a:rPr>
                        </m:ctrlPr>
                      </m:dPr>
                      <m:e>
                        <m:sSub>
                          <m:sSubPr>
                            <m:ctrlPr>
                              <a:rPr lang="en-US" sz="3200" b="1" i="1">
                                <a:effectLst>
                                  <a:outerShdw blurRad="38100" dist="38100" dir="2700000" algn="tl">
                                    <a:srgbClr val="000000">
                                      <a:alpha val="43137"/>
                                    </a:srgbClr>
                                  </a:outerShdw>
                                </a:effectLst>
                                <a:latin typeface="Cambria Math" panose="02040503050406030204" pitchFamily="18" charset="0"/>
                              </a:rPr>
                            </m:ctrlPr>
                          </m:sSubPr>
                          <m:e>
                            <m:r>
                              <a:rPr lang="en-US" sz="3200" b="1" i="1">
                                <a:effectLst>
                                  <a:outerShdw blurRad="38100" dist="38100" dir="2700000" algn="tl">
                                    <a:srgbClr val="000000">
                                      <a:alpha val="43137"/>
                                    </a:srgbClr>
                                  </a:outerShdw>
                                </a:effectLst>
                                <a:latin typeface="Cambria Math" panose="02040503050406030204" pitchFamily="18" charset="0"/>
                              </a:rPr>
                              <m:t>𝒗</m:t>
                            </m:r>
                          </m:e>
                          <m:sub>
                            <m:r>
                              <a:rPr lang="en-US" sz="3200" b="1" i="1">
                                <a:effectLst>
                                  <a:outerShdw blurRad="38100" dist="38100" dir="2700000" algn="tl">
                                    <a:srgbClr val="000000">
                                      <a:alpha val="43137"/>
                                    </a:srgbClr>
                                  </a:outerShdw>
                                </a:effectLst>
                                <a:latin typeface="Cambria Math" panose="02040503050406030204" pitchFamily="18" charset="0"/>
                              </a:rPr>
                              <m:t>𝟏</m:t>
                            </m:r>
                          </m:sub>
                        </m:sSub>
                        <m:r>
                          <a:rPr lang="en-US" sz="3200" b="1" i="1">
                            <a:effectLst>
                              <a:outerShdw blurRad="38100" dist="38100" dir="2700000" algn="tl">
                                <a:srgbClr val="000000">
                                  <a:alpha val="43137"/>
                                </a:srgbClr>
                              </a:outerShdw>
                            </a:effectLst>
                            <a:latin typeface="Cambria Math" panose="02040503050406030204" pitchFamily="18" charset="0"/>
                          </a:rPr>
                          <m:t>,</m:t>
                        </m:r>
                        <m:sSub>
                          <m:sSubPr>
                            <m:ctrlPr>
                              <a:rPr lang="en-US" sz="3200" b="1" i="1">
                                <a:effectLst>
                                  <a:outerShdw blurRad="38100" dist="38100" dir="2700000" algn="tl">
                                    <a:srgbClr val="000000">
                                      <a:alpha val="43137"/>
                                    </a:srgbClr>
                                  </a:outerShdw>
                                </a:effectLst>
                                <a:latin typeface="Cambria Math" panose="02040503050406030204" pitchFamily="18" charset="0"/>
                              </a:rPr>
                            </m:ctrlPr>
                          </m:sSubPr>
                          <m:e>
                            <m:r>
                              <a:rPr lang="en-US" sz="3200" b="1" i="1">
                                <a:effectLst>
                                  <a:outerShdw blurRad="38100" dist="38100" dir="2700000" algn="tl">
                                    <a:srgbClr val="000000">
                                      <a:alpha val="43137"/>
                                    </a:srgbClr>
                                  </a:outerShdw>
                                </a:effectLst>
                                <a:latin typeface="Cambria Math" panose="02040503050406030204" pitchFamily="18" charset="0"/>
                              </a:rPr>
                              <m:t>𝒗</m:t>
                            </m:r>
                          </m:e>
                          <m:sub>
                            <m:r>
                              <a:rPr lang="en-US" sz="3200" b="1" i="1" smtClean="0">
                                <a:effectLst>
                                  <a:outerShdw blurRad="38100" dist="38100" dir="2700000" algn="tl">
                                    <a:srgbClr val="000000">
                                      <a:alpha val="43137"/>
                                    </a:srgbClr>
                                  </a:outerShdw>
                                </a:effectLst>
                                <a:latin typeface="Cambria Math" panose="02040503050406030204" pitchFamily="18" charset="0"/>
                              </a:rPr>
                              <m:t>𝟑</m:t>
                            </m:r>
                          </m:sub>
                        </m:sSub>
                      </m:e>
                    </m:d>
                  </m:oMath>
                </a14:m>
                <a:r>
                  <a:rPr lang="en-US" sz="3200" b="1" dirty="0">
                    <a:effectLst>
                      <a:outerShdw blurRad="38100" dist="38100" dir="2700000" algn="tl">
                        <a:srgbClr val="000000">
                          <a:alpha val="43137"/>
                        </a:srgbClr>
                      </a:outerShdw>
                    </a:effectLst>
                  </a:rPr>
                  <a:t>, </a:t>
                </a:r>
                <a14:m>
                  <m:oMath xmlns:m="http://schemas.openxmlformats.org/officeDocument/2006/math">
                    <m:d>
                      <m:dPr>
                        <m:begChr m:val="{"/>
                        <m:endChr m:val="}"/>
                        <m:ctrlPr>
                          <a:rPr lang="en-US" sz="3200" b="1" i="1">
                            <a:effectLst>
                              <a:outerShdw blurRad="38100" dist="38100" dir="2700000" algn="tl">
                                <a:srgbClr val="000000">
                                  <a:alpha val="43137"/>
                                </a:srgbClr>
                              </a:outerShdw>
                            </a:effectLst>
                            <a:latin typeface="Cambria Math" panose="02040503050406030204" pitchFamily="18" charset="0"/>
                          </a:rPr>
                        </m:ctrlPr>
                      </m:dPr>
                      <m:e>
                        <m:sSub>
                          <m:sSubPr>
                            <m:ctrlPr>
                              <a:rPr lang="en-US" sz="3200" b="1" i="1">
                                <a:effectLst>
                                  <a:outerShdw blurRad="38100" dist="38100" dir="2700000" algn="tl">
                                    <a:srgbClr val="000000">
                                      <a:alpha val="43137"/>
                                    </a:srgbClr>
                                  </a:outerShdw>
                                </a:effectLst>
                                <a:latin typeface="Cambria Math" panose="02040503050406030204" pitchFamily="18" charset="0"/>
                              </a:rPr>
                            </m:ctrlPr>
                          </m:sSubPr>
                          <m:e>
                            <m:r>
                              <a:rPr lang="en-US" sz="3200" b="1" i="1">
                                <a:effectLst>
                                  <a:outerShdw blurRad="38100" dist="38100" dir="2700000" algn="tl">
                                    <a:srgbClr val="000000">
                                      <a:alpha val="43137"/>
                                    </a:srgbClr>
                                  </a:outerShdw>
                                </a:effectLst>
                                <a:latin typeface="Cambria Math" panose="02040503050406030204" pitchFamily="18" charset="0"/>
                              </a:rPr>
                              <m:t>𝒗</m:t>
                            </m:r>
                          </m:e>
                          <m:sub>
                            <m:r>
                              <a:rPr lang="en-US" sz="3200" b="1" i="1">
                                <a:effectLst>
                                  <a:outerShdw blurRad="38100" dist="38100" dir="2700000" algn="tl">
                                    <a:srgbClr val="000000">
                                      <a:alpha val="43137"/>
                                    </a:srgbClr>
                                  </a:outerShdw>
                                </a:effectLst>
                                <a:latin typeface="Cambria Math" panose="02040503050406030204" pitchFamily="18" charset="0"/>
                              </a:rPr>
                              <m:t>𝟏</m:t>
                            </m:r>
                          </m:sub>
                        </m:sSub>
                        <m:r>
                          <a:rPr lang="en-US" sz="3200" b="1" i="1">
                            <a:effectLst>
                              <a:outerShdw blurRad="38100" dist="38100" dir="2700000" algn="tl">
                                <a:srgbClr val="000000">
                                  <a:alpha val="43137"/>
                                </a:srgbClr>
                              </a:outerShdw>
                            </a:effectLst>
                            <a:latin typeface="Cambria Math" panose="02040503050406030204" pitchFamily="18" charset="0"/>
                          </a:rPr>
                          <m:t>,</m:t>
                        </m:r>
                        <m:sSub>
                          <m:sSubPr>
                            <m:ctrlPr>
                              <a:rPr lang="en-US" sz="3200" b="1" i="1">
                                <a:effectLst>
                                  <a:outerShdw blurRad="38100" dist="38100" dir="2700000" algn="tl">
                                    <a:srgbClr val="000000">
                                      <a:alpha val="43137"/>
                                    </a:srgbClr>
                                  </a:outerShdw>
                                </a:effectLst>
                                <a:latin typeface="Cambria Math" panose="02040503050406030204" pitchFamily="18" charset="0"/>
                              </a:rPr>
                            </m:ctrlPr>
                          </m:sSubPr>
                          <m:e>
                            <m:r>
                              <a:rPr lang="en-US" sz="3200" b="1" i="1">
                                <a:effectLst>
                                  <a:outerShdw blurRad="38100" dist="38100" dir="2700000" algn="tl">
                                    <a:srgbClr val="000000">
                                      <a:alpha val="43137"/>
                                    </a:srgbClr>
                                  </a:outerShdw>
                                </a:effectLst>
                                <a:latin typeface="Cambria Math" panose="02040503050406030204" pitchFamily="18" charset="0"/>
                              </a:rPr>
                              <m:t>𝒗</m:t>
                            </m:r>
                          </m:e>
                          <m:sub>
                            <m:r>
                              <a:rPr lang="en-US" sz="3200" b="1" i="1" smtClean="0">
                                <a:effectLst>
                                  <a:outerShdw blurRad="38100" dist="38100" dir="2700000" algn="tl">
                                    <a:srgbClr val="000000">
                                      <a:alpha val="43137"/>
                                    </a:srgbClr>
                                  </a:outerShdw>
                                </a:effectLst>
                                <a:latin typeface="Cambria Math" panose="02040503050406030204" pitchFamily="18" charset="0"/>
                              </a:rPr>
                              <m:t>𝟓</m:t>
                            </m:r>
                          </m:sub>
                        </m:sSub>
                      </m:e>
                    </m:d>
                    <m:r>
                      <a:rPr lang="en-US" sz="3200" b="1" i="0" smtClean="0">
                        <a:effectLst>
                          <a:outerShdw blurRad="38100" dist="38100" dir="2700000" algn="tl">
                            <a:srgbClr val="000000">
                              <a:alpha val="43137"/>
                            </a:srgbClr>
                          </a:outerShdw>
                        </a:effectLst>
                        <a:latin typeface="Cambria Math" panose="02040503050406030204" pitchFamily="18" charset="0"/>
                      </a:rPr>
                      <m:t>,</m:t>
                    </m:r>
                  </m:oMath>
                </a14:m>
                <a:r>
                  <a:rPr lang="en-US" sz="3200" b="1" dirty="0">
                    <a:effectLst>
                      <a:outerShdw blurRad="38100" dist="38100" dir="2700000" algn="tl">
                        <a:srgbClr val="000000">
                          <a:alpha val="43137"/>
                        </a:srgbClr>
                      </a:outerShdw>
                    </a:effectLst>
                  </a:rPr>
                  <a:t> </a:t>
                </a:r>
                <a14:m>
                  <m:oMath xmlns:m="http://schemas.openxmlformats.org/officeDocument/2006/math">
                    <m:d>
                      <m:dPr>
                        <m:begChr m:val="{"/>
                        <m:endChr m:val="}"/>
                        <m:ctrlPr>
                          <a:rPr lang="en-US" sz="3200" b="1" i="1">
                            <a:effectLst>
                              <a:outerShdw blurRad="38100" dist="38100" dir="2700000" algn="tl">
                                <a:srgbClr val="000000">
                                  <a:alpha val="43137"/>
                                </a:srgbClr>
                              </a:outerShdw>
                            </a:effectLst>
                            <a:latin typeface="Cambria Math" panose="02040503050406030204" pitchFamily="18" charset="0"/>
                          </a:rPr>
                        </m:ctrlPr>
                      </m:dPr>
                      <m:e>
                        <m:sSub>
                          <m:sSubPr>
                            <m:ctrlPr>
                              <a:rPr lang="en-US" sz="3200" b="1" i="1">
                                <a:effectLst>
                                  <a:outerShdw blurRad="38100" dist="38100" dir="2700000" algn="tl">
                                    <a:srgbClr val="000000">
                                      <a:alpha val="43137"/>
                                    </a:srgbClr>
                                  </a:outerShdw>
                                </a:effectLst>
                                <a:latin typeface="Cambria Math" panose="02040503050406030204" pitchFamily="18" charset="0"/>
                              </a:rPr>
                            </m:ctrlPr>
                          </m:sSubPr>
                          <m:e>
                            <m:r>
                              <a:rPr lang="en-US" sz="3200" b="1" i="1">
                                <a:effectLst>
                                  <a:outerShdw blurRad="38100" dist="38100" dir="2700000" algn="tl">
                                    <a:srgbClr val="000000">
                                      <a:alpha val="43137"/>
                                    </a:srgbClr>
                                  </a:outerShdw>
                                </a:effectLst>
                                <a:latin typeface="Cambria Math" panose="02040503050406030204" pitchFamily="18" charset="0"/>
                              </a:rPr>
                              <m:t>𝒗</m:t>
                            </m:r>
                          </m:e>
                          <m:sub>
                            <m:r>
                              <a:rPr lang="en-US" sz="3200" b="1" i="1" smtClean="0">
                                <a:effectLst>
                                  <a:outerShdw blurRad="38100" dist="38100" dir="2700000" algn="tl">
                                    <a:srgbClr val="000000">
                                      <a:alpha val="43137"/>
                                    </a:srgbClr>
                                  </a:outerShdw>
                                </a:effectLst>
                                <a:latin typeface="Cambria Math" panose="02040503050406030204" pitchFamily="18" charset="0"/>
                              </a:rPr>
                              <m:t>𝟐</m:t>
                            </m:r>
                          </m:sub>
                        </m:sSub>
                        <m:r>
                          <a:rPr lang="en-US" sz="3200" b="1" i="1">
                            <a:effectLst>
                              <a:outerShdw blurRad="38100" dist="38100" dir="2700000" algn="tl">
                                <a:srgbClr val="000000">
                                  <a:alpha val="43137"/>
                                </a:srgbClr>
                              </a:outerShdw>
                            </a:effectLst>
                            <a:latin typeface="Cambria Math" panose="02040503050406030204" pitchFamily="18" charset="0"/>
                          </a:rPr>
                          <m:t>,</m:t>
                        </m:r>
                        <m:sSub>
                          <m:sSubPr>
                            <m:ctrlPr>
                              <a:rPr lang="en-US" sz="3200" b="1" i="1">
                                <a:effectLst>
                                  <a:outerShdw blurRad="38100" dist="38100" dir="2700000" algn="tl">
                                    <a:srgbClr val="000000">
                                      <a:alpha val="43137"/>
                                    </a:srgbClr>
                                  </a:outerShdw>
                                </a:effectLst>
                                <a:latin typeface="Cambria Math" panose="02040503050406030204" pitchFamily="18" charset="0"/>
                              </a:rPr>
                            </m:ctrlPr>
                          </m:sSubPr>
                          <m:e>
                            <m:r>
                              <a:rPr lang="en-US" sz="3200" b="1" i="1">
                                <a:effectLst>
                                  <a:outerShdw blurRad="38100" dist="38100" dir="2700000" algn="tl">
                                    <a:srgbClr val="000000">
                                      <a:alpha val="43137"/>
                                    </a:srgbClr>
                                  </a:outerShdw>
                                </a:effectLst>
                                <a:latin typeface="Cambria Math" panose="02040503050406030204" pitchFamily="18" charset="0"/>
                              </a:rPr>
                              <m:t>𝒗</m:t>
                            </m:r>
                          </m:e>
                          <m:sub>
                            <m:r>
                              <a:rPr lang="en-US" sz="3200" b="1" i="1" smtClean="0">
                                <a:effectLst>
                                  <a:outerShdw blurRad="38100" dist="38100" dir="2700000" algn="tl">
                                    <a:srgbClr val="000000">
                                      <a:alpha val="43137"/>
                                    </a:srgbClr>
                                  </a:outerShdw>
                                </a:effectLst>
                                <a:latin typeface="Cambria Math" panose="02040503050406030204" pitchFamily="18" charset="0"/>
                              </a:rPr>
                              <m:t>𝟓</m:t>
                            </m:r>
                          </m:sub>
                        </m:sSub>
                      </m:e>
                    </m:d>
                  </m:oMath>
                </a14:m>
                <a:r>
                  <a:rPr lang="en-US" sz="3200" b="1" dirty="0">
                    <a:effectLst>
                      <a:outerShdw blurRad="38100" dist="38100" dir="2700000" algn="tl">
                        <a:srgbClr val="000000">
                          <a:alpha val="43137"/>
                        </a:srgbClr>
                      </a:outerShdw>
                    </a:effectLst>
                  </a:rPr>
                  <a:t>, </a:t>
                </a:r>
                <a14:m>
                  <m:oMath xmlns:m="http://schemas.openxmlformats.org/officeDocument/2006/math">
                    <m:d>
                      <m:dPr>
                        <m:begChr m:val="{"/>
                        <m:endChr m:val="}"/>
                        <m:ctrlPr>
                          <a:rPr lang="en-US" sz="3200" b="1" i="1">
                            <a:effectLst>
                              <a:outerShdw blurRad="38100" dist="38100" dir="2700000" algn="tl">
                                <a:srgbClr val="000000">
                                  <a:alpha val="43137"/>
                                </a:srgbClr>
                              </a:outerShdw>
                            </a:effectLst>
                            <a:latin typeface="Cambria Math" panose="02040503050406030204" pitchFamily="18" charset="0"/>
                          </a:rPr>
                        </m:ctrlPr>
                      </m:dPr>
                      <m:e>
                        <m:sSub>
                          <m:sSubPr>
                            <m:ctrlPr>
                              <a:rPr lang="en-US" sz="3200" b="1" i="1">
                                <a:effectLst>
                                  <a:outerShdw blurRad="38100" dist="38100" dir="2700000" algn="tl">
                                    <a:srgbClr val="000000">
                                      <a:alpha val="43137"/>
                                    </a:srgbClr>
                                  </a:outerShdw>
                                </a:effectLst>
                                <a:latin typeface="Cambria Math" panose="02040503050406030204" pitchFamily="18" charset="0"/>
                              </a:rPr>
                            </m:ctrlPr>
                          </m:sSubPr>
                          <m:e>
                            <m:r>
                              <a:rPr lang="en-US" sz="3200" b="1" i="1">
                                <a:effectLst>
                                  <a:outerShdw blurRad="38100" dist="38100" dir="2700000" algn="tl">
                                    <a:srgbClr val="000000">
                                      <a:alpha val="43137"/>
                                    </a:srgbClr>
                                  </a:outerShdw>
                                </a:effectLst>
                                <a:latin typeface="Cambria Math" panose="02040503050406030204" pitchFamily="18" charset="0"/>
                              </a:rPr>
                              <m:t>𝒗</m:t>
                            </m:r>
                          </m:e>
                          <m:sub>
                            <m:r>
                              <a:rPr lang="en-US" sz="3200" b="1" i="1" smtClean="0">
                                <a:effectLst>
                                  <a:outerShdw blurRad="38100" dist="38100" dir="2700000" algn="tl">
                                    <a:srgbClr val="000000">
                                      <a:alpha val="43137"/>
                                    </a:srgbClr>
                                  </a:outerShdw>
                                </a:effectLst>
                                <a:latin typeface="Cambria Math" panose="02040503050406030204" pitchFamily="18" charset="0"/>
                              </a:rPr>
                              <m:t>𝟐</m:t>
                            </m:r>
                          </m:sub>
                        </m:sSub>
                        <m:r>
                          <a:rPr lang="en-US" sz="3200" b="1" i="1">
                            <a:effectLst>
                              <a:outerShdw blurRad="38100" dist="38100" dir="2700000" algn="tl">
                                <a:srgbClr val="000000">
                                  <a:alpha val="43137"/>
                                </a:srgbClr>
                              </a:outerShdw>
                            </a:effectLst>
                            <a:latin typeface="Cambria Math" panose="02040503050406030204" pitchFamily="18" charset="0"/>
                          </a:rPr>
                          <m:t>,</m:t>
                        </m:r>
                        <m:sSub>
                          <m:sSubPr>
                            <m:ctrlPr>
                              <a:rPr lang="en-US" sz="3200" b="1" i="1">
                                <a:effectLst>
                                  <a:outerShdw blurRad="38100" dist="38100" dir="2700000" algn="tl">
                                    <a:srgbClr val="000000">
                                      <a:alpha val="43137"/>
                                    </a:srgbClr>
                                  </a:outerShdw>
                                </a:effectLst>
                                <a:latin typeface="Cambria Math" panose="02040503050406030204" pitchFamily="18" charset="0"/>
                              </a:rPr>
                            </m:ctrlPr>
                          </m:sSubPr>
                          <m:e>
                            <m:r>
                              <a:rPr lang="en-US" sz="3200" b="1" i="1">
                                <a:effectLst>
                                  <a:outerShdw blurRad="38100" dist="38100" dir="2700000" algn="tl">
                                    <a:srgbClr val="000000">
                                      <a:alpha val="43137"/>
                                    </a:srgbClr>
                                  </a:outerShdw>
                                </a:effectLst>
                                <a:latin typeface="Cambria Math" panose="02040503050406030204" pitchFamily="18" charset="0"/>
                              </a:rPr>
                              <m:t>𝒗</m:t>
                            </m:r>
                          </m:e>
                          <m:sub>
                            <m:r>
                              <a:rPr lang="en-US" sz="3200" b="1" i="1" smtClean="0">
                                <a:effectLst>
                                  <a:outerShdw blurRad="38100" dist="38100" dir="2700000" algn="tl">
                                    <a:srgbClr val="000000">
                                      <a:alpha val="43137"/>
                                    </a:srgbClr>
                                  </a:outerShdw>
                                </a:effectLst>
                                <a:latin typeface="Cambria Math" panose="02040503050406030204" pitchFamily="18" charset="0"/>
                              </a:rPr>
                              <m:t>𝟒</m:t>
                            </m:r>
                          </m:sub>
                        </m:sSub>
                      </m:e>
                    </m:d>
                    <m:r>
                      <a:rPr lang="en-US" sz="3200" b="1" i="1" smtClean="0">
                        <a:effectLst>
                          <a:outerShdw blurRad="38100" dist="38100" dir="2700000" algn="tl">
                            <a:srgbClr val="000000">
                              <a:alpha val="43137"/>
                            </a:srgbClr>
                          </a:outerShdw>
                        </a:effectLst>
                        <a:latin typeface="Cambria Math" panose="02040503050406030204" pitchFamily="18" charset="0"/>
                      </a:rPr>
                      <m:t>,</m:t>
                    </m:r>
                    <m:d>
                      <m:dPr>
                        <m:begChr m:val="{"/>
                        <m:endChr m:val="}"/>
                        <m:ctrlPr>
                          <a:rPr lang="en-US" sz="3200" b="1" i="1">
                            <a:effectLst>
                              <a:outerShdw blurRad="38100" dist="38100" dir="2700000" algn="tl">
                                <a:srgbClr val="000000">
                                  <a:alpha val="43137"/>
                                </a:srgbClr>
                              </a:outerShdw>
                            </a:effectLst>
                            <a:latin typeface="Cambria Math" panose="02040503050406030204" pitchFamily="18" charset="0"/>
                          </a:rPr>
                        </m:ctrlPr>
                      </m:dPr>
                      <m:e>
                        <m:sSub>
                          <m:sSubPr>
                            <m:ctrlPr>
                              <a:rPr lang="en-US" sz="3200" b="1" i="1">
                                <a:effectLst>
                                  <a:outerShdw blurRad="38100" dist="38100" dir="2700000" algn="tl">
                                    <a:srgbClr val="000000">
                                      <a:alpha val="43137"/>
                                    </a:srgbClr>
                                  </a:outerShdw>
                                </a:effectLst>
                                <a:latin typeface="Cambria Math" panose="02040503050406030204" pitchFamily="18" charset="0"/>
                              </a:rPr>
                            </m:ctrlPr>
                          </m:sSubPr>
                          <m:e>
                            <m:r>
                              <a:rPr lang="en-US" sz="3200" b="1" i="1">
                                <a:effectLst>
                                  <a:outerShdw blurRad="38100" dist="38100" dir="2700000" algn="tl">
                                    <a:srgbClr val="000000">
                                      <a:alpha val="43137"/>
                                    </a:srgbClr>
                                  </a:outerShdw>
                                </a:effectLst>
                                <a:latin typeface="Cambria Math" panose="02040503050406030204" pitchFamily="18" charset="0"/>
                              </a:rPr>
                              <m:t>𝒗</m:t>
                            </m:r>
                          </m:e>
                          <m:sub>
                            <m:r>
                              <a:rPr lang="en-US" sz="3200" b="1" i="1" smtClean="0">
                                <a:effectLst>
                                  <a:outerShdw blurRad="38100" dist="38100" dir="2700000" algn="tl">
                                    <a:srgbClr val="000000">
                                      <a:alpha val="43137"/>
                                    </a:srgbClr>
                                  </a:outerShdw>
                                </a:effectLst>
                                <a:latin typeface="Cambria Math" panose="02040503050406030204" pitchFamily="18" charset="0"/>
                              </a:rPr>
                              <m:t>𝟑</m:t>
                            </m:r>
                          </m:sub>
                        </m:sSub>
                        <m:r>
                          <a:rPr lang="en-US" sz="3200" b="1" i="1">
                            <a:effectLst>
                              <a:outerShdw blurRad="38100" dist="38100" dir="2700000" algn="tl">
                                <a:srgbClr val="000000">
                                  <a:alpha val="43137"/>
                                </a:srgbClr>
                              </a:outerShdw>
                            </a:effectLst>
                            <a:latin typeface="Cambria Math" panose="02040503050406030204" pitchFamily="18" charset="0"/>
                          </a:rPr>
                          <m:t>,</m:t>
                        </m:r>
                        <m:sSub>
                          <m:sSubPr>
                            <m:ctrlPr>
                              <a:rPr lang="en-US" sz="3200" b="1" i="1">
                                <a:effectLst>
                                  <a:outerShdw blurRad="38100" dist="38100" dir="2700000" algn="tl">
                                    <a:srgbClr val="000000">
                                      <a:alpha val="43137"/>
                                    </a:srgbClr>
                                  </a:outerShdw>
                                </a:effectLst>
                                <a:latin typeface="Cambria Math" panose="02040503050406030204" pitchFamily="18" charset="0"/>
                              </a:rPr>
                            </m:ctrlPr>
                          </m:sSubPr>
                          <m:e>
                            <m:r>
                              <a:rPr lang="en-US" sz="3200" b="1" i="1">
                                <a:effectLst>
                                  <a:outerShdw blurRad="38100" dist="38100" dir="2700000" algn="tl">
                                    <a:srgbClr val="000000">
                                      <a:alpha val="43137"/>
                                    </a:srgbClr>
                                  </a:outerShdw>
                                </a:effectLst>
                                <a:latin typeface="Cambria Math" panose="02040503050406030204" pitchFamily="18" charset="0"/>
                              </a:rPr>
                              <m:t>𝒗</m:t>
                            </m:r>
                          </m:e>
                          <m:sub>
                            <m:r>
                              <a:rPr lang="en-US" sz="3200" b="1" i="1" smtClean="0">
                                <a:effectLst>
                                  <a:outerShdw blurRad="38100" dist="38100" dir="2700000" algn="tl">
                                    <a:srgbClr val="000000">
                                      <a:alpha val="43137"/>
                                    </a:srgbClr>
                                  </a:outerShdw>
                                </a:effectLst>
                                <a:latin typeface="Cambria Math" panose="02040503050406030204" pitchFamily="18" charset="0"/>
                              </a:rPr>
                              <m:t>𝟓</m:t>
                            </m:r>
                          </m:sub>
                        </m:sSub>
                      </m:e>
                    </m:d>
                  </m:oMath>
                </a14:m>
                <a:r>
                  <a:rPr lang="en-US" sz="3200" b="1" dirty="0">
                    <a:effectLst>
                      <a:outerShdw blurRad="38100" dist="38100" dir="2700000" algn="tl">
                        <a:srgbClr val="000000">
                          <a:alpha val="43137"/>
                        </a:srgbClr>
                      </a:outerShdw>
                    </a:effectLst>
                  </a:rPr>
                  <a:t>, </a:t>
                </a:r>
                <a14:m>
                  <m:oMath xmlns:m="http://schemas.openxmlformats.org/officeDocument/2006/math">
                    <m:d>
                      <m:dPr>
                        <m:begChr m:val="{"/>
                        <m:endChr m:val="}"/>
                        <m:ctrlPr>
                          <a:rPr lang="en-US" sz="3200" b="1" i="1">
                            <a:effectLst>
                              <a:outerShdw blurRad="38100" dist="38100" dir="2700000" algn="tl">
                                <a:srgbClr val="000000">
                                  <a:alpha val="43137"/>
                                </a:srgbClr>
                              </a:outerShdw>
                            </a:effectLst>
                            <a:latin typeface="Cambria Math" panose="02040503050406030204" pitchFamily="18" charset="0"/>
                          </a:rPr>
                        </m:ctrlPr>
                      </m:dPr>
                      <m:e>
                        <m:r>
                          <a:rPr lang="en-US" sz="3200" b="1" i="1" smtClean="0">
                            <a:effectLst>
                              <a:outerShdw blurRad="38100" dist="38100" dir="2700000" algn="tl">
                                <a:srgbClr val="000000">
                                  <a:alpha val="43137"/>
                                </a:srgbClr>
                              </a:outerShdw>
                            </a:effectLst>
                            <a:latin typeface="Cambria Math" panose="02040503050406030204" pitchFamily="18" charset="0"/>
                          </a:rPr>
                          <m:t>𝟒</m:t>
                        </m:r>
                        <m:r>
                          <a:rPr lang="en-US" sz="3200" b="1" i="1">
                            <a:effectLst>
                              <a:outerShdw blurRad="38100" dist="38100" dir="2700000" algn="tl">
                                <a:srgbClr val="000000">
                                  <a:alpha val="43137"/>
                                </a:srgbClr>
                              </a:outerShdw>
                            </a:effectLst>
                            <a:latin typeface="Cambria Math" panose="02040503050406030204" pitchFamily="18" charset="0"/>
                          </a:rPr>
                          <m:t>,</m:t>
                        </m:r>
                        <m:sSub>
                          <m:sSubPr>
                            <m:ctrlPr>
                              <a:rPr lang="en-US" sz="3200" b="1" i="1">
                                <a:effectLst>
                                  <a:outerShdw blurRad="38100" dist="38100" dir="2700000" algn="tl">
                                    <a:srgbClr val="000000">
                                      <a:alpha val="43137"/>
                                    </a:srgbClr>
                                  </a:outerShdw>
                                </a:effectLst>
                                <a:latin typeface="Cambria Math" panose="02040503050406030204" pitchFamily="18" charset="0"/>
                              </a:rPr>
                            </m:ctrlPr>
                          </m:sSubPr>
                          <m:e>
                            <m:r>
                              <a:rPr lang="en-US" sz="3200" b="1" i="1">
                                <a:effectLst>
                                  <a:outerShdw blurRad="38100" dist="38100" dir="2700000" algn="tl">
                                    <a:srgbClr val="000000">
                                      <a:alpha val="43137"/>
                                    </a:srgbClr>
                                  </a:outerShdw>
                                </a:effectLst>
                                <a:latin typeface="Cambria Math" panose="02040503050406030204" pitchFamily="18" charset="0"/>
                              </a:rPr>
                              <m:t>𝒗</m:t>
                            </m:r>
                          </m:e>
                          <m:sub>
                            <m:r>
                              <a:rPr lang="en-US" sz="3200" b="1" i="1" smtClean="0">
                                <a:effectLst>
                                  <a:outerShdw blurRad="38100" dist="38100" dir="2700000" algn="tl">
                                    <a:srgbClr val="000000">
                                      <a:alpha val="43137"/>
                                    </a:srgbClr>
                                  </a:outerShdw>
                                </a:effectLst>
                                <a:latin typeface="Cambria Math" panose="02040503050406030204" pitchFamily="18" charset="0"/>
                              </a:rPr>
                              <m:t>𝟓</m:t>
                            </m:r>
                          </m:sub>
                        </m:sSub>
                      </m:e>
                    </m:d>
                    <m:r>
                      <a:rPr lang="en-US" sz="3200" b="1" i="1" smtClean="0">
                        <a:effectLst>
                          <a:outerShdw blurRad="38100" dist="38100" dir="2700000" algn="tl">
                            <a:srgbClr val="000000">
                              <a:alpha val="43137"/>
                            </a:srgbClr>
                          </a:outerShdw>
                        </a:effectLst>
                        <a:latin typeface="Cambria Math" panose="02040503050406030204" pitchFamily="18" charset="0"/>
                      </a:rPr>
                      <m:t>}</m:t>
                    </m:r>
                  </m:oMath>
                </a14:m>
                <a:endParaRPr lang="en-US" sz="3200" b="1" dirty="0">
                  <a:effectLst>
                    <a:outerShdw blurRad="38100" dist="38100" dir="2700000" algn="tl">
                      <a:srgbClr val="000000">
                        <a:alpha val="43137"/>
                      </a:srgbClr>
                    </a:outerShdw>
                  </a:effectLst>
                  <a:latin typeface="Arial Rounded MT Bold" panose="020F0704030504030204" pitchFamily="34" charset="0"/>
                </a:endParaRPr>
              </a:p>
              <a:p>
                <a:pPr marL="118872" lvl="0">
                  <a:lnSpc>
                    <a:spcPct val="150000"/>
                  </a:lnSpc>
                  <a:buClr>
                    <a:srgbClr val="F0AD00"/>
                  </a:buClr>
                  <a:buSzPct val="80000"/>
                </a:pPr>
                <a:endParaRPr lang="en-US" sz="3200" b="1" dirty="0">
                  <a:effectLst>
                    <a:outerShdw blurRad="38100" dist="38100" dir="2700000" algn="tl">
                      <a:srgbClr val="000000">
                        <a:alpha val="43137"/>
                      </a:srgbClr>
                    </a:outerShdw>
                  </a:effectLst>
                </a:endParaRPr>
              </a:p>
            </p:txBody>
          </p:sp>
        </mc:Choice>
        <mc:Fallback xmlns="">
          <p:sp>
            <p:nvSpPr>
              <p:cNvPr id="26" name="Rectangle 25">
                <a:extLst>
                  <a:ext uri="{FF2B5EF4-FFF2-40B4-BE49-F238E27FC236}">
                    <a16:creationId xmlns:a16="http://schemas.microsoft.com/office/drawing/2014/main" id="{E4441973-3426-47C5-81CE-0EF63B28FF72}"/>
                  </a:ext>
                </a:extLst>
              </p:cNvPr>
              <p:cNvSpPr>
                <a:spLocks noRot="1" noChangeAspect="1" noMove="1" noResize="1" noEditPoints="1" noAdjustHandles="1" noChangeArrowheads="1" noChangeShapeType="1" noTextEdit="1"/>
              </p:cNvSpPr>
              <p:nvPr/>
            </p:nvSpPr>
            <p:spPr>
              <a:xfrm>
                <a:off x="5163110" y="2072187"/>
                <a:ext cx="6447698" cy="2960169"/>
              </a:xfrm>
              <a:prstGeom prst="rect">
                <a:avLst/>
              </a:prstGeom>
              <a:blipFill>
                <a:blip r:embed="rId4"/>
                <a:stretch>
                  <a:fillRect/>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27238730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What is a Graph?</a:t>
            </a:r>
          </a:p>
        </p:txBody>
      </p:sp>
      <p:sp>
        <p:nvSpPr>
          <p:cNvPr id="17" name="Slide Number Placeholder 16">
            <a:extLst>
              <a:ext uri="{FF2B5EF4-FFF2-40B4-BE49-F238E27FC236}">
                <a16:creationId xmlns:a16="http://schemas.microsoft.com/office/drawing/2014/main" id="{F4807552-A4F5-49E6-9A36-0D3A9F5EC6FA}"/>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3/110</a:t>
            </a:r>
          </a:p>
        </p:txBody>
      </p:sp>
      <p:cxnSp>
        <p:nvCxnSpPr>
          <p:cNvPr id="5" name="Straight Connector 4"/>
          <p:cNvCxnSpPr>
            <a:stCxn id="14" idx="1"/>
          </p:cNvCxnSpPr>
          <p:nvPr/>
        </p:nvCxnSpPr>
        <p:spPr>
          <a:xfrm flipH="1" flipV="1">
            <a:off x="1097669" y="3434342"/>
            <a:ext cx="2198288" cy="933175"/>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Straight Connector 5"/>
          <p:cNvCxnSpPr>
            <a:stCxn id="9" idx="5"/>
          </p:cNvCxnSpPr>
          <p:nvPr/>
        </p:nvCxnSpPr>
        <p:spPr>
          <a:xfrm>
            <a:off x="2328832" y="3162018"/>
            <a:ext cx="1158049" cy="1337765"/>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flipV="1">
            <a:off x="2174848" y="3077522"/>
            <a:ext cx="1856048" cy="24517"/>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1948920" y="3181462"/>
            <a:ext cx="175670" cy="1109474"/>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Oval 16"/>
          <p:cNvSpPr>
            <a:spLocks noChangeArrowheads="1"/>
          </p:cNvSpPr>
          <p:nvPr/>
        </p:nvSpPr>
        <p:spPr bwMode="auto">
          <a:xfrm>
            <a:off x="1957083" y="279026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0" name="Straight Connector 9"/>
          <p:cNvCxnSpPr/>
          <p:nvPr/>
        </p:nvCxnSpPr>
        <p:spPr>
          <a:xfrm flipH="1">
            <a:off x="2120774" y="4499783"/>
            <a:ext cx="1119177" cy="6846"/>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endCxn id="23" idx="1"/>
          </p:cNvCxnSpPr>
          <p:nvPr/>
        </p:nvCxnSpPr>
        <p:spPr>
          <a:xfrm>
            <a:off x="1167927" y="3635918"/>
            <a:ext cx="563889" cy="863865"/>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Oval 16"/>
          <p:cNvSpPr>
            <a:spLocks noChangeArrowheads="1"/>
          </p:cNvSpPr>
          <p:nvPr/>
        </p:nvSpPr>
        <p:spPr bwMode="auto">
          <a:xfrm>
            <a:off x="1686531" y="428201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3" name="Oval 16"/>
          <p:cNvSpPr>
            <a:spLocks noChangeArrowheads="1"/>
          </p:cNvSpPr>
          <p:nvPr/>
        </p:nvSpPr>
        <p:spPr bwMode="auto">
          <a:xfrm>
            <a:off x="796178" y="330985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4" name="Oval 16"/>
          <p:cNvSpPr>
            <a:spLocks noChangeArrowheads="1"/>
          </p:cNvSpPr>
          <p:nvPr/>
        </p:nvSpPr>
        <p:spPr bwMode="auto">
          <a:xfrm>
            <a:off x="3232175" y="4303735"/>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5" name="Straight Connector 14"/>
          <p:cNvCxnSpPr>
            <a:stCxn id="14" idx="7"/>
          </p:cNvCxnSpPr>
          <p:nvPr/>
        </p:nvCxnSpPr>
        <p:spPr>
          <a:xfrm flipV="1">
            <a:off x="3603924" y="3129039"/>
            <a:ext cx="650011" cy="1238478"/>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4029021" y="2895425"/>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2" name="TextBox 21"/>
          <p:cNvSpPr txBox="1"/>
          <p:nvPr/>
        </p:nvSpPr>
        <p:spPr>
          <a:xfrm>
            <a:off x="2006372" y="2812129"/>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1</a:t>
            </a:r>
            <a:endParaRPr lang="en-US" b="1" dirty="0">
              <a:solidFill>
                <a:prstClr val="black"/>
              </a:solidFill>
              <a:latin typeface="Arial Rounded MT Bold" panose="020F0704030504030204" pitchFamily="34" charset="0"/>
            </a:endParaRPr>
          </a:p>
        </p:txBody>
      </p:sp>
      <p:sp>
        <p:nvSpPr>
          <p:cNvPr id="23" name="TextBox 22"/>
          <p:cNvSpPr txBox="1"/>
          <p:nvPr/>
        </p:nvSpPr>
        <p:spPr>
          <a:xfrm>
            <a:off x="1731816" y="4315117"/>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2</a:t>
            </a:r>
            <a:endParaRPr lang="en-US" b="1" dirty="0">
              <a:solidFill>
                <a:prstClr val="black"/>
              </a:solidFill>
              <a:latin typeface="Arial Rounded MT Bold" panose="020F0704030504030204" pitchFamily="34" charset="0"/>
            </a:endParaRPr>
          </a:p>
        </p:txBody>
      </p:sp>
      <p:sp>
        <p:nvSpPr>
          <p:cNvPr id="24" name="TextBox 23"/>
          <p:cNvSpPr txBox="1"/>
          <p:nvPr/>
        </p:nvSpPr>
        <p:spPr>
          <a:xfrm>
            <a:off x="4096606" y="2917373"/>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3</a:t>
            </a:r>
            <a:endParaRPr lang="en-US" b="1" dirty="0">
              <a:solidFill>
                <a:prstClr val="black"/>
              </a:solidFill>
              <a:latin typeface="Arial Rounded MT Bold" panose="020F0704030504030204" pitchFamily="34" charset="0"/>
            </a:endParaRPr>
          </a:p>
        </p:txBody>
      </p:sp>
      <p:sp>
        <p:nvSpPr>
          <p:cNvPr id="25" name="Rectangle 24"/>
          <p:cNvSpPr/>
          <p:nvPr/>
        </p:nvSpPr>
        <p:spPr>
          <a:xfrm>
            <a:off x="844245" y="3347522"/>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4</a:t>
            </a:r>
            <a:endParaRPr lang="en-US" b="1" dirty="0">
              <a:solidFill>
                <a:prstClr val="black"/>
              </a:solidFill>
              <a:latin typeface="Arial Rounded MT Bold" panose="020F0704030504030204" pitchFamily="34" charset="0"/>
            </a:endParaRPr>
          </a:p>
        </p:txBody>
      </p:sp>
      <p:sp>
        <p:nvSpPr>
          <p:cNvPr id="28" name="Rectangle 27"/>
          <p:cNvSpPr/>
          <p:nvPr/>
        </p:nvSpPr>
        <p:spPr>
          <a:xfrm>
            <a:off x="3291957" y="4328668"/>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5</a:t>
            </a:r>
            <a:endParaRPr lang="en-US" b="1" dirty="0">
              <a:solidFill>
                <a:prstClr val="black"/>
              </a:solidFill>
              <a:latin typeface="Arial Rounded MT Bold" panose="020F0704030504030204" pitchFamily="34" charset="0"/>
            </a:endParaRPr>
          </a:p>
        </p:txBody>
      </p:sp>
      <p:sp>
        <p:nvSpPr>
          <p:cNvPr id="30" name="Rectangle 29">
            <a:extLst>
              <a:ext uri="{FF2B5EF4-FFF2-40B4-BE49-F238E27FC236}">
                <a16:creationId xmlns:a16="http://schemas.microsoft.com/office/drawing/2014/main" id="{C9B8AFE2-54D4-4F00-B6CF-5B289233E463}"/>
              </a:ext>
            </a:extLst>
          </p:cNvPr>
          <p:cNvSpPr/>
          <p:nvPr/>
        </p:nvSpPr>
        <p:spPr>
          <a:xfrm>
            <a:off x="1741235" y="5322398"/>
            <a:ext cx="1862689" cy="1077218"/>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latin typeface="Arial Rounded MT Bold" panose="020F0704030504030204" pitchFamily="34" charset="0"/>
              </a:rPr>
              <a:t>G=(E,V)</a:t>
            </a:r>
          </a:p>
          <a:p>
            <a:pPr marL="118872" lvl="0">
              <a:buClr>
                <a:srgbClr val="F0AD00"/>
              </a:buClr>
              <a:buSzPct val="80000"/>
            </a:pPr>
            <a:endParaRPr lang="en-US" sz="3200" b="1" dirty="0">
              <a:effectLst>
                <a:outerShdw blurRad="38100" dist="38100" dir="2700000" algn="tl">
                  <a:srgbClr val="000000">
                    <a:alpha val="43137"/>
                  </a:srgbClr>
                </a:outerShdw>
              </a:effectLst>
            </a:endParaRPr>
          </a:p>
        </p:txBody>
      </p:sp>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E4441973-3426-47C5-81CE-0EF63B28FF72}"/>
                  </a:ext>
                </a:extLst>
              </p:cNvPr>
              <p:cNvSpPr/>
              <p:nvPr/>
            </p:nvSpPr>
            <p:spPr>
              <a:xfrm>
                <a:off x="5163110" y="2344209"/>
                <a:ext cx="6447698" cy="1569660"/>
              </a:xfrm>
              <a:prstGeom prst="rect">
                <a:avLst/>
              </a:prstGeom>
            </p:spPr>
            <p:txBody>
              <a:bodyPr wrap="square">
                <a:spAutoFit/>
              </a:bodyPr>
              <a:lstStyle/>
              <a:p>
                <a:pPr marL="118872" lvl="0">
                  <a:lnSpc>
                    <a:spcPct val="150000"/>
                  </a:lnSpc>
                  <a:buClr>
                    <a:srgbClr val="F0AD00"/>
                  </a:buClr>
                  <a:buSzPct val="80000"/>
                </a:pPr>
                <a:r>
                  <a:rPr lang="en-US" sz="3200" b="1" dirty="0">
                    <a:effectLst>
                      <a:outerShdw blurRad="38100" dist="38100" dir="2700000" algn="tl">
                        <a:srgbClr val="000000">
                          <a:alpha val="43137"/>
                        </a:srgbClr>
                      </a:outerShdw>
                    </a:effectLst>
                  </a:rPr>
                  <a:t>Number of nodes: </a:t>
                </a:r>
                <a14:m>
                  <m:oMath xmlns:m="http://schemas.openxmlformats.org/officeDocument/2006/math">
                    <m:d>
                      <m:dPr>
                        <m:begChr m:val="|"/>
                        <m:endChr m:val="|"/>
                        <m:ctrlPr>
                          <a:rPr lang="en-US" sz="3200" b="1" i="1" dirty="0" smtClean="0">
                            <a:effectLst>
                              <a:outerShdw blurRad="38100" dist="38100" dir="2700000" algn="tl">
                                <a:srgbClr val="000000">
                                  <a:alpha val="43137"/>
                                </a:srgbClr>
                              </a:outerShdw>
                            </a:effectLst>
                            <a:latin typeface="Cambria Math" panose="02040503050406030204" pitchFamily="18" charset="0"/>
                          </a:rPr>
                        </m:ctrlPr>
                      </m:dPr>
                      <m:e>
                        <m:r>
                          <a:rPr lang="en-US" sz="3200" b="1" i="1" dirty="0" smtClean="0">
                            <a:effectLst>
                              <a:outerShdw blurRad="38100" dist="38100" dir="2700000" algn="tl">
                                <a:srgbClr val="000000">
                                  <a:alpha val="43137"/>
                                </a:srgbClr>
                              </a:outerShdw>
                            </a:effectLst>
                            <a:latin typeface="Cambria Math" panose="02040503050406030204" pitchFamily="18" charset="0"/>
                          </a:rPr>
                          <m:t>𝑽</m:t>
                        </m:r>
                      </m:e>
                    </m:d>
                  </m:oMath>
                </a14:m>
                <a:endParaRPr lang="en-US" sz="3200" b="1" i="1" dirty="0">
                  <a:effectLst>
                    <a:outerShdw blurRad="38100" dist="38100" dir="2700000" algn="tl">
                      <a:srgbClr val="000000">
                        <a:alpha val="43137"/>
                      </a:srgbClr>
                    </a:outerShdw>
                  </a:effectLst>
                  <a:latin typeface="Cambria Math" panose="02040503050406030204" pitchFamily="18" charset="0"/>
                </a:endParaRPr>
              </a:p>
              <a:p>
                <a:pPr marL="118872" lvl="0">
                  <a:lnSpc>
                    <a:spcPct val="150000"/>
                  </a:lnSpc>
                  <a:buClr>
                    <a:srgbClr val="F0AD00"/>
                  </a:buClr>
                  <a:buSzPct val="80000"/>
                </a:pPr>
                <a14:m>
                  <m:oMathPara xmlns:m="http://schemas.openxmlformats.org/officeDocument/2006/math">
                    <m:oMathParaPr>
                      <m:jc m:val="left"/>
                    </m:oMathParaPr>
                    <m:oMath xmlns:m="http://schemas.openxmlformats.org/officeDocument/2006/math">
                      <m:r>
                        <m:rPr>
                          <m:nor/>
                        </m:rPr>
                        <a:rPr lang="en-US" sz="3200" b="1" dirty="0">
                          <a:effectLst>
                            <a:outerShdw blurRad="38100" dist="38100" dir="2700000" algn="tl">
                              <a:srgbClr val="000000">
                                <a:alpha val="43137"/>
                              </a:srgbClr>
                            </a:outerShdw>
                          </a:effectLst>
                        </a:rPr>
                        <m:t>Number</m:t>
                      </m:r>
                      <m:r>
                        <m:rPr>
                          <m:nor/>
                        </m:rPr>
                        <a:rPr lang="en-US" sz="3200" b="1" dirty="0">
                          <a:effectLst>
                            <a:outerShdw blurRad="38100" dist="38100" dir="2700000" algn="tl">
                              <a:srgbClr val="000000">
                                <a:alpha val="43137"/>
                              </a:srgbClr>
                            </a:outerShdw>
                          </a:effectLst>
                        </a:rPr>
                        <m:t> </m:t>
                      </m:r>
                      <m:r>
                        <m:rPr>
                          <m:nor/>
                        </m:rPr>
                        <a:rPr lang="en-US" sz="3200" b="1" dirty="0">
                          <a:effectLst>
                            <a:outerShdw blurRad="38100" dist="38100" dir="2700000" algn="tl">
                              <a:srgbClr val="000000">
                                <a:alpha val="43137"/>
                              </a:srgbClr>
                            </a:outerShdw>
                          </a:effectLst>
                        </a:rPr>
                        <m:t>of</m:t>
                      </m:r>
                      <m:r>
                        <m:rPr>
                          <m:nor/>
                        </m:rPr>
                        <a:rPr lang="en-US" sz="3200" b="1" dirty="0">
                          <a:effectLst>
                            <a:outerShdw blurRad="38100" dist="38100" dir="2700000" algn="tl">
                              <a:srgbClr val="000000">
                                <a:alpha val="43137"/>
                              </a:srgbClr>
                            </a:outerShdw>
                          </a:effectLst>
                        </a:rPr>
                        <m:t> </m:t>
                      </m:r>
                      <m:r>
                        <m:rPr>
                          <m:nor/>
                        </m:rPr>
                        <a:rPr lang="en-US" sz="3200" b="1" i="0" dirty="0" smtClean="0">
                          <a:effectLst>
                            <a:outerShdw blurRad="38100" dist="38100" dir="2700000" algn="tl">
                              <a:srgbClr val="000000">
                                <a:alpha val="43137"/>
                              </a:srgbClr>
                            </a:outerShdw>
                          </a:effectLst>
                        </a:rPr>
                        <m:t>edges</m:t>
                      </m:r>
                      <m:r>
                        <m:rPr>
                          <m:nor/>
                        </m:rPr>
                        <a:rPr lang="en-US" sz="3200" b="1" dirty="0">
                          <a:effectLst>
                            <a:outerShdw blurRad="38100" dist="38100" dir="2700000" algn="tl">
                              <a:srgbClr val="000000">
                                <a:alpha val="43137"/>
                              </a:srgbClr>
                            </a:outerShdw>
                          </a:effectLst>
                        </a:rPr>
                        <m:t>:</m:t>
                      </m:r>
                      <m:r>
                        <a:rPr lang="en-US" sz="3200" b="1" i="1" dirty="0" smtClean="0">
                          <a:effectLst>
                            <a:outerShdw blurRad="38100" dist="38100" dir="2700000" algn="tl">
                              <a:srgbClr val="000000">
                                <a:alpha val="43137"/>
                              </a:srgbClr>
                            </a:outerShdw>
                          </a:effectLst>
                          <a:latin typeface="Cambria Math" panose="02040503050406030204" pitchFamily="18" charset="0"/>
                        </a:rPr>
                        <m:t> </m:t>
                      </m:r>
                      <m:d>
                        <m:dPr>
                          <m:begChr m:val="|"/>
                          <m:endChr m:val="|"/>
                          <m:ctrlPr>
                            <a:rPr lang="en-US" sz="3200" b="1" i="1" dirty="0" smtClean="0">
                              <a:effectLst>
                                <a:outerShdw blurRad="38100" dist="38100" dir="2700000" algn="tl">
                                  <a:srgbClr val="000000">
                                    <a:alpha val="43137"/>
                                  </a:srgbClr>
                                </a:outerShdw>
                              </a:effectLst>
                              <a:latin typeface="Cambria Math" panose="02040503050406030204" pitchFamily="18" charset="0"/>
                            </a:rPr>
                          </m:ctrlPr>
                        </m:dPr>
                        <m:e>
                          <m:r>
                            <a:rPr lang="en-US" sz="3200" b="1" i="1" dirty="0" smtClean="0">
                              <a:effectLst>
                                <a:outerShdw blurRad="38100" dist="38100" dir="2700000" algn="tl">
                                  <a:srgbClr val="000000">
                                    <a:alpha val="43137"/>
                                  </a:srgbClr>
                                </a:outerShdw>
                              </a:effectLst>
                              <a:latin typeface="Cambria Math" panose="02040503050406030204" pitchFamily="18" charset="0"/>
                            </a:rPr>
                            <m:t>𝑬</m:t>
                          </m:r>
                        </m:e>
                      </m:d>
                    </m:oMath>
                  </m:oMathPara>
                </a14:m>
                <a:endParaRPr lang="en-US" sz="3200" b="1" dirty="0">
                  <a:effectLst>
                    <a:outerShdw blurRad="38100" dist="38100" dir="2700000" algn="tl">
                      <a:srgbClr val="000000">
                        <a:alpha val="43137"/>
                      </a:srgbClr>
                    </a:outerShdw>
                  </a:effectLst>
                </a:endParaRPr>
              </a:p>
            </p:txBody>
          </p:sp>
        </mc:Choice>
        <mc:Fallback xmlns="">
          <p:sp>
            <p:nvSpPr>
              <p:cNvPr id="26" name="Rectangle 25">
                <a:extLst>
                  <a:ext uri="{FF2B5EF4-FFF2-40B4-BE49-F238E27FC236}">
                    <a16:creationId xmlns:a16="http://schemas.microsoft.com/office/drawing/2014/main" id="{E4441973-3426-47C5-81CE-0EF63B28FF72}"/>
                  </a:ext>
                </a:extLst>
              </p:cNvPr>
              <p:cNvSpPr>
                <a:spLocks noRot="1" noChangeAspect="1" noMove="1" noResize="1" noEditPoints="1" noAdjustHandles="1" noChangeArrowheads="1" noChangeShapeType="1" noTextEdit="1"/>
              </p:cNvSpPr>
              <p:nvPr/>
            </p:nvSpPr>
            <p:spPr>
              <a:xfrm>
                <a:off x="5163110" y="2344209"/>
                <a:ext cx="6447698" cy="1569660"/>
              </a:xfrm>
              <a:prstGeom prst="rect">
                <a:avLst/>
              </a:prstGeom>
              <a:blipFill>
                <a:blip r:embed="rId4"/>
                <a:stretch>
                  <a:fillRect l="-756"/>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28125266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What is a Graph?</a:t>
            </a:r>
          </a:p>
        </p:txBody>
      </p:sp>
      <p:sp>
        <p:nvSpPr>
          <p:cNvPr id="17" name="Slide Number Placeholder 16">
            <a:extLst>
              <a:ext uri="{FF2B5EF4-FFF2-40B4-BE49-F238E27FC236}">
                <a16:creationId xmlns:a16="http://schemas.microsoft.com/office/drawing/2014/main" id="{F4807552-A4F5-49E6-9A36-0D3A9F5EC6FA}"/>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4/110</a:t>
            </a:r>
          </a:p>
        </p:txBody>
      </p:sp>
      <p:cxnSp>
        <p:nvCxnSpPr>
          <p:cNvPr id="5" name="Straight Connector 4"/>
          <p:cNvCxnSpPr>
            <a:stCxn id="14" idx="1"/>
          </p:cNvCxnSpPr>
          <p:nvPr/>
        </p:nvCxnSpPr>
        <p:spPr>
          <a:xfrm flipH="1" flipV="1">
            <a:off x="1097669" y="3434342"/>
            <a:ext cx="2198288" cy="933175"/>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Straight Connector 5"/>
          <p:cNvCxnSpPr>
            <a:stCxn id="9" idx="5"/>
          </p:cNvCxnSpPr>
          <p:nvPr/>
        </p:nvCxnSpPr>
        <p:spPr>
          <a:xfrm>
            <a:off x="2328832" y="3162018"/>
            <a:ext cx="1158049" cy="1337765"/>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flipV="1">
            <a:off x="2174848" y="3077522"/>
            <a:ext cx="1856048" cy="24517"/>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1948920" y="3181462"/>
            <a:ext cx="175670" cy="1109474"/>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Oval 16"/>
          <p:cNvSpPr>
            <a:spLocks noChangeArrowheads="1"/>
          </p:cNvSpPr>
          <p:nvPr/>
        </p:nvSpPr>
        <p:spPr bwMode="auto">
          <a:xfrm>
            <a:off x="1957083" y="279026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0" name="Straight Connector 9"/>
          <p:cNvCxnSpPr/>
          <p:nvPr/>
        </p:nvCxnSpPr>
        <p:spPr>
          <a:xfrm flipH="1">
            <a:off x="2120774" y="4499783"/>
            <a:ext cx="1119177" cy="6846"/>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endCxn id="23" idx="1"/>
          </p:cNvCxnSpPr>
          <p:nvPr/>
        </p:nvCxnSpPr>
        <p:spPr>
          <a:xfrm>
            <a:off x="1167927" y="3635918"/>
            <a:ext cx="563889" cy="863865"/>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Oval 16"/>
          <p:cNvSpPr>
            <a:spLocks noChangeArrowheads="1"/>
          </p:cNvSpPr>
          <p:nvPr/>
        </p:nvSpPr>
        <p:spPr bwMode="auto">
          <a:xfrm>
            <a:off x="1686531" y="428201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3" name="Oval 16"/>
          <p:cNvSpPr>
            <a:spLocks noChangeArrowheads="1"/>
          </p:cNvSpPr>
          <p:nvPr/>
        </p:nvSpPr>
        <p:spPr bwMode="auto">
          <a:xfrm>
            <a:off x="796178" y="330985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4" name="Oval 16"/>
          <p:cNvSpPr>
            <a:spLocks noChangeArrowheads="1"/>
          </p:cNvSpPr>
          <p:nvPr/>
        </p:nvSpPr>
        <p:spPr bwMode="auto">
          <a:xfrm>
            <a:off x="3232175" y="4303735"/>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5" name="Straight Connector 14"/>
          <p:cNvCxnSpPr>
            <a:stCxn id="14" idx="7"/>
          </p:cNvCxnSpPr>
          <p:nvPr/>
        </p:nvCxnSpPr>
        <p:spPr>
          <a:xfrm flipV="1">
            <a:off x="3603924" y="3129039"/>
            <a:ext cx="650011" cy="1238478"/>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4029021" y="2895425"/>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2" name="TextBox 21"/>
          <p:cNvSpPr txBox="1"/>
          <p:nvPr/>
        </p:nvSpPr>
        <p:spPr>
          <a:xfrm>
            <a:off x="2006372" y="2812129"/>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1</a:t>
            </a:r>
            <a:endParaRPr lang="en-US" b="1" dirty="0">
              <a:solidFill>
                <a:prstClr val="black"/>
              </a:solidFill>
              <a:latin typeface="Arial Rounded MT Bold" panose="020F0704030504030204" pitchFamily="34" charset="0"/>
            </a:endParaRPr>
          </a:p>
        </p:txBody>
      </p:sp>
      <p:sp>
        <p:nvSpPr>
          <p:cNvPr id="23" name="TextBox 22"/>
          <p:cNvSpPr txBox="1"/>
          <p:nvPr/>
        </p:nvSpPr>
        <p:spPr>
          <a:xfrm>
            <a:off x="1731816" y="4315117"/>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2</a:t>
            </a:r>
            <a:endParaRPr lang="en-US" b="1" dirty="0">
              <a:solidFill>
                <a:prstClr val="black"/>
              </a:solidFill>
              <a:latin typeface="Arial Rounded MT Bold" panose="020F0704030504030204" pitchFamily="34" charset="0"/>
            </a:endParaRPr>
          </a:p>
        </p:txBody>
      </p:sp>
      <p:sp>
        <p:nvSpPr>
          <p:cNvPr id="24" name="TextBox 23"/>
          <p:cNvSpPr txBox="1"/>
          <p:nvPr/>
        </p:nvSpPr>
        <p:spPr>
          <a:xfrm>
            <a:off x="4096606" y="2917373"/>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3</a:t>
            </a:r>
            <a:endParaRPr lang="en-US" b="1" dirty="0">
              <a:solidFill>
                <a:prstClr val="black"/>
              </a:solidFill>
              <a:latin typeface="Arial Rounded MT Bold" panose="020F0704030504030204" pitchFamily="34" charset="0"/>
            </a:endParaRPr>
          </a:p>
        </p:txBody>
      </p:sp>
      <p:sp>
        <p:nvSpPr>
          <p:cNvPr id="25" name="Rectangle 24"/>
          <p:cNvSpPr/>
          <p:nvPr/>
        </p:nvSpPr>
        <p:spPr>
          <a:xfrm>
            <a:off x="844245" y="3347522"/>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4</a:t>
            </a:r>
            <a:endParaRPr lang="en-US" b="1" dirty="0">
              <a:solidFill>
                <a:prstClr val="black"/>
              </a:solidFill>
              <a:latin typeface="Arial Rounded MT Bold" panose="020F0704030504030204" pitchFamily="34" charset="0"/>
            </a:endParaRPr>
          </a:p>
        </p:txBody>
      </p:sp>
      <p:sp>
        <p:nvSpPr>
          <p:cNvPr id="28" name="Rectangle 27"/>
          <p:cNvSpPr/>
          <p:nvPr/>
        </p:nvSpPr>
        <p:spPr>
          <a:xfrm>
            <a:off x="3291957" y="4328668"/>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5</a:t>
            </a:r>
            <a:endParaRPr lang="en-US" b="1" dirty="0">
              <a:solidFill>
                <a:prstClr val="black"/>
              </a:solidFill>
              <a:latin typeface="Arial Rounded MT Bold" panose="020F0704030504030204" pitchFamily="34" charset="0"/>
            </a:endParaRPr>
          </a:p>
        </p:txBody>
      </p:sp>
      <p:sp>
        <p:nvSpPr>
          <p:cNvPr id="30" name="Rectangle 29">
            <a:extLst>
              <a:ext uri="{FF2B5EF4-FFF2-40B4-BE49-F238E27FC236}">
                <a16:creationId xmlns:a16="http://schemas.microsoft.com/office/drawing/2014/main" id="{C9B8AFE2-54D4-4F00-B6CF-5B289233E463}"/>
              </a:ext>
            </a:extLst>
          </p:cNvPr>
          <p:cNvSpPr/>
          <p:nvPr/>
        </p:nvSpPr>
        <p:spPr>
          <a:xfrm>
            <a:off x="1741235" y="5322398"/>
            <a:ext cx="1862689" cy="1077218"/>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latin typeface="Arial Rounded MT Bold" panose="020F0704030504030204" pitchFamily="34" charset="0"/>
              </a:rPr>
              <a:t>G=(E,V)</a:t>
            </a:r>
          </a:p>
          <a:p>
            <a:pPr marL="118872" lvl="0">
              <a:buClr>
                <a:srgbClr val="F0AD00"/>
              </a:buClr>
              <a:buSzPct val="80000"/>
            </a:pPr>
            <a:endParaRPr lang="en-US" sz="3200" b="1" dirty="0">
              <a:effectLst>
                <a:outerShdw blurRad="38100" dist="38100" dir="2700000" algn="tl">
                  <a:srgbClr val="000000">
                    <a:alpha val="43137"/>
                  </a:srgbClr>
                </a:outerShdw>
              </a:effectLst>
            </a:endParaRPr>
          </a:p>
        </p:txBody>
      </p:sp>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E4441973-3426-47C5-81CE-0EF63B28FF72}"/>
                  </a:ext>
                </a:extLst>
              </p:cNvPr>
              <p:cNvSpPr/>
              <p:nvPr/>
            </p:nvSpPr>
            <p:spPr>
              <a:xfrm>
                <a:off x="6138577" y="2414623"/>
                <a:ext cx="3078535" cy="3650295"/>
              </a:xfrm>
              <a:prstGeom prst="rect">
                <a:avLst/>
              </a:prstGeom>
            </p:spPr>
            <p:txBody>
              <a:bodyPr wrap="none">
                <a:spAutoFit/>
              </a:bodyPr>
              <a:lstStyle/>
              <a:p>
                <a:pPr marL="118872" lvl="0">
                  <a:lnSpc>
                    <a:spcPct val="150000"/>
                  </a:lnSpc>
                  <a:buClr>
                    <a:srgbClr val="F0AD00"/>
                  </a:buClr>
                  <a:buSzPct val="80000"/>
                </a:pPr>
                <a14:m>
                  <m:oMathPara xmlns:m="http://schemas.openxmlformats.org/officeDocument/2006/math">
                    <m:oMathParaPr>
                      <m:jc m:val="centerGroup"/>
                    </m:oMathParaPr>
                    <m:oMath xmlns:m="http://schemas.openxmlformats.org/officeDocument/2006/math">
                      <m:r>
                        <a:rPr lang="en-US" sz="3200" b="1" i="1" dirty="0" smtClean="0">
                          <a:effectLst>
                            <a:outerShdw blurRad="38100" dist="38100" dir="2700000" algn="tl">
                              <a:srgbClr val="000000">
                                <a:alpha val="43137"/>
                              </a:srgbClr>
                            </a:outerShdw>
                          </a:effectLst>
                          <a:latin typeface="Cambria Math" panose="02040503050406030204" pitchFamily="18" charset="0"/>
                        </a:rPr>
                        <m:t>|</m:t>
                      </m:r>
                      <m:r>
                        <a:rPr lang="en-US" sz="3200" b="1" i="1" dirty="0" smtClean="0">
                          <a:effectLst>
                            <a:outerShdw blurRad="38100" dist="38100" dir="2700000" algn="tl">
                              <a:srgbClr val="000000">
                                <a:alpha val="43137"/>
                              </a:srgbClr>
                            </a:outerShdw>
                          </a:effectLst>
                          <a:latin typeface="Cambria Math" panose="02040503050406030204" pitchFamily="18" charset="0"/>
                        </a:rPr>
                        <m:t>𝑽</m:t>
                      </m:r>
                      <m:r>
                        <a:rPr lang="en-US" sz="3200" b="1" i="1" dirty="0" smtClean="0">
                          <a:effectLst>
                            <a:outerShdw blurRad="38100" dist="38100" dir="2700000" algn="tl">
                              <a:srgbClr val="000000">
                                <a:alpha val="43137"/>
                              </a:srgbClr>
                            </a:outerShdw>
                          </a:effectLst>
                          <a:latin typeface="Cambria Math" panose="02040503050406030204" pitchFamily="18" charset="0"/>
                        </a:rPr>
                        <m:t>|=</m:t>
                      </m:r>
                      <m:r>
                        <a:rPr lang="en-US" sz="3200" b="1" i="1" dirty="0" smtClean="0">
                          <a:effectLst>
                            <a:outerShdw blurRad="38100" dist="38100" dir="2700000" algn="tl">
                              <a:srgbClr val="000000">
                                <a:alpha val="43137"/>
                              </a:srgbClr>
                            </a:outerShdw>
                          </a:effectLst>
                          <a:latin typeface="Cambria Math" panose="02040503050406030204" pitchFamily="18" charset="0"/>
                        </a:rPr>
                        <m:t>𝒏</m:t>
                      </m:r>
                    </m:oMath>
                  </m:oMathPara>
                </a14:m>
                <a:endParaRPr lang="en-US" sz="3200" b="1" dirty="0">
                  <a:effectLst>
                    <a:outerShdw blurRad="38100" dist="38100" dir="2700000" algn="tl">
                      <a:srgbClr val="000000">
                        <a:alpha val="43137"/>
                      </a:srgbClr>
                    </a:outerShdw>
                  </a:effectLst>
                  <a:latin typeface="Arial Rounded MT Bold" panose="020F0704030504030204" pitchFamily="34" charset="0"/>
                </a:endParaRPr>
              </a:p>
              <a:p>
                <a:pPr marL="118872" lvl="0">
                  <a:lnSpc>
                    <a:spcPct val="150000"/>
                  </a:lnSpc>
                  <a:buClr>
                    <a:srgbClr val="F0AD00"/>
                  </a:buClr>
                  <a:buSzPct val="80000"/>
                </a:pPr>
                <a14:m>
                  <m:oMathPara xmlns:m="http://schemas.openxmlformats.org/officeDocument/2006/math">
                    <m:oMathParaPr>
                      <m:jc m:val="centerGroup"/>
                    </m:oMathParaPr>
                    <m:oMath xmlns:m="http://schemas.openxmlformats.org/officeDocument/2006/math">
                      <m:d>
                        <m:dPr>
                          <m:begChr m:val="|"/>
                          <m:endChr m:val="|"/>
                          <m:ctrlPr>
                            <a:rPr lang="en-US" sz="3200" b="1" i="1" dirty="0" smtClean="0">
                              <a:effectLst>
                                <a:outerShdw blurRad="38100" dist="38100" dir="2700000" algn="tl">
                                  <a:srgbClr val="000000">
                                    <a:alpha val="43137"/>
                                  </a:srgbClr>
                                </a:outerShdw>
                              </a:effectLst>
                              <a:latin typeface="Cambria Math" panose="02040503050406030204" pitchFamily="18" charset="0"/>
                            </a:rPr>
                          </m:ctrlPr>
                        </m:dPr>
                        <m:e>
                          <m:r>
                            <a:rPr lang="en-US" sz="3200" b="1" i="1" dirty="0" smtClean="0">
                              <a:effectLst>
                                <a:outerShdw blurRad="38100" dist="38100" dir="2700000" algn="tl">
                                  <a:srgbClr val="000000">
                                    <a:alpha val="43137"/>
                                  </a:srgbClr>
                                </a:outerShdw>
                              </a:effectLst>
                              <a:latin typeface="Cambria Math" panose="02040503050406030204" pitchFamily="18" charset="0"/>
                            </a:rPr>
                            <m:t>𝑬</m:t>
                          </m:r>
                        </m:e>
                      </m:d>
                      <m:r>
                        <a:rPr lang="en-US" sz="3200" b="1" i="1" dirty="0" smtClean="0">
                          <a:effectLst>
                            <a:outerShdw blurRad="38100" dist="38100" dir="2700000" algn="tl">
                              <a:srgbClr val="000000">
                                <a:alpha val="43137"/>
                              </a:srgbClr>
                            </a:outerShdw>
                          </a:effectLst>
                          <a:latin typeface="Cambria Math" panose="02040503050406030204" pitchFamily="18" charset="0"/>
                        </a:rPr>
                        <m:t>≤</m:t>
                      </m:r>
                      <m:f>
                        <m:fPr>
                          <m:ctrlPr>
                            <a:rPr lang="en-US" sz="3200" b="1" i="1" dirty="0" smtClean="0">
                              <a:effectLst>
                                <a:outerShdw blurRad="38100" dist="38100" dir="2700000" algn="tl">
                                  <a:srgbClr val="000000">
                                    <a:alpha val="43137"/>
                                  </a:srgbClr>
                                </a:outerShdw>
                              </a:effectLst>
                              <a:latin typeface="Cambria Math" panose="02040503050406030204" pitchFamily="18" charset="0"/>
                            </a:rPr>
                          </m:ctrlPr>
                        </m:fPr>
                        <m:num>
                          <m:r>
                            <a:rPr lang="en-US" sz="3200" b="1" i="1" dirty="0" smtClean="0">
                              <a:effectLst>
                                <a:outerShdw blurRad="38100" dist="38100" dir="2700000" algn="tl">
                                  <a:srgbClr val="000000">
                                    <a:alpha val="43137"/>
                                  </a:srgbClr>
                                </a:outerShdw>
                              </a:effectLst>
                              <a:latin typeface="Cambria Math" panose="02040503050406030204" pitchFamily="18" charset="0"/>
                            </a:rPr>
                            <m:t>𝒏</m:t>
                          </m:r>
                          <m:d>
                            <m:dPr>
                              <m:ctrlPr>
                                <a:rPr lang="en-US" sz="3200" b="1" i="1" dirty="0" smtClean="0">
                                  <a:effectLst>
                                    <a:outerShdw blurRad="38100" dist="38100" dir="2700000" algn="tl">
                                      <a:srgbClr val="000000">
                                        <a:alpha val="43137"/>
                                      </a:srgbClr>
                                    </a:outerShdw>
                                  </a:effectLst>
                                  <a:latin typeface="Cambria Math" panose="02040503050406030204" pitchFamily="18" charset="0"/>
                                </a:rPr>
                              </m:ctrlPr>
                            </m:dPr>
                            <m:e>
                              <m:r>
                                <a:rPr lang="en-US" sz="3200" b="1" i="1" dirty="0" smtClean="0">
                                  <a:effectLst>
                                    <a:outerShdw blurRad="38100" dist="38100" dir="2700000" algn="tl">
                                      <a:srgbClr val="000000">
                                        <a:alpha val="43137"/>
                                      </a:srgbClr>
                                    </a:outerShdw>
                                  </a:effectLst>
                                  <a:latin typeface="Cambria Math" panose="02040503050406030204" pitchFamily="18" charset="0"/>
                                </a:rPr>
                                <m:t>𝒏</m:t>
                              </m:r>
                              <m:r>
                                <a:rPr lang="en-US" sz="3200" b="1" i="1" dirty="0" smtClean="0">
                                  <a:effectLst>
                                    <a:outerShdw blurRad="38100" dist="38100" dir="2700000" algn="tl">
                                      <a:srgbClr val="000000">
                                        <a:alpha val="43137"/>
                                      </a:srgbClr>
                                    </a:outerShdw>
                                  </a:effectLst>
                                  <a:latin typeface="Cambria Math" panose="02040503050406030204" pitchFamily="18" charset="0"/>
                                </a:rPr>
                                <m:t>−</m:t>
                              </m:r>
                              <m:r>
                                <a:rPr lang="en-US" sz="3200" b="1" i="1" dirty="0" smtClean="0">
                                  <a:effectLst>
                                    <a:outerShdw blurRad="38100" dist="38100" dir="2700000" algn="tl">
                                      <a:srgbClr val="000000">
                                        <a:alpha val="43137"/>
                                      </a:srgbClr>
                                    </a:outerShdw>
                                  </a:effectLst>
                                  <a:latin typeface="Cambria Math" panose="02040503050406030204" pitchFamily="18" charset="0"/>
                                </a:rPr>
                                <m:t>𝟏</m:t>
                              </m:r>
                            </m:e>
                          </m:d>
                        </m:num>
                        <m:den>
                          <m:r>
                            <a:rPr lang="en-US" sz="3200" b="1" i="1" dirty="0" smtClean="0">
                              <a:effectLst>
                                <a:outerShdw blurRad="38100" dist="38100" dir="2700000" algn="tl">
                                  <a:srgbClr val="000000">
                                    <a:alpha val="43137"/>
                                  </a:srgbClr>
                                </a:outerShdw>
                              </a:effectLst>
                              <a:latin typeface="Cambria Math" panose="02040503050406030204" pitchFamily="18" charset="0"/>
                            </a:rPr>
                            <m:t>𝟐</m:t>
                          </m:r>
                        </m:den>
                      </m:f>
                    </m:oMath>
                  </m:oMathPara>
                </a14:m>
                <a:endParaRPr lang="en-US" sz="3200" b="1" dirty="0">
                  <a:effectLst>
                    <a:outerShdw blurRad="38100" dist="38100" dir="2700000" algn="tl">
                      <a:srgbClr val="000000">
                        <a:alpha val="43137"/>
                      </a:srgbClr>
                    </a:outerShdw>
                  </a:effectLst>
                  <a:latin typeface="Arial Rounded MT Bold" panose="020F0704030504030204" pitchFamily="34" charset="0"/>
                </a:endParaRPr>
              </a:p>
              <a:p>
                <a:pPr marL="118872">
                  <a:lnSpc>
                    <a:spcPct val="150000"/>
                  </a:lnSpc>
                  <a:buClr>
                    <a:srgbClr val="F0AD00"/>
                  </a:buClr>
                  <a:buSzPct val="80000"/>
                </a:pPr>
                <a14:m>
                  <m:oMathPara xmlns:m="http://schemas.openxmlformats.org/officeDocument/2006/math">
                    <m:oMathParaPr>
                      <m:jc m:val="centerGroup"/>
                    </m:oMathParaPr>
                    <m:oMath xmlns:m="http://schemas.openxmlformats.org/officeDocument/2006/math">
                      <m:d>
                        <m:dPr>
                          <m:begChr m:val="|"/>
                          <m:endChr m:val="|"/>
                          <m:ctrlPr>
                            <a:rPr lang="en-US" sz="3200" b="1" i="1" dirty="0">
                              <a:effectLst>
                                <a:outerShdw blurRad="38100" dist="38100" dir="2700000" algn="tl">
                                  <a:srgbClr val="000000">
                                    <a:alpha val="43137"/>
                                  </a:srgbClr>
                                </a:outerShdw>
                              </a:effectLst>
                              <a:latin typeface="Cambria Math" panose="02040503050406030204" pitchFamily="18" charset="0"/>
                            </a:rPr>
                          </m:ctrlPr>
                        </m:dPr>
                        <m:e>
                          <m:r>
                            <a:rPr lang="en-US" sz="3200" b="1" i="1" dirty="0">
                              <a:effectLst>
                                <a:outerShdw blurRad="38100" dist="38100" dir="2700000" algn="tl">
                                  <a:srgbClr val="000000">
                                    <a:alpha val="43137"/>
                                  </a:srgbClr>
                                </a:outerShdw>
                              </a:effectLst>
                              <a:latin typeface="Cambria Math" panose="02040503050406030204" pitchFamily="18" charset="0"/>
                            </a:rPr>
                            <m:t>𝑬</m:t>
                          </m:r>
                        </m:e>
                      </m:d>
                      <m:r>
                        <a:rPr lang="en-US" sz="3200" b="1" i="1" dirty="0" smtClean="0">
                          <a:effectLst>
                            <a:outerShdw blurRad="38100" dist="38100" dir="2700000" algn="tl">
                              <a:srgbClr val="000000">
                                <a:alpha val="43137"/>
                              </a:srgbClr>
                            </a:outerShdw>
                          </a:effectLst>
                          <a:latin typeface="Cambria Math" panose="02040503050406030204" pitchFamily="18" charset="0"/>
                        </a:rPr>
                        <m:t>=</m:t>
                      </m:r>
                      <m:r>
                        <a:rPr lang="en-US" sz="3200" b="1" i="1" dirty="0" smtClean="0">
                          <a:effectLst>
                            <a:outerShdw blurRad="38100" dist="38100" dir="2700000" algn="tl">
                              <a:srgbClr val="000000">
                                <a:alpha val="43137"/>
                              </a:srgbClr>
                            </a:outerShdw>
                          </a:effectLst>
                          <a:latin typeface="Cambria Math" panose="02040503050406030204" pitchFamily="18" charset="0"/>
                        </a:rPr>
                        <m:t>𝑶</m:t>
                      </m:r>
                      <m:r>
                        <a:rPr lang="en-US" sz="3200" b="1" i="1" dirty="0" smtClean="0">
                          <a:effectLst>
                            <a:outerShdw blurRad="38100" dist="38100" dir="2700000" algn="tl">
                              <a:srgbClr val="000000">
                                <a:alpha val="43137"/>
                              </a:srgbClr>
                            </a:outerShdw>
                          </a:effectLst>
                          <a:latin typeface="Cambria Math" panose="02040503050406030204" pitchFamily="18" charset="0"/>
                        </a:rPr>
                        <m:t>(</m:t>
                      </m:r>
                      <m:sSup>
                        <m:sSupPr>
                          <m:ctrlPr>
                            <a:rPr lang="en-US" sz="3200" b="1" i="1" dirty="0" smtClean="0">
                              <a:effectLst>
                                <a:outerShdw blurRad="38100" dist="38100" dir="2700000" algn="tl">
                                  <a:srgbClr val="000000">
                                    <a:alpha val="43137"/>
                                  </a:srgbClr>
                                </a:outerShdw>
                              </a:effectLst>
                              <a:latin typeface="Cambria Math" panose="02040503050406030204" pitchFamily="18" charset="0"/>
                            </a:rPr>
                          </m:ctrlPr>
                        </m:sSupPr>
                        <m:e>
                          <m:r>
                            <a:rPr lang="en-US" sz="3200" b="1" i="1" dirty="0" smtClean="0">
                              <a:effectLst>
                                <a:outerShdw blurRad="38100" dist="38100" dir="2700000" algn="tl">
                                  <a:srgbClr val="000000">
                                    <a:alpha val="43137"/>
                                  </a:srgbClr>
                                </a:outerShdw>
                              </a:effectLst>
                              <a:latin typeface="Cambria Math" panose="02040503050406030204" pitchFamily="18" charset="0"/>
                            </a:rPr>
                            <m:t>𝒏</m:t>
                          </m:r>
                        </m:e>
                        <m:sup>
                          <m:r>
                            <a:rPr lang="en-US" sz="3200" b="1" i="1" dirty="0" smtClean="0">
                              <a:effectLst>
                                <a:outerShdw blurRad="38100" dist="38100" dir="2700000" algn="tl">
                                  <a:srgbClr val="000000">
                                    <a:alpha val="43137"/>
                                  </a:srgbClr>
                                </a:outerShdw>
                              </a:effectLst>
                              <a:latin typeface="Cambria Math" panose="02040503050406030204" pitchFamily="18" charset="0"/>
                            </a:rPr>
                            <m:t>𝟐</m:t>
                          </m:r>
                        </m:sup>
                      </m:sSup>
                      <m:r>
                        <a:rPr lang="en-US" sz="3200" b="1" i="1" dirty="0" smtClean="0">
                          <a:effectLst>
                            <a:outerShdw blurRad="38100" dist="38100" dir="2700000" algn="tl">
                              <a:srgbClr val="000000">
                                <a:alpha val="43137"/>
                              </a:srgbClr>
                            </a:outerShdw>
                          </a:effectLst>
                          <a:latin typeface="Cambria Math" panose="02040503050406030204" pitchFamily="18" charset="0"/>
                        </a:rPr>
                        <m:t>)</m:t>
                      </m:r>
                    </m:oMath>
                  </m:oMathPara>
                </a14:m>
                <a:endParaRPr lang="en-US" sz="3200" b="1" dirty="0">
                  <a:effectLst>
                    <a:outerShdw blurRad="38100" dist="38100" dir="2700000" algn="tl">
                      <a:srgbClr val="000000">
                        <a:alpha val="43137"/>
                      </a:srgbClr>
                    </a:outerShdw>
                  </a:effectLst>
                  <a:latin typeface="Arial Rounded MT Bold" panose="020F0704030504030204" pitchFamily="34" charset="0"/>
                </a:endParaRPr>
              </a:p>
              <a:p>
                <a:pPr marL="118872" lvl="0">
                  <a:lnSpc>
                    <a:spcPct val="150000"/>
                  </a:lnSpc>
                  <a:buClr>
                    <a:srgbClr val="F0AD00"/>
                  </a:buClr>
                  <a:buSzPct val="80000"/>
                </a:pPr>
                <a:endParaRPr lang="en-US" sz="3200" b="1" dirty="0">
                  <a:effectLst>
                    <a:outerShdw blurRad="38100" dist="38100" dir="2700000" algn="tl">
                      <a:srgbClr val="000000">
                        <a:alpha val="43137"/>
                      </a:srgbClr>
                    </a:outerShdw>
                  </a:effectLst>
                </a:endParaRPr>
              </a:p>
            </p:txBody>
          </p:sp>
        </mc:Choice>
        <mc:Fallback xmlns="">
          <p:sp>
            <p:nvSpPr>
              <p:cNvPr id="26" name="Rectangle 25">
                <a:extLst>
                  <a:ext uri="{FF2B5EF4-FFF2-40B4-BE49-F238E27FC236}">
                    <a16:creationId xmlns:a16="http://schemas.microsoft.com/office/drawing/2014/main" id="{E4441973-3426-47C5-81CE-0EF63B28FF72}"/>
                  </a:ext>
                </a:extLst>
              </p:cNvPr>
              <p:cNvSpPr>
                <a:spLocks noRot="1" noChangeAspect="1" noMove="1" noResize="1" noEditPoints="1" noAdjustHandles="1" noChangeArrowheads="1" noChangeShapeType="1" noTextEdit="1"/>
              </p:cNvSpPr>
              <p:nvPr/>
            </p:nvSpPr>
            <p:spPr>
              <a:xfrm>
                <a:off x="6138577" y="2414623"/>
                <a:ext cx="3078535" cy="3650295"/>
              </a:xfrm>
              <a:prstGeom prst="rect">
                <a:avLst/>
              </a:prstGeom>
              <a:blipFill>
                <a:blip r:embed="rId4"/>
                <a:stretch>
                  <a:fillRect/>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0013C2E5-8D65-4792-B6B2-D8E5B4144258}"/>
              </a:ext>
            </a:extLst>
          </p:cNvPr>
          <p:cNvSpPr/>
          <p:nvPr/>
        </p:nvSpPr>
        <p:spPr>
          <a:xfrm>
            <a:off x="7398839" y="3254188"/>
            <a:ext cx="2318902" cy="13447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7E85AD91-2CD8-44AE-B82B-BD5A44629B99}"/>
              </a:ext>
            </a:extLst>
          </p:cNvPr>
          <p:cNvSpPr/>
          <p:nvPr/>
        </p:nvSpPr>
        <p:spPr>
          <a:xfrm>
            <a:off x="5477779" y="3431113"/>
            <a:ext cx="1921060" cy="10123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AC3778E4-16F6-4E71-B8D6-1E7CBDFCEE26}"/>
              </a:ext>
            </a:extLst>
          </p:cNvPr>
          <p:cNvSpPr/>
          <p:nvPr/>
        </p:nvSpPr>
        <p:spPr>
          <a:xfrm>
            <a:off x="6341004" y="4688897"/>
            <a:ext cx="2426478" cy="13447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530081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7" grpId="0" animBg="1"/>
      <p:bldP spid="2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Degree in an undirected graph</a:t>
            </a:r>
          </a:p>
        </p:txBody>
      </p:sp>
      <p:sp>
        <p:nvSpPr>
          <p:cNvPr id="17" name="Slide Number Placeholder 16">
            <a:extLst>
              <a:ext uri="{FF2B5EF4-FFF2-40B4-BE49-F238E27FC236}">
                <a16:creationId xmlns:a16="http://schemas.microsoft.com/office/drawing/2014/main" id="{F4807552-A4F5-49E6-9A36-0D3A9F5EC6FA}"/>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5/110</a:t>
            </a:r>
          </a:p>
        </p:txBody>
      </p:sp>
      <p:cxnSp>
        <p:nvCxnSpPr>
          <p:cNvPr id="5" name="Straight Connector 4"/>
          <p:cNvCxnSpPr>
            <a:stCxn id="14" idx="1"/>
          </p:cNvCxnSpPr>
          <p:nvPr/>
        </p:nvCxnSpPr>
        <p:spPr>
          <a:xfrm flipH="1" flipV="1">
            <a:off x="1097669" y="3434342"/>
            <a:ext cx="2198288" cy="933175"/>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Straight Connector 5"/>
          <p:cNvCxnSpPr>
            <a:stCxn id="9" idx="5"/>
          </p:cNvCxnSpPr>
          <p:nvPr/>
        </p:nvCxnSpPr>
        <p:spPr>
          <a:xfrm>
            <a:off x="2328832" y="3162018"/>
            <a:ext cx="1158049" cy="1337765"/>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flipV="1">
            <a:off x="2174848" y="3077522"/>
            <a:ext cx="1856048" cy="24517"/>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1948920" y="3181462"/>
            <a:ext cx="175670" cy="1109474"/>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Oval 16"/>
          <p:cNvSpPr>
            <a:spLocks noChangeArrowheads="1"/>
          </p:cNvSpPr>
          <p:nvPr/>
        </p:nvSpPr>
        <p:spPr bwMode="auto">
          <a:xfrm>
            <a:off x="1957083" y="279026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0" name="Straight Connector 9"/>
          <p:cNvCxnSpPr/>
          <p:nvPr/>
        </p:nvCxnSpPr>
        <p:spPr>
          <a:xfrm flipH="1">
            <a:off x="2120774" y="4499783"/>
            <a:ext cx="1119177" cy="6846"/>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endCxn id="23" idx="1"/>
          </p:cNvCxnSpPr>
          <p:nvPr/>
        </p:nvCxnSpPr>
        <p:spPr>
          <a:xfrm>
            <a:off x="1167927" y="3635918"/>
            <a:ext cx="563889" cy="863865"/>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Oval 16"/>
          <p:cNvSpPr>
            <a:spLocks noChangeArrowheads="1"/>
          </p:cNvSpPr>
          <p:nvPr/>
        </p:nvSpPr>
        <p:spPr bwMode="auto">
          <a:xfrm>
            <a:off x="1686531" y="428201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3" name="Oval 16"/>
          <p:cNvSpPr>
            <a:spLocks noChangeArrowheads="1"/>
          </p:cNvSpPr>
          <p:nvPr/>
        </p:nvSpPr>
        <p:spPr bwMode="auto">
          <a:xfrm>
            <a:off x="796178" y="330985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4" name="Oval 16"/>
          <p:cNvSpPr>
            <a:spLocks noChangeArrowheads="1"/>
          </p:cNvSpPr>
          <p:nvPr/>
        </p:nvSpPr>
        <p:spPr bwMode="auto">
          <a:xfrm>
            <a:off x="3232175" y="4303735"/>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5" name="Straight Connector 14"/>
          <p:cNvCxnSpPr>
            <a:stCxn id="14" idx="7"/>
          </p:cNvCxnSpPr>
          <p:nvPr/>
        </p:nvCxnSpPr>
        <p:spPr>
          <a:xfrm flipV="1">
            <a:off x="3603924" y="3129039"/>
            <a:ext cx="650011" cy="1238478"/>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4029021" y="2895425"/>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2" name="TextBox 21"/>
          <p:cNvSpPr txBox="1"/>
          <p:nvPr/>
        </p:nvSpPr>
        <p:spPr>
          <a:xfrm>
            <a:off x="2006372" y="2812129"/>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1</a:t>
            </a:r>
            <a:endParaRPr lang="en-US" b="1" dirty="0">
              <a:solidFill>
                <a:prstClr val="black"/>
              </a:solidFill>
              <a:latin typeface="Arial Rounded MT Bold" panose="020F0704030504030204" pitchFamily="34" charset="0"/>
            </a:endParaRPr>
          </a:p>
        </p:txBody>
      </p:sp>
      <p:sp>
        <p:nvSpPr>
          <p:cNvPr id="23" name="TextBox 22"/>
          <p:cNvSpPr txBox="1"/>
          <p:nvPr/>
        </p:nvSpPr>
        <p:spPr>
          <a:xfrm>
            <a:off x="1731816" y="4315117"/>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2</a:t>
            </a:r>
            <a:endParaRPr lang="en-US" b="1" dirty="0">
              <a:solidFill>
                <a:prstClr val="black"/>
              </a:solidFill>
              <a:latin typeface="Arial Rounded MT Bold" panose="020F0704030504030204" pitchFamily="34" charset="0"/>
            </a:endParaRPr>
          </a:p>
        </p:txBody>
      </p:sp>
      <p:sp>
        <p:nvSpPr>
          <p:cNvPr id="24" name="TextBox 23"/>
          <p:cNvSpPr txBox="1"/>
          <p:nvPr/>
        </p:nvSpPr>
        <p:spPr>
          <a:xfrm>
            <a:off x="4096606" y="2917373"/>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3</a:t>
            </a:r>
            <a:endParaRPr lang="en-US" b="1" dirty="0">
              <a:solidFill>
                <a:prstClr val="black"/>
              </a:solidFill>
              <a:latin typeface="Arial Rounded MT Bold" panose="020F0704030504030204" pitchFamily="34" charset="0"/>
            </a:endParaRPr>
          </a:p>
        </p:txBody>
      </p:sp>
      <p:sp>
        <p:nvSpPr>
          <p:cNvPr id="25" name="Rectangle 24"/>
          <p:cNvSpPr/>
          <p:nvPr/>
        </p:nvSpPr>
        <p:spPr>
          <a:xfrm>
            <a:off x="844245" y="3347522"/>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4</a:t>
            </a:r>
            <a:endParaRPr lang="en-US" b="1" dirty="0">
              <a:solidFill>
                <a:prstClr val="black"/>
              </a:solidFill>
              <a:latin typeface="Arial Rounded MT Bold" panose="020F0704030504030204" pitchFamily="34" charset="0"/>
            </a:endParaRPr>
          </a:p>
        </p:txBody>
      </p:sp>
      <p:sp>
        <p:nvSpPr>
          <p:cNvPr id="28" name="Rectangle 27"/>
          <p:cNvSpPr/>
          <p:nvPr/>
        </p:nvSpPr>
        <p:spPr>
          <a:xfrm>
            <a:off x="3291957" y="4328668"/>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5</a:t>
            </a:r>
            <a:endParaRPr lang="en-US" b="1" dirty="0">
              <a:solidFill>
                <a:prstClr val="black"/>
              </a:solidFill>
              <a:latin typeface="Arial Rounded MT Bold" panose="020F0704030504030204" pitchFamily="34" charset="0"/>
            </a:endParaRPr>
          </a:p>
        </p:txBody>
      </p:sp>
      <p:sp>
        <p:nvSpPr>
          <p:cNvPr id="30" name="Rectangle 29">
            <a:extLst>
              <a:ext uri="{FF2B5EF4-FFF2-40B4-BE49-F238E27FC236}">
                <a16:creationId xmlns:a16="http://schemas.microsoft.com/office/drawing/2014/main" id="{C9B8AFE2-54D4-4F00-B6CF-5B289233E463}"/>
              </a:ext>
            </a:extLst>
          </p:cNvPr>
          <p:cNvSpPr/>
          <p:nvPr/>
        </p:nvSpPr>
        <p:spPr>
          <a:xfrm>
            <a:off x="1741235" y="5322398"/>
            <a:ext cx="1862689" cy="1077218"/>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latin typeface="Arial Rounded MT Bold" panose="020F0704030504030204" pitchFamily="34" charset="0"/>
              </a:rPr>
              <a:t>G=(E,V)</a:t>
            </a:r>
          </a:p>
          <a:p>
            <a:pPr marL="118872" lvl="0">
              <a:buClr>
                <a:srgbClr val="F0AD00"/>
              </a:buClr>
              <a:buSzPct val="80000"/>
            </a:pPr>
            <a:endParaRPr lang="en-US" sz="3200" b="1" dirty="0">
              <a:effectLst>
                <a:outerShdw blurRad="38100" dist="38100" dir="2700000" algn="tl">
                  <a:srgbClr val="000000">
                    <a:alpha val="43137"/>
                  </a:srgbClr>
                </a:outerShdw>
              </a:effectLst>
            </a:endParaRPr>
          </a:p>
        </p:txBody>
      </p:sp>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E4441973-3426-47C5-81CE-0EF63B28FF72}"/>
                  </a:ext>
                </a:extLst>
              </p:cNvPr>
              <p:cNvSpPr/>
              <p:nvPr/>
            </p:nvSpPr>
            <p:spPr>
              <a:xfrm>
                <a:off x="5038106" y="2679756"/>
                <a:ext cx="5799921" cy="1129155"/>
              </a:xfrm>
              <a:prstGeom prst="rect">
                <a:avLst/>
              </a:prstGeom>
            </p:spPr>
            <p:txBody>
              <a:bodyPr wrap="none">
                <a:spAutoFit/>
              </a:bodyPr>
              <a:lstStyle/>
              <a:p>
                <a:pPr marL="118872" lvl="0">
                  <a:lnSpc>
                    <a:spcPct val="150000"/>
                  </a:lnSpc>
                  <a:buClr>
                    <a:srgbClr val="F0AD00"/>
                  </a:buClr>
                  <a:buSzPct val="80000"/>
                </a:pPr>
                <a:r>
                  <a:rPr lang="en-US" sz="2400" b="1" dirty="0">
                    <a:effectLst>
                      <a:outerShdw blurRad="38100" dist="38100" dir="2700000" algn="tl">
                        <a:srgbClr val="000000">
                          <a:alpha val="43137"/>
                        </a:srgbClr>
                      </a:outerShdw>
                    </a:effectLst>
                    <a:latin typeface="Arial Rounded MT Bold" panose="020F0704030504030204" pitchFamily="34" charset="0"/>
                  </a:rPr>
                  <a:t>Degree of a node, </a:t>
                </a:r>
                <a14:m>
                  <m:oMath xmlns:m="http://schemas.openxmlformats.org/officeDocument/2006/math">
                    <m:func>
                      <m:funcPr>
                        <m:ctrlPr>
                          <a:rPr lang="en-US" sz="2400" b="1" i="1" dirty="0" smtClean="0">
                            <a:effectLst>
                              <a:outerShdw blurRad="38100" dist="38100" dir="2700000" algn="tl">
                                <a:srgbClr val="000000">
                                  <a:alpha val="43137"/>
                                </a:srgbClr>
                              </a:outerShdw>
                            </a:effectLst>
                            <a:latin typeface="Cambria Math" panose="02040503050406030204" pitchFamily="18" charset="0"/>
                          </a:rPr>
                        </m:ctrlPr>
                      </m:funcPr>
                      <m:fName>
                        <m:r>
                          <m:rPr>
                            <m:sty m:val="p"/>
                          </m:rPr>
                          <a:rPr lang="en-US" sz="2400" b="0" i="0" dirty="0" smtClean="0">
                            <a:effectLst>
                              <a:outerShdw blurRad="38100" dist="38100" dir="2700000" algn="tl">
                                <a:srgbClr val="000000">
                                  <a:alpha val="43137"/>
                                </a:srgbClr>
                              </a:outerShdw>
                            </a:effectLst>
                            <a:latin typeface="Cambria Math" panose="02040503050406030204" pitchFamily="18" charset="0"/>
                          </a:rPr>
                          <m:t>deg</m:t>
                        </m:r>
                      </m:fName>
                      <m:e>
                        <m:d>
                          <m:dPr>
                            <m:ctrlPr>
                              <a:rPr lang="en-US" sz="2400" b="1" i="1" dirty="0" smtClean="0">
                                <a:effectLst>
                                  <a:outerShdw blurRad="38100" dist="38100" dir="2700000" algn="tl">
                                    <a:srgbClr val="000000">
                                      <a:alpha val="43137"/>
                                    </a:srgbClr>
                                  </a:outerShdw>
                                </a:effectLst>
                                <a:latin typeface="Cambria Math" panose="02040503050406030204" pitchFamily="18" charset="0"/>
                              </a:rPr>
                            </m:ctrlPr>
                          </m:dPr>
                          <m:e>
                            <m:sSub>
                              <m:sSubPr>
                                <m:ctrlPr>
                                  <a:rPr lang="en-US" sz="2400" b="1" i="1" dirty="0" err="1" smtClean="0">
                                    <a:effectLst>
                                      <a:outerShdw blurRad="38100" dist="38100" dir="2700000" algn="tl">
                                        <a:srgbClr val="000000">
                                          <a:alpha val="43137"/>
                                        </a:srgbClr>
                                      </a:outerShdw>
                                    </a:effectLst>
                                    <a:latin typeface="Cambria Math" panose="02040503050406030204" pitchFamily="18" charset="0"/>
                                  </a:rPr>
                                </m:ctrlPr>
                              </m:sSubPr>
                              <m:e>
                                <m:r>
                                  <a:rPr lang="en-US" sz="2400" b="1" i="1" dirty="0" err="1" smtClean="0">
                                    <a:effectLst>
                                      <a:outerShdw blurRad="38100" dist="38100" dir="2700000" algn="tl">
                                        <a:srgbClr val="000000">
                                          <a:alpha val="43137"/>
                                        </a:srgbClr>
                                      </a:outerShdw>
                                    </a:effectLst>
                                    <a:latin typeface="Cambria Math" panose="02040503050406030204" pitchFamily="18" charset="0"/>
                                  </a:rPr>
                                  <m:t>𝒗</m:t>
                                </m:r>
                              </m:e>
                              <m:sub>
                                <m:r>
                                  <a:rPr lang="en-US" sz="2400" b="1" i="1" dirty="0" err="1" smtClean="0">
                                    <a:effectLst>
                                      <a:outerShdw blurRad="38100" dist="38100" dir="2700000" algn="tl">
                                        <a:srgbClr val="000000">
                                          <a:alpha val="43137"/>
                                        </a:srgbClr>
                                      </a:outerShdw>
                                    </a:effectLst>
                                    <a:latin typeface="Cambria Math" panose="02040503050406030204" pitchFamily="18" charset="0"/>
                                  </a:rPr>
                                  <m:t>𝒊</m:t>
                                </m:r>
                              </m:sub>
                            </m:sSub>
                          </m:e>
                        </m:d>
                      </m:e>
                    </m:func>
                    <m:r>
                      <a:rPr lang="en-US" sz="2400" b="1" i="1" dirty="0" smtClean="0">
                        <a:effectLst>
                          <a:outerShdw blurRad="38100" dist="38100" dir="2700000" algn="tl">
                            <a:srgbClr val="000000">
                              <a:alpha val="43137"/>
                            </a:srgbClr>
                          </a:outerShdw>
                        </a:effectLst>
                        <a:latin typeface="Cambria Math" panose="02040503050406030204" pitchFamily="18" charset="0"/>
                      </a:rPr>
                      <m:t>:</m:t>
                    </m:r>
                  </m:oMath>
                </a14:m>
                <a:endParaRPr lang="en-US" sz="2400" b="1" i="1" dirty="0">
                  <a:effectLst>
                    <a:outerShdw blurRad="38100" dist="38100" dir="2700000" algn="tl">
                      <a:srgbClr val="000000">
                        <a:alpha val="43137"/>
                      </a:srgbClr>
                    </a:outerShdw>
                  </a:effectLst>
                  <a:latin typeface="Arial Rounded MT Bold" panose="020F0704030504030204" pitchFamily="34" charset="0"/>
                </a:endParaRPr>
              </a:p>
              <a:p>
                <a:pPr marL="118872">
                  <a:lnSpc>
                    <a:spcPct val="150000"/>
                  </a:lnSpc>
                  <a:buClr>
                    <a:srgbClr val="F0AD00"/>
                  </a:buClr>
                  <a:buSzPct val="80000"/>
                </a:pPr>
                <a:r>
                  <a:rPr lang="en-US" sz="2400" dirty="0">
                    <a:latin typeface="Arial Rounded MT Bold" panose="020F0704030504030204" pitchFamily="34" charset="0"/>
                  </a:rPr>
                  <a:t>the number of edges connected to it.</a:t>
                </a:r>
                <a:endParaRPr lang="en-US" sz="2400" i="1" dirty="0">
                  <a:effectLst>
                    <a:outerShdw blurRad="38100" dist="38100" dir="2700000" algn="tl">
                      <a:srgbClr val="000000">
                        <a:alpha val="43137"/>
                      </a:srgbClr>
                    </a:outerShdw>
                  </a:effectLst>
                  <a:latin typeface="Arial Rounded MT Bold" panose="020F0704030504030204" pitchFamily="34" charset="0"/>
                </a:endParaRPr>
              </a:p>
            </p:txBody>
          </p:sp>
        </mc:Choice>
        <mc:Fallback xmlns="">
          <p:sp>
            <p:nvSpPr>
              <p:cNvPr id="26" name="Rectangle 25">
                <a:extLst>
                  <a:ext uri="{FF2B5EF4-FFF2-40B4-BE49-F238E27FC236}">
                    <a16:creationId xmlns:a16="http://schemas.microsoft.com/office/drawing/2014/main" id="{E4441973-3426-47C5-81CE-0EF63B28FF72}"/>
                  </a:ext>
                </a:extLst>
              </p:cNvPr>
              <p:cNvSpPr>
                <a:spLocks noRot="1" noChangeAspect="1" noMove="1" noResize="1" noEditPoints="1" noAdjustHandles="1" noChangeArrowheads="1" noChangeShapeType="1" noTextEdit="1"/>
              </p:cNvSpPr>
              <p:nvPr/>
            </p:nvSpPr>
            <p:spPr>
              <a:xfrm>
                <a:off x="5038106" y="2679756"/>
                <a:ext cx="5799921" cy="1129155"/>
              </a:xfrm>
              <a:prstGeom prst="rect">
                <a:avLst/>
              </a:prstGeom>
              <a:blipFill>
                <a:blip r:embed="rId4"/>
                <a:stretch>
                  <a:fillRect r="-735" b="-11892"/>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41A6B418-C887-49C1-9ADB-1113CC53099E}"/>
              </a:ext>
            </a:extLst>
          </p:cNvPr>
          <p:cNvSpPr txBox="1"/>
          <p:nvPr/>
        </p:nvSpPr>
        <p:spPr>
          <a:xfrm>
            <a:off x="4197596" y="2503790"/>
            <a:ext cx="322524" cy="369332"/>
          </a:xfrm>
          <a:prstGeom prst="rect">
            <a:avLst/>
          </a:prstGeom>
          <a:noFill/>
        </p:spPr>
        <p:txBody>
          <a:bodyPr wrap="none" rtlCol="0">
            <a:spAutoFit/>
          </a:bodyPr>
          <a:lstStyle/>
          <a:p>
            <a:r>
              <a:rPr lang="en-US" dirty="0">
                <a:solidFill>
                  <a:srgbClr val="FF0000"/>
                </a:solidFill>
                <a:latin typeface="Arial Rounded MT Bold" panose="020F0704030504030204" pitchFamily="34" charset="0"/>
              </a:rPr>
              <a:t>2</a:t>
            </a:r>
          </a:p>
        </p:txBody>
      </p:sp>
      <p:sp>
        <p:nvSpPr>
          <p:cNvPr id="27" name="TextBox 26">
            <a:extLst>
              <a:ext uri="{FF2B5EF4-FFF2-40B4-BE49-F238E27FC236}">
                <a16:creationId xmlns:a16="http://schemas.microsoft.com/office/drawing/2014/main" id="{950CA2BD-2C85-4702-BDA2-8685D0424756}"/>
              </a:ext>
            </a:extLst>
          </p:cNvPr>
          <p:cNvSpPr txBox="1"/>
          <p:nvPr/>
        </p:nvSpPr>
        <p:spPr>
          <a:xfrm>
            <a:off x="2319996" y="2503749"/>
            <a:ext cx="322524" cy="369332"/>
          </a:xfrm>
          <a:prstGeom prst="rect">
            <a:avLst/>
          </a:prstGeom>
          <a:noFill/>
        </p:spPr>
        <p:txBody>
          <a:bodyPr wrap="none" rtlCol="0">
            <a:spAutoFit/>
          </a:bodyPr>
          <a:lstStyle/>
          <a:p>
            <a:r>
              <a:rPr lang="en-US" dirty="0">
                <a:solidFill>
                  <a:srgbClr val="FF0000"/>
                </a:solidFill>
                <a:latin typeface="Arial Rounded MT Bold" panose="020F0704030504030204" pitchFamily="34" charset="0"/>
              </a:rPr>
              <a:t>3</a:t>
            </a:r>
          </a:p>
        </p:txBody>
      </p:sp>
      <p:sp>
        <p:nvSpPr>
          <p:cNvPr id="29" name="TextBox 28">
            <a:extLst>
              <a:ext uri="{FF2B5EF4-FFF2-40B4-BE49-F238E27FC236}">
                <a16:creationId xmlns:a16="http://schemas.microsoft.com/office/drawing/2014/main" id="{00FD5DE3-5654-43F9-8554-7B77D02AF56F}"/>
              </a:ext>
            </a:extLst>
          </p:cNvPr>
          <p:cNvSpPr txBox="1"/>
          <p:nvPr/>
        </p:nvSpPr>
        <p:spPr>
          <a:xfrm>
            <a:off x="3670094" y="4399368"/>
            <a:ext cx="322524" cy="369332"/>
          </a:xfrm>
          <a:prstGeom prst="rect">
            <a:avLst/>
          </a:prstGeom>
          <a:noFill/>
        </p:spPr>
        <p:txBody>
          <a:bodyPr wrap="none" rtlCol="0">
            <a:spAutoFit/>
          </a:bodyPr>
          <a:lstStyle/>
          <a:p>
            <a:r>
              <a:rPr lang="en-US" dirty="0">
                <a:solidFill>
                  <a:srgbClr val="FF0000"/>
                </a:solidFill>
                <a:latin typeface="Arial Rounded MT Bold" panose="020F0704030504030204" pitchFamily="34" charset="0"/>
              </a:rPr>
              <a:t>4</a:t>
            </a:r>
          </a:p>
        </p:txBody>
      </p:sp>
      <p:sp>
        <p:nvSpPr>
          <p:cNvPr id="31" name="TextBox 30">
            <a:extLst>
              <a:ext uri="{FF2B5EF4-FFF2-40B4-BE49-F238E27FC236}">
                <a16:creationId xmlns:a16="http://schemas.microsoft.com/office/drawing/2014/main" id="{37F1CDFC-C468-4DA3-9B22-92178F386283}"/>
              </a:ext>
            </a:extLst>
          </p:cNvPr>
          <p:cNvSpPr txBox="1"/>
          <p:nvPr/>
        </p:nvSpPr>
        <p:spPr>
          <a:xfrm>
            <a:off x="496488" y="3244334"/>
            <a:ext cx="322524" cy="369332"/>
          </a:xfrm>
          <a:prstGeom prst="rect">
            <a:avLst/>
          </a:prstGeom>
          <a:noFill/>
        </p:spPr>
        <p:txBody>
          <a:bodyPr wrap="none" rtlCol="0">
            <a:spAutoFit/>
          </a:bodyPr>
          <a:lstStyle/>
          <a:p>
            <a:r>
              <a:rPr lang="en-US" dirty="0">
                <a:solidFill>
                  <a:srgbClr val="FF0000"/>
                </a:solidFill>
                <a:latin typeface="Arial Rounded MT Bold" panose="020F0704030504030204" pitchFamily="34" charset="0"/>
              </a:rPr>
              <a:t>2</a:t>
            </a:r>
          </a:p>
        </p:txBody>
      </p:sp>
      <p:sp>
        <p:nvSpPr>
          <p:cNvPr id="32" name="TextBox 31">
            <a:extLst>
              <a:ext uri="{FF2B5EF4-FFF2-40B4-BE49-F238E27FC236}">
                <a16:creationId xmlns:a16="http://schemas.microsoft.com/office/drawing/2014/main" id="{2854ED60-7CE7-4297-BF02-5D902DA0C782}"/>
              </a:ext>
            </a:extLst>
          </p:cNvPr>
          <p:cNvSpPr txBox="1"/>
          <p:nvPr/>
        </p:nvSpPr>
        <p:spPr>
          <a:xfrm>
            <a:off x="1432227" y="4594878"/>
            <a:ext cx="322524" cy="369332"/>
          </a:xfrm>
          <a:prstGeom prst="rect">
            <a:avLst/>
          </a:prstGeom>
          <a:noFill/>
        </p:spPr>
        <p:txBody>
          <a:bodyPr wrap="none" rtlCol="0">
            <a:spAutoFit/>
          </a:bodyPr>
          <a:lstStyle/>
          <a:p>
            <a:r>
              <a:rPr lang="en-US" dirty="0">
                <a:solidFill>
                  <a:srgbClr val="FF0000"/>
                </a:solidFill>
                <a:latin typeface="Arial Rounded MT Bold" panose="020F0704030504030204" pitchFamily="34" charset="0"/>
              </a:rPr>
              <a:t>3</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125C99A-E4A6-45E4-AD7A-539FD238627A}"/>
                  </a:ext>
                </a:extLst>
              </p:cNvPr>
              <p:cNvSpPr txBox="1"/>
              <p:nvPr/>
            </p:nvSpPr>
            <p:spPr>
              <a:xfrm>
                <a:off x="5081348" y="5062336"/>
                <a:ext cx="3848233"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rgbClr val="FF0000"/>
                          </a:solidFill>
                          <a:latin typeface="Cambria Math" panose="02040503050406030204" pitchFamily="18" charset="0"/>
                        </a:rPr>
                        <m:t>𝟑</m:t>
                      </m:r>
                      <m:r>
                        <a:rPr lang="en-US" sz="2400" b="1" i="1" dirty="0" smtClean="0">
                          <a:solidFill>
                            <a:srgbClr val="FF0000"/>
                          </a:solidFill>
                          <a:latin typeface="Cambria Math" panose="02040503050406030204" pitchFamily="18" charset="0"/>
                        </a:rPr>
                        <m:t>+</m:t>
                      </m:r>
                      <m:r>
                        <a:rPr lang="en-US" sz="2400" b="1" i="1" dirty="0" smtClean="0">
                          <a:solidFill>
                            <a:srgbClr val="FF0000"/>
                          </a:solidFill>
                          <a:latin typeface="Cambria Math" panose="02040503050406030204" pitchFamily="18" charset="0"/>
                        </a:rPr>
                        <m:t>𝟑</m:t>
                      </m:r>
                      <m:r>
                        <a:rPr lang="en-US" sz="2400" b="1" i="1" dirty="0" smtClean="0">
                          <a:solidFill>
                            <a:srgbClr val="FF0000"/>
                          </a:solidFill>
                          <a:latin typeface="Cambria Math" panose="02040503050406030204" pitchFamily="18" charset="0"/>
                        </a:rPr>
                        <m:t>+</m:t>
                      </m:r>
                      <m:r>
                        <a:rPr lang="en-US" sz="2400" b="1" i="1" dirty="0" smtClean="0">
                          <a:solidFill>
                            <a:srgbClr val="FF0000"/>
                          </a:solidFill>
                          <a:latin typeface="Cambria Math" panose="02040503050406030204" pitchFamily="18" charset="0"/>
                        </a:rPr>
                        <m:t>𝟐</m:t>
                      </m:r>
                      <m:r>
                        <a:rPr lang="en-US" sz="2400" b="1" i="1" dirty="0" smtClean="0">
                          <a:solidFill>
                            <a:srgbClr val="FF0000"/>
                          </a:solidFill>
                          <a:latin typeface="Cambria Math" panose="02040503050406030204" pitchFamily="18" charset="0"/>
                        </a:rPr>
                        <m:t>+</m:t>
                      </m:r>
                      <m:r>
                        <a:rPr lang="en-US" sz="2400" b="1" i="1" dirty="0" smtClean="0">
                          <a:solidFill>
                            <a:srgbClr val="FF0000"/>
                          </a:solidFill>
                          <a:latin typeface="Cambria Math" panose="02040503050406030204" pitchFamily="18" charset="0"/>
                        </a:rPr>
                        <m:t>𝟐</m:t>
                      </m:r>
                      <m:r>
                        <a:rPr lang="en-US" sz="2400" b="1" i="1" dirty="0" smtClean="0">
                          <a:solidFill>
                            <a:srgbClr val="FF0000"/>
                          </a:solidFill>
                          <a:latin typeface="Cambria Math" panose="02040503050406030204" pitchFamily="18" charset="0"/>
                        </a:rPr>
                        <m:t>+</m:t>
                      </m:r>
                      <m:r>
                        <a:rPr lang="en-US" sz="2400" b="1" i="1" dirty="0" smtClean="0">
                          <a:solidFill>
                            <a:srgbClr val="FF0000"/>
                          </a:solidFill>
                          <a:latin typeface="Cambria Math" panose="02040503050406030204" pitchFamily="18" charset="0"/>
                        </a:rPr>
                        <m:t>𝟒</m:t>
                      </m:r>
                      <m:r>
                        <a:rPr lang="en-US" sz="2400" b="1" i="1" dirty="0" smtClean="0">
                          <a:solidFill>
                            <a:srgbClr val="FF0000"/>
                          </a:solidFill>
                          <a:latin typeface="Cambria Math" panose="02040503050406030204" pitchFamily="18" charset="0"/>
                        </a:rPr>
                        <m:t>=</m:t>
                      </m:r>
                      <m:r>
                        <a:rPr lang="en-US" sz="2400" b="1" i="1" dirty="0" smtClean="0">
                          <a:solidFill>
                            <a:srgbClr val="FF0000"/>
                          </a:solidFill>
                          <a:latin typeface="Cambria Math" panose="02040503050406030204" pitchFamily="18" charset="0"/>
                        </a:rPr>
                        <m:t>𝟐</m:t>
                      </m:r>
                      <m:r>
                        <a:rPr lang="en-US" sz="2400" b="1" i="1" dirty="0" smtClean="0">
                          <a:solidFill>
                            <a:srgbClr val="FF0000"/>
                          </a:solidFill>
                          <a:latin typeface="Cambria Math" panose="02040503050406030204" pitchFamily="18" charset="0"/>
                        </a:rPr>
                        <m:t>× </m:t>
                      </m:r>
                      <m:r>
                        <a:rPr lang="en-US" sz="2400" b="1" i="1" dirty="0" smtClean="0">
                          <a:solidFill>
                            <a:srgbClr val="FF0000"/>
                          </a:solidFill>
                          <a:latin typeface="Cambria Math" panose="02040503050406030204" pitchFamily="18" charset="0"/>
                        </a:rPr>
                        <m:t>𝟕</m:t>
                      </m:r>
                    </m:oMath>
                  </m:oMathPara>
                </a14:m>
                <a:endParaRPr lang="en-US" sz="2400" b="1" dirty="0">
                  <a:solidFill>
                    <a:srgbClr val="FF0000"/>
                  </a:solidFill>
                </a:endParaRPr>
              </a:p>
            </p:txBody>
          </p:sp>
        </mc:Choice>
        <mc:Fallback xmlns="">
          <p:sp>
            <p:nvSpPr>
              <p:cNvPr id="4" name="TextBox 3">
                <a:extLst>
                  <a:ext uri="{FF2B5EF4-FFF2-40B4-BE49-F238E27FC236}">
                    <a16:creationId xmlns:a16="http://schemas.microsoft.com/office/drawing/2014/main" id="{F125C99A-E4A6-45E4-AD7A-539FD238627A}"/>
                  </a:ext>
                </a:extLst>
              </p:cNvPr>
              <p:cNvSpPr txBox="1">
                <a:spLocks noRot="1" noChangeAspect="1" noMove="1" noResize="1" noEditPoints="1" noAdjustHandles="1" noChangeArrowheads="1" noChangeShapeType="1" noTextEdit="1"/>
              </p:cNvSpPr>
              <p:nvPr/>
            </p:nvSpPr>
            <p:spPr>
              <a:xfrm>
                <a:off x="5081348" y="5062336"/>
                <a:ext cx="3848233"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56211B52-E361-4524-AB23-DAA3F51FC122}"/>
                  </a:ext>
                </a:extLst>
              </p:cNvPr>
              <p:cNvSpPr txBox="1"/>
              <p:nvPr/>
            </p:nvSpPr>
            <p:spPr>
              <a:xfrm>
                <a:off x="5081348" y="4168535"/>
                <a:ext cx="645240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rgbClr val="FF0000"/>
                          </a:solidFill>
                          <a:latin typeface="Cambria Math" panose="02040503050406030204" pitchFamily="18" charset="0"/>
                        </a:rPr>
                        <m:t>𝒅𝒆𝒈</m:t>
                      </m:r>
                      <m:d>
                        <m:dPr>
                          <m:ctrlPr>
                            <a:rPr lang="en-US" sz="2400" b="1" i="1" dirty="0" smtClean="0">
                              <a:solidFill>
                                <a:srgbClr val="FF0000"/>
                              </a:solidFill>
                              <a:latin typeface="Cambria Math" panose="02040503050406030204" pitchFamily="18" charset="0"/>
                            </a:rPr>
                          </m:ctrlPr>
                        </m:dPr>
                        <m:e>
                          <m:sSub>
                            <m:sSubPr>
                              <m:ctrlPr>
                                <a:rPr lang="en-US" sz="2400" b="1" i="1" dirty="0" smtClean="0">
                                  <a:solidFill>
                                    <a:srgbClr val="FF0000"/>
                                  </a:solidFill>
                                  <a:latin typeface="Cambria Math" panose="02040503050406030204" pitchFamily="18" charset="0"/>
                                </a:rPr>
                              </m:ctrlPr>
                            </m:sSubPr>
                            <m:e>
                              <m:r>
                                <a:rPr lang="en-US" sz="2400" b="1" i="1" dirty="0" smtClean="0">
                                  <a:solidFill>
                                    <a:srgbClr val="FF0000"/>
                                  </a:solidFill>
                                  <a:latin typeface="Cambria Math" panose="02040503050406030204" pitchFamily="18" charset="0"/>
                                </a:rPr>
                                <m:t>𝒗</m:t>
                              </m:r>
                            </m:e>
                            <m:sub>
                              <m:r>
                                <a:rPr lang="en-US" sz="2400" b="1" i="1" dirty="0" smtClean="0">
                                  <a:solidFill>
                                    <a:srgbClr val="FF0000"/>
                                  </a:solidFill>
                                  <a:latin typeface="Cambria Math" panose="02040503050406030204" pitchFamily="18" charset="0"/>
                                </a:rPr>
                                <m:t>𝟏</m:t>
                              </m:r>
                            </m:sub>
                          </m:sSub>
                        </m:e>
                      </m:d>
                      <m:r>
                        <a:rPr lang="en-US" sz="2400" b="1" i="1" dirty="0" smtClean="0">
                          <a:solidFill>
                            <a:srgbClr val="FF0000"/>
                          </a:solidFill>
                          <a:latin typeface="Cambria Math" panose="02040503050406030204" pitchFamily="18" charset="0"/>
                        </a:rPr>
                        <m:t>+</m:t>
                      </m:r>
                      <m:r>
                        <a:rPr lang="en-US" sz="2400" b="1" i="1" dirty="0" smtClean="0">
                          <a:solidFill>
                            <a:srgbClr val="FF0000"/>
                          </a:solidFill>
                          <a:latin typeface="Cambria Math" panose="02040503050406030204" pitchFamily="18" charset="0"/>
                        </a:rPr>
                        <m:t>𝒅𝒆𝒈</m:t>
                      </m:r>
                      <m:d>
                        <m:dPr>
                          <m:ctrlPr>
                            <a:rPr lang="en-US" sz="2400" b="1" i="1" dirty="0" smtClean="0">
                              <a:solidFill>
                                <a:srgbClr val="FF0000"/>
                              </a:solidFill>
                              <a:latin typeface="Cambria Math" panose="02040503050406030204" pitchFamily="18" charset="0"/>
                            </a:rPr>
                          </m:ctrlPr>
                        </m:dPr>
                        <m:e>
                          <m:sSub>
                            <m:sSubPr>
                              <m:ctrlPr>
                                <a:rPr lang="en-US" sz="2400" b="1" i="1" dirty="0" smtClean="0">
                                  <a:solidFill>
                                    <a:srgbClr val="FF0000"/>
                                  </a:solidFill>
                                  <a:latin typeface="Cambria Math" panose="02040503050406030204" pitchFamily="18" charset="0"/>
                                </a:rPr>
                              </m:ctrlPr>
                            </m:sSubPr>
                            <m:e>
                              <m:r>
                                <a:rPr lang="en-US" sz="2400" b="1" i="1" dirty="0" smtClean="0">
                                  <a:solidFill>
                                    <a:srgbClr val="FF0000"/>
                                  </a:solidFill>
                                  <a:latin typeface="Cambria Math" panose="02040503050406030204" pitchFamily="18" charset="0"/>
                                </a:rPr>
                                <m:t>𝒗</m:t>
                              </m:r>
                            </m:e>
                            <m:sub>
                              <m:r>
                                <a:rPr lang="en-US" sz="2400" b="1" i="1" dirty="0" smtClean="0">
                                  <a:solidFill>
                                    <a:srgbClr val="FF0000"/>
                                  </a:solidFill>
                                  <a:latin typeface="Cambria Math" panose="02040503050406030204" pitchFamily="18" charset="0"/>
                                </a:rPr>
                                <m:t>𝟐</m:t>
                              </m:r>
                            </m:sub>
                          </m:sSub>
                        </m:e>
                      </m:d>
                      <m:r>
                        <a:rPr lang="en-US" sz="2400" b="1" i="1" dirty="0" smtClean="0">
                          <a:solidFill>
                            <a:srgbClr val="FF0000"/>
                          </a:solidFill>
                          <a:latin typeface="Cambria Math" panose="02040503050406030204" pitchFamily="18" charset="0"/>
                        </a:rPr>
                        <m:t>+…+</m:t>
                      </m:r>
                      <m:r>
                        <a:rPr lang="en-US" sz="2400" b="1" i="1" dirty="0" smtClean="0">
                          <a:solidFill>
                            <a:srgbClr val="FF0000"/>
                          </a:solidFill>
                          <a:latin typeface="Cambria Math" panose="02040503050406030204" pitchFamily="18" charset="0"/>
                        </a:rPr>
                        <m:t>𝒅𝒆𝒈</m:t>
                      </m:r>
                      <m:r>
                        <a:rPr lang="en-US" sz="2400" b="1" i="1" dirty="0" smtClean="0">
                          <a:solidFill>
                            <a:srgbClr val="FF0000"/>
                          </a:solidFill>
                          <a:latin typeface="Cambria Math" panose="02040503050406030204" pitchFamily="18" charset="0"/>
                        </a:rPr>
                        <m:t>(</m:t>
                      </m:r>
                      <m:sSub>
                        <m:sSubPr>
                          <m:ctrlPr>
                            <a:rPr lang="en-US" sz="2400" b="1" i="1" dirty="0" smtClean="0">
                              <a:solidFill>
                                <a:srgbClr val="FF0000"/>
                              </a:solidFill>
                              <a:latin typeface="Cambria Math" panose="02040503050406030204" pitchFamily="18" charset="0"/>
                            </a:rPr>
                          </m:ctrlPr>
                        </m:sSubPr>
                        <m:e>
                          <m:r>
                            <a:rPr lang="en-US" sz="2400" b="1" i="1" dirty="0" smtClean="0">
                              <a:solidFill>
                                <a:srgbClr val="FF0000"/>
                              </a:solidFill>
                              <a:latin typeface="Cambria Math" panose="02040503050406030204" pitchFamily="18" charset="0"/>
                            </a:rPr>
                            <m:t>𝒗</m:t>
                          </m:r>
                        </m:e>
                        <m:sub>
                          <m:r>
                            <a:rPr lang="en-US" sz="2400" b="1" i="1" dirty="0" smtClean="0">
                              <a:solidFill>
                                <a:srgbClr val="FF0000"/>
                              </a:solidFill>
                              <a:latin typeface="Cambria Math" panose="02040503050406030204" pitchFamily="18" charset="0"/>
                            </a:rPr>
                            <m:t>𝒏</m:t>
                          </m:r>
                        </m:sub>
                      </m:sSub>
                      <m:r>
                        <a:rPr lang="en-US" sz="2400" b="1" i="1" dirty="0" smtClean="0">
                          <a:solidFill>
                            <a:srgbClr val="FF0000"/>
                          </a:solidFill>
                          <a:latin typeface="Cambria Math" panose="02040503050406030204" pitchFamily="18" charset="0"/>
                        </a:rPr>
                        <m:t>)=</m:t>
                      </m:r>
                      <m:r>
                        <a:rPr lang="en-US" sz="2400" b="1" i="1" dirty="0" smtClean="0">
                          <a:solidFill>
                            <a:srgbClr val="FF0000"/>
                          </a:solidFill>
                          <a:latin typeface="Cambria Math" panose="02040503050406030204" pitchFamily="18" charset="0"/>
                        </a:rPr>
                        <m:t>𝟐</m:t>
                      </m:r>
                      <m:r>
                        <a:rPr lang="en-US" sz="2400" b="1" i="1" dirty="0" smtClean="0">
                          <a:solidFill>
                            <a:srgbClr val="FF0000"/>
                          </a:solidFill>
                          <a:latin typeface="Cambria Math" panose="02040503050406030204" pitchFamily="18" charset="0"/>
                        </a:rPr>
                        <m:t>×|</m:t>
                      </m:r>
                      <m:r>
                        <a:rPr lang="en-US" sz="2400" b="1" i="1" dirty="0" smtClean="0">
                          <a:solidFill>
                            <a:srgbClr val="FF0000"/>
                          </a:solidFill>
                          <a:latin typeface="Cambria Math" panose="02040503050406030204" pitchFamily="18" charset="0"/>
                        </a:rPr>
                        <m:t>𝑬</m:t>
                      </m:r>
                      <m:r>
                        <a:rPr lang="en-US" sz="2400" b="1" i="1" dirty="0" smtClean="0">
                          <a:solidFill>
                            <a:srgbClr val="FF0000"/>
                          </a:solidFill>
                          <a:latin typeface="Cambria Math" panose="02040503050406030204" pitchFamily="18" charset="0"/>
                        </a:rPr>
                        <m:t>|</m:t>
                      </m:r>
                    </m:oMath>
                  </m:oMathPara>
                </a14:m>
                <a:endParaRPr lang="en-US" sz="2400" b="1" dirty="0">
                  <a:solidFill>
                    <a:srgbClr val="FF0000"/>
                  </a:solidFill>
                </a:endParaRPr>
              </a:p>
            </p:txBody>
          </p:sp>
        </mc:Choice>
        <mc:Fallback xmlns="">
          <p:sp>
            <p:nvSpPr>
              <p:cNvPr id="33" name="TextBox 32">
                <a:extLst>
                  <a:ext uri="{FF2B5EF4-FFF2-40B4-BE49-F238E27FC236}">
                    <a16:creationId xmlns:a16="http://schemas.microsoft.com/office/drawing/2014/main" id="{56211B52-E361-4524-AB23-DAA3F51FC122}"/>
                  </a:ext>
                </a:extLst>
              </p:cNvPr>
              <p:cNvSpPr txBox="1">
                <a:spLocks noRot="1" noChangeAspect="1" noMove="1" noResize="1" noEditPoints="1" noAdjustHandles="1" noChangeArrowheads="1" noChangeShapeType="1" noTextEdit="1"/>
              </p:cNvSpPr>
              <p:nvPr/>
            </p:nvSpPr>
            <p:spPr>
              <a:xfrm>
                <a:off x="5081348" y="4168535"/>
                <a:ext cx="6452407" cy="461665"/>
              </a:xfrm>
              <a:prstGeom prst="rect">
                <a:avLst/>
              </a:prstGeom>
              <a:blipFill>
                <a:blip r:embed="rId6"/>
                <a:stretch>
                  <a:fillRect b="-18421"/>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565788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7" grpId="0"/>
      <p:bldP spid="29" grpId="0"/>
      <p:bldP spid="31" grpId="0"/>
      <p:bldP spid="32" grpId="0"/>
      <p:bldP spid="4" grpId="0"/>
      <p:bldP spid="3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Degree in a directed graph</a:t>
            </a:r>
          </a:p>
        </p:txBody>
      </p:sp>
      <p:sp>
        <p:nvSpPr>
          <p:cNvPr id="17" name="Slide Number Placeholder 16">
            <a:extLst>
              <a:ext uri="{FF2B5EF4-FFF2-40B4-BE49-F238E27FC236}">
                <a16:creationId xmlns:a16="http://schemas.microsoft.com/office/drawing/2014/main" id="{F4807552-A4F5-49E6-9A36-0D3A9F5EC6FA}"/>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6/110</a:t>
            </a:r>
          </a:p>
        </p:txBody>
      </p:sp>
      <p:cxnSp>
        <p:nvCxnSpPr>
          <p:cNvPr id="5" name="Straight Connector 4"/>
          <p:cNvCxnSpPr>
            <a:stCxn id="14" idx="1"/>
          </p:cNvCxnSpPr>
          <p:nvPr/>
        </p:nvCxnSpPr>
        <p:spPr>
          <a:xfrm flipH="1" flipV="1">
            <a:off x="1097669" y="3434342"/>
            <a:ext cx="2198288" cy="933175"/>
          </a:xfrm>
          <a:prstGeom prst="line">
            <a:avLst/>
          </a:prstGeom>
          <a:ln w="381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Straight Connector 5"/>
          <p:cNvCxnSpPr>
            <a:cxnSpLocks/>
            <a:stCxn id="9" idx="5"/>
          </p:cNvCxnSpPr>
          <p:nvPr/>
        </p:nvCxnSpPr>
        <p:spPr>
          <a:xfrm>
            <a:off x="2328832" y="3162018"/>
            <a:ext cx="1000536" cy="1128918"/>
          </a:xfrm>
          <a:prstGeom prst="line">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flipV="1">
            <a:off x="2174848" y="3077522"/>
            <a:ext cx="1856048" cy="24517"/>
          </a:xfrm>
          <a:prstGeom prst="line">
            <a:avLst/>
          </a:prstGeom>
          <a:ln w="381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1948920" y="3181462"/>
            <a:ext cx="175670" cy="1109474"/>
          </a:xfrm>
          <a:prstGeom prst="line">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 name="Oval 16"/>
          <p:cNvSpPr>
            <a:spLocks noChangeArrowheads="1"/>
          </p:cNvSpPr>
          <p:nvPr/>
        </p:nvSpPr>
        <p:spPr bwMode="auto">
          <a:xfrm>
            <a:off x="1957083" y="279026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0" name="Straight Connector 9"/>
          <p:cNvCxnSpPr/>
          <p:nvPr/>
        </p:nvCxnSpPr>
        <p:spPr>
          <a:xfrm flipH="1">
            <a:off x="2120774" y="4499783"/>
            <a:ext cx="1119177" cy="6846"/>
          </a:xfrm>
          <a:prstGeom prst="line">
            <a:avLst/>
          </a:prstGeom>
          <a:ln w="381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cxnSpLocks/>
          </p:cNvCxnSpPr>
          <p:nvPr/>
        </p:nvCxnSpPr>
        <p:spPr>
          <a:xfrm>
            <a:off x="1132067" y="3600058"/>
            <a:ext cx="563889" cy="863865"/>
          </a:xfrm>
          <a:prstGeom prst="line">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2" name="Oval 16"/>
          <p:cNvSpPr>
            <a:spLocks noChangeArrowheads="1"/>
          </p:cNvSpPr>
          <p:nvPr/>
        </p:nvSpPr>
        <p:spPr bwMode="auto">
          <a:xfrm>
            <a:off x="1686531" y="428201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3" name="Oval 16"/>
          <p:cNvSpPr>
            <a:spLocks noChangeArrowheads="1"/>
          </p:cNvSpPr>
          <p:nvPr/>
        </p:nvSpPr>
        <p:spPr bwMode="auto">
          <a:xfrm>
            <a:off x="796178" y="330985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4" name="Oval 16"/>
          <p:cNvSpPr>
            <a:spLocks noChangeArrowheads="1"/>
          </p:cNvSpPr>
          <p:nvPr/>
        </p:nvSpPr>
        <p:spPr bwMode="auto">
          <a:xfrm>
            <a:off x="3232175" y="4303735"/>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5" name="Straight Connector 14"/>
          <p:cNvCxnSpPr>
            <a:stCxn id="14" idx="7"/>
          </p:cNvCxnSpPr>
          <p:nvPr/>
        </p:nvCxnSpPr>
        <p:spPr>
          <a:xfrm flipV="1">
            <a:off x="3603924" y="3129039"/>
            <a:ext cx="650011" cy="1238478"/>
          </a:xfrm>
          <a:prstGeom prst="line">
            <a:avLst/>
          </a:prstGeom>
          <a:ln w="381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4029021" y="2895425"/>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2" name="TextBox 21"/>
          <p:cNvSpPr txBox="1"/>
          <p:nvPr/>
        </p:nvSpPr>
        <p:spPr>
          <a:xfrm>
            <a:off x="2006372" y="2812129"/>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1</a:t>
            </a:r>
            <a:endParaRPr lang="en-US" b="1" dirty="0">
              <a:solidFill>
                <a:prstClr val="black"/>
              </a:solidFill>
              <a:latin typeface="Arial Rounded MT Bold" panose="020F0704030504030204" pitchFamily="34" charset="0"/>
            </a:endParaRPr>
          </a:p>
        </p:txBody>
      </p:sp>
      <p:sp>
        <p:nvSpPr>
          <p:cNvPr id="23" name="TextBox 22"/>
          <p:cNvSpPr txBox="1"/>
          <p:nvPr/>
        </p:nvSpPr>
        <p:spPr>
          <a:xfrm>
            <a:off x="1731816" y="4315117"/>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2</a:t>
            </a:r>
            <a:endParaRPr lang="en-US" b="1" dirty="0">
              <a:solidFill>
                <a:prstClr val="black"/>
              </a:solidFill>
              <a:latin typeface="Arial Rounded MT Bold" panose="020F0704030504030204" pitchFamily="34" charset="0"/>
            </a:endParaRPr>
          </a:p>
        </p:txBody>
      </p:sp>
      <p:sp>
        <p:nvSpPr>
          <p:cNvPr id="24" name="TextBox 23"/>
          <p:cNvSpPr txBox="1"/>
          <p:nvPr/>
        </p:nvSpPr>
        <p:spPr>
          <a:xfrm>
            <a:off x="4096606" y="2917373"/>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3</a:t>
            </a:r>
            <a:endParaRPr lang="en-US" b="1" dirty="0">
              <a:solidFill>
                <a:prstClr val="black"/>
              </a:solidFill>
              <a:latin typeface="Arial Rounded MT Bold" panose="020F0704030504030204" pitchFamily="34" charset="0"/>
            </a:endParaRPr>
          </a:p>
        </p:txBody>
      </p:sp>
      <p:sp>
        <p:nvSpPr>
          <p:cNvPr id="25" name="Rectangle 24"/>
          <p:cNvSpPr/>
          <p:nvPr/>
        </p:nvSpPr>
        <p:spPr>
          <a:xfrm>
            <a:off x="844245" y="3347522"/>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4</a:t>
            </a:r>
            <a:endParaRPr lang="en-US" b="1" dirty="0">
              <a:solidFill>
                <a:prstClr val="black"/>
              </a:solidFill>
              <a:latin typeface="Arial Rounded MT Bold" panose="020F0704030504030204" pitchFamily="34" charset="0"/>
            </a:endParaRPr>
          </a:p>
        </p:txBody>
      </p:sp>
      <p:sp>
        <p:nvSpPr>
          <p:cNvPr id="28" name="Rectangle 27"/>
          <p:cNvSpPr/>
          <p:nvPr/>
        </p:nvSpPr>
        <p:spPr>
          <a:xfrm>
            <a:off x="3291957" y="4328668"/>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5</a:t>
            </a:r>
            <a:endParaRPr lang="en-US" b="1" dirty="0">
              <a:solidFill>
                <a:prstClr val="black"/>
              </a:solidFill>
              <a:latin typeface="Arial Rounded MT Bold" panose="020F0704030504030204" pitchFamily="34" charset="0"/>
            </a:endParaRPr>
          </a:p>
        </p:txBody>
      </p:sp>
      <p:sp>
        <p:nvSpPr>
          <p:cNvPr id="30" name="Rectangle 29">
            <a:extLst>
              <a:ext uri="{FF2B5EF4-FFF2-40B4-BE49-F238E27FC236}">
                <a16:creationId xmlns:a16="http://schemas.microsoft.com/office/drawing/2014/main" id="{C9B8AFE2-54D4-4F00-B6CF-5B289233E463}"/>
              </a:ext>
            </a:extLst>
          </p:cNvPr>
          <p:cNvSpPr/>
          <p:nvPr/>
        </p:nvSpPr>
        <p:spPr>
          <a:xfrm>
            <a:off x="1741235" y="5322398"/>
            <a:ext cx="1862689" cy="1077218"/>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latin typeface="Arial Rounded MT Bold" panose="020F0704030504030204" pitchFamily="34" charset="0"/>
              </a:rPr>
              <a:t>G=(E,V)</a:t>
            </a:r>
          </a:p>
          <a:p>
            <a:pPr marL="118872" lvl="0">
              <a:buClr>
                <a:srgbClr val="F0AD00"/>
              </a:buClr>
              <a:buSzPct val="80000"/>
            </a:pPr>
            <a:endParaRPr lang="en-US" sz="3200" b="1" dirty="0">
              <a:effectLst>
                <a:outerShdw blurRad="38100" dist="38100" dir="2700000" algn="tl">
                  <a:srgbClr val="000000">
                    <a:alpha val="43137"/>
                  </a:srgbClr>
                </a:outerShdw>
              </a:effectLst>
            </a:endParaRPr>
          </a:p>
        </p:txBody>
      </p:sp>
      <p:sp>
        <p:nvSpPr>
          <p:cNvPr id="26" name="Rectangle 25">
            <a:extLst>
              <a:ext uri="{FF2B5EF4-FFF2-40B4-BE49-F238E27FC236}">
                <a16:creationId xmlns:a16="http://schemas.microsoft.com/office/drawing/2014/main" id="{E4441973-3426-47C5-81CE-0EF63B28FF72}"/>
              </a:ext>
            </a:extLst>
          </p:cNvPr>
          <p:cNvSpPr/>
          <p:nvPr/>
        </p:nvSpPr>
        <p:spPr>
          <a:xfrm>
            <a:off x="5379119" y="2246841"/>
            <a:ext cx="5596917" cy="2594621"/>
          </a:xfrm>
          <a:prstGeom prst="rect">
            <a:avLst/>
          </a:prstGeom>
        </p:spPr>
        <p:txBody>
          <a:bodyPr wrap="none">
            <a:spAutoFit/>
          </a:bodyPr>
          <a:lstStyle/>
          <a:p>
            <a:pPr marL="118872">
              <a:lnSpc>
                <a:spcPct val="150000"/>
              </a:lnSpc>
              <a:buClr>
                <a:srgbClr val="F0AD00"/>
              </a:buClr>
              <a:buSzPct val="80000"/>
            </a:pPr>
            <a:r>
              <a:rPr lang="en-US" sz="2800" dirty="0">
                <a:solidFill>
                  <a:srgbClr val="FF0000"/>
                </a:solidFill>
                <a:effectLst>
                  <a:outerShdw blurRad="38100" dist="38100" dir="2700000" algn="tl">
                    <a:srgbClr val="000000">
                      <a:alpha val="43137"/>
                    </a:srgbClr>
                  </a:outerShdw>
                </a:effectLst>
                <a:latin typeface="Arial Rounded MT Bold" panose="020F0704030504030204" pitchFamily="34" charset="0"/>
              </a:rPr>
              <a:t>Indegree of a node:</a:t>
            </a:r>
          </a:p>
          <a:p>
            <a:pPr marL="118872">
              <a:lnSpc>
                <a:spcPct val="150000"/>
              </a:lnSpc>
              <a:buClr>
                <a:srgbClr val="F0AD00"/>
              </a:buClr>
              <a:buSzPct val="80000"/>
            </a:pPr>
            <a:r>
              <a:rPr lang="en-US" sz="2800" dirty="0">
                <a:solidFill>
                  <a:srgbClr val="FF0000"/>
                </a:solidFill>
                <a:latin typeface="Arial Rounded MT Bold" panose="020F0704030504030204" pitchFamily="34" charset="0"/>
              </a:rPr>
              <a:t>the number of incoming edges</a:t>
            </a:r>
            <a:endParaRPr lang="en-US" sz="2800" dirty="0">
              <a:solidFill>
                <a:srgbClr val="FF0000"/>
              </a:solidFill>
              <a:effectLst>
                <a:outerShdw blurRad="38100" dist="38100" dir="2700000" algn="tl">
                  <a:srgbClr val="000000">
                    <a:alpha val="43137"/>
                  </a:srgbClr>
                </a:outerShdw>
              </a:effectLst>
              <a:latin typeface="Arial Rounded MT Bold" panose="020F0704030504030204" pitchFamily="34" charset="0"/>
            </a:endParaRPr>
          </a:p>
          <a:p>
            <a:pPr marL="118872">
              <a:lnSpc>
                <a:spcPct val="150000"/>
              </a:lnSpc>
              <a:buClr>
                <a:srgbClr val="F0AD00"/>
              </a:buClr>
              <a:buSzPct val="80000"/>
            </a:pPr>
            <a:r>
              <a:rPr lang="en-US" sz="2800" dirty="0">
                <a:solidFill>
                  <a:srgbClr val="42B82E"/>
                </a:solidFill>
                <a:effectLst>
                  <a:outerShdw blurRad="38100" dist="38100" dir="2700000" algn="tl">
                    <a:srgbClr val="000000">
                      <a:alpha val="43137"/>
                    </a:srgbClr>
                  </a:outerShdw>
                </a:effectLst>
                <a:latin typeface="Arial Rounded MT Bold" panose="020F0704030504030204" pitchFamily="34" charset="0"/>
              </a:rPr>
              <a:t>Outdegree of a node:</a:t>
            </a:r>
          </a:p>
          <a:p>
            <a:pPr marL="118872">
              <a:lnSpc>
                <a:spcPct val="150000"/>
              </a:lnSpc>
              <a:buClr>
                <a:srgbClr val="F0AD00"/>
              </a:buClr>
              <a:buSzPct val="80000"/>
            </a:pPr>
            <a:r>
              <a:rPr lang="en-US" sz="2800" dirty="0">
                <a:solidFill>
                  <a:srgbClr val="42B82E"/>
                </a:solidFill>
                <a:latin typeface="Arial Rounded MT Bold" panose="020F0704030504030204" pitchFamily="34" charset="0"/>
              </a:rPr>
              <a:t>the number of outgoing edges</a:t>
            </a:r>
            <a:endParaRPr lang="en-US" sz="2800" i="1" dirty="0">
              <a:solidFill>
                <a:srgbClr val="42B82E"/>
              </a:solidFill>
              <a:effectLst>
                <a:outerShdw blurRad="38100" dist="38100" dir="2700000" algn="tl">
                  <a:srgbClr val="000000">
                    <a:alpha val="43137"/>
                  </a:srgbClr>
                </a:outerShdw>
              </a:effectLst>
              <a:latin typeface="Arial Rounded MT Bold" panose="020F0704030504030204" pitchFamily="34" charset="0"/>
            </a:endParaRPr>
          </a:p>
        </p:txBody>
      </p:sp>
      <p:sp>
        <p:nvSpPr>
          <p:cNvPr id="27" name="TextBox 26">
            <a:extLst>
              <a:ext uri="{FF2B5EF4-FFF2-40B4-BE49-F238E27FC236}">
                <a16:creationId xmlns:a16="http://schemas.microsoft.com/office/drawing/2014/main" id="{81613E2A-38FE-452F-B789-03283916B2FF}"/>
              </a:ext>
            </a:extLst>
          </p:cNvPr>
          <p:cNvSpPr txBox="1"/>
          <p:nvPr/>
        </p:nvSpPr>
        <p:spPr>
          <a:xfrm>
            <a:off x="4197596" y="2503790"/>
            <a:ext cx="322524" cy="369332"/>
          </a:xfrm>
          <a:prstGeom prst="rect">
            <a:avLst/>
          </a:prstGeom>
          <a:noFill/>
        </p:spPr>
        <p:txBody>
          <a:bodyPr wrap="none" rtlCol="0">
            <a:spAutoFit/>
          </a:bodyPr>
          <a:lstStyle/>
          <a:p>
            <a:r>
              <a:rPr lang="en-US" dirty="0">
                <a:solidFill>
                  <a:srgbClr val="FF0000"/>
                </a:solidFill>
                <a:latin typeface="Arial Rounded MT Bold" panose="020F0704030504030204" pitchFamily="34" charset="0"/>
              </a:rPr>
              <a:t>1</a:t>
            </a:r>
          </a:p>
        </p:txBody>
      </p:sp>
      <p:sp>
        <p:nvSpPr>
          <p:cNvPr id="29" name="TextBox 28">
            <a:extLst>
              <a:ext uri="{FF2B5EF4-FFF2-40B4-BE49-F238E27FC236}">
                <a16:creationId xmlns:a16="http://schemas.microsoft.com/office/drawing/2014/main" id="{C81910C9-EB5A-430C-AFA0-902014077B42}"/>
              </a:ext>
            </a:extLst>
          </p:cNvPr>
          <p:cNvSpPr txBox="1"/>
          <p:nvPr/>
        </p:nvSpPr>
        <p:spPr>
          <a:xfrm>
            <a:off x="2319996" y="2503749"/>
            <a:ext cx="322524" cy="369332"/>
          </a:xfrm>
          <a:prstGeom prst="rect">
            <a:avLst/>
          </a:prstGeom>
          <a:noFill/>
        </p:spPr>
        <p:txBody>
          <a:bodyPr wrap="none" rtlCol="0">
            <a:spAutoFit/>
          </a:bodyPr>
          <a:lstStyle/>
          <a:p>
            <a:r>
              <a:rPr lang="en-US" dirty="0">
                <a:solidFill>
                  <a:srgbClr val="FF0000"/>
                </a:solidFill>
                <a:latin typeface="Arial Rounded MT Bold" panose="020F0704030504030204" pitchFamily="34" charset="0"/>
              </a:rPr>
              <a:t>1</a:t>
            </a:r>
          </a:p>
        </p:txBody>
      </p:sp>
      <p:sp>
        <p:nvSpPr>
          <p:cNvPr id="31" name="TextBox 30">
            <a:extLst>
              <a:ext uri="{FF2B5EF4-FFF2-40B4-BE49-F238E27FC236}">
                <a16:creationId xmlns:a16="http://schemas.microsoft.com/office/drawing/2014/main" id="{18740A44-ED4F-4E1E-B841-276E82F92159}"/>
              </a:ext>
            </a:extLst>
          </p:cNvPr>
          <p:cNvSpPr txBox="1"/>
          <p:nvPr/>
        </p:nvSpPr>
        <p:spPr>
          <a:xfrm>
            <a:off x="3670094" y="4399368"/>
            <a:ext cx="322524" cy="369332"/>
          </a:xfrm>
          <a:prstGeom prst="rect">
            <a:avLst/>
          </a:prstGeom>
          <a:noFill/>
        </p:spPr>
        <p:txBody>
          <a:bodyPr wrap="none" rtlCol="0">
            <a:spAutoFit/>
          </a:bodyPr>
          <a:lstStyle/>
          <a:p>
            <a:r>
              <a:rPr lang="en-US" dirty="0">
                <a:solidFill>
                  <a:srgbClr val="FF0000"/>
                </a:solidFill>
                <a:latin typeface="Arial Rounded MT Bold" panose="020F0704030504030204" pitchFamily="34" charset="0"/>
              </a:rPr>
              <a:t>4</a:t>
            </a:r>
          </a:p>
        </p:txBody>
      </p:sp>
      <p:sp>
        <p:nvSpPr>
          <p:cNvPr id="32" name="TextBox 31">
            <a:extLst>
              <a:ext uri="{FF2B5EF4-FFF2-40B4-BE49-F238E27FC236}">
                <a16:creationId xmlns:a16="http://schemas.microsoft.com/office/drawing/2014/main" id="{0FA51CFD-7C43-4B9E-96CB-EA64896ECD37}"/>
              </a:ext>
            </a:extLst>
          </p:cNvPr>
          <p:cNvSpPr txBox="1"/>
          <p:nvPr/>
        </p:nvSpPr>
        <p:spPr>
          <a:xfrm>
            <a:off x="496488" y="3244334"/>
            <a:ext cx="322524" cy="369332"/>
          </a:xfrm>
          <a:prstGeom prst="rect">
            <a:avLst/>
          </a:prstGeom>
          <a:noFill/>
        </p:spPr>
        <p:txBody>
          <a:bodyPr wrap="none" rtlCol="0">
            <a:spAutoFit/>
          </a:bodyPr>
          <a:lstStyle/>
          <a:p>
            <a:r>
              <a:rPr lang="en-US" dirty="0">
                <a:solidFill>
                  <a:srgbClr val="FF0000"/>
                </a:solidFill>
                <a:latin typeface="Arial Rounded MT Bold" panose="020F0704030504030204" pitchFamily="34" charset="0"/>
              </a:rPr>
              <a:t>0</a:t>
            </a:r>
          </a:p>
        </p:txBody>
      </p:sp>
      <p:sp>
        <p:nvSpPr>
          <p:cNvPr id="33" name="TextBox 32">
            <a:extLst>
              <a:ext uri="{FF2B5EF4-FFF2-40B4-BE49-F238E27FC236}">
                <a16:creationId xmlns:a16="http://schemas.microsoft.com/office/drawing/2014/main" id="{2DB6B414-06F3-48E4-8D0D-B79CD4D9ECD7}"/>
              </a:ext>
            </a:extLst>
          </p:cNvPr>
          <p:cNvSpPr txBox="1"/>
          <p:nvPr/>
        </p:nvSpPr>
        <p:spPr>
          <a:xfrm>
            <a:off x="1432227" y="4594878"/>
            <a:ext cx="322524" cy="369332"/>
          </a:xfrm>
          <a:prstGeom prst="rect">
            <a:avLst/>
          </a:prstGeom>
          <a:noFill/>
        </p:spPr>
        <p:txBody>
          <a:bodyPr wrap="none" rtlCol="0">
            <a:spAutoFit/>
          </a:bodyPr>
          <a:lstStyle/>
          <a:p>
            <a:r>
              <a:rPr lang="en-US" dirty="0">
                <a:solidFill>
                  <a:srgbClr val="FF0000"/>
                </a:solidFill>
                <a:latin typeface="Arial Rounded MT Bold" panose="020F0704030504030204" pitchFamily="34" charset="0"/>
              </a:rPr>
              <a:t>1</a:t>
            </a:r>
          </a:p>
        </p:txBody>
      </p:sp>
      <p:sp>
        <p:nvSpPr>
          <p:cNvPr id="34" name="TextBox 33">
            <a:extLst>
              <a:ext uri="{FF2B5EF4-FFF2-40B4-BE49-F238E27FC236}">
                <a16:creationId xmlns:a16="http://schemas.microsoft.com/office/drawing/2014/main" id="{F8678A7B-7CE0-4A93-A5C4-AC60D850D475}"/>
              </a:ext>
            </a:extLst>
          </p:cNvPr>
          <p:cNvSpPr txBox="1"/>
          <p:nvPr/>
        </p:nvSpPr>
        <p:spPr>
          <a:xfrm>
            <a:off x="4502398" y="2629293"/>
            <a:ext cx="322524" cy="369332"/>
          </a:xfrm>
          <a:prstGeom prst="rect">
            <a:avLst/>
          </a:prstGeom>
          <a:noFill/>
        </p:spPr>
        <p:txBody>
          <a:bodyPr wrap="none" rtlCol="0">
            <a:spAutoFit/>
          </a:bodyPr>
          <a:lstStyle/>
          <a:p>
            <a:r>
              <a:rPr lang="en-US" dirty="0">
                <a:solidFill>
                  <a:srgbClr val="42B82E"/>
                </a:solidFill>
                <a:latin typeface="Arial Rounded MT Bold" panose="020F0704030504030204" pitchFamily="34" charset="0"/>
              </a:rPr>
              <a:t>1</a:t>
            </a:r>
          </a:p>
        </p:txBody>
      </p:sp>
      <p:sp>
        <p:nvSpPr>
          <p:cNvPr id="35" name="TextBox 34">
            <a:extLst>
              <a:ext uri="{FF2B5EF4-FFF2-40B4-BE49-F238E27FC236}">
                <a16:creationId xmlns:a16="http://schemas.microsoft.com/office/drawing/2014/main" id="{4184B7D1-3324-4F2A-8868-6EFADF21E84E}"/>
              </a:ext>
            </a:extLst>
          </p:cNvPr>
          <p:cNvSpPr txBox="1"/>
          <p:nvPr/>
        </p:nvSpPr>
        <p:spPr>
          <a:xfrm>
            <a:off x="2624798" y="2629252"/>
            <a:ext cx="322524" cy="369332"/>
          </a:xfrm>
          <a:prstGeom prst="rect">
            <a:avLst/>
          </a:prstGeom>
          <a:noFill/>
        </p:spPr>
        <p:txBody>
          <a:bodyPr wrap="none" rtlCol="0">
            <a:spAutoFit/>
          </a:bodyPr>
          <a:lstStyle/>
          <a:p>
            <a:r>
              <a:rPr lang="en-US" dirty="0">
                <a:solidFill>
                  <a:srgbClr val="42B82E"/>
                </a:solidFill>
                <a:latin typeface="Arial Rounded MT Bold" panose="020F0704030504030204" pitchFamily="34" charset="0"/>
              </a:rPr>
              <a:t>2</a:t>
            </a:r>
          </a:p>
        </p:txBody>
      </p:sp>
      <p:sp>
        <p:nvSpPr>
          <p:cNvPr id="36" name="TextBox 35">
            <a:extLst>
              <a:ext uri="{FF2B5EF4-FFF2-40B4-BE49-F238E27FC236}">
                <a16:creationId xmlns:a16="http://schemas.microsoft.com/office/drawing/2014/main" id="{CA9643F4-40FC-48F0-9781-D1170C8D5642}"/>
              </a:ext>
            </a:extLst>
          </p:cNvPr>
          <p:cNvSpPr txBox="1"/>
          <p:nvPr/>
        </p:nvSpPr>
        <p:spPr>
          <a:xfrm>
            <a:off x="3974896" y="4524871"/>
            <a:ext cx="322524" cy="369332"/>
          </a:xfrm>
          <a:prstGeom prst="rect">
            <a:avLst/>
          </a:prstGeom>
          <a:noFill/>
        </p:spPr>
        <p:txBody>
          <a:bodyPr wrap="none" rtlCol="0">
            <a:spAutoFit/>
          </a:bodyPr>
          <a:lstStyle/>
          <a:p>
            <a:r>
              <a:rPr lang="en-US" dirty="0">
                <a:solidFill>
                  <a:srgbClr val="42B82E"/>
                </a:solidFill>
                <a:latin typeface="Arial Rounded MT Bold" panose="020F0704030504030204" pitchFamily="34" charset="0"/>
              </a:rPr>
              <a:t>0</a:t>
            </a:r>
          </a:p>
        </p:txBody>
      </p:sp>
      <p:sp>
        <p:nvSpPr>
          <p:cNvPr id="37" name="TextBox 36">
            <a:extLst>
              <a:ext uri="{FF2B5EF4-FFF2-40B4-BE49-F238E27FC236}">
                <a16:creationId xmlns:a16="http://schemas.microsoft.com/office/drawing/2014/main" id="{EEAF75EE-6474-4769-9766-4521ADC33E1E}"/>
              </a:ext>
            </a:extLst>
          </p:cNvPr>
          <p:cNvSpPr txBox="1"/>
          <p:nvPr/>
        </p:nvSpPr>
        <p:spPr>
          <a:xfrm>
            <a:off x="546161" y="3569665"/>
            <a:ext cx="322524" cy="369332"/>
          </a:xfrm>
          <a:prstGeom prst="rect">
            <a:avLst/>
          </a:prstGeom>
          <a:noFill/>
        </p:spPr>
        <p:txBody>
          <a:bodyPr wrap="none" rtlCol="0">
            <a:spAutoFit/>
          </a:bodyPr>
          <a:lstStyle/>
          <a:p>
            <a:r>
              <a:rPr lang="en-US" dirty="0">
                <a:solidFill>
                  <a:srgbClr val="42B82E"/>
                </a:solidFill>
                <a:latin typeface="Arial Rounded MT Bold" panose="020F0704030504030204" pitchFamily="34" charset="0"/>
              </a:rPr>
              <a:t>2</a:t>
            </a:r>
          </a:p>
        </p:txBody>
      </p:sp>
      <p:sp>
        <p:nvSpPr>
          <p:cNvPr id="38" name="TextBox 37">
            <a:extLst>
              <a:ext uri="{FF2B5EF4-FFF2-40B4-BE49-F238E27FC236}">
                <a16:creationId xmlns:a16="http://schemas.microsoft.com/office/drawing/2014/main" id="{56631D44-C910-44D0-8B74-7FD6BBC62C21}"/>
              </a:ext>
            </a:extLst>
          </p:cNvPr>
          <p:cNvSpPr txBox="1"/>
          <p:nvPr/>
        </p:nvSpPr>
        <p:spPr>
          <a:xfrm>
            <a:off x="1737029" y="4720381"/>
            <a:ext cx="322524" cy="369332"/>
          </a:xfrm>
          <a:prstGeom prst="rect">
            <a:avLst/>
          </a:prstGeom>
          <a:noFill/>
        </p:spPr>
        <p:txBody>
          <a:bodyPr wrap="none" rtlCol="0">
            <a:spAutoFit/>
          </a:bodyPr>
          <a:lstStyle/>
          <a:p>
            <a:r>
              <a:rPr lang="en-US" dirty="0">
                <a:solidFill>
                  <a:srgbClr val="42B82E"/>
                </a:solidFill>
                <a:latin typeface="Arial Rounded MT Bold" panose="020F0704030504030204" pitchFamily="34" charset="0"/>
              </a:rPr>
              <a:t>2</a:t>
            </a:r>
          </a:p>
        </p:txBody>
      </p:sp>
    </p:spTree>
    <p:custDataLst>
      <p:tags r:id="rId1"/>
    </p:custDataLst>
    <p:extLst>
      <p:ext uri="{BB962C8B-B14F-4D97-AF65-F5344CB8AC3E}">
        <p14:creationId xmlns:p14="http://schemas.microsoft.com/office/powerpoint/2010/main" val="840195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9" grpId="0"/>
      <p:bldP spid="31" grpId="0"/>
      <p:bldP spid="32" grpId="0"/>
      <p:bldP spid="33" grpId="0"/>
      <p:bldP spid="34" grpId="0"/>
      <p:bldP spid="35" grpId="0"/>
      <p:bldP spid="36" grpId="0"/>
      <p:bldP spid="37" grpId="0"/>
      <p:bldP spid="3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Adjacency Matrix Representation</a:t>
            </a:r>
          </a:p>
        </p:txBody>
      </p:sp>
      <p:sp>
        <p:nvSpPr>
          <p:cNvPr id="17" name="Slide Number Placeholder 16">
            <a:extLst>
              <a:ext uri="{FF2B5EF4-FFF2-40B4-BE49-F238E27FC236}">
                <a16:creationId xmlns:a16="http://schemas.microsoft.com/office/drawing/2014/main" id="{F4807552-A4F5-49E6-9A36-0D3A9F5EC6FA}"/>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7/110</a:t>
            </a:r>
          </a:p>
        </p:txBody>
      </p:sp>
      <p:cxnSp>
        <p:nvCxnSpPr>
          <p:cNvPr id="5" name="Straight Connector 4"/>
          <p:cNvCxnSpPr>
            <a:stCxn id="14" idx="1"/>
          </p:cNvCxnSpPr>
          <p:nvPr/>
        </p:nvCxnSpPr>
        <p:spPr>
          <a:xfrm flipH="1" flipV="1">
            <a:off x="1097669" y="3434342"/>
            <a:ext cx="2198288" cy="933175"/>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Straight Connector 5"/>
          <p:cNvCxnSpPr>
            <a:stCxn id="9" idx="5"/>
          </p:cNvCxnSpPr>
          <p:nvPr/>
        </p:nvCxnSpPr>
        <p:spPr>
          <a:xfrm>
            <a:off x="2328832" y="3162018"/>
            <a:ext cx="1158049" cy="1337765"/>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flipV="1">
            <a:off x="2174848" y="3077522"/>
            <a:ext cx="1856048" cy="24517"/>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1948920" y="3181462"/>
            <a:ext cx="175670" cy="1109474"/>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Oval 16"/>
          <p:cNvSpPr>
            <a:spLocks noChangeArrowheads="1"/>
          </p:cNvSpPr>
          <p:nvPr/>
        </p:nvSpPr>
        <p:spPr bwMode="auto">
          <a:xfrm>
            <a:off x="1957083" y="279026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0" name="Straight Connector 9"/>
          <p:cNvCxnSpPr/>
          <p:nvPr/>
        </p:nvCxnSpPr>
        <p:spPr>
          <a:xfrm flipH="1">
            <a:off x="2120774" y="4499783"/>
            <a:ext cx="1119177" cy="6846"/>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endCxn id="23" idx="1"/>
          </p:cNvCxnSpPr>
          <p:nvPr/>
        </p:nvCxnSpPr>
        <p:spPr>
          <a:xfrm>
            <a:off x="1167927" y="3635918"/>
            <a:ext cx="563889" cy="863865"/>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Oval 16"/>
          <p:cNvSpPr>
            <a:spLocks noChangeArrowheads="1"/>
          </p:cNvSpPr>
          <p:nvPr/>
        </p:nvSpPr>
        <p:spPr bwMode="auto">
          <a:xfrm>
            <a:off x="1686531" y="428201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3" name="Oval 16"/>
          <p:cNvSpPr>
            <a:spLocks noChangeArrowheads="1"/>
          </p:cNvSpPr>
          <p:nvPr/>
        </p:nvSpPr>
        <p:spPr bwMode="auto">
          <a:xfrm>
            <a:off x="796178" y="330985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4" name="Oval 16"/>
          <p:cNvSpPr>
            <a:spLocks noChangeArrowheads="1"/>
          </p:cNvSpPr>
          <p:nvPr/>
        </p:nvSpPr>
        <p:spPr bwMode="auto">
          <a:xfrm>
            <a:off x="3232175" y="4303735"/>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5" name="Straight Connector 14"/>
          <p:cNvCxnSpPr>
            <a:stCxn id="14" idx="7"/>
          </p:cNvCxnSpPr>
          <p:nvPr/>
        </p:nvCxnSpPr>
        <p:spPr>
          <a:xfrm flipV="1">
            <a:off x="3603924" y="3129039"/>
            <a:ext cx="650011" cy="1238478"/>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4029021" y="2895425"/>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2" name="TextBox 21"/>
          <p:cNvSpPr txBox="1"/>
          <p:nvPr/>
        </p:nvSpPr>
        <p:spPr>
          <a:xfrm>
            <a:off x="2006372" y="2812129"/>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1</a:t>
            </a:r>
            <a:endParaRPr lang="en-US" b="1" dirty="0">
              <a:solidFill>
                <a:prstClr val="black"/>
              </a:solidFill>
              <a:latin typeface="Arial Rounded MT Bold" panose="020F0704030504030204" pitchFamily="34" charset="0"/>
            </a:endParaRPr>
          </a:p>
        </p:txBody>
      </p:sp>
      <p:sp>
        <p:nvSpPr>
          <p:cNvPr id="23" name="TextBox 22"/>
          <p:cNvSpPr txBox="1"/>
          <p:nvPr/>
        </p:nvSpPr>
        <p:spPr>
          <a:xfrm>
            <a:off x="1731816" y="4315117"/>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2</a:t>
            </a:r>
            <a:endParaRPr lang="en-US" b="1" dirty="0">
              <a:solidFill>
                <a:prstClr val="black"/>
              </a:solidFill>
              <a:latin typeface="Arial Rounded MT Bold" panose="020F0704030504030204" pitchFamily="34" charset="0"/>
            </a:endParaRPr>
          </a:p>
        </p:txBody>
      </p:sp>
      <p:sp>
        <p:nvSpPr>
          <p:cNvPr id="24" name="TextBox 23"/>
          <p:cNvSpPr txBox="1"/>
          <p:nvPr/>
        </p:nvSpPr>
        <p:spPr>
          <a:xfrm>
            <a:off x="4096606" y="2917373"/>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3</a:t>
            </a:r>
            <a:endParaRPr lang="en-US" b="1" dirty="0">
              <a:solidFill>
                <a:prstClr val="black"/>
              </a:solidFill>
              <a:latin typeface="Arial Rounded MT Bold" panose="020F0704030504030204" pitchFamily="34" charset="0"/>
            </a:endParaRPr>
          </a:p>
        </p:txBody>
      </p:sp>
      <p:sp>
        <p:nvSpPr>
          <p:cNvPr id="25" name="Rectangle 24"/>
          <p:cNvSpPr/>
          <p:nvPr/>
        </p:nvSpPr>
        <p:spPr>
          <a:xfrm>
            <a:off x="844245" y="3347522"/>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4</a:t>
            </a:r>
            <a:endParaRPr lang="en-US" b="1" dirty="0">
              <a:solidFill>
                <a:prstClr val="black"/>
              </a:solidFill>
              <a:latin typeface="Arial Rounded MT Bold" panose="020F0704030504030204" pitchFamily="34" charset="0"/>
            </a:endParaRPr>
          </a:p>
        </p:txBody>
      </p:sp>
      <p:sp>
        <p:nvSpPr>
          <p:cNvPr id="28" name="Rectangle 27"/>
          <p:cNvSpPr/>
          <p:nvPr/>
        </p:nvSpPr>
        <p:spPr>
          <a:xfrm>
            <a:off x="3291957" y="4328668"/>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5</a:t>
            </a:r>
            <a:endParaRPr lang="en-US" b="1" dirty="0">
              <a:solidFill>
                <a:prstClr val="black"/>
              </a:solidFill>
              <a:latin typeface="Arial Rounded MT Bold" panose="020F0704030504030204" pitchFamily="34" charset="0"/>
            </a:endParaRPr>
          </a:p>
        </p:txBody>
      </p:sp>
      <p:graphicFrame>
        <p:nvGraphicFramePr>
          <p:cNvPr id="39" name="Table 38"/>
          <p:cNvGraphicFramePr>
            <a:graphicFrameLocks noGrp="1"/>
          </p:cNvGraphicFramePr>
          <p:nvPr/>
        </p:nvGraphicFramePr>
        <p:xfrm>
          <a:off x="6833506" y="2163536"/>
          <a:ext cx="3494316" cy="2893088"/>
        </p:xfrm>
        <a:graphic>
          <a:graphicData uri="http://schemas.openxmlformats.org/drawingml/2006/table">
            <a:tbl>
              <a:tblPr>
                <a:tableStyleId>{BDBED569-4797-4DF1-A0F4-6AAB3CD982D8}</a:tableStyleId>
              </a:tblPr>
              <a:tblGrid>
                <a:gridCol w="582386">
                  <a:extLst>
                    <a:ext uri="{9D8B030D-6E8A-4147-A177-3AD203B41FA5}">
                      <a16:colId xmlns:a16="http://schemas.microsoft.com/office/drawing/2014/main" val="2989644895"/>
                    </a:ext>
                  </a:extLst>
                </a:gridCol>
                <a:gridCol w="582386">
                  <a:extLst>
                    <a:ext uri="{9D8B030D-6E8A-4147-A177-3AD203B41FA5}">
                      <a16:colId xmlns:a16="http://schemas.microsoft.com/office/drawing/2014/main" val="4244960412"/>
                    </a:ext>
                  </a:extLst>
                </a:gridCol>
                <a:gridCol w="582386">
                  <a:extLst>
                    <a:ext uri="{9D8B030D-6E8A-4147-A177-3AD203B41FA5}">
                      <a16:colId xmlns:a16="http://schemas.microsoft.com/office/drawing/2014/main" val="2572560869"/>
                    </a:ext>
                  </a:extLst>
                </a:gridCol>
                <a:gridCol w="582386">
                  <a:extLst>
                    <a:ext uri="{9D8B030D-6E8A-4147-A177-3AD203B41FA5}">
                      <a16:colId xmlns:a16="http://schemas.microsoft.com/office/drawing/2014/main" val="1080161752"/>
                    </a:ext>
                  </a:extLst>
                </a:gridCol>
                <a:gridCol w="582386">
                  <a:extLst>
                    <a:ext uri="{9D8B030D-6E8A-4147-A177-3AD203B41FA5}">
                      <a16:colId xmlns:a16="http://schemas.microsoft.com/office/drawing/2014/main" val="3378961574"/>
                    </a:ext>
                  </a:extLst>
                </a:gridCol>
                <a:gridCol w="582386">
                  <a:extLst>
                    <a:ext uri="{9D8B030D-6E8A-4147-A177-3AD203B41FA5}">
                      <a16:colId xmlns:a16="http://schemas.microsoft.com/office/drawing/2014/main" val="1874499129"/>
                    </a:ext>
                  </a:extLst>
                </a:gridCol>
              </a:tblGrid>
              <a:tr h="324250">
                <a:tc>
                  <a:txBody>
                    <a:bodyPr/>
                    <a:lstStyle/>
                    <a:p>
                      <a:pPr algn="ctr"/>
                      <a:endParaRPr lang="en-US" b="1"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algn="ctr"/>
                      <a:r>
                        <a:rPr lang="en-US" dirty="0">
                          <a:latin typeface="Arial Rounded MT Bold" panose="020F0704030504030204" pitchFamily="34" charset="0"/>
                        </a:rPr>
                        <a:t>v</a:t>
                      </a:r>
                      <a:r>
                        <a:rPr lang="en-US" baseline="-25000" dirty="0">
                          <a:latin typeface="Arial Rounded MT Bold" panose="020F0704030504030204" pitchFamily="34" charset="0"/>
                        </a:rPr>
                        <a:t>1</a:t>
                      </a:r>
                      <a:endParaRPr lang="en-US"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algn="ctr"/>
                      <a:r>
                        <a:rPr lang="en-US" dirty="0">
                          <a:latin typeface="Arial Rounded MT Bold" panose="020F0704030504030204" pitchFamily="34" charset="0"/>
                        </a:rPr>
                        <a:t>v</a:t>
                      </a:r>
                      <a:r>
                        <a:rPr lang="en-US" baseline="-25000" dirty="0">
                          <a:latin typeface="Arial Rounded MT Bold" panose="020F0704030504030204" pitchFamily="34" charset="0"/>
                        </a:rPr>
                        <a:t>2</a:t>
                      </a:r>
                      <a:endParaRPr lang="en-US"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algn="ctr"/>
                      <a:r>
                        <a:rPr lang="en-US" dirty="0">
                          <a:latin typeface="Arial Rounded MT Bold" panose="020F0704030504030204" pitchFamily="34" charset="0"/>
                        </a:rPr>
                        <a:t>v</a:t>
                      </a:r>
                      <a:r>
                        <a:rPr lang="en-US" baseline="-25000" dirty="0">
                          <a:latin typeface="Arial Rounded MT Bold" panose="020F0704030504030204" pitchFamily="34" charset="0"/>
                        </a:rPr>
                        <a:t>3</a:t>
                      </a:r>
                      <a:endParaRPr lang="en-US"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algn="ctr"/>
                      <a:r>
                        <a:rPr lang="en-US" dirty="0">
                          <a:latin typeface="Arial Rounded MT Bold" panose="020F0704030504030204" pitchFamily="34" charset="0"/>
                        </a:rPr>
                        <a:t>v</a:t>
                      </a:r>
                      <a:r>
                        <a:rPr lang="en-US" baseline="-25000" dirty="0">
                          <a:latin typeface="Arial Rounded MT Bold" panose="020F0704030504030204" pitchFamily="34" charset="0"/>
                        </a:rPr>
                        <a:t>4</a:t>
                      </a:r>
                      <a:endParaRPr lang="en-US"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algn="ctr"/>
                      <a:r>
                        <a:rPr lang="en-US" dirty="0">
                          <a:latin typeface="Arial Rounded MT Bold" panose="020F0704030504030204" pitchFamily="34" charset="0"/>
                        </a:rPr>
                        <a:t>v</a:t>
                      </a:r>
                      <a:r>
                        <a:rPr lang="en-US" baseline="-25000" dirty="0">
                          <a:latin typeface="Arial Rounded MT Bold" panose="020F0704030504030204" pitchFamily="34" charset="0"/>
                        </a:rPr>
                        <a:t>5</a:t>
                      </a:r>
                      <a:endParaRPr lang="en-US" dirty="0">
                        <a:solidFill>
                          <a:schemeClr val="bg1"/>
                        </a:solidFill>
                        <a:latin typeface="Arial Rounded MT Bold" panose="020F0704030504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1978098576"/>
                  </a:ext>
                </a:extLst>
              </a:tr>
              <a:tr h="499654">
                <a:tc>
                  <a:txBody>
                    <a:bodyPr/>
                    <a:lstStyle/>
                    <a:p>
                      <a:pPr algn="ctr"/>
                      <a:r>
                        <a:rPr lang="en-US" b="1" dirty="0">
                          <a:latin typeface="Arial Rounded MT Bold" panose="020F0704030504030204" pitchFamily="34" charset="0"/>
                        </a:rPr>
                        <a:t>v</a:t>
                      </a:r>
                      <a:r>
                        <a:rPr lang="en-US" b="1" baseline="-25000" dirty="0">
                          <a:latin typeface="Arial Rounded MT Bold" panose="020F0704030504030204" pitchFamily="34" charset="0"/>
                        </a:rPr>
                        <a:t>1</a:t>
                      </a:r>
                      <a:endParaRPr lang="en-US" b="1"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rgbClr val="FF0000"/>
                          </a:solidFill>
                          <a:latin typeface="Arial Rounded MT Bold" panose="020F0704030504030204" pitchFamily="34" charset="0"/>
                        </a:rPr>
                        <a:t>0</a:t>
                      </a:r>
                      <a:endParaRPr lang="en-US" b="1" dirty="0">
                        <a:solidFill>
                          <a:srgbClr val="FF0000"/>
                        </a:solidFill>
                        <a:latin typeface="Arial Rounded MT Bold" panose="020F0704030504030204" pitchFamily="34" charset="0"/>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extLst>
                  <a:ext uri="{0D108BD9-81ED-4DB2-BD59-A6C34878D82A}">
                    <a16:rowId xmlns:a16="http://schemas.microsoft.com/office/drawing/2014/main" val="3592035499"/>
                  </a:ext>
                </a:extLst>
              </a:tr>
              <a:tr h="522514">
                <a:tc>
                  <a:txBody>
                    <a:bodyPr/>
                    <a:lstStyle/>
                    <a:p>
                      <a:pPr algn="ctr"/>
                      <a:r>
                        <a:rPr lang="en-US" b="1" dirty="0">
                          <a:latin typeface="Arial Rounded MT Bold" panose="020F0704030504030204" pitchFamily="34" charset="0"/>
                        </a:rPr>
                        <a:t>v</a:t>
                      </a:r>
                      <a:r>
                        <a:rPr lang="en-US" b="1" baseline="-25000" dirty="0">
                          <a:latin typeface="Arial Rounded MT Bold" panose="020F0704030504030204" pitchFamily="34" charset="0"/>
                        </a:rPr>
                        <a:t>2</a:t>
                      </a:r>
                      <a:endParaRPr lang="en-US" b="1"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algn="ctr"/>
                      <a:r>
                        <a:rPr lang="en-US" dirty="0">
                          <a:latin typeface="Arial Rounded MT Bold" panose="020F0704030504030204" pitchFamily="34" charset="0"/>
                        </a:rPr>
                        <a:t>1</a:t>
                      </a:r>
                      <a:endParaRPr lang="en-US" b="1" dirty="0">
                        <a:latin typeface="Arial Rounded MT Bold" panose="020F0704030504030204" pitchFamily="34" charset="0"/>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rgbClr val="FF0000"/>
                          </a:solidFill>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extLst>
                  <a:ext uri="{0D108BD9-81ED-4DB2-BD59-A6C34878D82A}">
                    <a16:rowId xmlns:a16="http://schemas.microsoft.com/office/drawing/2014/main" val="1939942222"/>
                  </a:ext>
                </a:extLst>
              </a:tr>
              <a:tr h="514350">
                <a:tc>
                  <a:txBody>
                    <a:bodyPr/>
                    <a:lstStyle/>
                    <a:p>
                      <a:pPr algn="ctr"/>
                      <a:r>
                        <a:rPr lang="en-US" b="1" dirty="0">
                          <a:latin typeface="Arial Rounded MT Bold" panose="020F0704030504030204" pitchFamily="34" charset="0"/>
                        </a:rPr>
                        <a:t>v</a:t>
                      </a:r>
                      <a:r>
                        <a:rPr lang="en-US" b="1" baseline="-25000" dirty="0">
                          <a:latin typeface="Arial Rounded MT Bold" panose="020F0704030504030204" pitchFamily="34" charset="0"/>
                        </a:rPr>
                        <a:t>3</a:t>
                      </a:r>
                      <a:endParaRPr lang="en-US" b="1"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algn="ctr"/>
                      <a:r>
                        <a:rPr lang="en-US" dirty="0">
                          <a:latin typeface="Arial Rounded MT Bold" panose="020F0704030504030204" pitchFamily="34" charset="0"/>
                        </a:rPr>
                        <a:t>1</a:t>
                      </a:r>
                      <a:endParaRPr lang="en-US" b="1" dirty="0">
                        <a:latin typeface="Arial Rounded MT Bold" panose="020F0704030504030204" pitchFamily="34" charset="0"/>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rgbClr val="FF0000"/>
                          </a:solidFill>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extLst>
                  <a:ext uri="{0D108BD9-81ED-4DB2-BD59-A6C34878D82A}">
                    <a16:rowId xmlns:a16="http://schemas.microsoft.com/office/drawing/2014/main" val="371904882"/>
                  </a:ext>
                </a:extLst>
              </a:tr>
              <a:tr h="513264">
                <a:tc>
                  <a:txBody>
                    <a:bodyPr/>
                    <a:lstStyle/>
                    <a:p>
                      <a:pPr algn="ctr"/>
                      <a:r>
                        <a:rPr lang="en-US" b="1" dirty="0">
                          <a:latin typeface="Arial Rounded MT Bold" panose="020F0704030504030204" pitchFamily="34" charset="0"/>
                        </a:rPr>
                        <a:t>v</a:t>
                      </a:r>
                      <a:r>
                        <a:rPr lang="en-US" b="1" baseline="-25000" dirty="0">
                          <a:latin typeface="Arial Rounded MT Bold" panose="020F0704030504030204" pitchFamily="34" charset="0"/>
                        </a:rPr>
                        <a:t>4</a:t>
                      </a:r>
                      <a:endParaRPr lang="en-US" b="1"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rgbClr val="FF0000"/>
                          </a:solidFill>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extLst>
                  <a:ext uri="{0D108BD9-81ED-4DB2-BD59-A6C34878D82A}">
                    <a16:rowId xmlns:a16="http://schemas.microsoft.com/office/drawing/2014/main" val="1084115065"/>
                  </a:ext>
                </a:extLst>
              </a:tr>
              <a:tr h="477546">
                <a:tc>
                  <a:txBody>
                    <a:bodyPr/>
                    <a:lstStyle/>
                    <a:p>
                      <a:pPr algn="ctr"/>
                      <a:r>
                        <a:rPr lang="en-US" b="1" dirty="0">
                          <a:latin typeface="Arial Rounded MT Bold" panose="020F0704030504030204" pitchFamily="34" charset="0"/>
                        </a:rPr>
                        <a:t>v</a:t>
                      </a:r>
                      <a:r>
                        <a:rPr lang="en-US" b="1" baseline="-25000" dirty="0">
                          <a:latin typeface="Arial Rounded MT Bold" panose="020F0704030504030204" pitchFamily="34" charset="0"/>
                        </a:rPr>
                        <a:t>5</a:t>
                      </a:r>
                      <a:endParaRPr lang="en-US" b="1"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algn="ctr"/>
                      <a:r>
                        <a:rPr lang="en-US" dirty="0">
                          <a:latin typeface="Arial Rounded MT Bold" panose="020F0704030504030204" pitchFamily="34" charset="0"/>
                        </a:rPr>
                        <a:t>1</a:t>
                      </a:r>
                      <a:endParaRPr lang="en-US" b="1" dirty="0">
                        <a:latin typeface="Arial Rounded MT Bold" panose="020F0704030504030204" pitchFamily="34" charset="0"/>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rgbClr val="FF0000"/>
                          </a:solidFill>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extLst>
                  <a:ext uri="{0D108BD9-81ED-4DB2-BD59-A6C34878D82A}">
                    <a16:rowId xmlns:a16="http://schemas.microsoft.com/office/drawing/2014/main" val="4208500189"/>
                  </a:ext>
                </a:extLst>
              </a:tr>
            </a:tbl>
          </a:graphicData>
        </a:graphic>
      </p:graphicFrame>
      <p:sp>
        <p:nvSpPr>
          <p:cNvPr id="30" name="Rectangle 29">
            <a:extLst>
              <a:ext uri="{FF2B5EF4-FFF2-40B4-BE49-F238E27FC236}">
                <a16:creationId xmlns:a16="http://schemas.microsoft.com/office/drawing/2014/main" id="{C9B8AFE2-54D4-4F00-B6CF-5B289233E463}"/>
              </a:ext>
            </a:extLst>
          </p:cNvPr>
          <p:cNvSpPr/>
          <p:nvPr/>
        </p:nvSpPr>
        <p:spPr>
          <a:xfrm>
            <a:off x="2247999" y="5261871"/>
            <a:ext cx="580287" cy="1077218"/>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rPr>
              <a:t>G</a:t>
            </a:r>
          </a:p>
          <a:p>
            <a:pPr marL="118872" lvl="0">
              <a:buClr>
                <a:srgbClr val="F0AD00"/>
              </a:buClr>
              <a:buSzPct val="80000"/>
            </a:pPr>
            <a:endParaRPr lang="en-US" sz="3200" b="1" dirty="0">
              <a:effectLst>
                <a:outerShdw blurRad="38100" dist="38100" dir="2700000" algn="tl">
                  <a:srgbClr val="000000">
                    <a:alpha val="43137"/>
                  </a:srgbClr>
                </a:outerShdw>
              </a:effectLst>
            </a:endParaRPr>
          </a:p>
        </p:txBody>
      </p:sp>
      <p:sp>
        <p:nvSpPr>
          <p:cNvPr id="31" name="Rectangle 30">
            <a:extLst>
              <a:ext uri="{FF2B5EF4-FFF2-40B4-BE49-F238E27FC236}">
                <a16:creationId xmlns:a16="http://schemas.microsoft.com/office/drawing/2014/main" id="{688EBD90-5C4E-4527-8BA5-43619F2A55E3}"/>
              </a:ext>
            </a:extLst>
          </p:cNvPr>
          <p:cNvSpPr/>
          <p:nvPr/>
        </p:nvSpPr>
        <p:spPr>
          <a:xfrm>
            <a:off x="8459951" y="5646316"/>
            <a:ext cx="678071"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rPr>
              <a:t>W</a:t>
            </a:r>
          </a:p>
        </p:txBody>
      </p:sp>
      <p:sp>
        <p:nvSpPr>
          <p:cNvPr id="3" name="Rectangle 2">
            <a:extLst>
              <a:ext uri="{FF2B5EF4-FFF2-40B4-BE49-F238E27FC236}">
                <a16:creationId xmlns:a16="http://schemas.microsoft.com/office/drawing/2014/main" id="{DDF06851-347D-439F-A77C-01886F358474}"/>
              </a:ext>
            </a:extLst>
          </p:cNvPr>
          <p:cNvSpPr/>
          <p:nvPr/>
        </p:nvSpPr>
        <p:spPr>
          <a:xfrm>
            <a:off x="650670" y="1756855"/>
            <a:ext cx="1415772" cy="646331"/>
          </a:xfrm>
          <a:prstGeom prst="rect">
            <a:avLst/>
          </a:prstGeom>
        </p:spPr>
        <p:txBody>
          <a:bodyPr wrap="none">
            <a:spAutoFit/>
          </a:bodyPr>
          <a:lstStyle/>
          <a:p>
            <a:r>
              <a:rPr lang="en-US" b="1" dirty="0">
                <a:effectLst>
                  <a:outerShdw blurRad="38100" dist="38100" dir="2700000" algn="tl">
                    <a:srgbClr val="000000">
                      <a:alpha val="43137"/>
                    </a:srgbClr>
                  </a:outerShdw>
                </a:effectLst>
              </a:rPr>
              <a:t>Undirected</a:t>
            </a:r>
          </a:p>
          <a:p>
            <a:r>
              <a:rPr lang="en-US" b="1" dirty="0">
                <a:effectLst>
                  <a:outerShdw blurRad="38100" dist="38100" dir="2700000" algn="tl">
                    <a:srgbClr val="000000">
                      <a:alpha val="43137"/>
                    </a:srgbClr>
                  </a:outerShdw>
                </a:effectLst>
              </a:rPr>
              <a:t>Unweighted</a:t>
            </a:r>
            <a:endParaRPr lang="en-US" dirty="0"/>
          </a:p>
        </p:txBody>
      </p:sp>
    </p:spTree>
    <p:custDataLst>
      <p:tags r:id="rId1"/>
    </p:custDataLst>
    <p:extLst>
      <p:ext uri="{BB962C8B-B14F-4D97-AF65-F5344CB8AC3E}">
        <p14:creationId xmlns:p14="http://schemas.microsoft.com/office/powerpoint/2010/main" val="238384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Adjacency Matrix Representation</a:t>
            </a:r>
          </a:p>
        </p:txBody>
      </p:sp>
      <p:sp>
        <p:nvSpPr>
          <p:cNvPr id="17" name="Slide Number Placeholder 16">
            <a:extLst>
              <a:ext uri="{FF2B5EF4-FFF2-40B4-BE49-F238E27FC236}">
                <a16:creationId xmlns:a16="http://schemas.microsoft.com/office/drawing/2014/main" id="{F4807552-A4F5-49E6-9A36-0D3A9F5EC6FA}"/>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8/110</a:t>
            </a:r>
          </a:p>
        </p:txBody>
      </p:sp>
      <p:cxnSp>
        <p:nvCxnSpPr>
          <p:cNvPr id="5" name="Straight Connector 4"/>
          <p:cNvCxnSpPr>
            <a:stCxn id="14" idx="1"/>
          </p:cNvCxnSpPr>
          <p:nvPr/>
        </p:nvCxnSpPr>
        <p:spPr>
          <a:xfrm flipH="1" flipV="1">
            <a:off x="1097669" y="3434342"/>
            <a:ext cx="2198288" cy="933175"/>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Straight Connector 5"/>
          <p:cNvCxnSpPr>
            <a:stCxn id="9" idx="5"/>
          </p:cNvCxnSpPr>
          <p:nvPr/>
        </p:nvCxnSpPr>
        <p:spPr>
          <a:xfrm>
            <a:off x="2328832" y="3162018"/>
            <a:ext cx="1158049" cy="1337765"/>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flipV="1">
            <a:off x="2174848" y="3077522"/>
            <a:ext cx="1856048" cy="24517"/>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1948920" y="3181462"/>
            <a:ext cx="175670" cy="1109474"/>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Oval 16"/>
          <p:cNvSpPr>
            <a:spLocks noChangeArrowheads="1"/>
          </p:cNvSpPr>
          <p:nvPr/>
        </p:nvSpPr>
        <p:spPr bwMode="auto">
          <a:xfrm>
            <a:off x="1957083" y="279026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0" name="Straight Connector 9"/>
          <p:cNvCxnSpPr/>
          <p:nvPr/>
        </p:nvCxnSpPr>
        <p:spPr>
          <a:xfrm flipH="1">
            <a:off x="2120774" y="4499783"/>
            <a:ext cx="1119177" cy="6846"/>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endCxn id="23" idx="1"/>
          </p:cNvCxnSpPr>
          <p:nvPr/>
        </p:nvCxnSpPr>
        <p:spPr>
          <a:xfrm>
            <a:off x="1167927" y="3635918"/>
            <a:ext cx="563889" cy="863865"/>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Oval 16"/>
          <p:cNvSpPr>
            <a:spLocks noChangeArrowheads="1"/>
          </p:cNvSpPr>
          <p:nvPr/>
        </p:nvSpPr>
        <p:spPr bwMode="auto">
          <a:xfrm>
            <a:off x="1686531" y="428201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3" name="Oval 16"/>
          <p:cNvSpPr>
            <a:spLocks noChangeArrowheads="1"/>
          </p:cNvSpPr>
          <p:nvPr/>
        </p:nvSpPr>
        <p:spPr bwMode="auto">
          <a:xfrm>
            <a:off x="796178" y="330985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4" name="Oval 16"/>
          <p:cNvSpPr>
            <a:spLocks noChangeArrowheads="1"/>
          </p:cNvSpPr>
          <p:nvPr/>
        </p:nvSpPr>
        <p:spPr bwMode="auto">
          <a:xfrm>
            <a:off x="3232175" y="4303735"/>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5" name="Straight Connector 14"/>
          <p:cNvCxnSpPr>
            <a:stCxn id="14" idx="7"/>
          </p:cNvCxnSpPr>
          <p:nvPr/>
        </p:nvCxnSpPr>
        <p:spPr>
          <a:xfrm flipV="1">
            <a:off x="3603924" y="3129039"/>
            <a:ext cx="650011" cy="1238478"/>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4029021" y="2895425"/>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2" name="TextBox 21"/>
          <p:cNvSpPr txBox="1"/>
          <p:nvPr/>
        </p:nvSpPr>
        <p:spPr>
          <a:xfrm>
            <a:off x="2006372" y="2812129"/>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1</a:t>
            </a:r>
            <a:endParaRPr lang="en-US" b="1" dirty="0">
              <a:solidFill>
                <a:prstClr val="black"/>
              </a:solidFill>
              <a:latin typeface="Arial Rounded MT Bold" panose="020F0704030504030204" pitchFamily="34" charset="0"/>
            </a:endParaRPr>
          </a:p>
        </p:txBody>
      </p:sp>
      <p:sp>
        <p:nvSpPr>
          <p:cNvPr id="23" name="TextBox 22"/>
          <p:cNvSpPr txBox="1"/>
          <p:nvPr/>
        </p:nvSpPr>
        <p:spPr>
          <a:xfrm>
            <a:off x="1731816" y="4315117"/>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2</a:t>
            </a:r>
            <a:endParaRPr lang="en-US" b="1" dirty="0">
              <a:solidFill>
                <a:prstClr val="black"/>
              </a:solidFill>
              <a:latin typeface="Arial Rounded MT Bold" panose="020F0704030504030204" pitchFamily="34" charset="0"/>
            </a:endParaRPr>
          </a:p>
        </p:txBody>
      </p:sp>
      <p:sp>
        <p:nvSpPr>
          <p:cNvPr id="24" name="TextBox 23"/>
          <p:cNvSpPr txBox="1"/>
          <p:nvPr/>
        </p:nvSpPr>
        <p:spPr>
          <a:xfrm>
            <a:off x="4096606" y="2917373"/>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3</a:t>
            </a:r>
            <a:endParaRPr lang="en-US" b="1" dirty="0">
              <a:solidFill>
                <a:prstClr val="black"/>
              </a:solidFill>
              <a:latin typeface="Arial Rounded MT Bold" panose="020F0704030504030204" pitchFamily="34" charset="0"/>
            </a:endParaRPr>
          </a:p>
        </p:txBody>
      </p:sp>
      <p:sp>
        <p:nvSpPr>
          <p:cNvPr id="25" name="Rectangle 24"/>
          <p:cNvSpPr/>
          <p:nvPr/>
        </p:nvSpPr>
        <p:spPr>
          <a:xfrm>
            <a:off x="844245" y="3347522"/>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4</a:t>
            </a:r>
            <a:endParaRPr lang="en-US" b="1" dirty="0">
              <a:solidFill>
                <a:prstClr val="black"/>
              </a:solidFill>
              <a:latin typeface="Arial Rounded MT Bold" panose="020F0704030504030204" pitchFamily="34" charset="0"/>
            </a:endParaRPr>
          </a:p>
        </p:txBody>
      </p:sp>
      <p:sp>
        <p:nvSpPr>
          <p:cNvPr id="28" name="Rectangle 27"/>
          <p:cNvSpPr/>
          <p:nvPr/>
        </p:nvSpPr>
        <p:spPr>
          <a:xfrm>
            <a:off x="3291957" y="4328668"/>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5</a:t>
            </a:r>
            <a:endParaRPr lang="en-US" b="1" dirty="0">
              <a:solidFill>
                <a:prstClr val="black"/>
              </a:solidFill>
              <a:latin typeface="Arial Rounded MT Bold" panose="020F0704030504030204" pitchFamily="34" charset="0"/>
            </a:endParaRPr>
          </a:p>
        </p:txBody>
      </p:sp>
      <p:sp>
        <p:nvSpPr>
          <p:cNvPr id="3" name="TextBox 2"/>
          <p:cNvSpPr txBox="1"/>
          <p:nvPr/>
        </p:nvSpPr>
        <p:spPr>
          <a:xfrm>
            <a:off x="3062379" y="2660420"/>
            <a:ext cx="322524" cy="369332"/>
          </a:xfrm>
          <a:prstGeom prst="rect">
            <a:avLst/>
          </a:prstGeom>
          <a:noFill/>
        </p:spPr>
        <p:txBody>
          <a:bodyPr wrap="none" rtlCol="0">
            <a:spAutoFit/>
          </a:bodyPr>
          <a:lstStyle/>
          <a:p>
            <a:r>
              <a:rPr lang="en-US" b="1" dirty="0">
                <a:latin typeface="Arial Rounded MT Bold" panose="020F0704030504030204" pitchFamily="34" charset="0"/>
              </a:rPr>
              <a:t>3</a:t>
            </a:r>
          </a:p>
        </p:txBody>
      </p:sp>
      <p:sp>
        <p:nvSpPr>
          <p:cNvPr id="33" name="Rectangle 32"/>
          <p:cNvSpPr/>
          <p:nvPr/>
        </p:nvSpPr>
        <p:spPr>
          <a:xfrm>
            <a:off x="3641898" y="3499707"/>
            <a:ext cx="322524" cy="369332"/>
          </a:xfrm>
          <a:prstGeom prst="rect">
            <a:avLst/>
          </a:prstGeom>
        </p:spPr>
        <p:txBody>
          <a:bodyPr wrap="none">
            <a:spAutoFit/>
          </a:bodyPr>
          <a:lstStyle/>
          <a:p>
            <a:r>
              <a:rPr lang="en-US" b="1" dirty="0">
                <a:latin typeface="Arial Rounded MT Bold" panose="020F0704030504030204" pitchFamily="34" charset="0"/>
              </a:rPr>
              <a:t>6</a:t>
            </a:r>
            <a:endParaRPr lang="en-US" dirty="0">
              <a:latin typeface="Arial Rounded MT Bold" panose="020F0704030504030204" pitchFamily="34" charset="0"/>
            </a:endParaRPr>
          </a:p>
        </p:txBody>
      </p:sp>
      <p:sp>
        <p:nvSpPr>
          <p:cNvPr id="34" name="Rectangle 33"/>
          <p:cNvSpPr/>
          <p:nvPr/>
        </p:nvSpPr>
        <p:spPr>
          <a:xfrm>
            <a:off x="2805996" y="3427496"/>
            <a:ext cx="322524" cy="369332"/>
          </a:xfrm>
          <a:prstGeom prst="rect">
            <a:avLst/>
          </a:prstGeom>
        </p:spPr>
        <p:txBody>
          <a:bodyPr wrap="none">
            <a:spAutoFit/>
          </a:bodyPr>
          <a:lstStyle/>
          <a:p>
            <a:r>
              <a:rPr lang="en-US" b="1" dirty="0">
                <a:latin typeface="Arial Rounded MT Bold" panose="020F0704030504030204" pitchFamily="34" charset="0"/>
              </a:rPr>
              <a:t>8</a:t>
            </a:r>
            <a:endParaRPr lang="en-US" dirty="0">
              <a:latin typeface="Arial Rounded MT Bold" panose="020F0704030504030204" pitchFamily="34" charset="0"/>
            </a:endParaRPr>
          </a:p>
        </p:txBody>
      </p:sp>
      <p:sp>
        <p:nvSpPr>
          <p:cNvPr id="35" name="Rectangle 34"/>
          <p:cNvSpPr/>
          <p:nvPr/>
        </p:nvSpPr>
        <p:spPr>
          <a:xfrm>
            <a:off x="2039448" y="3354919"/>
            <a:ext cx="460382" cy="369332"/>
          </a:xfrm>
          <a:prstGeom prst="rect">
            <a:avLst/>
          </a:prstGeom>
        </p:spPr>
        <p:txBody>
          <a:bodyPr wrap="none">
            <a:spAutoFit/>
          </a:bodyPr>
          <a:lstStyle/>
          <a:p>
            <a:r>
              <a:rPr lang="en-US" b="1" dirty="0">
                <a:latin typeface="Arial Rounded MT Bold" panose="020F0704030504030204" pitchFamily="34" charset="0"/>
              </a:rPr>
              <a:t>10</a:t>
            </a:r>
            <a:endParaRPr lang="en-US" dirty="0">
              <a:latin typeface="Arial Rounded MT Bold" panose="020F0704030504030204" pitchFamily="34" charset="0"/>
            </a:endParaRPr>
          </a:p>
        </p:txBody>
      </p:sp>
      <p:sp>
        <p:nvSpPr>
          <p:cNvPr id="36" name="Rectangle 35"/>
          <p:cNvSpPr/>
          <p:nvPr/>
        </p:nvSpPr>
        <p:spPr>
          <a:xfrm>
            <a:off x="2215377" y="3998185"/>
            <a:ext cx="460382" cy="369332"/>
          </a:xfrm>
          <a:prstGeom prst="rect">
            <a:avLst/>
          </a:prstGeom>
        </p:spPr>
        <p:txBody>
          <a:bodyPr wrap="none">
            <a:spAutoFit/>
          </a:bodyPr>
          <a:lstStyle/>
          <a:p>
            <a:r>
              <a:rPr lang="en-US" b="1" dirty="0">
                <a:latin typeface="Arial Rounded MT Bold" panose="020F0704030504030204" pitchFamily="34" charset="0"/>
              </a:rPr>
              <a:t>14</a:t>
            </a:r>
            <a:endParaRPr lang="en-US" dirty="0">
              <a:latin typeface="Arial Rounded MT Bold" panose="020F0704030504030204" pitchFamily="34" charset="0"/>
            </a:endParaRPr>
          </a:p>
        </p:txBody>
      </p:sp>
      <p:sp>
        <p:nvSpPr>
          <p:cNvPr id="37" name="Rectangle 36"/>
          <p:cNvSpPr/>
          <p:nvPr/>
        </p:nvSpPr>
        <p:spPr>
          <a:xfrm>
            <a:off x="2459422" y="4518247"/>
            <a:ext cx="322524" cy="369332"/>
          </a:xfrm>
          <a:prstGeom prst="rect">
            <a:avLst/>
          </a:prstGeom>
        </p:spPr>
        <p:txBody>
          <a:bodyPr wrap="none">
            <a:spAutoFit/>
          </a:bodyPr>
          <a:lstStyle/>
          <a:p>
            <a:r>
              <a:rPr lang="en-US" b="1" dirty="0">
                <a:latin typeface="Arial Rounded MT Bold" panose="020F0704030504030204" pitchFamily="34" charset="0"/>
              </a:rPr>
              <a:t>5</a:t>
            </a:r>
            <a:endParaRPr lang="en-US" dirty="0">
              <a:latin typeface="Arial Rounded MT Bold" panose="020F0704030504030204" pitchFamily="34" charset="0"/>
            </a:endParaRPr>
          </a:p>
        </p:txBody>
      </p:sp>
      <p:sp>
        <p:nvSpPr>
          <p:cNvPr id="38" name="Rectangle 37"/>
          <p:cNvSpPr/>
          <p:nvPr/>
        </p:nvSpPr>
        <p:spPr>
          <a:xfrm>
            <a:off x="1124997" y="4038118"/>
            <a:ext cx="460382" cy="369332"/>
          </a:xfrm>
          <a:prstGeom prst="rect">
            <a:avLst/>
          </a:prstGeom>
        </p:spPr>
        <p:txBody>
          <a:bodyPr wrap="none">
            <a:spAutoFit/>
          </a:bodyPr>
          <a:lstStyle/>
          <a:p>
            <a:r>
              <a:rPr lang="en-US" b="1" dirty="0">
                <a:latin typeface="Arial Rounded MT Bold" panose="020F0704030504030204" pitchFamily="34" charset="0"/>
              </a:rPr>
              <a:t>11</a:t>
            </a:r>
            <a:endParaRPr lang="en-US" dirty="0">
              <a:latin typeface="Arial Rounded MT Bold" panose="020F0704030504030204" pitchFamily="34" charset="0"/>
            </a:endParaRPr>
          </a:p>
        </p:txBody>
      </p:sp>
      <p:graphicFrame>
        <p:nvGraphicFramePr>
          <p:cNvPr id="39" name="Table 38"/>
          <p:cNvGraphicFramePr>
            <a:graphicFrameLocks noGrp="1"/>
          </p:cNvGraphicFramePr>
          <p:nvPr>
            <p:extLst>
              <p:ext uri="{D42A27DB-BD31-4B8C-83A1-F6EECF244321}">
                <p14:modId xmlns:p14="http://schemas.microsoft.com/office/powerpoint/2010/main" val="2754428856"/>
              </p:ext>
            </p:extLst>
          </p:nvPr>
        </p:nvGraphicFramePr>
        <p:xfrm>
          <a:off x="6639486" y="2142477"/>
          <a:ext cx="3603594" cy="3029417"/>
        </p:xfrm>
        <a:graphic>
          <a:graphicData uri="http://schemas.openxmlformats.org/drawingml/2006/table">
            <a:tbl>
              <a:tblPr firstRow="1" bandRow="1">
                <a:tableStyleId>{BDBED569-4797-4DF1-A0F4-6AAB3CD982D8}</a:tableStyleId>
              </a:tblPr>
              <a:tblGrid>
                <a:gridCol w="600599">
                  <a:extLst>
                    <a:ext uri="{9D8B030D-6E8A-4147-A177-3AD203B41FA5}">
                      <a16:colId xmlns:a16="http://schemas.microsoft.com/office/drawing/2014/main" val="2989644895"/>
                    </a:ext>
                  </a:extLst>
                </a:gridCol>
                <a:gridCol w="600599">
                  <a:extLst>
                    <a:ext uri="{9D8B030D-6E8A-4147-A177-3AD203B41FA5}">
                      <a16:colId xmlns:a16="http://schemas.microsoft.com/office/drawing/2014/main" val="4244960412"/>
                    </a:ext>
                  </a:extLst>
                </a:gridCol>
                <a:gridCol w="600599">
                  <a:extLst>
                    <a:ext uri="{9D8B030D-6E8A-4147-A177-3AD203B41FA5}">
                      <a16:colId xmlns:a16="http://schemas.microsoft.com/office/drawing/2014/main" val="2572560869"/>
                    </a:ext>
                  </a:extLst>
                </a:gridCol>
                <a:gridCol w="600599">
                  <a:extLst>
                    <a:ext uri="{9D8B030D-6E8A-4147-A177-3AD203B41FA5}">
                      <a16:colId xmlns:a16="http://schemas.microsoft.com/office/drawing/2014/main" val="1080161752"/>
                    </a:ext>
                  </a:extLst>
                </a:gridCol>
                <a:gridCol w="600599">
                  <a:extLst>
                    <a:ext uri="{9D8B030D-6E8A-4147-A177-3AD203B41FA5}">
                      <a16:colId xmlns:a16="http://schemas.microsoft.com/office/drawing/2014/main" val="3378961574"/>
                    </a:ext>
                  </a:extLst>
                </a:gridCol>
                <a:gridCol w="600599">
                  <a:extLst>
                    <a:ext uri="{9D8B030D-6E8A-4147-A177-3AD203B41FA5}">
                      <a16:colId xmlns:a16="http://schemas.microsoft.com/office/drawing/2014/main" val="1874499129"/>
                    </a:ext>
                  </a:extLst>
                </a:gridCol>
              </a:tblGrid>
              <a:tr h="343267">
                <a:tc>
                  <a:txBody>
                    <a:bodyPr/>
                    <a:lstStyle/>
                    <a:p>
                      <a:pPr algn="ctr"/>
                      <a:endParaRPr lang="en-US" b="1"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algn="ctr"/>
                      <a:r>
                        <a:rPr lang="en-US" dirty="0">
                          <a:latin typeface="Arial Rounded MT Bold" panose="020F0704030504030204" pitchFamily="34" charset="0"/>
                        </a:rPr>
                        <a:t>v</a:t>
                      </a:r>
                      <a:r>
                        <a:rPr lang="en-US" baseline="-25000" dirty="0">
                          <a:latin typeface="Arial Rounded MT Bold" panose="020F0704030504030204" pitchFamily="34" charset="0"/>
                        </a:rPr>
                        <a:t>1</a:t>
                      </a:r>
                      <a:endParaRPr lang="en-US"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algn="ctr"/>
                      <a:r>
                        <a:rPr lang="en-US" dirty="0">
                          <a:latin typeface="Arial Rounded MT Bold" panose="020F0704030504030204" pitchFamily="34" charset="0"/>
                        </a:rPr>
                        <a:t>v</a:t>
                      </a:r>
                      <a:r>
                        <a:rPr lang="en-US" baseline="-25000" dirty="0">
                          <a:latin typeface="Arial Rounded MT Bold" panose="020F0704030504030204" pitchFamily="34" charset="0"/>
                        </a:rPr>
                        <a:t>2</a:t>
                      </a:r>
                      <a:endParaRPr lang="en-US"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algn="ctr"/>
                      <a:r>
                        <a:rPr lang="en-US" dirty="0">
                          <a:latin typeface="Arial Rounded MT Bold" panose="020F0704030504030204" pitchFamily="34" charset="0"/>
                        </a:rPr>
                        <a:t>v</a:t>
                      </a:r>
                      <a:r>
                        <a:rPr lang="en-US" baseline="-25000" dirty="0">
                          <a:latin typeface="Arial Rounded MT Bold" panose="020F0704030504030204" pitchFamily="34" charset="0"/>
                        </a:rPr>
                        <a:t>3</a:t>
                      </a:r>
                      <a:endParaRPr lang="en-US"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algn="ctr"/>
                      <a:r>
                        <a:rPr lang="en-US" dirty="0">
                          <a:latin typeface="Arial Rounded MT Bold" panose="020F0704030504030204" pitchFamily="34" charset="0"/>
                        </a:rPr>
                        <a:t>v</a:t>
                      </a:r>
                      <a:r>
                        <a:rPr lang="en-US" baseline="-25000" dirty="0">
                          <a:latin typeface="Arial Rounded MT Bold" panose="020F0704030504030204" pitchFamily="34" charset="0"/>
                        </a:rPr>
                        <a:t>4</a:t>
                      </a:r>
                      <a:endParaRPr lang="en-US"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algn="ctr"/>
                      <a:r>
                        <a:rPr lang="en-US" dirty="0">
                          <a:latin typeface="Arial Rounded MT Bold" panose="020F0704030504030204" pitchFamily="34" charset="0"/>
                        </a:rPr>
                        <a:t>v</a:t>
                      </a:r>
                      <a:r>
                        <a:rPr lang="en-US" baseline="-25000" dirty="0">
                          <a:latin typeface="Arial Rounded MT Bold" panose="020F0704030504030204" pitchFamily="34" charset="0"/>
                        </a:rPr>
                        <a:t>5</a:t>
                      </a:r>
                      <a:endParaRPr lang="en-US" dirty="0">
                        <a:solidFill>
                          <a:schemeClr val="bg1"/>
                        </a:solidFill>
                        <a:latin typeface="Arial Rounded MT Bold" panose="020F0704030504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1978098576"/>
                  </a:ext>
                </a:extLst>
              </a:tr>
              <a:tr h="538680">
                <a:tc>
                  <a:txBody>
                    <a:bodyPr/>
                    <a:lstStyle/>
                    <a:p>
                      <a:pPr algn="ctr"/>
                      <a:r>
                        <a:rPr lang="en-US" b="1" dirty="0">
                          <a:latin typeface="Arial Rounded MT Bold" panose="020F0704030504030204" pitchFamily="34" charset="0"/>
                        </a:rPr>
                        <a:t>v</a:t>
                      </a:r>
                      <a:r>
                        <a:rPr lang="en-US" b="1" baseline="-25000" dirty="0">
                          <a:latin typeface="Arial Rounded MT Bold" panose="020F0704030504030204" pitchFamily="34" charset="0"/>
                        </a:rPr>
                        <a:t>1</a:t>
                      </a:r>
                      <a:endParaRPr lang="en-US" b="1"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rgbClr val="FF0000"/>
                          </a:solidFill>
                          <a:latin typeface="Arial Rounded MT Bold" panose="020F0704030504030204" pitchFamily="34" charset="0"/>
                        </a:rPr>
                        <a:t>0</a:t>
                      </a:r>
                      <a:endParaRPr lang="en-US" b="1" dirty="0">
                        <a:solidFill>
                          <a:srgbClr val="FF0000"/>
                        </a:solidFill>
                        <a:latin typeface="Arial Rounded MT Bold" panose="020F0704030504030204" pitchFamily="34" charset="0"/>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rgbClr val="00B050"/>
                          </a:solidFill>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8</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extLst>
                  <a:ext uri="{0D108BD9-81ED-4DB2-BD59-A6C34878D82A}">
                    <a16:rowId xmlns:a16="http://schemas.microsoft.com/office/drawing/2014/main" val="3592035499"/>
                  </a:ext>
                </a:extLst>
              </a:tr>
              <a:tr h="494305">
                <a:tc>
                  <a:txBody>
                    <a:bodyPr/>
                    <a:lstStyle/>
                    <a:p>
                      <a:pPr algn="ctr"/>
                      <a:r>
                        <a:rPr lang="en-US" b="1" dirty="0">
                          <a:latin typeface="Arial Rounded MT Bold" panose="020F0704030504030204" pitchFamily="34" charset="0"/>
                        </a:rPr>
                        <a:t>v</a:t>
                      </a:r>
                      <a:r>
                        <a:rPr lang="en-US" b="1" baseline="-25000" dirty="0">
                          <a:latin typeface="Arial Rounded MT Bold" panose="020F0704030504030204" pitchFamily="34" charset="0"/>
                        </a:rPr>
                        <a:t>2</a:t>
                      </a:r>
                      <a:endParaRPr lang="en-US" b="1"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algn="ctr"/>
                      <a:r>
                        <a:rPr lang="en-US" dirty="0">
                          <a:latin typeface="Arial Rounded MT Bold" panose="020F0704030504030204" pitchFamily="34" charset="0"/>
                        </a:rPr>
                        <a:t>10</a:t>
                      </a:r>
                      <a:endParaRPr lang="en-US" b="1" dirty="0">
                        <a:latin typeface="Arial Rounded MT Bold" panose="020F0704030504030204" pitchFamily="34" charset="0"/>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rgbClr val="FF0000"/>
                          </a:solidFill>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rgbClr val="00B050"/>
                          </a:solidFill>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extLst>
                  <a:ext uri="{0D108BD9-81ED-4DB2-BD59-A6C34878D82A}">
                    <a16:rowId xmlns:a16="http://schemas.microsoft.com/office/drawing/2014/main" val="1939942222"/>
                  </a:ext>
                </a:extLst>
              </a:tr>
              <a:tr h="492886">
                <a:tc>
                  <a:txBody>
                    <a:bodyPr/>
                    <a:lstStyle/>
                    <a:p>
                      <a:pPr algn="ctr"/>
                      <a:r>
                        <a:rPr lang="en-US" b="1" dirty="0">
                          <a:latin typeface="Arial Rounded MT Bold" panose="020F0704030504030204" pitchFamily="34" charset="0"/>
                        </a:rPr>
                        <a:t>v</a:t>
                      </a:r>
                      <a:r>
                        <a:rPr lang="en-US" b="1" baseline="-25000" dirty="0">
                          <a:latin typeface="Arial Rounded MT Bold" panose="020F0704030504030204" pitchFamily="34" charset="0"/>
                        </a:rPr>
                        <a:t>3</a:t>
                      </a:r>
                      <a:endParaRPr lang="en-US" b="1"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algn="ctr"/>
                      <a:r>
                        <a:rPr lang="en-US" dirty="0">
                          <a:latin typeface="Arial Rounded MT Bold" panose="020F0704030504030204" pitchFamily="34" charset="0"/>
                        </a:rPr>
                        <a:t>3</a:t>
                      </a:r>
                      <a:endParaRPr lang="en-US" b="1" dirty="0">
                        <a:latin typeface="Arial Rounded MT Bold" panose="020F0704030504030204" pitchFamily="34" charset="0"/>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rgbClr val="00B050"/>
                          </a:solidFill>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rgbClr val="00B05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rgbClr val="FF0000"/>
                          </a:solidFill>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rgbClr val="00B050"/>
                          </a:solidFill>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6</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extLst>
                  <a:ext uri="{0D108BD9-81ED-4DB2-BD59-A6C34878D82A}">
                    <a16:rowId xmlns:a16="http://schemas.microsoft.com/office/drawing/2014/main" val="371904882"/>
                  </a:ext>
                </a:extLst>
              </a:tr>
              <a:tr h="599106">
                <a:tc>
                  <a:txBody>
                    <a:bodyPr/>
                    <a:lstStyle/>
                    <a:p>
                      <a:pPr algn="ctr"/>
                      <a:r>
                        <a:rPr lang="en-US" b="1" dirty="0">
                          <a:latin typeface="Arial Rounded MT Bold" panose="020F0704030504030204" pitchFamily="34" charset="0"/>
                        </a:rPr>
                        <a:t>v</a:t>
                      </a:r>
                      <a:r>
                        <a:rPr lang="en-US" b="1" baseline="-25000" dirty="0">
                          <a:latin typeface="Arial Rounded MT Bold" panose="020F0704030504030204" pitchFamily="34" charset="0"/>
                        </a:rPr>
                        <a:t>4</a:t>
                      </a:r>
                      <a:endParaRPr lang="en-US" b="1"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rgbClr val="00B050"/>
                          </a:solidFill>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rgbClr val="00B050"/>
                          </a:solidFill>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rgbClr val="FF0000"/>
                          </a:solidFill>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extLst>
                  <a:ext uri="{0D108BD9-81ED-4DB2-BD59-A6C34878D82A}">
                    <a16:rowId xmlns:a16="http://schemas.microsoft.com/office/drawing/2014/main" val="1084115065"/>
                  </a:ext>
                </a:extLst>
              </a:tr>
              <a:tr h="538680">
                <a:tc>
                  <a:txBody>
                    <a:bodyPr/>
                    <a:lstStyle/>
                    <a:p>
                      <a:pPr algn="ctr"/>
                      <a:r>
                        <a:rPr lang="en-US" b="1" dirty="0">
                          <a:latin typeface="Arial Rounded MT Bold" panose="020F0704030504030204" pitchFamily="34" charset="0"/>
                        </a:rPr>
                        <a:t>v</a:t>
                      </a:r>
                      <a:r>
                        <a:rPr lang="en-US" b="1" baseline="-25000" dirty="0">
                          <a:latin typeface="Arial Rounded MT Bold" panose="020F0704030504030204" pitchFamily="34" charset="0"/>
                        </a:rPr>
                        <a:t>5</a:t>
                      </a:r>
                      <a:endParaRPr lang="en-US" b="1"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algn="ctr"/>
                      <a:r>
                        <a:rPr lang="en-US" dirty="0">
                          <a:latin typeface="Arial Rounded MT Bold" panose="020F0704030504030204" pitchFamily="34" charset="0"/>
                        </a:rPr>
                        <a:t>8</a:t>
                      </a:r>
                      <a:endParaRPr lang="en-US" b="1" dirty="0">
                        <a:latin typeface="Arial Rounded MT Bold" panose="020F0704030504030204" pitchFamily="34" charset="0"/>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6</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rgbClr val="FF0000"/>
                          </a:solidFill>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extLst>
                  <a:ext uri="{0D108BD9-81ED-4DB2-BD59-A6C34878D82A}">
                    <a16:rowId xmlns:a16="http://schemas.microsoft.com/office/drawing/2014/main" val="4208500189"/>
                  </a:ext>
                </a:extLst>
              </a:tr>
            </a:tbl>
          </a:graphicData>
        </a:graphic>
      </p:graphicFrame>
      <p:sp>
        <p:nvSpPr>
          <p:cNvPr id="30" name="Rectangle 29">
            <a:extLst>
              <a:ext uri="{FF2B5EF4-FFF2-40B4-BE49-F238E27FC236}">
                <a16:creationId xmlns:a16="http://schemas.microsoft.com/office/drawing/2014/main" id="{C9B8AFE2-54D4-4F00-B6CF-5B289233E463}"/>
              </a:ext>
            </a:extLst>
          </p:cNvPr>
          <p:cNvSpPr/>
          <p:nvPr/>
        </p:nvSpPr>
        <p:spPr>
          <a:xfrm>
            <a:off x="2247999" y="5261871"/>
            <a:ext cx="580287"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rPr>
              <a:t>G</a:t>
            </a:r>
          </a:p>
        </p:txBody>
      </p:sp>
      <p:sp>
        <p:nvSpPr>
          <p:cNvPr id="31" name="Rectangle 30">
            <a:extLst>
              <a:ext uri="{FF2B5EF4-FFF2-40B4-BE49-F238E27FC236}">
                <a16:creationId xmlns:a16="http://schemas.microsoft.com/office/drawing/2014/main" id="{688EBD90-5C4E-4527-8BA5-43619F2A55E3}"/>
              </a:ext>
            </a:extLst>
          </p:cNvPr>
          <p:cNvSpPr/>
          <p:nvPr/>
        </p:nvSpPr>
        <p:spPr>
          <a:xfrm>
            <a:off x="8459951" y="5646316"/>
            <a:ext cx="678071"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rPr>
              <a:t>W</a:t>
            </a:r>
          </a:p>
        </p:txBody>
      </p:sp>
      <p:sp>
        <p:nvSpPr>
          <p:cNvPr id="32" name="Rectangle 31">
            <a:extLst>
              <a:ext uri="{FF2B5EF4-FFF2-40B4-BE49-F238E27FC236}">
                <a16:creationId xmlns:a16="http://schemas.microsoft.com/office/drawing/2014/main" id="{CFE93F79-9BD5-4841-9818-0208934E3FF9}"/>
              </a:ext>
            </a:extLst>
          </p:cNvPr>
          <p:cNvSpPr/>
          <p:nvPr/>
        </p:nvSpPr>
        <p:spPr>
          <a:xfrm>
            <a:off x="650670" y="1756855"/>
            <a:ext cx="1295547" cy="646331"/>
          </a:xfrm>
          <a:prstGeom prst="rect">
            <a:avLst/>
          </a:prstGeom>
        </p:spPr>
        <p:txBody>
          <a:bodyPr wrap="none">
            <a:spAutoFit/>
          </a:bodyPr>
          <a:lstStyle/>
          <a:p>
            <a:r>
              <a:rPr lang="en-US" b="1" dirty="0">
                <a:effectLst>
                  <a:outerShdw blurRad="38100" dist="38100" dir="2700000" algn="tl">
                    <a:srgbClr val="000000">
                      <a:alpha val="43137"/>
                    </a:srgbClr>
                  </a:outerShdw>
                </a:effectLst>
              </a:rPr>
              <a:t>Undirected</a:t>
            </a:r>
          </a:p>
          <a:p>
            <a:r>
              <a:rPr lang="en-US" b="1" dirty="0">
                <a:effectLst>
                  <a:outerShdw blurRad="38100" dist="38100" dir="2700000" algn="tl">
                    <a:srgbClr val="000000">
                      <a:alpha val="43137"/>
                    </a:srgbClr>
                  </a:outerShdw>
                </a:effectLst>
              </a:rPr>
              <a:t>Weighted</a:t>
            </a:r>
            <a:endParaRPr lang="en-US" dirty="0"/>
          </a:p>
        </p:txBody>
      </p:sp>
    </p:spTree>
    <p:custDataLst>
      <p:tags r:id="rId1"/>
    </p:custDataLst>
    <p:extLst>
      <p:ext uri="{BB962C8B-B14F-4D97-AF65-F5344CB8AC3E}">
        <p14:creationId xmlns:p14="http://schemas.microsoft.com/office/powerpoint/2010/main" val="42540185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Adjacency Matrix</a:t>
            </a:r>
          </a:p>
        </p:txBody>
      </p:sp>
      <p:sp>
        <p:nvSpPr>
          <p:cNvPr id="13" name="Slide Number Placeholder 12">
            <a:extLst>
              <a:ext uri="{FF2B5EF4-FFF2-40B4-BE49-F238E27FC236}">
                <a16:creationId xmlns:a16="http://schemas.microsoft.com/office/drawing/2014/main" id="{00B0D856-BF03-4093-AE64-F84C31B6C70A}"/>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9/110</a:t>
            </a:r>
          </a:p>
        </p:txBody>
      </p:sp>
      <p:cxnSp>
        <p:nvCxnSpPr>
          <p:cNvPr id="3" name="Straight Connector 2"/>
          <p:cNvCxnSpPr>
            <a:stCxn id="12" idx="1"/>
          </p:cNvCxnSpPr>
          <p:nvPr/>
        </p:nvCxnSpPr>
        <p:spPr>
          <a:xfrm flipH="1" flipV="1">
            <a:off x="1097669" y="3734594"/>
            <a:ext cx="2198288" cy="93317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 name="Straight Connector 3"/>
          <p:cNvCxnSpPr>
            <a:stCxn id="7" idx="5"/>
          </p:cNvCxnSpPr>
          <p:nvPr/>
        </p:nvCxnSpPr>
        <p:spPr>
          <a:xfrm>
            <a:off x="2328832" y="3462270"/>
            <a:ext cx="1158049" cy="13377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flipV="1">
            <a:off x="2174848" y="3377774"/>
            <a:ext cx="1856048" cy="24517"/>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1948920" y="3481714"/>
            <a:ext cx="175670" cy="1109474"/>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 name="Oval 16"/>
          <p:cNvSpPr>
            <a:spLocks noChangeArrowheads="1"/>
          </p:cNvSpPr>
          <p:nvPr/>
        </p:nvSpPr>
        <p:spPr bwMode="auto">
          <a:xfrm>
            <a:off x="1957083" y="309052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8" name="Straight Connector 7"/>
          <p:cNvCxnSpPr/>
          <p:nvPr/>
        </p:nvCxnSpPr>
        <p:spPr>
          <a:xfrm flipH="1">
            <a:off x="2120774" y="4800035"/>
            <a:ext cx="1119177" cy="684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a:endCxn id="25" idx="1"/>
          </p:cNvCxnSpPr>
          <p:nvPr/>
        </p:nvCxnSpPr>
        <p:spPr>
          <a:xfrm>
            <a:off x="1167927" y="3936170"/>
            <a:ext cx="563889" cy="8638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686531" y="458227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1" name="Oval 16"/>
          <p:cNvSpPr>
            <a:spLocks noChangeArrowheads="1"/>
          </p:cNvSpPr>
          <p:nvPr/>
        </p:nvSpPr>
        <p:spPr bwMode="auto">
          <a:xfrm>
            <a:off x="796178" y="3610102"/>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2" name="Oval 16"/>
          <p:cNvSpPr>
            <a:spLocks noChangeArrowheads="1"/>
          </p:cNvSpPr>
          <p:nvPr/>
        </p:nvSpPr>
        <p:spPr bwMode="auto">
          <a:xfrm>
            <a:off x="3232175" y="460398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5" name="Straight Connector 14"/>
          <p:cNvCxnSpPr>
            <a:stCxn id="12" idx="7"/>
          </p:cNvCxnSpPr>
          <p:nvPr/>
        </p:nvCxnSpPr>
        <p:spPr>
          <a:xfrm flipV="1">
            <a:off x="3603924" y="3429291"/>
            <a:ext cx="650011" cy="123847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20" idx="6"/>
          </p:cNvCxnSpPr>
          <p:nvPr/>
        </p:nvCxnSpPr>
        <p:spPr>
          <a:xfrm flipV="1">
            <a:off x="4464552" y="3565009"/>
            <a:ext cx="1367969" cy="125700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flipV="1">
            <a:off x="4408532" y="3371173"/>
            <a:ext cx="1353035" cy="6601"/>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4246786" y="3646429"/>
            <a:ext cx="45505" cy="95755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4029021" y="319567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0" name="Oval 16"/>
          <p:cNvSpPr>
            <a:spLocks noChangeArrowheads="1"/>
          </p:cNvSpPr>
          <p:nvPr/>
        </p:nvSpPr>
        <p:spPr bwMode="auto">
          <a:xfrm>
            <a:off x="4029021" y="46042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1" name="Oval 16"/>
          <p:cNvSpPr>
            <a:spLocks noChangeArrowheads="1"/>
          </p:cNvSpPr>
          <p:nvPr/>
        </p:nvSpPr>
        <p:spPr bwMode="auto">
          <a:xfrm>
            <a:off x="5747996" y="318047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4" name="TextBox 23"/>
          <p:cNvSpPr txBox="1"/>
          <p:nvPr/>
        </p:nvSpPr>
        <p:spPr>
          <a:xfrm>
            <a:off x="2006372" y="3112381"/>
            <a:ext cx="35137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A</a:t>
            </a:r>
          </a:p>
        </p:txBody>
      </p:sp>
      <p:sp>
        <p:nvSpPr>
          <p:cNvPr id="25" name="TextBox 24"/>
          <p:cNvSpPr txBox="1"/>
          <p:nvPr/>
        </p:nvSpPr>
        <p:spPr>
          <a:xfrm>
            <a:off x="1731816" y="4615369"/>
            <a:ext cx="35137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B</a:t>
            </a:r>
          </a:p>
        </p:txBody>
      </p:sp>
      <p:sp>
        <p:nvSpPr>
          <p:cNvPr id="26" name="TextBox 25"/>
          <p:cNvSpPr txBox="1"/>
          <p:nvPr/>
        </p:nvSpPr>
        <p:spPr>
          <a:xfrm>
            <a:off x="4096606" y="3217625"/>
            <a:ext cx="35618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C</a:t>
            </a:r>
          </a:p>
        </p:txBody>
      </p:sp>
      <p:sp>
        <p:nvSpPr>
          <p:cNvPr id="27" name="Rectangle 26"/>
          <p:cNvSpPr/>
          <p:nvPr/>
        </p:nvSpPr>
        <p:spPr>
          <a:xfrm>
            <a:off x="844245" y="3647774"/>
            <a:ext cx="356188" cy="369332"/>
          </a:xfrm>
          <a:prstGeom prst="rect">
            <a:avLst/>
          </a:prstGeom>
        </p:spPr>
        <p:txBody>
          <a:bodyPr wrap="none">
            <a:spAutoFit/>
          </a:bodyPr>
          <a:lstStyle/>
          <a:p>
            <a:r>
              <a:rPr lang="en-US" b="1" dirty="0">
                <a:solidFill>
                  <a:prstClr val="black"/>
                </a:solidFill>
                <a:latin typeface="Arial Rounded MT Bold" panose="020F0704030504030204" pitchFamily="34" charset="0"/>
              </a:rPr>
              <a:t>D</a:t>
            </a:r>
          </a:p>
        </p:txBody>
      </p:sp>
      <p:sp>
        <p:nvSpPr>
          <p:cNvPr id="28" name="Rectangle 27"/>
          <p:cNvSpPr/>
          <p:nvPr/>
        </p:nvSpPr>
        <p:spPr>
          <a:xfrm>
            <a:off x="4076007" y="4647465"/>
            <a:ext cx="324128" cy="369332"/>
          </a:xfrm>
          <a:prstGeom prst="rect">
            <a:avLst/>
          </a:prstGeom>
        </p:spPr>
        <p:txBody>
          <a:bodyPr wrap="none">
            <a:spAutoFit/>
          </a:bodyPr>
          <a:lstStyle/>
          <a:p>
            <a:r>
              <a:rPr lang="en-US" b="1" dirty="0">
                <a:solidFill>
                  <a:prstClr val="black"/>
                </a:solidFill>
                <a:latin typeface="Arial Rounded MT Bold" panose="020F0704030504030204" pitchFamily="34" charset="0"/>
              </a:rPr>
              <a:t>F</a:t>
            </a:r>
          </a:p>
        </p:txBody>
      </p:sp>
      <p:sp>
        <p:nvSpPr>
          <p:cNvPr id="29" name="Rectangle 28"/>
          <p:cNvSpPr/>
          <p:nvPr/>
        </p:nvSpPr>
        <p:spPr>
          <a:xfrm>
            <a:off x="5798967" y="3195677"/>
            <a:ext cx="367408" cy="369332"/>
          </a:xfrm>
          <a:prstGeom prst="rect">
            <a:avLst/>
          </a:prstGeom>
        </p:spPr>
        <p:txBody>
          <a:bodyPr wrap="none">
            <a:spAutoFit/>
          </a:bodyPr>
          <a:lstStyle/>
          <a:p>
            <a:r>
              <a:rPr lang="en-US" b="1" dirty="0">
                <a:solidFill>
                  <a:prstClr val="black"/>
                </a:solidFill>
                <a:latin typeface="Arial Rounded MT Bold" panose="020F0704030504030204" pitchFamily="34" charset="0"/>
              </a:rPr>
              <a:t>G</a:t>
            </a:r>
          </a:p>
        </p:txBody>
      </p:sp>
      <p:sp>
        <p:nvSpPr>
          <p:cNvPr id="34" name="Rectangle 33"/>
          <p:cNvSpPr/>
          <p:nvPr/>
        </p:nvSpPr>
        <p:spPr>
          <a:xfrm>
            <a:off x="3291957" y="4628920"/>
            <a:ext cx="338554" cy="369332"/>
          </a:xfrm>
          <a:prstGeom prst="rect">
            <a:avLst/>
          </a:prstGeom>
        </p:spPr>
        <p:txBody>
          <a:bodyPr wrap="none">
            <a:spAutoFit/>
          </a:bodyPr>
          <a:lstStyle/>
          <a:p>
            <a:r>
              <a:rPr lang="en-US" b="1" dirty="0">
                <a:solidFill>
                  <a:prstClr val="black"/>
                </a:solidFill>
                <a:latin typeface="Arial Rounded MT Bold" panose="020F0704030504030204" pitchFamily="34" charset="0"/>
              </a:rPr>
              <a:t>E</a:t>
            </a:r>
          </a:p>
        </p:txBody>
      </p:sp>
      <p:sp>
        <p:nvSpPr>
          <p:cNvPr id="35" name="Rectangle 34"/>
          <p:cNvSpPr/>
          <p:nvPr/>
        </p:nvSpPr>
        <p:spPr>
          <a:xfrm>
            <a:off x="2812728" y="5596460"/>
            <a:ext cx="580287"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rPr>
              <a:t>G</a:t>
            </a:r>
          </a:p>
        </p:txBody>
      </p:sp>
      <p:graphicFrame>
        <p:nvGraphicFramePr>
          <p:cNvPr id="40" name="Table 39"/>
          <p:cNvGraphicFramePr>
            <a:graphicFrameLocks noGrp="1"/>
          </p:cNvGraphicFramePr>
          <p:nvPr>
            <p:extLst>
              <p:ext uri="{D42A27DB-BD31-4B8C-83A1-F6EECF244321}">
                <p14:modId xmlns:p14="http://schemas.microsoft.com/office/powerpoint/2010/main" val="1237850512"/>
              </p:ext>
            </p:extLst>
          </p:nvPr>
        </p:nvGraphicFramePr>
        <p:xfrm>
          <a:off x="7052844" y="2557712"/>
          <a:ext cx="3275392" cy="2966720"/>
        </p:xfrm>
        <a:graphic>
          <a:graphicData uri="http://schemas.openxmlformats.org/drawingml/2006/table">
            <a:tbl>
              <a:tblPr firstRow="1" bandRow="1">
                <a:tableStyleId>{BDBED569-4797-4DF1-A0F4-6AAB3CD982D8}</a:tableStyleId>
              </a:tblPr>
              <a:tblGrid>
                <a:gridCol w="409424">
                  <a:extLst>
                    <a:ext uri="{9D8B030D-6E8A-4147-A177-3AD203B41FA5}">
                      <a16:colId xmlns:a16="http://schemas.microsoft.com/office/drawing/2014/main" val="2989644895"/>
                    </a:ext>
                  </a:extLst>
                </a:gridCol>
                <a:gridCol w="409424">
                  <a:extLst>
                    <a:ext uri="{9D8B030D-6E8A-4147-A177-3AD203B41FA5}">
                      <a16:colId xmlns:a16="http://schemas.microsoft.com/office/drawing/2014/main" val="4244960412"/>
                    </a:ext>
                  </a:extLst>
                </a:gridCol>
                <a:gridCol w="409424">
                  <a:extLst>
                    <a:ext uri="{9D8B030D-6E8A-4147-A177-3AD203B41FA5}">
                      <a16:colId xmlns:a16="http://schemas.microsoft.com/office/drawing/2014/main" val="2572560869"/>
                    </a:ext>
                  </a:extLst>
                </a:gridCol>
                <a:gridCol w="409424">
                  <a:extLst>
                    <a:ext uri="{9D8B030D-6E8A-4147-A177-3AD203B41FA5}">
                      <a16:colId xmlns:a16="http://schemas.microsoft.com/office/drawing/2014/main" val="1080161752"/>
                    </a:ext>
                  </a:extLst>
                </a:gridCol>
                <a:gridCol w="409424">
                  <a:extLst>
                    <a:ext uri="{9D8B030D-6E8A-4147-A177-3AD203B41FA5}">
                      <a16:colId xmlns:a16="http://schemas.microsoft.com/office/drawing/2014/main" val="3378961574"/>
                    </a:ext>
                  </a:extLst>
                </a:gridCol>
                <a:gridCol w="409424">
                  <a:extLst>
                    <a:ext uri="{9D8B030D-6E8A-4147-A177-3AD203B41FA5}">
                      <a16:colId xmlns:a16="http://schemas.microsoft.com/office/drawing/2014/main" val="1874499129"/>
                    </a:ext>
                  </a:extLst>
                </a:gridCol>
                <a:gridCol w="409424">
                  <a:extLst>
                    <a:ext uri="{9D8B030D-6E8A-4147-A177-3AD203B41FA5}">
                      <a16:colId xmlns:a16="http://schemas.microsoft.com/office/drawing/2014/main" val="589850494"/>
                    </a:ext>
                  </a:extLst>
                </a:gridCol>
                <a:gridCol w="409424">
                  <a:extLst>
                    <a:ext uri="{9D8B030D-6E8A-4147-A177-3AD203B41FA5}">
                      <a16:colId xmlns:a16="http://schemas.microsoft.com/office/drawing/2014/main" val="3018150213"/>
                    </a:ext>
                  </a:extLst>
                </a:gridCol>
              </a:tblGrid>
              <a:tr h="370840">
                <a:tc>
                  <a:txBody>
                    <a:bodyPr/>
                    <a:lstStyle/>
                    <a:p>
                      <a:pPr algn="ctr"/>
                      <a:endParaRPr lang="en-US" b="1"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algn="ctr"/>
                      <a:r>
                        <a:rPr lang="en-US" dirty="0">
                          <a:latin typeface="Arial Rounded MT Bold" panose="020F0704030504030204" pitchFamily="34" charset="0"/>
                        </a:rPr>
                        <a:t>A</a:t>
                      </a:r>
                      <a:endParaRPr lang="en-US"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algn="ctr"/>
                      <a:r>
                        <a:rPr lang="en-US" dirty="0">
                          <a:latin typeface="Arial Rounded MT Bold" panose="020F0704030504030204" pitchFamily="34" charset="0"/>
                        </a:rPr>
                        <a:t>B</a:t>
                      </a:r>
                      <a:endParaRPr lang="en-US"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algn="ctr"/>
                      <a:r>
                        <a:rPr lang="en-US" dirty="0">
                          <a:latin typeface="Arial Rounded MT Bold" panose="020F0704030504030204" pitchFamily="34" charset="0"/>
                        </a:rPr>
                        <a:t>C</a:t>
                      </a:r>
                      <a:endParaRPr lang="en-US"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algn="ctr"/>
                      <a:r>
                        <a:rPr lang="en-US" dirty="0">
                          <a:latin typeface="Arial Rounded MT Bold" panose="020F0704030504030204" pitchFamily="34" charset="0"/>
                        </a:rPr>
                        <a:t>D</a:t>
                      </a:r>
                      <a:endParaRPr lang="en-US"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algn="ctr"/>
                      <a:r>
                        <a:rPr lang="en-US" dirty="0">
                          <a:latin typeface="Arial Rounded MT Bold" panose="020F0704030504030204" pitchFamily="34" charset="0"/>
                        </a:rPr>
                        <a:t>E</a:t>
                      </a:r>
                      <a:endParaRPr lang="en-US"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algn="ctr"/>
                      <a:r>
                        <a:rPr lang="en-US" dirty="0">
                          <a:latin typeface="Arial Rounded MT Bold" panose="020F0704030504030204" pitchFamily="34" charset="0"/>
                        </a:rPr>
                        <a:t>F</a:t>
                      </a:r>
                      <a:endParaRPr lang="en-US"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algn="ctr"/>
                      <a:r>
                        <a:rPr lang="en-US" dirty="0">
                          <a:latin typeface="Arial Rounded MT Bold" panose="020F0704030504030204" pitchFamily="34" charset="0"/>
                        </a:rPr>
                        <a:t>G</a:t>
                      </a:r>
                      <a:endParaRPr lang="en-US" dirty="0">
                        <a:solidFill>
                          <a:schemeClr val="bg1"/>
                        </a:solidFill>
                        <a:latin typeface="Arial Rounded MT Bold" panose="020F0704030504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1978098576"/>
                  </a:ext>
                </a:extLst>
              </a:tr>
              <a:tr h="370840">
                <a:tc>
                  <a:txBody>
                    <a:bodyPr/>
                    <a:lstStyle/>
                    <a:p>
                      <a:pPr algn="ctr"/>
                      <a:r>
                        <a:rPr lang="en-US" b="1" dirty="0">
                          <a:latin typeface="Arial Rounded MT Bold" panose="020F0704030504030204" pitchFamily="34" charset="0"/>
                        </a:rPr>
                        <a:t>A</a:t>
                      </a:r>
                      <a:endParaRPr lang="en-US" b="1"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rgbClr val="FF0000"/>
                          </a:solidFill>
                          <a:latin typeface="Arial Rounded MT Bold" panose="020F0704030504030204" pitchFamily="34" charset="0"/>
                        </a:rPr>
                        <a:t>0</a:t>
                      </a:r>
                      <a:endParaRPr lang="en-US" b="1" dirty="0">
                        <a:solidFill>
                          <a:srgbClr val="FF0000"/>
                        </a:solidFill>
                        <a:latin typeface="Arial Rounded MT Bold" panose="020F0704030504030204" pitchFamily="34" charset="0"/>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extLst>
                  <a:ext uri="{0D108BD9-81ED-4DB2-BD59-A6C34878D82A}">
                    <a16:rowId xmlns:a16="http://schemas.microsoft.com/office/drawing/2014/main" val="3592035499"/>
                  </a:ext>
                </a:extLst>
              </a:tr>
              <a:tr h="370840">
                <a:tc>
                  <a:txBody>
                    <a:bodyPr/>
                    <a:lstStyle/>
                    <a:p>
                      <a:pPr algn="ctr"/>
                      <a:r>
                        <a:rPr lang="en-US" b="1" dirty="0">
                          <a:latin typeface="Arial Rounded MT Bold" panose="020F0704030504030204" pitchFamily="34" charset="0"/>
                        </a:rPr>
                        <a:t>B</a:t>
                      </a:r>
                      <a:endParaRPr lang="en-US" b="1"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algn="ctr"/>
                      <a:r>
                        <a:rPr lang="en-US" dirty="0">
                          <a:latin typeface="Arial Rounded MT Bold" panose="020F0704030504030204" pitchFamily="34" charset="0"/>
                        </a:rPr>
                        <a:t>0</a:t>
                      </a:r>
                      <a:endParaRPr lang="en-US" b="1" dirty="0">
                        <a:latin typeface="Arial Rounded MT Bold" panose="020F0704030504030204" pitchFamily="34" charset="0"/>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rgbClr val="FF0000"/>
                          </a:solidFill>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extLst>
                  <a:ext uri="{0D108BD9-81ED-4DB2-BD59-A6C34878D82A}">
                    <a16:rowId xmlns:a16="http://schemas.microsoft.com/office/drawing/2014/main" val="1939942222"/>
                  </a:ext>
                </a:extLst>
              </a:tr>
              <a:tr h="370840">
                <a:tc>
                  <a:txBody>
                    <a:bodyPr/>
                    <a:lstStyle/>
                    <a:p>
                      <a:pPr algn="ctr"/>
                      <a:r>
                        <a:rPr lang="en-US" b="1" dirty="0">
                          <a:latin typeface="Arial Rounded MT Bold" panose="020F0704030504030204" pitchFamily="34" charset="0"/>
                        </a:rPr>
                        <a:t>C</a:t>
                      </a:r>
                      <a:endParaRPr lang="en-US" b="1"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algn="ctr"/>
                      <a:r>
                        <a:rPr lang="en-US" dirty="0">
                          <a:latin typeface="Arial Rounded MT Bold" panose="020F0704030504030204" pitchFamily="34" charset="0"/>
                        </a:rPr>
                        <a:t>0</a:t>
                      </a:r>
                      <a:endParaRPr lang="en-US" b="1" dirty="0">
                        <a:latin typeface="Arial Rounded MT Bold" panose="020F0704030504030204" pitchFamily="34" charset="0"/>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rgbClr val="FF0000"/>
                          </a:solidFill>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extLst>
                  <a:ext uri="{0D108BD9-81ED-4DB2-BD59-A6C34878D82A}">
                    <a16:rowId xmlns:a16="http://schemas.microsoft.com/office/drawing/2014/main" val="371904882"/>
                  </a:ext>
                </a:extLst>
              </a:tr>
              <a:tr h="370840">
                <a:tc>
                  <a:txBody>
                    <a:bodyPr/>
                    <a:lstStyle/>
                    <a:p>
                      <a:pPr algn="ctr"/>
                      <a:r>
                        <a:rPr lang="en-US" b="1" dirty="0">
                          <a:latin typeface="Arial Rounded MT Bold" panose="020F0704030504030204" pitchFamily="34" charset="0"/>
                        </a:rPr>
                        <a:t>D</a:t>
                      </a:r>
                      <a:endParaRPr lang="en-US" b="1"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algn="ctr"/>
                      <a:r>
                        <a:rPr lang="en-US" dirty="0">
                          <a:latin typeface="Arial Rounded MT Bold" panose="020F0704030504030204" pitchFamily="34" charset="0"/>
                        </a:rPr>
                        <a:t>0</a:t>
                      </a:r>
                      <a:endParaRPr lang="en-US" b="1" dirty="0">
                        <a:latin typeface="Arial Rounded MT Bold" panose="020F0704030504030204" pitchFamily="34" charset="0"/>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rgbClr val="FF0000"/>
                          </a:solidFill>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extLst>
                  <a:ext uri="{0D108BD9-81ED-4DB2-BD59-A6C34878D82A}">
                    <a16:rowId xmlns:a16="http://schemas.microsoft.com/office/drawing/2014/main" val="1084115065"/>
                  </a:ext>
                </a:extLst>
              </a:tr>
              <a:tr h="370840">
                <a:tc>
                  <a:txBody>
                    <a:bodyPr/>
                    <a:lstStyle/>
                    <a:p>
                      <a:pPr algn="ctr"/>
                      <a:r>
                        <a:rPr lang="en-US" b="1" dirty="0">
                          <a:latin typeface="Arial Rounded MT Bold" panose="020F0704030504030204" pitchFamily="34" charset="0"/>
                        </a:rPr>
                        <a:t>E</a:t>
                      </a:r>
                      <a:endParaRPr lang="en-US" b="1"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algn="ctr"/>
                      <a:r>
                        <a:rPr lang="en-US" dirty="0">
                          <a:latin typeface="Arial Rounded MT Bold" panose="020F0704030504030204" pitchFamily="34" charset="0"/>
                        </a:rPr>
                        <a:t>1</a:t>
                      </a:r>
                      <a:endParaRPr lang="en-US" b="1" dirty="0">
                        <a:latin typeface="Arial Rounded MT Bold" panose="020F0704030504030204" pitchFamily="34" charset="0"/>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rgbClr val="FF0000"/>
                          </a:solidFill>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extLst>
                  <a:ext uri="{0D108BD9-81ED-4DB2-BD59-A6C34878D82A}">
                    <a16:rowId xmlns:a16="http://schemas.microsoft.com/office/drawing/2014/main" val="4208500189"/>
                  </a:ext>
                </a:extLst>
              </a:tr>
              <a:tr h="370840">
                <a:tc>
                  <a:txBody>
                    <a:bodyPr/>
                    <a:lstStyle/>
                    <a:p>
                      <a:pPr algn="ctr"/>
                      <a:r>
                        <a:rPr lang="en-US" b="1" dirty="0">
                          <a:latin typeface="Arial Rounded MT Bold" panose="020F0704030504030204" pitchFamily="34" charset="0"/>
                        </a:rPr>
                        <a:t>F</a:t>
                      </a:r>
                      <a:endParaRPr lang="en-US" b="1"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algn="ctr"/>
                      <a:r>
                        <a:rPr lang="en-US" dirty="0">
                          <a:latin typeface="Arial Rounded MT Bold" panose="020F0704030504030204" pitchFamily="34" charset="0"/>
                        </a:rPr>
                        <a:t>0</a:t>
                      </a:r>
                      <a:endParaRPr lang="en-US" b="1" dirty="0">
                        <a:latin typeface="Arial Rounded MT Bold" panose="020F0704030504030204" pitchFamily="34" charset="0"/>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rgbClr val="FF0000"/>
                          </a:solidFill>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extLst>
                  <a:ext uri="{0D108BD9-81ED-4DB2-BD59-A6C34878D82A}">
                    <a16:rowId xmlns:a16="http://schemas.microsoft.com/office/drawing/2014/main" val="1862253349"/>
                  </a:ext>
                </a:extLst>
              </a:tr>
              <a:tr h="370840">
                <a:tc>
                  <a:txBody>
                    <a:bodyPr/>
                    <a:lstStyle/>
                    <a:p>
                      <a:pPr algn="ctr"/>
                      <a:r>
                        <a:rPr lang="en-US" b="1" dirty="0">
                          <a:latin typeface="Arial Rounded MT Bold" panose="020F0704030504030204" pitchFamily="34" charset="0"/>
                        </a:rPr>
                        <a:t>G</a:t>
                      </a:r>
                      <a:endParaRPr lang="en-US" b="1"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algn="ctr"/>
                      <a:r>
                        <a:rPr lang="en-US" dirty="0">
                          <a:latin typeface="Arial Rounded MT Bold" panose="020F0704030504030204" pitchFamily="34" charset="0"/>
                        </a:rPr>
                        <a:t>0</a:t>
                      </a:r>
                      <a:endParaRPr lang="en-US" b="1" dirty="0">
                        <a:latin typeface="Arial Rounded MT Bold" panose="020F0704030504030204" pitchFamily="34" charset="0"/>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rgbClr val="FF0000"/>
                          </a:solidFill>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extLst>
                  <a:ext uri="{0D108BD9-81ED-4DB2-BD59-A6C34878D82A}">
                    <a16:rowId xmlns:a16="http://schemas.microsoft.com/office/drawing/2014/main" val="1205733479"/>
                  </a:ext>
                </a:extLst>
              </a:tr>
            </a:tbl>
          </a:graphicData>
        </a:graphic>
      </p:graphicFrame>
      <p:sp>
        <p:nvSpPr>
          <p:cNvPr id="30" name="Rectangle 29">
            <a:extLst>
              <a:ext uri="{FF2B5EF4-FFF2-40B4-BE49-F238E27FC236}">
                <a16:creationId xmlns:a16="http://schemas.microsoft.com/office/drawing/2014/main" id="{A53ADADF-43FC-428D-94ED-039722D1653F}"/>
              </a:ext>
            </a:extLst>
          </p:cNvPr>
          <p:cNvSpPr/>
          <p:nvPr/>
        </p:nvSpPr>
        <p:spPr>
          <a:xfrm>
            <a:off x="8459951" y="5646316"/>
            <a:ext cx="678071"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rPr>
              <a:t>W</a:t>
            </a:r>
          </a:p>
        </p:txBody>
      </p:sp>
      <p:sp>
        <p:nvSpPr>
          <p:cNvPr id="31" name="Rectangle 30">
            <a:extLst>
              <a:ext uri="{FF2B5EF4-FFF2-40B4-BE49-F238E27FC236}">
                <a16:creationId xmlns:a16="http://schemas.microsoft.com/office/drawing/2014/main" id="{769101EE-4E8C-4C65-95F1-9A615329775C}"/>
              </a:ext>
            </a:extLst>
          </p:cNvPr>
          <p:cNvSpPr/>
          <p:nvPr/>
        </p:nvSpPr>
        <p:spPr>
          <a:xfrm>
            <a:off x="650670" y="1756855"/>
            <a:ext cx="1415772" cy="646331"/>
          </a:xfrm>
          <a:prstGeom prst="rect">
            <a:avLst/>
          </a:prstGeom>
        </p:spPr>
        <p:txBody>
          <a:bodyPr wrap="none">
            <a:spAutoFit/>
          </a:bodyPr>
          <a:lstStyle/>
          <a:p>
            <a:r>
              <a:rPr lang="en-US" b="1" dirty="0">
                <a:effectLst>
                  <a:outerShdw blurRad="38100" dist="38100" dir="2700000" algn="tl">
                    <a:srgbClr val="000000">
                      <a:alpha val="43137"/>
                    </a:srgbClr>
                  </a:outerShdw>
                </a:effectLst>
              </a:rPr>
              <a:t>Directed</a:t>
            </a:r>
          </a:p>
          <a:p>
            <a:r>
              <a:rPr lang="en-US" b="1" dirty="0">
                <a:effectLst>
                  <a:outerShdw blurRad="38100" dist="38100" dir="2700000" algn="tl">
                    <a:srgbClr val="000000">
                      <a:alpha val="43137"/>
                    </a:srgbClr>
                  </a:outerShdw>
                </a:effectLst>
              </a:rPr>
              <a:t>Unweighted</a:t>
            </a:r>
            <a:endParaRPr lang="en-US" dirty="0"/>
          </a:p>
        </p:txBody>
      </p:sp>
    </p:spTree>
    <p:custDataLst>
      <p:tags r:id="rId1"/>
    </p:custDataLst>
    <p:extLst>
      <p:ext uri="{BB962C8B-B14F-4D97-AF65-F5344CB8AC3E}">
        <p14:creationId xmlns:p14="http://schemas.microsoft.com/office/powerpoint/2010/main" val="36449238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Adjacency Matrix</a:t>
            </a:r>
          </a:p>
        </p:txBody>
      </p:sp>
      <p:sp>
        <p:nvSpPr>
          <p:cNvPr id="3" name="Slide Number Placeholder 2">
            <a:extLst>
              <a:ext uri="{FF2B5EF4-FFF2-40B4-BE49-F238E27FC236}">
                <a16:creationId xmlns:a16="http://schemas.microsoft.com/office/drawing/2014/main" id="{FCEA73F8-9DA9-46AD-9B16-45C8F360FD0A}"/>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10/110</a:t>
            </a:r>
          </a:p>
        </p:txBody>
      </p:sp>
      <p:cxnSp>
        <p:nvCxnSpPr>
          <p:cNvPr id="6" name="Straight Connector 5"/>
          <p:cNvCxnSpPr>
            <a:endCxn id="26" idx="0"/>
          </p:cNvCxnSpPr>
          <p:nvPr/>
        </p:nvCxnSpPr>
        <p:spPr>
          <a:xfrm flipH="1">
            <a:off x="3359146" y="3823698"/>
            <a:ext cx="603031" cy="97070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 name="Straight Connector 6"/>
          <p:cNvCxnSpPr>
            <a:endCxn id="23" idx="0"/>
          </p:cNvCxnSpPr>
          <p:nvPr/>
        </p:nvCxnSpPr>
        <p:spPr>
          <a:xfrm flipH="1">
            <a:off x="2051434" y="2746090"/>
            <a:ext cx="1050115" cy="64206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20" idx="1"/>
          </p:cNvCxnSpPr>
          <p:nvPr/>
        </p:nvCxnSpPr>
        <p:spPr>
          <a:xfrm flipH="1">
            <a:off x="2044221" y="3535230"/>
            <a:ext cx="1917955" cy="11831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1659749" y="3572818"/>
            <a:ext cx="230510" cy="131832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826456" y="336629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1" name="Straight Connector 10"/>
          <p:cNvCxnSpPr/>
          <p:nvPr/>
        </p:nvCxnSpPr>
        <p:spPr>
          <a:xfrm flipH="1">
            <a:off x="1917578" y="3692576"/>
            <a:ext cx="2019373" cy="128847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26" idx="1"/>
            <a:endCxn id="24" idx="3"/>
          </p:cNvCxnSpPr>
          <p:nvPr/>
        </p:nvCxnSpPr>
        <p:spPr>
          <a:xfrm flipH="1">
            <a:off x="1952567" y="4979070"/>
            <a:ext cx="1228485" cy="9673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4" name="Oval 16"/>
          <p:cNvSpPr>
            <a:spLocks noChangeArrowheads="1"/>
          </p:cNvSpPr>
          <p:nvPr/>
        </p:nvSpPr>
        <p:spPr bwMode="auto">
          <a:xfrm>
            <a:off x="3132985" y="4756732"/>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5" name="Oval 16"/>
          <p:cNvSpPr>
            <a:spLocks noChangeArrowheads="1"/>
          </p:cNvSpPr>
          <p:nvPr/>
        </p:nvSpPr>
        <p:spPr bwMode="auto">
          <a:xfrm>
            <a:off x="3101548" y="247038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6" name="Straight Connector 15"/>
          <p:cNvCxnSpPr>
            <a:stCxn id="15" idx="5"/>
            <a:endCxn id="25" idx="0"/>
          </p:cNvCxnSpPr>
          <p:nvPr/>
        </p:nvCxnSpPr>
        <p:spPr>
          <a:xfrm>
            <a:off x="3473297" y="2842135"/>
            <a:ext cx="670776" cy="651261"/>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1844531" y="3771998"/>
            <a:ext cx="185176" cy="1288831"/>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0" idx="7"/>
            <a:endCxn id="15" idx="3"/>
          </p:cNvCxnSpPr>
          <p:nvPr/>
        </p:nvCxnSpPr>
        <p:spPr>
          <a:xfrm flipV="1">
            <a:off x="2198205" y="2842135"/>
            <a:ext cx="967125" cy="587939"/>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3554002" y="3891756"/>
            <a:ext cx="540117" cy="977285"/>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3898394" y="347144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3" name="TextBox 22"/>
          <p:cNvSpPr txBox="1"/>
          <p:nvPr/>
        </p:nvSpPr>
        <p:spPr>
          <a:xfrm>
            <a:off x="1875745" y="3388152"/>
            <a:ext cx="35137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A</a:t>
            </a:r>
          </a:p>
        </p:txBody>
      </p:sp>
      <p:sp>
        <p:nvSpPr>
          <p:cNvPr id="25" name="TextBox 24"/>
          <p:cNvSpPr txBox="1"/>
          <p:nvPr/>
        </p:nvSpPr>
        <p:spPr>
          <a:xfrm>
            <a:off x="3965979" y="3493396"/>
            <a:ext cx="35618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D</a:t>
            </a:r>
          </a:p>
        </p:txBody>
      </p:sp>
      <p:sp>
        <p:nvSpPr>
          <p:cNvPr id="26" name="Rectangle 25"/>
          <p:cNvSpPr/>
          <p:nvPr/>
        </p:nvSpPr>
        <p:spPr>
          <a:xfrm>
            <a:off x="3181052" y="4794404"/>
            <a:ext cx="356188" cy="369332"/>
          </a:xfrm>
          <a:prstGeom prst="rect">
            <a:avLst/>
          </a:prstGeom>
        </p:spPr>
        <p:txBody>
          <a:bodyPr wrap="none">
            <a:spAutoFit/>
          </a:bodyPr>
          <a:lstStyle/>
          <a:p>
            <a:r>
              <a:rPr lang="en-US" b="1" dirty="0">
                <a:solidFill>
                  <a:prstClr val="black"/>
                </a:solidFill>
                <a:latin typeface="Arial Rounded MT Bold" panose="020F0704030504030204" pitchFamily="34" charset="0"/>
              </a:rPr>
              <a:t>C</a:t>
            </a:r>
          </a:p>
        </p:txBody>
      </p:sp>
      <p:sp>
        <p:nvSpPr>
          <p:cNvPr id="29" name="Rectangle 28"/>
          <p:cNvSpPr/>
          <p:nvPr/>
        </p:nvSpPr>
        <p:spPr>
          <a:xfrm>
            <a:off x="3161330" y="2495319"/>
            <a:ext cx="338554" cy="369332"/>
          </a:xfrm>
          <a:prstGeom prst="rect">
            <a:avLst/>
          </a:prstGeom>
        </p:spPr>
        <p:txBody>
          <a:bodyPr wrap="none">
            <a:spAutoFit/>
          </a:bodyPr>
          <a:lstStyle/>
          <a:p>
            <a:r>
              <a:rPr lang="en-US" b="1" dirty="0">
                <a:solidFill>
                  <a:prstClr val="black"/>
                </a:solidFill>
                <a:latin typeface="Arial Rounded MT Bold" panose="020F0704030504030204" pitchFamily="34" charset="0"/>
              </a:rPr>
              <a:t>E</a:t>
            </a:r>
          </a:p>
        </p:txBody>
      </p:sp>
      <p:sp>
        <p:nvSpPr>
          <p:cNvPr id="30" name="Rectangle 29"/>
          <p:cNvSpPr/>
          <p:nvPr/>
        </p:nvSpPr>
        <p:spPr>
          <a:xfrm>
            <a:off x="2362787" y="5364230"/>
            <a:ext cx="580287"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rPr>
              <a:t>G</a:t>
            </a:r>
          </a:p>
        </p:txBody>
      </p:sp>
      <p:sp>
        <p:nvSpPr>
          <p:cNvPr id="13" name="Oval 16"/>
          <p:cNvSpPr>
            <a:spLocks noChangeArrowheads="1"/>
          </p:cNvSpPr>
          <p:nvPr/>
        </p:nvSpPr>
        <p:spPr bwMode="auto">
          <a:xfrm>
            <a:off x="1555904" y="4858041"/>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4" name="TextBox 23"/>
          <p:cNvSpPr txBox="1"/>
          <p:nvPr/>
        </p:nvSpPr>
        <p:spPr>
          <a:xfrm>
            <a:off x="1601189" y="4891140"/>
            <a:ext cx="35137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B</a:t>
            </a:r>
          </a:p>
        </p:txBody>
      </p:sp>
      <p:sp>
        <p:nvSpPr>
          <p:cNvPr id="58" name="TextBox 57"/>
          <p:cNvSpPr txBox="1"/>
          <p:nvPr/>
        </p:nvSpPr>
        <p:spPr>
          <a:xfrm>
            <a:off x="1452175" y="3954279"/>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59" name="TextBox 58"/>
          <p:cNvSpPr txBox="1"/>
          <p:nvPr/>
        </p:nvSpPr>
        <p:spPr>
          <a:xfrm>
            <a:off x="2866317" y="3255882"/>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60" name="TextBox 59"/>
          <p:cNvSpPr txBox="1"/>
          <p:nvPr/>
        </p:nvSpPr>
        <p:spPr>
          <a:xfrm>
            <a:off x="2214363" y="2751201"/>
            <a:ext cx="336952" cy="400110"/>
          </a:xfrm>
          <a:prstGeom prst="rect">
            <a:avLst/>
          </a:prstGeom>
          <a:noFill/>
        </p:spPr>
        <p:txBody>
          <a:bodyPr wrap="none" rtlCol="0">
            <a:spAutoFit/>
          </a:bodyPr>
          <a:lstStyle/>
          <a:p>
            <a:r>
              <a:rPr lang="en-US" sz="2000" b="1" dirty="0">
                <a:latin typeface="Arial Rounded MT Bold" panose="020F0704030504030204" pitchFamily="34" charset="0"/>
              </a:rPr>
              <a:t>5</a:t>
            </a:r>
          </a:p>
        </p:txBody>
      </p:sp>
      <p:sp>
        <p:nvSpPr>
          <p:cNvPr id="61" name="TextBox 60"/>
          <p:cNvSpPr txBox="1"/>
          <p:nvPr/>
        </p:nvSpPr>
        <p:spPr>
          <a:xfrm>
            <a:off x="1959174" y="4056890"/>
            <a:ext cx="336952" cy="400110"/>
          </a:xfrm>
          <a:prstGeom prst="rect">
            <a:avLst/>
          </a:prstGeom>
          <a:noFill/>
        </p:spPr>
        <p:txBody>
          <a:bodyPr wrap="none" rtlCol="0">
            <a:spAutoFit/>
          </a:bodyPr>
          <a:lstStyle/>
          <a:p>
            <a:r>
              <a:rPr lang="en-US" sz="2000" b="1" dirty="0">
                <a:latin typeface="Arial Rounded MT Bold" panose="020F0704030504030204" pitchFamily="34" charset="0"/>
              </a:rPr>
              <a:t>9</a:t>
            </a:r>
          </a:p>
        </p:txBody>
      </p:sp>
      <p:sp>
        <p:nvSpPr>
          <p:cNvPr id="62" name="TextBox 61"/>
          <p:cNvSpPr txBox="1"/>
          <p:nvPr/>
        </p:nvSpPr>
        <p:spPr>
          <a:xfrm>
            <a:off x="2510717" y="4666487"/>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63" name="TextBox 62"/>
          <p:cNvSpPr txBox="1"/>
          <p:nvPr/>
        </p:nvSpPr>
        <p:spPr>
          <a:xfrm>
            <a:off x="2699402" y="3955287"/>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64" name="TextBox 63"/>
          <p:cNvSpPr txBox="1"/>
          <p:nvPr/>
        </p:nvSpPr>
        <p:spPr>
          <a:xfrm>
            <a:off x="3352543" y="4042373"/>
            <a:ext cx="336952" cy="400110"/>
          </a:xfrm>
          <a:prstGeom prst="rect">
            <a:avLst/>
          </a:prstGeom>
          <a:noFill/>
        </p:spPr>
        <p:txBody>
          <a:bodyPr wrap="none" rtlCol="0">
            <a:spAutoFit/>
          </a:bodyPr>
          <a:lstStyle/>
          <a:p>
            <a:r>
              <a:rPr lang="en-US" sz="2000" b="1" dirty="0">
                <a:latin typeface="Arial Rounded MT Bold" panose="020F0704030504030204" pitchFamily="34" charset="0"/>
              </a:rPr>
              <a:t>4</a:t>
            </a:r>
          </a:p>
        </p:txBody>
      </p:sp>
      <p:sp>
        <p:nvSpPr>
          <p:cNvPr id="65" name="TextBox 64"/>
          <p:cNvSpPr txBox="1"/>
          <p:nvPr/>
        </p:nvSpPr>
        <p:spPr>
          <a:xfrm>
            <a:off x="3860546" y="4129458"/>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66" name="TextBox 65"/>
          <p:cNvSpPr txBox="1"/>
          <p:nvPr/>
        </p:nvSpPr>
        <p:spPr>
          <a:xfrm>
            <a:off x="3773459" y="2881231"/>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67" name="TextBox 66"/>
          <p:cNvSpPr txBox="1"/>
          <p:nvPr/>
        </p:nvSpPr>
        <p:spPr>
          <a:xfrm>
            <a:off x="2735688" y="2946545"/>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68" name="Striped Right Arrow 67"/>
          <p:cNvSpPr/>
          <p:nvPr/>
        </p:nvSpPr>
        <p:spPr>
          <a:xfrm>
            <a:off x="4949372" y="3862728"/>
            <a:ext cx="566057" cy="266730"/>
          </a:xfrm>
          <a:prstGeom prst="stripedRightArrow">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graphicFrame>
        <p:nvGraphicFramePr>
          <p:cNvPr id="38" name="Table 37"/>
          <p:cNvGraphicFramePr>
            <a:graphicFrameLocks noGrp="1"/>
          </p:cNvGraphicFramePr>
          <p:nvPr>
            <p:extLst>
              <p:ext uri="{D42A27DB-BD31-4B8C-83A1-F6EECF244321}">
                <p14:modId xmlns:p14="http://schemas.microsoft.com/office/powerpoint/2010/main" val="828640199"/>
              </p:ext>
            </p:extLst>
          </p:nvPr>
        </p:nvGraphicFramePr>
        <p:xfrm>
          <a:off x="6646444" y="2191538"/>
          <a:ext cx="3528072" cy="3160920"/>
        </p:xfrm>
        <a:graphic>
          <a:graphicData uri="http://schemas.openxmlformats.org/drawingml/2006/table">
            <a:tbl>
              <a:tblPr firstRow="1" bandRow="1">
                <a:tableStyleId>{BDBED569-4797-4DF1-A0F4-6AAB3CD982D8}</a:tableStyleId>
              </a:tblPr>
              <a:tblGrid>
                <a:gridCol w="588012">
                  <a:extLst>
                    <a:ext uri="{9D8B030D-6E8A-4147-A177-3AD203B41FA5}">
                      <a16:colId xmlns:a16="http://schemas.microsoft.com/office/drawing/2014/main" val="2989644895"/>
                    </a:ext>
                  </a:extLst>
                </a:gridCol>
                <a:gridCol w="588012">
                  <a:extLst>
                    <a:ext uri="{9D8B030D-6E8A-4147-A177-3AD203B41FA5}">
                      <a16:colId xmlns:a16="http://schemas.microsoft.com/office/drawing/2014/main" val="4244960412"/>
                    </a:ext>
                  </a:extLst>
                </a:gridCol>
                <a:gridCol w="588012">
                  <a:extLst>
                    <a:ext uri="{9D8B030D-6E8A-4147-A177-3AD203B41FA5}">
                      <a16:colId xmlns:a16="http://schemas.microsoft.com/office/drawing/2014/main" val="2572560869"/>
                    </a:ext>
                  </a:extLst>
                </a:gridCol>
                <a:gridCol w="588012">
                  <a:extLst>
                    <a:ext uri="{9D8B030D-6E8A-4147-A177-3AD203B41FA5}">
                      <a16:colId xmlns:a16="http://schemas.microsoft.com/office/drawing/2014/main" val="1080161752"/>
                    </a:ext>
                  </a:extLst>
                </a:gridCol>
                <a:gridCol w="588012">
                  <a:extLst>
                    <a:ext uri="{9D8B030D-6E8A-4147-A177-3AD203B41FA5}">
                      <a16:colId xmlns:a16="http://schemas.microsoft.com/office/drawing/2014/main" val="3378961574"/>
                    </a:ext>
                  </a:extLst>
                </a:gridCol>
                <a:gridCol w="588012">
                  <a:extLst>
                    <a:ext uri="{9D8B030D-6E8A-4147-A177-3AD203B41FA5}">
                      <a16:colId xmlns:a16="http://schemas.microsoft.com/office/drawing/2014/main" val="1874499129"/>
                    </a:ext>
                  </a:extLst>
                </a:gridCol>
              </a:tblGrid>
              <a:tr h="526820">
                <a:tc>
                  <a:txBody>
                    <a:bodyPr/>
                    <a:lstStyle/>
                    <a:p>
                      <a:pPr algn="ctr"/>
                      <a:endParaRPr lang="en-US" b="1" dirty="0">
                        <a:solidFill>
                          <a:schemeClr val="bg1"/>
                        </a:solidFill>
                        <a:latin typeface="Arial Rounded MT Bold" panose="020F0704030504030204" pitchFamily="34" charset="0"/>
                      </a:endParaRPr>
                    </a:p>
                  </a:txBody>
                  <a:tcPr anchor="ctr">
                    <a:lnL w="12700" cmpd="sng">
                      <a:noFill/>
                    </a:lnL>
                    <a:lnT w="12700" cmpd="sng">
                      <a:noFill/>
                    </a:lnT>
                    <a:noFill/>
                  </a:tcPr>
                </a:tc>
                <a:tc>
                  <a:txBody>
                    <a:bodyPr/>
                    <a:lstStyle/>
                    <a:p>
                      <a:pPr algn="ctr"/>
                      <a:r>
                        <a:rPr lang="en-US" dirty="0">
                          <a:latin typeface="Arial Rounded MT Bold" panose="020F0704030504030204" pitchFamily="34" charset="0"/>
                        </a:rPr>
                        <a:t>A</a:t>
                      </a:r>
                      <a:endParaRPr lang="en-US"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algn="ctr"/>
                      <a:r>
                        <a:rPr lang="en-US" dirty="0">
                          <a:latin typeface="Arial Rounded MT Bold" panose="020F0704030504030204" pitchFamily="34" charset="0"/>
                        </a:rPr>
                        <a:t>B</a:t>
                      </a:r>
                      <a:endParaRPr lang="en-US"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algn="ctr"/>
                      <a:r>
                        <a:rPr lang="en-US" dirty="0">
                          <a:latin typeface="Arial Rounded MT Bold" panose="020F0704030504030204" pitchFamily="34" charset="0"/>
                        </a:rPr>
                        <a:t>C</a:t>
                      </a:r>
                      <a:endParaRPr lang="en-US"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algn="ctr"/>
                      <a:r>
                        <a:rPr lang="en-US" dirty="0">
                          <a:latin typeface="Arial Rounded MT Bold" panose="020F0704030504030204" pitchFamily="34" charset="0"/>
                        </a:rPr>
                        <a:t>D</a:t>
                      </a:r>
                      <a:endParaRPr lang="en-US"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algn="ctr"/>
                      <a:r>
                        <a:rPr lang="en-US" dirty="0">
                          <a:latin typeface="Arial Rounded MT Bold" panose="020F0704030504030204" pitchFamily="34" charset="0"/>
                        </a:rPr>
                        <a:t>E</a:t>
                      </a:r>
                      <a:endParaRPr lang="en-US" dirty="0">
                        <a:solidFill>
                          <a:schemeClr val="bg1"/>
                        </a:solidFill>
                        <a:latin typeface="Arial Rounded MT Bold" panose="020F0704030504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1978098576"/>
                  </a:ext>
                </a:extLst>
              </a:tr>
              <a:tr h="526820">
                <a:tc>
                  <a:txBody>
                    <a:bodyPr/>
                    <a:lstStyle/>
                    <a:p>
                      <a:pPr algn="ctr"/>
                      <a:r>
                        <a:rPr lang="en-US" b="1" dirty="0">
                          <a:latin typeface="Arial Rounded MT Bold" panose="020F0704030504030204" pitchFamily="34" charset="0"/>
                        </a:rPr>
                        <a:t>A</a:t>
                      </a:r>
                      <a:endParaRPr lang="en-US" b="1"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rgbClr val="FF0000"/>
                          </a:solidFill>
                          <a:latin typeface="Arial Rounded MT Bold" panose="020F0704030504030204" pitchFamily="34" charset="0"/>
                        </a:rPr>
                        <a:t>0</a:t>
                      </a:r>
                      <a:endParaRPr lang="en-US" b="1" dirty="0">
                        <a:solidFill>
                          <a:srgbClr val="FF0000"/>
                        </a:solidFill>
                        <a:latin typeface="Arial Rounded MT Bold" panose="020F0704030504030204" pitchFamily="34" charset="0"/>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rgbClr val="00B050"/>
                          </a:solidFill>
                          <a:effectLst/>
                          <a:uLnTx/>
                          <a:uFillTx/>
                          <a:latin typeface="Arial Rounded MT Bold" panose="020F0704030504030204" pitchFamily="34" charset="0"/>
                        </a:rPr>
                        <a:t>8</a:t>
                      </a:r>
                      <a:r>
                        <a:rPr kumimoji="0" lang="en-US" sz="1800" u="none" strike="noStrike" kern="1200" cap="none" spc="0" normalizeH="0" baseline="0" noProof="0" dirty="0">
                          <a:ln>
                            <a:noFill/>
                          </a:ln>
                          <a:effectLst/>
                          <a:uLnTx/>
                          <a:uFillTx/>
                          <a:latin typeface="Arial Rounded MT Bold" panose="020F0704030504030204" pitchFamily="34" charset="0"/>
                        </a:rPr>
                        <a:t> </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vert="vert270"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extLst>
                  <a:ext uri="{0D108BD9-81ED-4DB2-BD59-A6C34878D82A}">
                    <a16:rowId xmlns:a16="http://schemas.microsoft.com/office/drawing/2014/main" val="3592035499"/>
                  </a:ext>
                </a:extLst>
              </a:tr>
              <a:tr h="526820">
                <a:tc>
                  <a:txBody>
                    <a:bodyPr/>
                    <a:lstStyle/>
                    <a:p>
                      <a:pPr algn="ctr"/>
                      <a:r>
                        <a:rPr lang="en-US" b="1" dirty="0">
                          <a:latin typeface="Arial Rounded MT Bold" panose="020F0704030504030204" pitchFamily="34" charset="0"/>
                        </a:rPr>
                        <a:t>B</a:t>
                      </a:r>
                      <a:endParaRPr lang="en-US" b="1"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algn="ctr"/>
                      <a:r>
                        <a:rPr lang="en-US" dirty="0">
                          <a:latin typeface="Arial Rounded MT Bold" panose="020F0704030504030204" pitchFamily="34" charset="0"/>
                        </a:rPr>
                        <a:t>9</a:t>
                      </a:r>
                      <a:endParaRPr lang="en-US" b="1" dirty="0">
                        <a:latin typeface="Arial Rounded MT Bold" panose="020F0704030504030204" pitchFamily="34" charset="0"/>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rgbClr val="FF0000"/>
                          </a:solidFill>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rgbClr val="00B050"/>
                          </a:solidFill>
                          <a:effectLst/>
                          <a:uLnTx/>
                          <a:uFillTx/>
                          <a:latin typeface="Arial Rounded MT Bold" panose="020F0704030504030204" pitchFamily="34" charset="0"/>
                        </a:rPr>
                        <a:t>8</a:t>
                      </a:r>
                      <a:endParaRPr kumimoji="0" lang="en-US" sz="1800" b="1" i="0" u="none" strike="noStrike" kern="1200" cap="none" spc="0" normalizeH="0" baseline="0" noProof="0" dirty="0">
                        <a:ln>
                          <a:noFill/>
                        </a:ln>
                        <a:solidFill>
                          <a:srgbClr val="00B050"/>
                        </a:solidFill>
                        <a:effectLst/>
                        <a:uLnTx/>
                        <a:uFillTx/>
                        <a:latin typeface="Arial Rounded MT Bold" panose="020F0704030504030204" pitchFamily="34" charset="0"/>
                        <a:ea typeface="+mn-ea"/>
                        <a:cs typeface="+mn-cs"/>
                      </a:endParaRPr>
                    </a:p>
                  </a:txBody>
                  <a:tcPr vert="vert270" anchor="ctr">
                    <a:solidFill>
                      <a:schemeClr val="bg1"/>
                    </a:solidFill>
                  </a:tcPr>
                </a:tc>
                <a:extLst>
                  <a:ext uri="{0D108BD9-81ED-4DB2-BD59-A6C34878D82A}">
                    <a16:rowId xmlns:a16="http://schemas.microsoft.com/office/drawing/2014/main" val="1939942222"/>
                  </a:ext>
                </a:extLst>
              </a:tr>
              <a:tr h="526820">
                <a:tc>
                  <a:txBody>
                    <a:bodyPr/>
                    <a:lstStyle/>
                    <a:p>
                      <a:pPr algn="ctr"/>
                      <a:r>
                        <a:rPr lang="en-US" b="1" dirty="0">
                          <a:latin typeface="Arial Rounded MT Bold" panose="020F0704030504030204" pitchFamily="34" charset="0"/>
                        </a:rPr>
                        <a:t>C</a:t>
                      </a:r>
                      <a:endParaRPr lang="en-US" b="1"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algn="ctr"/>
                      <a:r>
                        <a:rPr kumimoji="0" lang="en-US" sz="1800" b="0" i="0" u="none" strike="noStrike" kern="1200" cap="none" spc="0" normalizeH="0" baseline="0" noProof="0" dirty="0">
                          <a:ln>
                            <a:noFill/>
                          </a:ln>
                          <a:solidFill>
                            <a:srgbClr val="00B050"/>
                          </a:solidFill>
                          <a:effectLst/>
                          <a:uLnTx/>
                          <a:uFillTx/>
                          <a:latin typeface="Arial Rounded MT Bold" panose="020F0704030504030204" pitchFamily="34" charset="0"/>
                          <a:ea typeface="+mn-ea"/>
                          <a:cs typeface="+mn-cs"/>
                        </a:rPr>
                        <a:t>8</a:t>
                      </a:r>
                      <a:endParaRPr lang="en-US" b="1" dirty="0">
                        <a:solidFill>
                          <a:srgbClr val="00B050"/>
                        </a:solidFill>
                        <a:latin typeface="Arial Rounded MT Bold" panose="020F0704030504030204" pitchFamily="34" charset="0"/>
                      </a:endParaRPr>
                    </a:p>
                  </a:txBody>
                  <a:tcPr vert="vert270"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B050"/>
                          </a:solidFill>
                          <a:effectLst/>
                          <a:uLnTx/>
                          <a:uFillTx/>
                          <a:latin typeface="Arial Rounded MT Bold" panose="020F0704030504030204" pitchFamily="34" charset="0"/>
                          <a:ea typeface="+mn-ea"/>
                          <a:cs typeface="+mn-cs"/>
                        </a:rPr>
                        <a:t>8</a:t>
                      </a:r>
                      <a:endParaRPr kumimoji="0" lang="en-US" sz="1800" b="1" i="0" u="none" strike="noStrike" kern="1200" cap="none" spc="0" normalizeH="0" baseline="0" noProof="0" dirty="0">
                        <a:ln>
                          <a:noFill/>
                        </a:ln>
                        <a:solidFill>
                          <a:srgbClr val="00B050"/>
                        </a:solidFill>
                        <a:effectLst/>
                        <a:uLnTx/>
                        <a:uFillTx/>
                        <a:latin typeface="Arial Rounded MT Bold" panose="020F0704030504030204" pitchFamily="34" charset="0"/>
                        <a:ea typeface="+mn-ea"/>
                        <a:cs typeface="+mn-cs"/>
                      </a:endParaRPr>
                    </a:p>
                  </a:txBody>
                  <a:tcPr vert="vert270"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rgbClr val="FF0000"/>
                          </a:solidFill>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rgbClr val="00B050"/>
                          </a:solidFill>
                          <a:effectLst/>
                          <a:uLnTx/>
                          <a:uFillTx/>
                          <a:latin typeface="Arial Rounded MT Bold" panose="020F0704030504030204" pitchFamily="34" charset="0"/>
                        </a:rPr>
                        <a:t>8</a:t>
                      </a:r>
                      <a:endParaRPr kumimoji="0" lang="en-US" sz="1800" b="1" i="0" u="none" strike="noStrike" kern="1200" cap="none" spc="0" normalizeH="0" baseline="0" noProof="0" dirty="0">
                        <a:ln>
                          <a:noFill/>
                        </a:ln>
                        <a:solidFill>
                          <a:srgbClr val="00B050"/>
                        </a:solidFill>
                        <a:effectLst/>
                        <a:uLnTx/>
                        <a:uFillTx/>
                        <a:latin typeface="Arial Rounded MT Bold" panose="020F0704030504030204" pitchFamily="34" charset="0"/>
                        <a:ea typeface="+mn-ea"/>
                        <a:cs typeface="+mn-cs"/>
                      </a:endParaRPr>
                    </a:p>
                  </a:txBody>
                  <a:tcPr vert="vert270" anchor="ctr">
                    <a:solidFill>
                      <a:schemeClr val="bg1"/>
                    </a:solidFill>
                  </a:tcPr>
                </a:tc>
                <a:extLst>
                  <a:ext uri="{0D108BD9-81ED-4DB2-BD59-A6C34878D82A}">
                    <a16:rowId xmlns:a16="http://schemas.microsoft.com/office/drawing/2014/main" val="371904882"/>
                  </a:ext>
                </a:extLst>
              </a:tr>
              <a:tr h="526820">
                <a:tc>
                  <a:txBody>
                    <a:bodyPr/>
                    <a:lstStyle/>
                    <a:p>
                      <a:pPr algn="ctr"/>
                      <a:r>
                        <a:rPr lang="en-US" b="1" dirty="0">
                          <a:latin typeface="Arial Rounded MT Bold" panose="020F0704030504030204" pitchFamily="34" charset="0"/>
                        </a:rPr>
                        <a:t>D</a:t>
                      </a:r>
                      <a:endParaRPr lang="en-US" b="1"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algn="ctr"/>
                      <a:r>
                        <a:rPr kumimoji="0" lang="en-US" sz="1800" b="0" i="0" u="none" strike="noStrike" kern="1200" cap="none" spc="0" normalizeH="0" baseline="0" noProof="0" dirty="0">
                          <a:ln>
                            <a:noFill/>
                          </a:ln>
                          <a:solidFill>
                            <a:srgbClr val="00B050"/>
                          </a:solidFill>
                          <a:effectLst/>
                          <a:uLnTx/>
                          <a:uFillTx/>
                          <a:latin typeface="Arial Rounded MT Bold" panose="020F0704030504030204" pitchFamily="34" charset="0"/>
                          <a:ea typeface="+mn-ea"/>
                          <a:cs typeface="+mn-cs"/>
                        </a:rPr>
                        <a:t>8</a:t>
                      </a:r>
                      <a:endParaRPr lang="en-US" b="1" dirty="0">
                        <a:solidFill>
                          <a:srgbClr val="00B050"/>
                        </a:solidFill>
                        <a:latin typeface="Arial Rounded MT Bold" panose="020F0704030504030204" pitchFamily="34" charset="0"/>
                      </a:endParaRPr>
                    </a:p>
                  </a:txBody>
                  <a:tcPr vert="vert270"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B050"/>
                          </a:solidFill>
                          <a:effectLst/>
                          <a:uLnTx/>
                          <a:uFillTx/>
                          <a:latin typeface="Arial Rounded MT Bold" panose="020F0704030504030204" pitchFamily="34" charset="0"/>
                          <a:ea typeface="+mn-ea"/>
                          <a:cs typeface="+mn-cs"/>
                        </a:rPr>
                        <a:t>8</a:t>
                      </a:r>
                      <a:endParaRPr kumimoji="0" lang="en-US" sz="1800" b="1" i="0" u="none" strike="noStrike" kern="1200" cap="none" spc="0" normalizeH="0" baseline="0" noProof="0" dirty="0">
                        <a:ln>
                          <a:noFill/>
                        </a:ln>
                        <a:solidFill>
                          <a:srgbClr val="00B050"/>
                        </a:solidFill>
                        <a:effectLst/>
                        <a:uLnTx/>
                        <a:uFillTx/>
                        <a:latin typeface="Arial Rounded MT Bold" panose="020F0704030504030204" pitchFamily="34" charset="0"/>
                        <a:ea typeface="+mn-ea"/>
                        <a:cs typeface="+mn-cs"/>
                      </a:endParaRPr>
                    </a:p>
                  </a:txBody>
                  <a:tcPr vert="vert270"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rgbClr val="FF0000"/>
                          </a:solidFill>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extLst>
                  <a:ext uri="{0D108BD9-81ED-4DB2-BD59-A6C34878D82A}">
                    <a16:rowId xmlns:a16="http://schemas.microsoft.com/office/drawing/2014/main" val="1084115065"/>
                  </a:ext>
                </a:extLst>
              </a:tr>
              <a:tr h="526820">
                <a:tc>
                  <a:txBody>
                    <a:bodyPr/>
                    <a:lstStyle/>
                    <a:p>
                      <a:pPr algn="ctr"/>
                      <a:r>
                        <a:rPr lang="en-US" b="1" dirty="0">
                          <a:latin typeface="Arial Rounded MT Bold" panose="020F0704030504030204" pitchFamily="34" charset="0"/>
                        </a:rPr>
                        <a:t>E</a:t>
                      </a:r>
                      <a:endParaRPr lang="en-US" b="1" dirty="0">
                        <a:solidFill>
                          <a:schemeClr val="bg1"/>
                        </a:solidFill>
                        <a:latin typeface="Arial Rounded MT Bold" panose="020F0704030504030204" pitchFamily="34" charset="0"/>
                      </a:endParaRPr>
                    </a:p>
                  </a:txBody>
                  <a:tcPr anchor="ctr">
                    <a:solidFill>
                      <a:schemeClr val="accent6">
                        <a:lumMod val="20000"/>
                        <a:lumOff val="80000"/>
                      </a:schemeClr>
                    </a:solidFill>
                  </a:tcPr>
                </a:tc>
                <a:tc>
                  <a:txBody>
                    <a:bodyPr/>
                    <a:lstStyle/>
                    <a:p>
                      <a:pPr algn="ctr"/>
                      <a:r>
                        <a:rPr lang="en-US" dirty="0">
                          <a:latin typeface="Arial Rounded MT Bold" panose="020F0704030504030204" pitchFamily="34" charset="0"/>
                        </a:rPr>
                        <a:t>3</a:t>
                      </a:r>
                      <a:endParaRPr lang="en-US" b="1" dirty="0">
                        <a:latin typeface="Arial Rounded MT Bold" panose="020F0704030504030204" pitchFamily="34" charset="0"/>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B050"/>
                          </a:solidFill>
                          <a:effectLst/>
                          <a:uLnTx/>
                          <a:uFillTx/>
                          <a:latin typeface="Arial Rounded MT Bold" panose="020F0704030504030204" pitchFamily="34" charset="0"/>
                          <a:ea typeface="+mn-ea"/>
                          <a:cs typeface="+mn-cs"/>
                        </a:rPr>
                        <a:t>8</a:t>
                      </a:r>
                      <a:endParaRPr kumimoji="0" lang="en-US" sz="1800" b="1" i="0" u="none" strike="noStrike" kern="1200" cap="none" spc="0" normalizeH="0" baseline="0" noProof="0" dirty="0">
                        <a:ln>
                          <a:noFill/>
                        </a:ln>
                        <a:solidFill>
                          <a:srgbClr val="00B050"/>
                        </a:solidFill>
                        <a:effectLst/>
                        <a:uLnTx/>
                        <a:uFillTx/>
                        <a:latin typeface="Arial Rounded MT Bold" panose="020F0704030504030204" pitchFamily="34" charset="0"/>
                        <a:ea typeface="+mn-ea"/>
                        <a:cs typeface="+mn-cs"/>
                      </a:endParaRPr>
                    </a:p>
                  </a:txBody>
                  <a:tcPr vert="vert270"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B050"/>
                          </a:solidFill>
                          <a:effectLst/>
                          <a:uLnTx/>
                          <a:uFillTx/>
                          <a:latin typeface="Arial Rounded MT Bold" panose="020F0704030504030204" pitchFamily="34" charset="0"/>
                          <a:ea typeface="+mn-ea"/>
                          <a:cs typeface="+mn-cs"/>
                        </a:rPr>
                        <a:t>8</a:t>
                      </a:r>
                      <a:endParaRPr kumimoji="0" lang="en-US" sz="1800" b="1" i="0" u="none" strike="noStrike" kern="1200" cap="none" spc="0" normalizeH="0" baseline="0" noProof="0" dirty="0">
                        <a:ln>
                          <a:noFill/>
                        </a:ln>
                        <a:solidFill>
                          <a:srgbClr val="00B050"/>
                        </a:solidFill>
                        <a:effectLst/>
                        <a:uLnTx/>
                        <a:uFillTx/>
                        <a:latin typeface="Arial Rounded MT Bold" panose="020F0704030504030204" pitchFamily="34" charset="0"/>
                        <a:ea typeface="+mn-ea"/>
                        <a:cs typeface="+mn-cs"/>
                      </a:endParaRPr>
                    </a:p>
                  </a:txBody>
                  <a:tcPr vert="vert270"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rgbClr val="00B050"/>
                          </a:solidFill>
                          <a:effectLst/>
                          <a:uLnTx/>
                          <a:uFillTx/>
                          <a:latin typeface="Arial Rounded MT Bold" panose="020F0704030504030204" pitchFamily="34" charset="0"/>
                        </a:rPr>
                        <a:t>8</a:t>
                      </a:r>
                      <a:endParaRPr kumimoji="0" lang="en-US" sz="1800" b="1" i="0" u="none" strike="noStrike" kern="1200" cap="none" spc="0" normalizeH="0" baseline="0" noProof="0" dirty="0">
                        <a:ln>
                          <a:noFill/>
                        </a:ln>
                        <a:solidFill>
                          <a:srgbClr val="00B050"/>
                        </a:solidFill>
                        <a:effectLst/>
                        <a:uLnTx/>
                        <a:uFillTx/>
                        <a:latin typeface="Arial Rounded MT Bold" panose="020F0704030504030204" pitchFamily="34" charset="0"/>
                        <a:ea typeface="+mn-ea"/>
                        <a:cs typeface="+mn-cs"/>
                      </a:endParaRPr>
                    </a:p>
                  </a:txBody>
                  <a:tcPr vert="vert270"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rgbClr val="FF0000"/>
                          </a:solidFill>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nchor="ctr">
                    <a:solidFill>
                      <a:schemeClr val="bg1"/>
                    </a:solidFill>
                  </a:tcPr>
                </a:tc>
                <a:extLst>
                  <a:ext uri="{0D108BD9-81ED-4DB2-BD59-A6C34878D82A}">
                    <a16:rowId xmlns:a16="http://schemas.microsoft.com/office/drawing/2014/main" val="4208500189"/>
                  </a:ext>
                </a:extLst>
              </a:tr>
            </a:tbl>
          </a:graphicData>
        </a:graphic>
      </p:graphicFrame>
      <p:sp>
        <p:nvSpPr>
          <p:cNvPr id="39" name="Rectangle 38"/>
          <p:cNvSpPr/>
          <p:nvPr/>
        </p:nvSpPr>
        <p:spPr>
          <a:xfrm>
            <a:off x="8071444" y="5551045"/>
            <a:ext cx="678071"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rPr>
              <a:t>W</a:t>
            </a:r>
          </a:p>
        </p:txBody>
      </p:sp>
      <p:sp>
        <p:nvSpPr>
          <p:cNvPr id="40" name="Rectangle 39">
            <a:extLst>
              <a:ext uri="{FF2B5EF4-FFF2-40B4-BE49-F238E27FC236}">
                <a16:creationId xmlns:a16="http://schemas.microsoft.com/office/drawing/2014/main" id="{22870CD6-8E9B-4A8F-928E-5C1A0DC4E5A2}"/>
              </a:ext>
            </a:extLst>
          </p:cNvPr>
          <p:cNvSpPr/>
          <p:nvPr/>
        </p:nvSpPr>
        <p:spPr>
          <a:xfrm>
            <a:off x="650670" y="1756855"/>
            <a:ext cx="1154034" cy="646331"/>
          </a:xfrm>
          <a:prstGeom prst="rect">
            <a:avLst/>
          </a:prstGeom>
        </p:spPr>
        <p:txBody>
          <a:bodyPr wrap="none">
            <a:spAutoFit/>
          </a:bodyPr>
          <a:lstStyle/>
          <a:p>
            <a:r>
              <a:rPr lang="en-US" b="1" dirty="0">
                <a:effectLst>
                  <a:outerShdw blurRad="38100" dist="38100" dir="2700000" algn="tl">
                    <a:srgbClr val="000000">
                      <a:alpha val="43137"/>
                    </a:srgbClr>
                  </a:outerShdw>
                </a:effectLst>
              </a:rPr>
              <a:t>Directed</a:t>
            </a:r>
          </a:p>
          <a:p>
            <a:r>
              <a:rPr lang="en-US" b="1" dirty="0">
                <a:effectLst>
                  <a:outerShdw blurRad="38100" dist="38100" dir="2700000" algn="tl">
                    <a:srgbClr val="000000">
                      <a:alpha val="43137"/>
                    </a:srgbClr>
                  </a:outerShdw>
                </a:effectLst>
              </a:rPr>
              <a:t>Weighted</a:t>
            </a:r>
            <a:endParaRPr lang="en-US" dirty="0"/>
          </a:p>
        </p:txBody>
      </p:sp>
    </p:spTree>
    <p:custDataLst>
      <p:tags r:id="rId1"/>
    </p:custDataLst>
    <p:extLst>
      <p:ext uri="{BB962C8B-B14F-4D97-AF65-F5344CB8AC3E}">
        <p14:creationId xmlns:p14="http://schemas.microsoft.com/office/powerpoint/2010/main" val="38666186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Adjacency List Structure</a:t>
            </a:r>
          </a:p>
        </p:txBody>
      </p:sp>
      <p:sp>
        <p:nvSpPr>
          <p:cNvPr id="14" name="Slide Number Placeholder 13">
            <a:extLst>
              <a:ext uri="{FF2B5EF4-FFF2-40B4-BE49-F238E27FC236}">
                <a16:creationId xmlns:a16="http://schemas.microsoft.com/office/drawing/2014/main" id="{40EC20A1-2603-4F0B-B56F-C5FF10D2CBA1}"/>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11/110</a:t>
            </a:r>
          </a:p>
        </p:txBody>
      </p:sp>
      <p:cxnSp>
        <p:nvCxnSpPr>
          <p:cNvPr id="3" name="Straight Connector 2"/>
          <p:cNvCxnSpPr>
            <a:stCxn id="12" idx="1"/>
          </p:cNvCxnSpPr>
          <p:nvPr/>
        </p:nvCxnSpPr>
        <p:spPr>
          <a:xfrm flipH="1" flipV="1">
            <a:off x="1097669" y="3734594"/>
            <a:ext cx="2198288" cy="93317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 name="Straight Connector 3"/>
          <p:cNvCxnSpPr>
            <a:stCxn id="7" idx="5"/>
          </p:cNvCxnSpPr>
          <p:nvPr/>
        </p:nvCxnSpPr>
        <p:spPr>
          <a:xfrm>
            <a:off x="2328832" y="3462270"/>
            <a:ext cx="1158049" cy="13377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flipV="1">
            <a:off x="2174848" y="3377774"/>
            <a:ext cx="1856048" cy="24517"/>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1948920" y="3481714"/>
            <a:ext cx="175670" cy="1109474"/>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 name="Oval 16"/>
          <p:cNvSpPr>
            <a:spLocks noChangeArrowheads="1"/>
          </p:cNvSpPr>
          <p:nvPr/>
        </p:nvSpPr>
        <p:spPr bwMode="auto">
          <a:xfrm>
            <a:off x="1957083" y="309052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8" name="Straight Connector 7"/>
          <p:cNvCxnSpPr/>
          <p:nvPr/>
        </p:nvCxnSpPr>
        <p:spPr>
          <a:xfrm flipH="1">
            <a:off x="2120774" y="4800035"/>
            <a:ext cx="1119177" cy="684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a:endCxn id="25" idx="1"/>
          </p:cNvCxnSpPr>
          <p:nvPr/>
        </p:nvCxnSpPr>
        <p:spPr>
          <a:xfrm>
            <a:off x="1167927" y="3936170"/>
            <a:ext cx="563889" cy="8638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686531" y="458227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1" name="Oval 16"/>
          <p:cNvSpPr>
            <a:spLocks noChangeArrowheads="1"/>
          </p:cNvSpPr>
          <p:nvPr/>
        </p:nvSpPr>
        <p:spPr bwMode="auto">
          <a:xfrm>
            <a:off x="796178" y="3610102"/>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2" name="Oval 16"/>
          <p:cNvSpPr>
            <a:spLocks noChangeArrowheads="1"/>
          </p:cNvSpPr>
          <p:nvPr/>
        </p:nvSpPr>
        <p:spPr bwMode="auto">
          <a:xfrm>
            <a:off x="3232175" y="460398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5" name="Straight Connector 14"/>
          <p:cNvCxnSpPr>
            <a:stCxn id="12" idx="7"/>
          </p:cNvCxnSpPr>
          <p:nvPr/>
        </p:nvCxnSpPr>
        <p:spPr>
          <a:xfrm flipV="1">
            <a:off x="3603924" y="3429291"/>
            <a:ext cx="650011" cy="123847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20" idx="6"/>
          </p:cNvCxnSpPr>
          <p:nvPr/>
        </p:nvCxnSpPr>
        <p:spPr>
          <a:xfrm flipV="1">
            <a:off x="4464552" y="3565009"/>
            <a:ext cx="1367969" cy="125700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flipV="1">
            <a:off x="4408532" y="3371173"/>
            <a:ext cx="1353035" cy="6601"/>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4246786" y="3646429"/>
            <a:ext cx="45505" cy="95755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4029021" y="319567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0" name="Oval 16"/>
          <p:cNvSpPr>
            <a:spLocks noChangeArrowheads="1"/>
          </p:cNvSpPr>
          <p:nvPr/>
        </p:nvSpPr>
        <p:spPr bwMode="auto">
          <a:xfrm>
            <a:off x="4029021" y="46042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1" name="Oval 16"/>
          <p:cNvSpPr>
            <a:spLocks noChangeArrowheads="1"/>
          </p:cNvSpPr>
          <p:nvPr/>
        </p:nvSpPr>
        <p:spPr bwMode="auto">
          <a:xfrm>
            <a:off x="5747996" y="318047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4" name="TextBox 23"/>
          <p:cNvSpPr txBox="1"/>
          <p:nvPr/>
        </p:nvSpPr>
        <p:spPr>
          <a:xfrm>
            <a:off x="2006372" y="3112381"/>
            <a:ext cx="35137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A</a:t>
            </a:r>
          </a:p>
        </p:txBody>
      </p:sp>
      <p:sp>
        <p:nvSpPr>
          <p:cNvPr id="25" name="TextBox 24"/>
          <p:cNvSpPr txBox="1"/>
          <p:nvPr/>
        </p:nvSpPr>
        <p:spPr>
          <a:xfrm>
            <a:off x="1731816" y="4615369"/>
            <a:ext cx="35137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B</a:t>
            </a:r>
          </a:p>
        </p:txBody>
      </p:sp>
      <p:sp>
        <p:nvSpPr>
          <p:cNvPr id="26" name="TextBox 25"/>
          <p:cNvSpPr txBox="1"/>
          <p:nvPr/>
        </p:nvSpPr>
        <p:spPr>
          <a:xfrm>
            <a:off x="4096606" y="3217625"/>
            <a:ext cx="35618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C</a:t>
            </a:r>
          </a:p>
        </p:txBody>
      </p:sp>
      <p:sp>
        <p:nvSpPr>
          <p:cNvPr id="27" name="Rectangle 26"/>
          <p:cNvSpPr/>
          <p:nvPr/>
        </p:nvSpPr>
        <p:spPr>
          <a:xfrm>
            <a:off x="844245" y="3647774"/>
            <a:ext cx="356188" cy="369332"/>
          </a:xfrm>
          <a:prstGeom prst="rect">
            <a:avLst/>
          </a:prstGeom>
        </p:spPr>
        <p:txBody>
          <a:bodyPr wrap="none">
            <a:spAutoFit/>
          </a:bodyPr>
          <a:lstStyle/>
          <a:p>
            <a:r>
              <a:rPr lang="en-US" b="1" dirty="0">
                <a:solidFill>
                  <a:prstClr val="black"/>
                </a:solidFill>
                <a:latin typeface="Arial Rounded MT Bold" panose="020F0704030504030204" pitchFamily="34" charset="0"/>
              </a:rPr>
              <a:t>D</a:t>
            </a:r>
          </a:p>
        </p:txBody>
      </p:sp>
      <p:sp>
        <p:nvSpPr>
          <p:cNvPr id="28" name="Rectangle 27"/>
          <p:cNvSpPr/>
          <p:nvPr/>
        </p:nvSpPr>
        <p:spPr>
          <a:xfrm>
            <a:off x="4076007" y="4647465"/>
            <a:ext cx="324128" cy="369332"/>
          </a:xfrm>
          <a:prstGeom prst="rect">
            <a:avLst/>
          </a:prstGeom>
        </p:spPr>
        <p:txBody>
          <a:bodyPr wrap="none">
            <a:spAutoFit/>
          </a:bodyPr>
          <a:lstStyle/>
          <a:p>
            <a:r>
              <a:rPr lang="en-US" b="1" dirty="0">
                <a:solidFill>
                  <a:prstClr val="black"/>
                </a:solidFill>
                <a:latin typeface="Arial Rounded MT Bold" panose="020F0704030504030204" pitchFamily="34" charset="0"/>
              </a:rPr>
              <a:t>F</a:t>
            </a:r>
          </a:p>
        </p:txBody>
      </p:sp>
      <p:sp>
        <p:nvSpPr>
          <p:cNvPr id="29" name="Rectangle 28"/>
          <p:cNvSpPr/>
          <p:nvPr/>
        </p:nvSpPr>
        <p:spPr>
          <a:xfrm>
            <a:off x="5798967" y="3195677"/>
            <a:ext cx="367408" cy="369332"/>
          </a:xfrm>
          <a:prstGeom prst="rect">
            <a:avLst/>
          </a:prstGeom>
        </p:spPr>
        <p:txBody>
          <a:bodyPr wrap="none">
            <a:spAutoFit/>
          </a:bodyPr>
          <a:lstStyle/>
          <a:p>
            <a:r>
              <a:rPr lang="en-US" b="1" dirty="0">
                <a:solidFill>
                  <a:prstClr val="black"/>
                </a:solidFill>
                <a:latin typeface="Arial Rounded MT Bold" panose="020F0704030504030204" pitchFamily="34" charset="0"/>
              </a:rPr>
              <a:t>G</a:t>
            </a:r>
          </a:p>
        </p:txBody>
      </p:sp>
      <p:sp>
        <p:nvSpPr>
          <p:cNvPr id="34" name="Rectangle 33"/>
          <p:cNvSpPr/>
          <p:nvPr/>
        </p:nvSpPr>
        <p:spPr>
          <a:xfrm>
            <a:off x="3291957" y="4628920"/>
            <a:ext cx="338554" cy="369332"/>
          </a:xfrm>
          <a:prstGeom prst="rect">
            <a:avLst/>
          </a:prstGeom>
        </p:spPr>
        <p:txBody>
          <a:bodyPr wrap="none">
            <a:spAutoFit/>
          </a:bodyPr>
          <a:lstStyle/>
          <a:p>
            <a:r>
              <a:rPr lang="en-US" b="1" dirty="0">
                <a:solidFill>
                  <a:prstClr val="black"/>
                </a:solidFill>
                <a:latin typeface="Arial Rounded MT Bold" panose="020F0704030504030204" pitchFamily="34" charset="0"/>
              </a:rPr>
              <a:t>E</a:t>
            </a:r>
          </a:p>
        </p:txBody>
      </p:sp>
      <p:sp>
        <p:nvSpPr>
          <p:cNvPr id="35" name="Rectangle 34"/>
          <p:cNvSpPr/>
          <p:nvPr/>
        </p:nvSpPr>
        <p:spPr>
          <a:xfrm>
            <a:off x="3068086" y="5950803"/>
            <a:ext cx="629981"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latin typeface="Arial Rounded MT Bold" panose="020F0704030504030204" pitchFamily="34" charset="0"/>
              </a:rPr>
              <a:t>G</a:t>
            </a:r>
          </a:p>
        </p:txBody>
      </p:sp>
      <p:graphicFrame>
        <p:nvGraphicFramePr>
          <p:cNvPr id="40" name="Table 39"/>
          <p:cNvGraphicFramePr>
            <a:graphicFrameLocks noGrp="1"/>
          </p:cNvGraphicFramePr>
          <p:nvPr>
            <p:extLst>
              <p:ext uri="{D42A27DB-BD31-4B8C-83A1-F6EECF244321}">
                <p14:modId xmlns:p14="http://schemas.microsoft.com/office/powerpoint/2010/main" val="2750018110"/>
              </p:ext>
            </p:extLst>
          </p:nvPr>
        </p:nvGraphicFramePr>
        <p:xfrm>
          <a:off x="6474447" y="2032907"/>
          <a:ext cx="3265546" cy="4605213"/>
        </p:xfrm>
        <a:graphic>
          <a:graphicData uri="http://schemas.openxmlformats.org/drawingml/2006/table">
            <a:tbl>
              <a:tblPr firstRow="1" bandRow="1">
                <a:tableStyleId>{5940675A-B579-460E-94D1-54222C63F5DA}</a:tableStyleId>
              </a:tblPr>
              <a:tblGrid>
                <a:gridCol w="963844">
                  <a:extLst>
                    <a:ext uri="{9D8B030D-6E8A-4147-A177-3AD203B41FA5}">
                      <a16:colId xmlns:a16="http://schemas.microsoft.com/office/drawing/2014/main" val="2989644895"/>
                    </a:ext>
                  </a:extLst>
                </a:gridCol>
                <a:gridCol w="2301702">
                  <a:extLst>
                    <a:ext uri="{9D8B030D-6E8A-4147-A177-3AD203B41FA5}">
                      <a16:colId xmlns:a16="http://schemas.microsoft.com/office/drawing/2014/main" val="4244960412"/>
                    </a:ext>
                  </a:extLst>
                </a:gridCol>
              </a:tblGrid>
              <a:tr h="489857">
                <a:tc>
                  <a:txBody>
                    <a:bodyPr/>
                    <a:lstStyle/>
                    <a:p>
                      <a:pPr algn="ctr"/>
                      <a:r>
                        <a:rPr lang="en-US" b="1" dirty="0">
                          <a:latin typeface="Arial Rounded MT Bold" panose="020F0704030504030204" pitchFamily="34" charset="0"/>
                        </a:rPr>
                        <a:t>NODE</a:t>
                      </a:r>
                    </a:p>
                  </a:txBody>
                  <a:tcPr>
                    <a:solidFill>
                      <a:schemeClr val="accent2">
                        <a:lumMod val="20000"/>
                        <a:lumOff val="80000"/>
                      </a:schemeClr>
                    </a:solidFill>
                  </a:tcPr>
                </a:tc>
                <a:tc>
                  <a:txBody>
                    <a:bodyPr/>
                    <a:lstStyle/>
                    <a:p>
                      <a:pPr algn="ctr"/>
                      <a:r>
                        <a:rPr lang="en-US" b="1" dirty="0"/>
                        <a:t>NEIGHBORS</a:t>
                      </a:r>
                    </a:p>
                  </a:txBody>
                  <a:tcPr>
                    <a:solidFill>
                      <a:schemeClr val="accent2">
                        <a:lumMod val="20000"/>
                        <a:lumOff val="80000"/>
                      </a:schemeClr>
                    </a:solidFill>
                  </a:tcPr>
                </a:tc>
                <a:extLst>
                  <a:ext uri="{0D108BD9-81ED-4DB2-BD59-A6C34878D82A}">
                    <a16:rowId xmlns:a16="http://schemas.microsoft.com/office/drawing/2014/main" val="1978098576"/>
                  </a:ext>
                </a:extLst>
              </a:tr>
              <a:tr h="587908">
                <a:tc>
                  <a:txBody>
                    <a:bodyPr/>
                    <a:lstStyle/>
                    <a:p>
                      <a:pPr algn="ctr"/>
                      <a:r>
                        <a:rPr lang="en-US" b="1" dirty="0">
                          <a:latin typeface="Arial Rounded MT Bold" panose="020F0704030504030204" pitchFamily="34" charset="0"/>
                        </a:rPr>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p>
                  </a:txBody>
                  <a:tcPr/>
                </a:tc>
                <a:extLst>
                  <a:ext uri="{0D108BD9-81ED-4DB2-BD59-A6C34878D82A}">
                    <a16:rowId xmlns:a16="http://schemas.microsoft.com/office/drawing/2014/main" val="3592035499"/>
                  </a:ext>
                </a:extLst>
              </a:tr>
              <a:tr h="587908">
                <a:tc>
                  <a:txBody>
                    <a:bodyPr/>
                    <a:lstStyle/>
                    <a:p>
                      <a:pPr algn="ctr"/>
                      <a:r>
                        <a:rPr lang="en-US" b="1" dirty="0">
                          <a:latin typeface="Arial Rounded MT Bold" panose="020F0704030504030204" pitchFamily="34" charset="0"/>
                        </a:rPr>
                        <a:t>B</a:t>
                      </a:r>
                    </a:p>
                  </a:txBody>
                  <a:tcPr/>
                </a:tc>
                <a:tc>
                  <a:txBody>
                    <a:bodyPr/>
                    <a:lstStyle/>
                    <a:p>
                      <a:pPr algn="ctr"/>
                      <a:endParaRPr lang="en-US" b="1" dirty="0"/>
                    </a:p>
                  </a:txBody>
                  <a:tcPr/>
                </a:tc>
                <a:extLst>
                  <a:ext uri="{0D108BD9-81ED-4DB2-BD59-A6C34878D82A}">
                    <a16:rowId xmlns:a16="http://schemas.microsoft.com/office/drawing/2014/main" val="1939942222"/>
                  </a:ext>
                </a:extLst>
              </a:tr>
              <a:tr h="587908">
                <a:tc>
                  <a:txBody>
                    <a:bodyPr/>
                    <a:lstStyle/>
                    <a:p>
                      <a:pPr algn="ctr"/>
                      <a:r>
                        <a:rPr lang="en-US" b="1" dirty="0">
                          <a:latin typeface="Arial Rounded MT Bold" panose="020F0704030504030204" pitchFamily="34" charset="0"/>
                        </a:rPr>
                        <a:t>C</a:t>
                      </a:r>
                    </a:p>
                  </a:txBody>
                  <a:tcPr/>
                </a:tc>
                <a:tc>
                  <a:txBody>
                    <a:bodyPr/>
                    <a:lstStyle/>
                    <a:p>
                      <a:pPr algn="ctr"/>
                      <a:endParaRPr lang="en-US" b="1" dirty="0"/>
                    </a:p>
                  </a:txBody>
                  <a:tcPr/>
                </a:tc>
                <a:extLst>
                  <a:ext uri="{0D108BD9-81ED-4DB2-BD59-A6C34878D82A}">
                    <a16:rowId xmlns:a16="http://schemas.microsoft.com/office/drawing/2014/main" val="371904882"/>
                  </a:ext>
                </a:extLst>
              </a:tr>
              <a:tr h="587908">
                <a:tc>
                  <a:txBody>
                    <a:bodyPr/>
                    <a:lstStyle/>
                    <a:p>
                      <a:pPr algn="ctr"/>
                      <a:r>
                        <a:rPr lang="en-US" b="1" dirty="0">
                          <a:latin typeface="Arial Rounded MT Bold" panose="020F0704030504030204" pitchFamily="34" charset="0"/>
                        </a:rPr>
                        <a:t>D</a:t>
                      </a:r>
                    </a:p>
                  </a:txBody>
                  <a:tcPr/>
                </a:tc>
                <a:tc>
                  <a:txBody>
                    <a:bodyPr/>
                    <a:lstStyle/>
                    <a:p>
                      <a:pPr algn="ctr"/>
                      <a:endParaRPr lang="en-US" b="1" dirty="0"/>
                    </a:p>
                  </a:txBody>
                  <a:tcPr/>
                </a:tc>
                <a:extLst>
                  <a:ext uri="{0D108BD9-81ED-4DB2-BD59-A6C34878D82A}">
                    <a16:rowId xmlns:a16="http://schemas.microsoft.com/office/drawing/2014/main" val="1084115065"/>
                  </a:ext>
                </a:extLst>
              </a:tr>
              <a:tr h="587908">
                <a:tc>
                  <a:txBody>
                    <a:bodyPr/>
                    <a:lstStyle/>
                    <a:p>
                      <a:pPr algn="ctr"/>
                      <a:r>
                        <a:rPr lang="en-US" b="1" dirty="0">
                          <a:latin typeface="Arial Rounded MT Bold" panose="020F0704030504030204" pitchFamily="34" charset="0"/>
                        </a:rPr>
                        <a:t>E</a:t>
                      </a:r>
                    </a:p>
                  </a:txBody>
                  <a:tcPr/>
                </a:tc>
                <a:tc>
                  <a:txBody>
                    <a:bodyPr/>
                    <a:lstStyle/>
                    <a:p>
                      <a:pPr algn="ctr"/>
                      <a:endParaRPr lang="en-US" b="1" dirty="0"/>
                    </a:p>
                  </a:txBody>
                  <a:tcPr/>
                </a:tc>
                <a:extLst>
                  <a:ext uri="{0D108BD9-81ED-4DB2-BD59-A6C34878D82A}">
                    <a16:rowId xmlns:a16="http://schemas.microsoft.com/office/drawing/2014/main" val="4208500189"/>
                  </a:ext>
                </a:extLst>
              </a:tr>
              <a:tr h="587908">
                <a:tc>
                  <a:txBody>
                    <a:bodyPr/>
                    <a:lstStyle/>
                    <a:p>
                      <a:pPr algn="ctr"/>
                      <a:r>
                        <a:rPr lang="en-US" b="1" dirty="0">
                          <a:latin typeface="Arial Rounded MT Bold" panose="020F0704030504030204" pitchFamily="34" charset="0"/>
                        </a:rPr>
                        <a:t>F</a:t>
                      </a:r>
                    </a:p>
                  </a:txBody>
                  <a:tcPr/>
                </a:tc>
                <a:tc>
                  <a:txBody>
                    <a:bodyPr/>
                    <a:lstStyle/>
                    <a:p>
                      <a:pPr algn="ctr"/>
                      <a:endParaRPr lang="en-US" b="1" dirty="0"/>
                    </a:p>
                  </a:txBody>
                  <a:tcPr/>
                </a:tc>
                <a:extLst>
                  <a:ext uri="{0D108BD9-81ED-4DB2-BD59-A6C34878D82A}">
                    <a16:rowId xmlns:a16="http://schemas.microsoft.com/office/drawing/2014/main" val="1862253349"/>
                  </a:ext>
                </a:extLst>
              </a:tr>
              <a:tr h="587908">
                <a:tc>
                  <a:txBody>
                    <a:bodyPr/>
                    <a:lstStyle/>
                    <a:p>
                      <a:pPr algn="ctr"/>
                      <a:r>
                        <a:rPr lang="en-US" b="1" dirty="0">
                          <a:latin typeface="Arial Rounded MT Bold" panose="020F0704030504030204" pitchFamily="34" charset="0"/>
                        </a:rPr>
                        <a:t>G</a:t>
                      </a:r>
                    </a:p>
                  </a:txBody>
                  <a:tcPr/>
                </a:tc>
                <a:tc>
                  <a:txBody>
                    <a:bodyPr/>
                    <a:lstStyle/>
                    <a:p>
                      <a:pPr algn="ctr"/>
                      <a:endParaRPr lang="en-US" b="1" dirty="0"/>
                    </a:p>
                  </a:txBody>
                  <a:tcPr/>
                </a:tc>
                <a:extLst>
                  <a:ext uri="{0D108BD9-81ED-4DB2-BD59-A6C34878D82A}">
                    <a16:rowId xmlns:a16="http://schemas.microsoft.com/office/drawing/2014/main" val="1205733479"/>
                  </a:ext>
                </a:extLst>
              </a:tr>
            </a:tbl>
          </a:graphicData>
        </a:graphic>
      </p:graphicFrame>
      <p:sp>
        <p:nvSpPr>
          <p:cNvPr id="13" name="Rectangle 12">
            <a:extLst>
              <a:ext uri="{FF2B5EF4-FFF2-40B4-BE49-F238E27FC236}">
                <a16:creationId xmlns:a16="http://schemas.microsoft.com/office/drawing/2014/main" id="{F3ADB137-5864-4143-887B-00324FE2354A}"/>
              </a:ext>
            </a:extLst>
          </p:cNvPr>
          <p:cNvSpPr/>
          <p:nvPr/>
        </p:nvSpPr>
        <p:spPr>
          <a:xfrm>
            <a:off x="7909720" y="2596240"/>
            <a:ext cx="367393" cy="367393"/>
          </a:xfrm>
          <a:prstGeom prst="rect">
            <a:avLst/>
          </a:prstGeom>
          <a:solidFill>
            <a:schemeClr val="accent2"/>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cxnSp>
        <p:nvCxnSpPr>
          <p:cNvPr id="22" name="Straight Arrow Connector 21">
            <a:extLst>
              <a:ext uri="{FF2B5EF4-FFF2-40B4-BE49-F238E27FC236}">
                <a16:creationId xmlns:a16="http://schemas.microsoft.com/office/drawing/2014/main" id="{05BA821E-F61A-417D-ABE3-279EE6E53974}"/>
              </a:ext>
            </a:extLst>
          </p:cNvPr>
          <p:cNvCxnSpPr/>
          <p:nvPr/>
        </p:nvCxnSpPr>
        <p:spPr>
          <a:xfrm>
            <a:off x="8294914" y="2792184"/>
            <a:ext cx="22860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7F6E862D-6538-4C4D-9B2B-3332C2206C02}"/>
              </a:ext>
            </a:extLst>
          </p:cNvPr>
          <p:cNvSpPr/>
          <p:nvPr/>
        </p:nvSpPr>
        <p:spPr>
          <a:xfrm>
            <a:off x="8541315" y="2596239"/>
            <a:ext cx="367393" cy="367393"/>
          </a:xfrm>
          <a:prstGeom prst="rect">
            <a:avLst/>
          </a:prstGeom>
          <a:solidFill>
            <a:schemeClr val="accent2"/>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sp>
        <p:nvSpPr>
          <p:cNvPr id="23" name="TextBox 22">
            <a:extLst>
              <a:ext uri="{FF2B5EF4-FFF2-40B4-BE49-F238E27FC236}">
                <a16:creationId xmlns:a16="http://schemas.microsoft.com/office/drawing/2014/main" id="{2CBE9904-5EB5-4F08-8692-3089D7B82F4A}"/>
              </a:ext>
            </a:extLst>
          </p:cNvPr>
          <p:cNvSpPr txBox="1"/>
          <p:nvPr/>
        </p:nvSpPr>
        <p:spPr>
          <a:xfrm>
            <a:off x="7927831" y="2607518"/>
            <a:ext cx="351378" cy="369332"/>
          </a:xfrm>
          <a:prstGeom prst="rect">
            <a:avLst/>
          </a:prstGeom>
          <a:noFill/>
        </p:spPr>
        <p:txBody>
          <a:bodyPr wrap="none" rtlCol="0">
            <a:spAutoFit/>
          </a:bodyPr>
          <a:lstStyle/>
          <a:p>
            <a:r>
              <a:rPr lang="en-US" dirty="0">
                <a:latin typeface="Arial Rounded MT Bold" panose="020F0704030504030204" pitchFamily="34" charset="0"/>
              </a:rPr>
              <a:t>B</a:t>
            </a:r>
          </a:p>
        </p:txBody>
      </p:sp>
      <p:sp>
        <p:nvSpPr>
          <p:cNvPr id="37" name="TextBox 36">
            <a:extLst>
              <a:ext uri="{FF2B5EF4-FFF2-40B4-BE49-F238E27FC236}">
                <a16:creationId xmlns:a16="http://schemas.microsoft.com/office/drawing/2014/main" id="{0E5085B4-E8DF-45F9-A914-FF4FD3AC8D08}"/>
              </a:ext>
            </a:extLst>
          </p:cNvPr>
          <p:cNvSpPr txBox="1"/>
          <p:nvPr/>
        </p:nvSpPr>
        <p:spPr>
          <a:xfrm>
            <a:off x="8541315" y="2616295"/>
            <a:ext cx="356188" cy="369332"/>
          </a:xfrm>
          <a:prstGeom prst="rect">
            <a:avLst/>
          </a:prstGeom>
          <a:noFill/>
        </p:spPr>
        <p:txBody>
          <a:bodyPr wrap="none" rtlCol="0">
            <a:spAutoFit/>
          </a:bodyPr>
          <a:lstStyle/>
          <a:p>
            <a:r>
              <a:rPr lang="en-US" dirty="0">
                <a:latin typeface="Arial Rounded MT Bold" panose="020F0704030504030204" pitchFamily="34" charset="0"/>
              </a:rPr>
              <a:t>C</a:t>
            </a:r>
          </a:p>
        </p:txBody>
      </p:sp>
      <p:sp>
        <p:nvSpPr>
          <p:cNvPr id="38" name="Rectangle 37">
            <a:extLst>
              <a:ext uri="{FF2B5EF4-FFF2-40B4-BE49-F238E27FC236}">
                <a16:creationId xmlns:a16="http://schemas.microsoft.com/office/drawing/2014/main" id="{D504DF0E-D13E-4CD7-B685-84CC1BEDC4E4}"/>
              </a:ext>
            </a:extLst>
          </p:cNvPr>
          <p:cNvSpPr/>
          <p:nvPr/>
        </p:nvSpPr>
        <p:spPr>
          <a:xfrm>
            <a:off x="7908247" y="3199862"/>
            <a:ext cx="367393" cy="367393"/>
          </a:xfrm>
          <a:prstGeom prst="rect">
            <a:avLst/>
          </a:prstGeom>
          <a:solidFill>
            <a:schemeClr val="accent2"/>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cxnSp>
        <p:nvCxnSpPr>
          <p:cNvPr id="39" name="Straight Arrow Connector 38">
            <a:extLst>
              <a:ext uri="{FF2B5EF4-FFF2-40B4-BE49-F238E27FC236}">
                <a16:creationId xmlns:a16="http://schemas.microsoft.com/office/drawing/2014/main" id="{315980D7-D79B-4503-AFFB-B356EFB37D49}"/>
              </a:ext>
            </a:extLst>
          </p:cNvPr>
          <p:cNvCxnSpPr/>
          <p:nvPr/>
        </p:nvCxnSpPr>
        <p:spPr>
          <a:xfrm>
            <a:off x="8293441" y="3395806"/>
            <a:ext cx="22860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629803A7-E32E-4815-89C5-2401B05A1811}"/>
              </a:ext>
            </a:extLst>
          </p:cNvPr>
          <p:cNvSpPr/>
          <p:nvPr/>
        </p:nvSpPr>
        <p:spPr>
          <a:xfrm>
            <a:off x="8539842" y="3199861"/>
            <a:ext cx="367393" cy="367393"/>
          </a:xfrm>
          <a:prstGeom prst="rect">
            <a:avLst/>
          </a:prstGeom>
          <a:solidFill>
            <a:schemeClr val="accent2"/>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sp>
        <p:nvSpPr>
          <p:cNvPr id="43" name="TextBox 42">
            <a:extLst>
              <a:ext uri="{FF2B5EF4-FFF2-40B4-BE49-F238E27FC236}">
                <a16:creationId xmlns:a16="http://schemas.microsoft.com/office/drawing/2014/main" id="{4B098F2C-A374-464C-987A-D3D10465139B}"/>
              </a:ext>
            </a:extLst>
          </p:cNvPr>
          <p:cNvSpPr txBox="1"/>
          <p:nvPr/>
        </p:nvSpPr>
        <p:spPr>
          <a:xfrm>
            <a:off x="7926358" y="3211140"/>
            <a:ext cx="356188" cy="369332"/>
          </a:xfrm>
          <a:prstGeom prst="rect">
            <a:avLst/>
          </a:prstGeom>
          <a:noFill/>
        </p:spPr>
        <p:txBody>
          <a:bodyPr wrap="none" rtlCol="0">
            <a:spAutoFit/>
          </a:bodyPr>
          <a:lstStyle/>
          <a:p>
            <a:r>
              <a:rPr lang="en-US" dirty="0">
                <a:latin typeface="Arial Rounded MT Bold" panose="020F0704030504030204" pitchFamily="34" charset="0"/>
              </a:rPr>
              <a:t>D</a:t>
            </a:r>
          </a:p>
        </p:txBody>
      </p:sp>
      <p:sp>
        <p:nvSpPr>
          <p:cNvPr id="44" name="TextBox 43">
            <a:extLst>
              <a:ext uri="{FF2B5EF4-FFF2-40B4-BE49-F238E27FC236}">
                <a16:creationId xmlns:a16="http://schemas.microsoft.com/office/drawing/2014/main" id="{1463BFD8-62CA-42C1-9CE1-E669835E9890}"/>
              </a:ext>
            </a:extLst>
          </p:cNvPr>
          <p:cNvSpPr txBox="1"/>
          <p:nvPr/>
        </p:nvSpPr>
        <p:spPr>
          <a:xfrm>
            <a:off x="8539842" y="3219917"/>
            <a:ext cx="338554" cy="369332"/>
          </a:xfrm>
          <a:prstGeom prst="rect">
            <a:avLst/>
          </a:prstGeom>
          <a:noFill/>
        </p:spPr>
        <p:txBody>
          <a:bodyPr wrap="none" rtlCol="0">
            <a:spAutoFit/>
          </a:bodyPr>
          <a:lstStyle/>
          <a:p>
            <a:r>
              <a:rPr lang="en-US" dirty="0">
                <a:latin typeface="Arial Rounded MT Bold" panose="020F0704030504030204" pitchFamily="34" charset="0"/>
              </a:rPr>
              <a:t>E</a:t>
            </a:r>
          </a:p>
        </p:txBody>
      </p:sp>
      <p:sp>
        <p:nvSpPr>
          <p:cNvPr id="50" name="Rectangle 49">
            <a:extLst>
              <a:ext uri="{FF2B5EF4-FFF2-40B4-BE49-F238E27FC236}">
                <a16:creationId xmlns:a16="http://schemas.microsoft.com/office/drawing/2014/main" id="{95207546-B0FD-4725-97C6-67FBE13ED1A9}"/>
              </a:ext>
            </a:extLst>
          </p:cNvPr>
          <p:cNvSpPr/>
          <p:nvPr/>
        </p:nvSpPr>
        <p:spPr>
          <a:xfrm>
            <a:off x="7933049" y="3802004"/>
            <a:ext cx="367393" cy="367393"/>
          </a:xfrm>
          <a:prstGeom prst="rect">
            <a:avLst/>
          </a:prstGeom>
          <a:solidFill>
            <a:schemeClr val="accent2"/>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cxnSp>
        <p:nvCxnSpPr>
          <p:cNvPr id="51" name="Straight Arrow Connector 50">
            <a:extLst>
              <a:ext uri="{FF2B5EF4-FFF2-40B4-BE49-F238E27FC236}">
                <a16:creationId xmlns:a16="http://schemas.microsoft.com/office/drawing/2014/main" id="{7F4DE9C4-186F-4086-8333-D712D65E9EE5}"/>
              </a:ext>
            </a:extLst>
          </p:cNvPr>
          <p:cNvCxnSpPr/>
          <p:nvPr/>
        </p:nvCxnSpPr>
        <p:spPr>
          <a:xfrm>
            <a:off x="8318243" y="3997948"/>
            <a:ext cx="22860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2504F987-C76B-42FE-9476-236FC275F444}"/>
              </a:ext>
            </a:extLst>
          </p:cNvPr>
          <p:cNvSpPr/>
          <p:nvPr/>
        </p:nvSpPr>
        <p:spPr>
          <a:xfrm>
            <a:off x="8564644" y="3802003"/>
            <a:ext cx="367393" cy="367393"/>
          </a:xfrm>
          <a:prstGeom prst="rect">
            <a:avLst/>
          </a:prstGeom>
          <a:solidFill>
            <a:schemeClr val="accent2"/>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sp>
        <p:nvSpPr>
          <p:cNvPr id="53" name="TextBox 52">
            <a:extLst>
              <a:ext uri="{FF2B5EF4-FFF2-40B4-BE49-F238E27FC236}">
                <a16:creationId xmlns:a16="http://schemas.microsoft.com/office/drawing/2014/main" id="{027EAC5E-EA15-4514-9FF2-2C7A19661CC7}"/>
              </a:ext>
            </a:extLst>
          </p:cNvPr>
          <p:cNvSpPr txBox="1"/>
          <p:nvPr/>
        </p:nvSpPr>
        <p:spPr>
          <a:xfrm>
            <a:off x="7951160" y="3813282"/>
            <a:ext cx="338554" cy="369332"/>
          </a:xfrm>
          <a:prstGeom prst="rect">
            <a:avLst/>
          </a:prstGeom>
          <a:noFill/>
        </p:spPr>
        <p:txBody>
          <a:bodyPr wrap="none" rtlCol="0">
            <a:spAutoFit/>
          </a:bodyPr>
          <a:lstStyle/>
          <a:p>
            <a:r>
              <a:rPr lang="en-US" dirty="0">
                <a:latin typeface="Arial Rounded MT Bold" panose="020F0704030504030204" pitchFamily="34" charset="0"/>
              </a:rPr>
              <a:t>E</a:t>
            </a:r>
          </a:p>
        </p:txBody>
      </p:sp>
      <p:sp>
        <p:nvSpPr>
          <p:cNvPr id="54" name="TextBox 53">
            <a:extLst>
              <a:ext uri="{FF2B5EF4-FFF2-40B4-BE49-F238E27FC236}">
                <a16:creationId xmlns:a16="http://schemas.microsoft.com/office/drawing/2014/main" id="{FEDB367E-239F-4276-91AD-2275ECDED50B}"/>
              </a:ext>
            </a:extLst>
          </p:cNvPr>
          <p:cNvSpPr txBox="1"/>
          <p:nvPr/>
        </p:nvSpPr>
        <p:spPr>
          <a:xfrm>
            <a:off x="8564644" y="3822059"/>
            <a:ext cx="324128" cy="369332"/>
          </a:xfrm>
          <a:prstGeom prst="rect">
            <a:avLst/>
          </a:prstGeom>
          <a:noFill/>
        </p:spPr>
        <p:txBody>
          <a:bodyPr wrap="none" rtlCol="0">
            <a:spAutoFit/>
          </a:bodyPr>
          <a:lstStyle/>
          <a:p>
            <a:r>
              <a:rPr lang="en-US" dirty="0">
                <a:latin typeface="Arial Rounded MT Bold" panose="020F0704030504030204" pitchFamily="34" charset="0"/>
              </a:rPr>
              <a:t>F</a:t>
            </a:r>
          </a:p>
        </p:txBody>
      </p:sp>
      <p:cxnSp>
        <p:nvCxnSpPr>
          <p:cNvPr id="56" name="Straight Arrow Connector 55">
            <a:extLst>
              <a:ext uri="{FF2B5EF4-FFF2-40B4-BE49-F238E27FC236}">
                <a16:creationId xmlns:a16="http://schemas.microsoft.com/office/drawing/2014/main" id="{1AA80AED-A6F2-40DD-BBD1-2533FFFF1427}"/>
              </a:ext>
            </a:extLst>
          </p:cNvPr>
          <p:cNvCxnSpPr/>
          <p:nvPr/>
        </p:nvCxnSpPr>
        <p:spPr>
          <a:xfrm>
            <a:off x="8950879" y="3998253"/>
            <a:ext cx="22860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33B4A852-BCC2-46EE-A275-F59F3B565BCB}"/>
              </a:ext>
            </a:extLst>
          </p:cNvPr>
          <p:cNvSpPr/>
          <p:nvPr/>
        </p:nvSpPr>
        <p:spPr>
          <a:xfrm>
            <a:off x="9197280" y="3802308"/>
            <a:ext cx="367393" cy="367393"/>
          </a:xfrm>
          <a:prstGeom prst="rect">
            <a:avLst/>
          </a:prstGeom>
          <a:solidFill>
            <a:schemeClr val="accent2"/>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sp>
        <p:nvSpPr>
          <p:cNvPr id="59" name="TextBox 58">
            <a:extLst>
              <a:ext uri="{FF2B5EF4-FFF2-40B4-BE49-F238E27FC236}">
                <a16:creationId xmlns:a16="http://schemas.microsoft.com/office/drawing/2014/main" id="{6DBF5B78-30D1-4FF8-82AB-46D42420872B}"/>
              </a:ext>
            </a:extLst>
          </p:cNvPr>
          <p:cNvSpPr txBox="1"/>
          <p:nvPr/>
        </p:nvSpPr>
        <p:spPr>
          <a:xfrm>
            <a:off x="9197280" y="3822364"/>
            <a:ext cx="367408" cy="369332"/>
          </a:xfrm>
          <a:prstGeom prst="rect">
            <a:avLst/>
          </a:prstGeom>
          <a:noFill/>
        </p:spPr>
        <p:txBody>
          <a:bodyPr wrap="none" rtlCol="0">
            <a:spAutoFit/>
          </a:bodyPr>
          <a:lstStyle/>
          <a:p>
            <a:r>
              <a:rPr lang="en-US" dirty="0">
                <a:latin typeface="Arial Rounded MT Bold" panose="020F0704030504030204" pitchFamily="34" charset="0"/>
              </a:rPr>
              <a:t>G</a:t>
            </a:r>
          </a:p>
        </p:txBody>
      </p:sp>
      <p:sp>
        <p:nvSpPr>
          <p:cNvPr id="60" name="Rectangle 59">
            <a:extLst>
              <a:ext uri="{FF2B5EF4-FFF2-40B4-BE49-F238E27FC236}">
                <a16:creationId xmlns:a16="http://schemas.microsoft.com/office/drawing/2014/main" id="{E14A2918-1626-483D-AAB8-66388BB65B0D}"/>
              </a:ext>
            </a:extLst>
          </p:cNvPr>
          <p:cNvSpPr/>
          <p:nvPr/>
        </p:nvSpPr>
        <p:spPr>
          <a:xfrm>
            <a:off x="7935254" y="4339653"/>
            <a:ext cx="367393" cy="367393"/>
          </a:xfrm>
          <a:prstGeom prst="rect">
            <a:avLst/>
          </a:prstGeom>
          <a:solidFill>
            <a:schemeClr val="accent2"/>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sp>
        <p:nvSpPr>
          <p:cNvPr id="62" name="Rectangle 61">
            <a:extLst>
              <a:ext uri="{FF2B5EF4-FFF2-40B4-BE49-F238E27FC236}">
                <a16:creationId xmlns:a16="http://schemas.microsoft.com/office/drawing/2014/main" id="{E919BB5C-6025-4FDB-BAE2-5348047C71B3}"/>
              </a:ext>
            </a:extLst>
          </p:cNvPr>
          <p:cNvSpPr/>
          <p:nvPr/>
        </p:nvSpPr>
        <p:spPr>
          <a:xfrm>
            <a:off x="7937277" y="4922364"/>
            <a:ext cx="367393" cy="367393"/>
          </a:xfrm>
          <a:prstGeom prst="rect">
            <a:avLst/>
          </a:prstGeom>
          <a:solidFill>
            <a:schemeClr val="accent2"/>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sp>
        <p:nvSpPr>
          <p:cNvPr id="63" name="TextBox 62">
            <a:extLst>
              <a:ext uri="{FF2B5EF4-FFF2-40B4-BE49-F238E27FC236}">
                <a16:creationId xmlns:a16="http://schemas.microsoft.com/office/drawing/2014/main" id="{8A687E34-CE2C-4213-AA2D-65C09547E45A}"/>
              </a:ext>
            </a:extLst>
          </p:cNvPr>
          <p:cNvSpPr txBox="1"/>
          <p:nvPr/>
        </p:nvSpPr>
        <p:spPr>
          <a:xfrm>
            <a:off x="7953365" y="4350931"/>
            <a:ext cx="338554" cy="369332"/>
          </a:xfrm>
          <a:prstGeom prst="rect">
            <a:avLst/>
          </a:prstGeom>
          <a:noFill/>
        </p:spPr>
        <p:txBody>
          <a:bodyPr wrap="none" rtlCol="0">
            <a:spAutoFit/>
          </a:bodyPr>
          <a:lstStyle/>
          <a:p>
            <a:r>
              <a:rPr lang="en-US" dirty="0">
                <a:latin typeface="Arial Rounded MT Bold" panose="020F0704030504030204" pitchFamily="34" charset="0"/>
              </a:rPr>
              <a:t>E</a:t>
            </a:r>
          </a:p>
        </p:txBody>
      </p:sp>
      <p:sp>
        <p:nvSpPr>
          <p:cNvPr id="64" name="TextBox 63">
            <a:extLst>
              <a:ext uri="{FF2B5EF4-FFF2-40B4-BE49-F238E27FC236}">
                <a16:creationId xmlns:a16="http://schemas.microsoft.com/office/drawing/2014/main" id="{04B29DF3-2EDD-41CF-AEDD-82223779BBFF}"/>
              </a:ext>
            </a:extLst>
          </p:cNvPr>
          <p:cNvSpPr txBox="1"/>
          <p:nvPr/>
        </p:nvSpPr>
        <p:spPr>
          <a:xfrm>
            <a:off x="7937277" y="4926089"/>
            <a:ext cx="351378" cy="369332"/>
          </a:xfrm>
          <a:prstGeom prst="rect">
            <a:avLst/>
          </a:prstGeom>
          <a:noFill/>
        </p:spPr>
        <p:txBody>
          <a:bodyPr wrap="none" rtlCol="0">
            <a:spAutoFit/>
          </a:bodyPr>
          <a:lstStyle/>
          <a:p>
            <a:r>
              <a:rPr lang="en-US" dirty="0">
                <a:latin typeface="Arial Rounded MT Bold" panose="020F0704030504030204" pitchFamily="34" charset="0"/>
              </a:rPr>
              <a:t>A</a:t>
            </a:r>
          </a:p>
        </p:txBody>
      </p:sp>
      <p:sp>
        <p:nvSpPr>
          <p:cNvPr id="65" name="Rectangle 64">
            <a:extLst>
              <a:ext uri="{FF2B5EF4-FFF2-40B4-BE49-F238E27FC236}">
                <a16:creationId xmlns:a16="http://schemas.microsoft.com/office/drawing/2014/main" id="{F0629C4B-66B5-4376-AD88-419B494515D0}"/>
              </a:ext>
            </a:extLst>
          </p:cNvPr>
          <p:cNvSpPr/>
          <p:nvPr/>
        </p:nvSpPr>
        <p:spPr>
          <a:xfrm>
            <a:off x="7970395" y="5599827"/>
            <a:ext cx="367393" cy="367393"/>
          </a:xfrm>
          <a:prstGeom prst="rect">
            <a:avLst/>
          </a:prstGeom>
          <a:solidFill>
            <a:schemeClr val="tx1">
              <a:lumMod val="75000"/>
              <a:lumOff val="25000"/>
            </a:schemeClr>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sp>
        <p:nvSpPr>
          <p:cNvPr id="67" name="Rectangle 66">
            <a:extLst>
              <a:ext uri="{FF2B5EF4-FFF2-40B4-BE49-F238E27FC236}">
                <a16:creationId xmlns:a16="http://schemas.microsoft.com/office/drawing/2014/main" id="{CE7306E7-474E-403B-85B0-F37B6F2D504E}"/>
              </a:ext>
            </a:extLst>
          </p:cNvPr>
          <p:cNvSpPr/>
          <p:nvPr/>
        </p:nvSpPr>
        <p:spPr>
          <a:xfrm>
            <a:off x="7970396" y="6183771"/>
            <a:ext cx="367393" cy="367393"/>
          </a:xfrm>
          <a:prstGeom prst="rect">
            <a:avLst/>
          </a:prstGeom>
          <a:solidFill>
            <a:schemeClr val="accent2"/>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sp>
        <p:nvSpPr>
          <p:cNvPr id="69" name="TextBox 68">
            <a:extLst>
              <a:ext uri="{FF2B5EF4-FFF2-40B4-BE49-F238E27FC236}">
                <a16:creationId xmlns:a16="http://schemas.microsoft.com/office/drawing/2014/main" id="{B6340284-08F2-4EAF-BF56-B7D4702F5DEC}"/>
              </a:ext>
            </a:extLst>
          </p:cNvPr>
          <p:cNvSpPr txBox="1"/>
          <p:nvPr/>
        </p:nvSpPr>
        <p:spPr>
          <a:xfrm>
            <a:off x="8003051" y="6187495"/>
            <a:ext cx="357175" cy="369332"/>
          </a:xfrm>
          <a:prstGeom prst="rect">
            <a:avLst/>
          </a:prstGeom>
          <a:noFill/>
        </p:spPr>
        <p:txBody>
          <a:bodyPr wrap="square" rtlCol="0">
            <a:spAutoFit/>
          </a:bodyPr>
          <a:lstStyle/>
          <a:p>
            <a:r>
              <a:rPr lang="en-US" dirty="0">
                <a:latin typeface="Arial Rounded MT Bold" panose="020F0704030504030204" pitchFamily="34" charset="0"/>
              </a:rPr>
              <a:t>F</a:t>
            </a:r>
          </a:p>
        </p:txBody>
      </p:sp>
    </p:spTree>
    <p:custDataLst>
      <p:tags r:id="rId1"/>
    </p:custDataLst>
    <p:extLst>
      <p:ext uri="{BB962C8B-B14F-4D97-AF65-F5344CB8AC3E}">
        <p14:creationId xmlns:p14="http://schemas.microsoft.com/office/powerpoint/2010/main" val="39152150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Graph</a:t>
            </a:r>
            <a:r>
              <a:rPr lang="en-US"/>
              <a:t>: Traversal</a:t>
            </a:r>
            <a:endParaRPr lang="en-US" dirty="0"/>
          </a:p>
        </p:txBody>
      </p:sp>
      <p:sp>
        <p:nvSpPr>
          <p:cNvPr id="13" name="Slide Number Placeholder 12">
            <a:extLst>
              <a:ext uri="{FF2B5EF4-FFF2-40B4-BE49-F238E27FC236}">
                <a16:creationId xmlns:a16="http://schemas.microsoft.com/office/drawing/2014/main" id="{CF37D7A3-2CA3-41EA-A131-9AABC3BE4FF5}"/>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12/110</a:t>
            </a:r>
          </a:p>
        </p:txBody>
      </p:sp>
      <p:cxnSp>
        <p:nvCxnSpPr>
          <p:cNvPr id="3" name="Straight Connector 2"/>
          <p:cNvCxnSpPr>
            <a:stCxn id="12" idx="1"/>
          </p:cNvCxnSpPr>
          <p:nvPr/>
        </p:nvCxnSpPr>
        <p:spPr>
          <a:xfrm flipH="1" flipV="1">
            <a:off x="1097669" y="3734594"/>
            <a:ext cx="2198288" cy="93317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 name="Straight Connector 3"/>
          <p:cNvCxnSpPr>
            <a:stCxn id="7" idx="5"/>
          </p:cNvCxnSpPr>
          <p:nvPr/>
        </p:nvCxnSpPr>
        <p:spPr>
          <a:xfrm>
            <a:off x="2328832" y="3462270"/>
            <a:ext cx="1158049" cy="13377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flipV="1">
            <a:off x="2174848" y="3377774"/>
            <a:ext cx="1856048" cy="24517"/>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1948920" y="3481714"/>
            <a:ext cx="175670" cy="1109474"/>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 name="Oval 16"/>
          <p:cNvSpPr>
            <a:spLocks noChangeArrowheads="1"/>
          </p:cNvSpPr>
          <p:nvPr/>
        </p:nvSpPr>
        <p:spPr bwMode="auto">
          <a:xfrm>
            <a:off x="1957083" y="309052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8" name="Straight Connector 7"/>
          <p:cNvCxnSpPr/>
          <p:nvPr/>
        </p:nvCxnSpPr>
        <p:spPr>
          <a:xfrm flipH="1">
            <a:off x="2120774" y="4800035"/>
            <a:ext cx="1119177" cy="684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a:endCxn id="25" idx="1"/>
          </p:cNvCxnSpPr>
          <p:nvPr/>
        </p:nvCxnSpPr>
        <p:spPr>
          <a:xfrm>
            <a:off x="1167927" y="3936170"/>
            <a:ext cx="563889" cy="8638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686531" y="458227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1" name="Oval 16"/>
          <p:cNvSpPr>
            <a:spLocks noChangeArrowheads="1"/>
          </p:cNvSpPr>
          <p:nvPr/>
        </p:nvSpPr>
        <p:spPr bwMode="auto">
          <a:xfrm>
            <a:off x="796178" y="3610102"/>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2" name="Oval 16"/>
          <p:cNvSpPr>
            <a:spLocks noChangeArrowheads="1"/>
          </p:cNvSpPr>
          <p:nvPr/>
        </p:nvSpPr>
        <p:spPr bwMode="auto">
          <a:xfrm>
            <a:off x="3232175" y="460398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5" name="Straight Connector 14"/>
          <p:cNvCxnSpPr>
            <a:stCxn id="12" idx="7"/>
          </p:cNvCxnSpPr>
          <p:nvPr/>
        </p:nvCxnSpPr>
        <p:spPr>
          <a:xfrm flipV="1">
            <a:off x="3603924" y="3429291"/>
            <a:ext cx="650011" cy="123847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20" idx="6"/>
          </p:cNvCxnSpPr>
          <p:nvPr/>
        </p:nvCxnSpPr>
        <p:spPr>
          <a:xfrm flipV="1">
            <a:off x="4464552" y="3565009"/>
            <a:ext cx="1367969" cy="125700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flipV="1">
            <a:off x="4408532" y="3371173"/>
            <a:ext cx="1353035" cy="6601"/>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4246786" y="3646429"/>
            <a:ext cx="45505" cy="95755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4029021" y="319567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0" name="Oval 16"/>
          <p:cNvSpPr>
            <a:spLocks noChangeArrowheads="1"/>
          </p:cNvSpPr>
          <p:nvPr/>
        </p:nvSpPr>
        <p:spPr bwMode="auto">
          <a:xfrm>
            <a:off x="4029021" y="46042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1" name="Oval 16"/>
          <p:cNvSpPr>
            <a:spLocks noChangeArrowheads="1"/>
          </p:cNvSpPr>
          <p:nvPr/>
        </p:nvSpPr>
        <p:spPr bwMode="auto">
          <a:xfrm>
            <a:off x="5747996" y="318047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4" name="TextBox 23"/>
          <p:cNvSpPr txBox="1"/>
          <p:nvPr/>
        </p:nvSpPr>
        <p:spPr>
          <a:xfrm>
            <a:off x="2006372" y="3112381"/>
            <a:ext cx="35137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A</a:t>
            </a:r>
          </a:p>
        </p:txBody>
      </p:sp>
      <p:sp>
        <p:nvSpPr>
          <p:cNvPr id="25" name="TextBox 24"/>
          <p:cNvSpPr txBox="1"/>
          <p:nvPr/>
        </p:nvSpPr>
        <p:spPr>
          <a:xfrm>
            <a:off x="1731816" y="4615369"/>
            <a:ext cx="35137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B</a:t>
            </a:r>
          </a:p>
        </p:txBody>
      </p:sp>
      <p:sp>
        <p:nvSpPr>
          <p:cNvPr id="26" name="TextBox 25"/>
          <p:cNvSpPr txBox="1"/>
          <p:nvPr/>
        </p:nvSpPr>
        <p:spPr>
          <a:xfrm>
            <a:off x="4096606" y="3217625"/>
            <a:ext cx="35618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C</a:t>
            </a:r>
          </a:p>
        </p:txBody>
      </p:sp>
      <p:sp>
        <p:nvSpPr>
          <p:cNvPr id="27" name="Rectangle 26"/>
          <p:cNvSpPr/>
          <p:nvPr/>
        </p:nvSpPr>
        <p:spPr>
          <a:xfrm>
            <a:off x="844245" y="3647774"/>
            <a:ext cx="356188" cy="369332"/>
          </a:xfrm>
          <a:prstGeom prst="rect">
            <a:avLst/>
          </a:prstGeom>
        </p:spPr>
        <p:txBody>
          <a:bodyPr wrap="none">
            <a:spAutoFit/>
          </a:bodyPr>
          <a:lstStyle/>
          <a:p>
            <a:r>
              <a:rPr lang="en-US" b="1" dirty="0">
                <a:solidFill>
                  <a:prstClr val="black"/>
                </a:solidFill>
                <a:latin typeface="Arial Rounded MT Bold" panose="020F0704030504030204" pitchFamily="34" charset="0"/>
              </a:rPr>
              <a:t>D</a:t>
            </a:r>
          </a:p>
        </p:txBody>
      </p:sp>
      <p:sp>
        <p:nvSpPr>
          <p:cNvPr id="28" name="Rectangle 27"/>
          <p:cNvSpPr/>
          <p:nvPr/>
        </p:nvSpPr>
        <p:spPr>
          <a:xfrm>
            <a:off x="4076007" y="4647465"/>
            <a:ext cx="324128" cy="369332"/>
          </a:xfrm>
          <a:prstGeom prst="rect">
            <a:avLst/>
          </a:prstGeom>
        </p:spPr>
        <p:txBody>
          <a:bodyPr wrap="none">
            <a:spAutoFit/>
          </a:bodyPr>
          <a:lstStyle/>
          <a:p>
            <a:r>
              <a:rPr lang="en-US" b="1" dirty="0">
                <a:solidFill>
                  <a:prstClr val="black"/>
                </a:solidFill>
                <a:latin typeface="Arial Rounded MT Bold" panose="020F0704030504030204" pitchFamily="34" charset="0"/>
              </a:rPr>
              <a:t>F</a:t>
            </a:r>
          </a:p>
        </p:txBody>
      </p:sp>
      <p:sp>
        <p:nvSpPr>
          <p:cNvPr id="29" name="Rectangle 28"/>
          <p:cNvSpPr/>
          <p:nvPr/>
        </p:nvSpPr>
        <p:spPr>
          <a:xfrm>
            <a:off x="5798967" y="3195677"/>
            <a:ext cx="367408" cy="369332"/>
          </a:xfrm>
          <a:prstGeom prst="rect">
            <a:avLst/>
          </a:prstGeom>
        </p:spPr>
        <p:txBody>
          <a:bodyPr wrap="none">
            <a:spAutoFit/>
          </a:bodyPr>
          <a:lstStyle/>
          <a:p>
            <a:r>
              <a:rPr lang="en-US" b="1" dirty="0">
                <a:solidFill>
                  <a:prstClr val="black"/>
                </a:solidFill>
                <a:latin typeface="Arial Rounded MT Bold" panose="020F0704030504030204" pitchFamily="34" charset="0"/>
              </a:rPr>
              <a:t>G</a:t>
            </a:r>
          </a:p>
        </p:txBody>
      </p:sp>
      <p:sp>
        <p:nvSpPr>
          <p:cNvPr id="34" name="Rectangle 33"/>
          <p:cNvSpPr/>
          <p:nvPr/>
        </p:nvSpPr>
        <p:spPr>
          <a:xfrm>
            <a:off x="3291957" y="4628920"/>
            <a:ext cx="338554" cy="369332"/>
          </a:xfrm>
          <a:prstGeom prst="rect">
            <a:avLst/>
          </a:prstGeom>
        </p:spPr>
        <p:txBody>
          <a:bodyPr wrap="none">
            <a:spAutoFit/>
          </a:bodyPr>
          <a:lstStyle/>
          <a:p>
            <a:r>
              <a:rPr lang="en-US" b="1" dirty="0">
                <a:solidFill>
                  <a:prstClr val="black"/>
                </a:solidFill>
                <a:latin typeface="Arial Rounded MT Bold" panose="020F0704030504030204" pitchFamily="34" charset="0"/>
              </a:rPr>
              <a:t>E</a:t>
            </a:r>
          </a:p>
        </p:txBody>
      </p:sp>
      <p:sp>
        <p:nvSpPr>
          <p:cNvPr id="35" name="Rectangle 34"/>
          <p:cNvSpPr/>
          <p:nvPr/>
        </p:nvSpPr>
        <p:spPr>
          <a:xfrm>
            <a:off x="3068086" y="5950803"/>
            <a:ext cx="629981"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latin typeface="Arial Rounded MT Bold" panose="020F0704030504030204" pitchFamily="34" charset="0"/>
              </a:rPr>
              <a:t>G</a:t>
            </a:r>
          </a:p>
        </p:txBody>
      </p:sp>
      <p:graphicFrame>
        <p:nvGraphicFramePr>
          <p:cNvPr id="40" name="Table 39"/>
          <p:cNvGraphicFramePr>
            <a:graphicFrameLocks noGrp="1"/>
          </p:cNvGraphicFramePr>
          <p:nvPr>
            <p:extLst>
              <p:ext uri="{D42A27DB-BD31-4B8C-83A1-F6EECF244321}">
                <p14:modId xmlns:p14="http://schemas.microsoft.com/office/powerpoint/2010/main" val="3631653939"/>
              </p:ext>
            </p:extLst>
          </p:nvPr>
        </p:nvGraphicFramePr>
        <p:xfrm>
          <a:off x="7771305" y="2531586"/>
          <a:ext cx="2989223" cy="2966720"/>
        </p:xfrm>
        <a:graphic>
          <a:graphicData uri="http://schemas.openxmlformats.org/drawingml/2006/table">
            <a:tbl>
              <a:tblPr firstRow="1" bandRow="1">
                <a:tableStyleId>{5C22544A-7EE6-4342-B048-85BDC9FD1C3A}</a:tableStyleId>
              </a:tblPr>
              <a:tblGrid>
                <a:gridCol w="1071354">
                  <a:extLst>
                    <a:ext uri="{9D8B030D-6E8A-4147-A177-3AD203B41FA5}">
                      <a16:colId xmlns:a16="http://schemas.microsoft.com/office/drawing/2014/main" val="2989644895"/>
                    </a:ext>
                  </a:extLst>
                </a:gridCol>
                <a:gridCol w="1917869">
                  <a:extLst>
                    <a:ext uri="{9D8B030D-6E8A-4147-A177-3AD203B41FA5}">
                      <a16:colId xmlns:a16="http://schemas.microsoft.com/office/drawing/2014/main" val="4244960412"/>
                    </a:ext>
                  </a:extLst>
                </a:gridCol>
              </a:tblGrid>
              <a:tr h="370840">
                <a:tc>
                  <a:txBody>
                    <a:bodyPr/>
                    <a:lstStyle/>
                    <a:p>
                      <a:pPr algn="ctr"/>
                      <a:r>
                        <a:rPr lang="en-US" dirty="0">
                          <a:latin typeface="Arial Rounded MT Bold" panose="020F0704030504030204" pitchFamily="34" charset="0"/>
                        </a:rPr>
                        <a:t>NODE</a:t>
                      </a:r>
                    </a:p>
                  </a:txBody>
                  <a:tcPr/>
                </a:tc>
                <a:tc>
                  <a:txBody>
                    <a:bodyPr/>
                    <a:lstStyle/>
                    <a:p>
                      <a:pPr algn="ctr"/>
                      <a:r>
                        <a:rPr lang="en-US" dirty="0">
                          <a:latin typeface="Arial Rounded MT Bold" panose="020F0704030504030204" pitchFamily="34" charset="0"/>
                        </a:rPr>
                        <a:t>NEIGHBORS</a:t>
                      </a:r>
                    </a:p>
                  </a:txBody>
                  <a:tcPr/>
                </a:tc>
                <a:extLst>
                  <a:ext uri="{0D108BD9-81ED-4DB2-BD59-A6C34878D82A}">
                    <a16:rowId xmlns:a16="http://schemas.microsoft.com/office/drawing/2014/main" val="1978098576"/>
                  </a:ext>
                </a:extLst>
              </a:tr>
              <a:tr h="370840">
                <a:tc>
                  <a:txBody>
                    <a:bodyPr/>
                    <a:lstStyle/>
                    <a:p>
                      <a:pPr algn="ctr"/>
                      <a:r>
                        <a:rPr lang="en-US" b="1" dirty="0">
                          <a:latin typeface="Arial Rounded MT Bold" panose="020F0704030504030204" pitchFamily="34" charset="0"/>
                        </a:rPr>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latin typeface="Arial Rounded MT Bold" panose="020F0704030504030204" pitchFamily="34" charset="0"/>
                        </a:rPr>
                        <a:t>B,C</a:t>
                      </a:r>
                      <a:endParaRPr lang="en-US" b="1" dirty="0">
                        <a:latin typeface="Arial Rounded MT Bold" panose="020F0704030504030204" pitchFamily="34" charset="0"/>
                      </a:endParaRPr>
                    </a:p>
                  </a:txBody>
                  <a:tcPr/>
                </a:tc>
                <a:extLst>
                  <a:ext uri="{0D108BD9-81ED-4DB2-BD59-A6C34878D82A}">
                    <a16:rowId xmlns:a16="http://schemas.microsoft.com/office/drawing/2014/main" val="3592035499"/>
                  </a:ext>
                </a:extLst>
              </a:tr>
              <a:tr h="370840">
                <a:tc>
                  <a:txBody>
                    <a:bodyPr/>
                    <a:lstStyle/>
                    <a:p>
                      <a:pPr algn="ctr"/>
                      <a:r>
                        <a:rPr lang="en-US" b="1" dirty="0">
                          <a:latin typeface="Arial Rounded MT Bold" panose="020F0704030504030204" pitchFamily="34" charset="0"/>
                        </a:rPr>
                        <a:t>B</a:t>
                      </a:r>
                    </a:p>
                  </a:txBody>
                  <a:tcPr/>
                </a:tc>
                <a:tc>
                  <a:txBody>
                    <a:bodyPr/>
                    <a:lstStyle/>
                    <a:p>
                      <a:pPr algn="ctr"/>
                      <a:r>
                        <a:rPr lang="en-US" sz="1800" b="1" dirty="0">
                          <a:latin typeface="Arial Rounded MT Bold" panose="020F0704030504030204" pitchFamily="34" charset="0"/>
                        </a:rPr>
                        <a:t>D,E</a:t>
                      </a:r>
                      <a:endParaRPr lang="en-US" b="1" dirty="0">
                        <a:latin typeface="Arial Rounded MT Bold" panose="020F0704030504030204" pitchFamily="34" charset="0"/>
                      </a:endParaRPr>
                    </a:p>
                  </a:txBody>
                  <a:tcPr/>
                </a:tc>
                <a:extLst>
                  <a:ext uri="{0D108BD9-81ED-4DB2-BD59-A6C34878D82A}">
                    <a16:rowId xmlns:a16="http://schemas.microsoft.com/office/drawing/2014/main" val="1939942222"/>
                  </a:ext>
                </a:extLst>
              </a:tr>
              <a:tr h="370840">
                <a:tc>
                  <a:txBody>
                    <a:bodyPr/>
                    <a:lstStyle/>
                    <a:p>
                      <a:pPr algn="ctr"/>
                      <a:r>
                        <a:rPr lang="en-US" b="1" dirty="0">
                          <a:latin typeface="Arial Rounded MT Bold" panose="020F0704030504030204" pitchFamily="34" charset="0"/>
                        </a:rPr>
                        <a:t>C</a:t>
                      </a:r>
                    </a:p>
                  </a:txBody>
                  <a:tcPr/>
                </a:tc>
                <a:tc>
                  <a:txBody>
                    <a:bodyPr/>
                    <a:lstStyle/>
                    <a:p>
                      <a:pPr algn="ctr"/>
                      <a:r>
                        <a:rPr lang="en-US" sz="1800" b="1" dirty="0">
                          <a:latin typeface="Arial Rounded MT Bold" panose="020F0704030504030204" pitchFamily="34" charset="0"/>
                        </a:rPr>
                        <a:t>E,F,G</a:t>
                      </a:r>
                      <a:endParaRPr lang="en-US" b="1" dirty="0">
                        <a:latin typeface="Arial Rounded MT Bold" panose="020F0704030504030204" pitchFamily="34" charset="0"/>
                      </a:endParaRPr>
                    </a:p>
                  </a:txBody>
                  <a:tcPr/>
                </a:tc>
                <a:extLst>
                  <a:ext uri="{0D108BD9-81ED-4DB2-BD59-A6C34878D82A}">
                    <a16:rowId xmlns:a16="http://schemas.microsoft.com/office/drawing/2014/main" val="371904882"/>
                  </a:ext>
                </a:extLst>
              </a:tr>
              <a:tr h="370840">
                <a:tc>
                  <a:txBody>
                    <a:bodyPr/>
                    <a:lstStyle/>
                    <a:p>
                      <a:pPr algn="ctr"/>
                      <a:r>
                        <a:rPr lang="en-US" b="1" dirty="0">
                          <a:latin typeface="Arial Rounded MT Bold" panose="020F0704030504030204" pitchFamily="34" charset="0"/>
                        </a:rPr>
                        <a:t>D</a:t>
                      </a:r>
                    </a:p>
                  </a:txBody>
                  <a:tcPr/>
                </a:tc>
                <a:tc>
                  <a:txBody>
                    <a:bodyPr/>
                    <a:lstStyle/>
                    <a:p>
                      <a:pPr algn="ctr"/>
                      <a:r>
                        <a:rPr lang="en-US" b="1" dirty="0">
                          <a:latin typeface="Arial Rounded MT Bold" panose="020F0704030504030204" pitchFamily="34" charset="0"/>
                        </a:rPr>
                        <a:t>E</a:t>
                      </a:r>
                    </a:p>
                  </a:txBody>
                  <a:tcPr/>
                </a:tc>
                <a:extLst>
                  <a:ext uri="{0D108BD9-81ED-4DB2-BD59-A6C34878D82A}">
                    <a16:rowId xmlns:a16="http://schemas.microsoft.com/office/drawing/2014/main" val="1084115065"/>
                  </a:ext>
                </a:extLst>
              </a:tr>
              <a:tr h="370840">
                <a:tc>
                  <a:txBody>
                    <a:bodyPr/>
                    <a:lstStyle/>
                    <a:p>
                      <a:pPr algn="ctr"/>
                      <a:r>
                        <a:rPr lang="en-US" b="1" dirty="0">
                          <a:latin typeface="Arial Rounded MT Bold" panose="020F0704030504030204" pitchFamily="34" charset="0"/>
                        </a:rPr>
                        <a:t>E</a:t>
                      </a:r>
                    </a:p>
                  </a:txBody>
                  <a:tcPr/>
                </a:tc>
                <a:tc>
                  <a:txBody>
                    <a:bodyPr/>
                    <a:lstStyle/>
                    <a:p>
                      <a:pPr algn="ctr"/>
                      <a:r>
                        <a:rPr lang="en-US" b="1" dirty="0">
                          <a:latin typeface="Arial Rounded MT Bold" panose="020F0704030504030204" pitchFamily="34" charset="0"/>
                        </a:rPr>
                        <a:t>A</a:t>
                      </a:r>
                    </a:p>
                  </a:txBody>
                  <a:tcPr/>
                </a:tc>
                <a:extLst>
                  <a:ext uri="{0D108BD9-81ED-4DB2-BD59-A6C34878D82A}">
                    <a16:rowId xmlns:a16="http://schemas.microsoft.com/office/drawing/2014/main" val="4208500189"/>
                  </a:ext>
                </a:extLst>
              </a:tr>
              <a:tr h="370840">
                <a:tc>
                  <a:txBody>
                    <a:bodyPr/>
                    <a:lstStyle/>
                    <a:p>
                      <a:pPr algn="ctr"/>
                      <a:r>
                        <a:rPr lang="en-US" b="1" dirty="0">
                          <a:latin typeface="Arial Rounded MT Bold" panose="020F0704030504030204" pitchFamily="34" charset="0"/>
                        </a:rPr>
                        <a:t>F</a:t>
                      </a:r>
                    </a:p>
                  </a:txBody>
                  <a:tcPr/>
                </a:tc>
                <a:tc>
                  <a:txBody>
                    <a:bodyPr/>
                    <a:lstStyle/>
                    <a:p>
                      <a:pPr algn="ctr"/>
                      <a:r>
                        <a:rPr lang="en-US" b="1" dirty="0">
                          <a:latin typeface="Arial Rounded MT Bold" panose="020F0704030504030204" pitchFamily="34" charset="0"/>
                        </a:rPr>
                        <a:t>-</a:t>
                      </a:r>
                    </a:p>
                  </a:txBody>
                  <a:tcPr/>
                </a:tc>
                <a:extLst>
                  <a:ext uri="{0D108BD9-81ED-4DB2-BD59-A6C34878D82A}">
                    <a16:rowId xmlns:a16="http://schemas.microsoft.com/office/drawing/2014/main" val="1862253349"/>
                  </a:ext>
                </a:extLst>
              </a:tr>
              <a:tr h="370840">
                <a:tc>
                  <a:txBody>
                    <a:bodyPr/>
                    <a:lstStyle/>
                    <a:p>
                      <a:pPr algn="ctr"/>
                      <a:r>
                        <a:rPr lang="en-US" b="1" dirty="0">
                          <a:latin typeface="Arial Rounded MT Bold" panose="020F0704030504030204" pitchFamily="34" charset="0"/>
                        </a:rPr>
                        <a:t>G</a:t>
                      </a:r>
                    </a:p>
                  </a:txBody>
                  <a:tcPr/>
                </a:tc>
                <a:tc>
                  <a:txBody>
                    <a:bodyPr/>
                    <a:lstStyle/>
                    <a:p>
                      <a:pPr algn="ctr"/>
                      <a:r>
                        <a:rPr lang="en-US" b="1" dirty="0">
                          <a:latin typeface="Arial Rounded MT Bold" panose="020F0704030504030204" pitchFamily="34" charset="0"/>
                        </a:rPr>
                        <a:t>F</a:t>
                      </a:r>
                    </a:p>
                  </a:txBody>
                  <a:tcPr/>
                </a:tc>
                <a:extLst>
                  <a:ext uri="{0D108BD9-81ED-4DB2-BD59-A6C34878D82A}">
                    <a16:rowId xmlns:a16="http://schemas.microsoft.com/office/drawing/2014/main" val="1205733479"/>
                  </a:ext>
                </a:extLst>
              </a:tr>
            </a:tbl>
          </a:graphicData>
        </a:graphic>
      </p:graphicFrame>
    </p:spTree>
    <p:custDataLst>
      <p:tags r:id="rId1"/>
    </p:custDataLst>
    <p:extLst>
      <p:ext uri="{BB962C8B-B14F-4D97-AF65-F5344CB8AC3E}">
        <p14:creationId xmlns:p14="http://schemas.microsoft.com/office/powerpoint/2010/main" val="4780209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Traversing a Graph?</a:t>
            </a:r>
          </a:p>
        </p:txBody>
      </p:sp>
      <p:sp>
        <p:nvSpPr>
          <p:cNvPr id="13" name="Slide Number Placeholder 12">
            <a:extLst>
              <a:ext uri="{FF2B5EF4-FFF2-40B4-BE49-F238E27FC236}">
                <a16:creationId xmlns:a16="http://schemas.microsoft.com/office/drawing/2014/main" id="{0F40313B-E56B-49FB-9381-6A73EEC1C047}"/>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13/110</a:t>
            </a:r>
          </a:p>
        </p:txBody>
      </p:sp>
      <p:cxnSp>
        <p:nvCxnSpPr>
          <p:cNvPr id="3" name="Straight Connector 2"/>
          <p:cNvCxnSpPr>
            <a:stCxn id="12" idx="1"/>
          </p:cNvCxnSpPr>
          <p:nvPr/>
        </p:nvCxnSpPr>
        <p:spPr>
          <a:xfrm flipH="1" flipV="1">
            <a:off x="1097669" y="3734594"/>
            <a:ext cx="2198288" cy="93317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 name="Straight Connector 3"/>
          <p:cNvCxnSpPr>
            <a:stCxn id="7" idx="5"/>
          </p:cNvCxnSpPr>
          <p:nvPr/>
        </p:nvCxnSpPr>
        <p:spPr>
          <a:xfrm>
            <a:off x="2328832" y="3462270"/>
            <a:ext cx="1158049" cy="13377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flipV="1">
            <a:off x="2174848" y="3377774"/>
            <a:ext cx="1856048" cy="24517"/>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1948920" y="3481714"/>
            <a:ext cx="175670" cy="1109474"/>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 name="Oval 16"/>
          <p:cNvSpPr>
            <a:spLocks noChangeArrowheads="1"/>
          </p:cNvSpPr>
          <p:nvPr/>
        </p:nvSpPr>
        <p:spPr bwMode="auto">
          <a:xfrm>
            <a:off x="1957083" y="309052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8" name="Straight Connector 7"/>
          <p:cNvCxnSpPr/>
          <p:nvPr/>
        </p:nvCxnSpPr>
        <p:spPr>
          <a:xfrm flipH="1">
            <a:off x="2120774" y="4800035"/>
            <a:ext cx="1119177" cy="684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a:endCxn id="25" idx="1"/>
          </p:cNvCxnSpPr>
          <p:nvPr/>
        </p:nvCxnSpPr>
        <p:spPr>
          <a:xfrm>
            <a:off x="1167927" y="3936170"/>
            <a:ext cx="563889" cy="8638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686531" y="458227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1" name="Oval 16"/>
          <p:cNvSpPr>
            <a:spLocks noChangeArrowheads="1"/>
          </p:cNvSpPr>
          <p:nvPr/>
        </p:nvSpPr>
        <p:spPr bwMode="auto">
          <a:xfrm>
            <a:off x="796178" y="3610102"/>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2" name="Oval 16"/>
          <p:cNvSpPr>
            <a:spLocks noChangeArrowheads="1"/>
          </p:cNvSpPr>
          <p:nvPr/>
        </p:nvSpPr>
        <p:spPr bwMode="auto">
          <a:xfrm>
            <a:off x="3232175" y="460398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5" name="Straight Connector 14"/>
          <p:cNvCxnSpPr>
            <a:stCxn id="12" idx="7"/>
          </p:cNvCxnSpPr>
          <p:nvPr/>
        </p:nvCxnSpPr>
        <p:spPr>
          <a:xfrm flipV="1">
            <a:off x="3603924" y="3429291"/>
            <a:ext cx="650011" cy="123847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20" idx="6"/>
          </p:cNvCxnSpPr>
          <p:nvPr/>
        </p:nvCxnSpPr>
        <p:spPr>
          <a:xfrm flipV="1">
            <a:off x="4464552" y="3565009"/>
            <a:ext cx="1367969" cy="125700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flipV="1">
            <a:off x="4408532" y="3371173"/>
            <a:ext cx="1353035" cy="6601"/>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4246786" y="3646429"/>
            <a:ext cx="45505" cy="95755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4029021" y="319567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0" name="Oval 16"/>
          <p:cNvSpPr>
            <a:spLocks noChangeArrowheads="1"/>
          </p:cNvSpPr>
          <p:nvPr/>
        </p:nvSpPr>
        <p:spPr bwMode="auto">
          <a:xfrm>
            <a:off x="4029021" y="46042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1" name="Oval 16"/>
          <p:cNvSpPr>
            <a:spLocks noChangeArrowheads="1"/>
          </p:cNvSpPr>
          <p:nvPr/>
        </p:nvSpPr>
        <p:spPr bwMode="auto">
          <a:xfrm>
            <a:off x="5747996" y="318047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4" name="TextBox 23"/>
          <p:cNvSpPr txBox="1"/>
          <p:nvPr/>
        </p:nvSpPr>
        <p:spPr>
          <a:xfrm>
            <a:off x="2006372" y="3112381"/>
            <a:ext cx="35137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A</a:t>
            </a:r>
          </a:p>
        </p:txBody>
      </p:sp>
      <p:sp>
        <p:nvSpPr>
          <p:cNvPr id="25" name="TextBox 24"/>
          <p:cNvSpPr txBox="1"/>
          <p:nvPr/>
        </p:nvSpPr>
        <p:spPr>
          <a:xfrm>
            <a:off x="1731816" y="4615369"/>
            <a:ext cx="35137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B</a:t>
            </a:r>
          </a:p>
        </p:txBody>
      </p:sp>
      <p:sp>
        <p:nvSpPr>
          <p:cNvPr id="26" name="TextBox 25"/>
          <p:cNvSpPr txBox="1"/>
          <p:nvPr/>
        </p:nvSpPr>
        <p:spPr>
          <a:xfrm>
            <a:off x="4096606" y="3217625"/>
            <a:ext cx="35618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C</a:t>
            </a:r>
          </a:p>
        </p:txBody>
      </p:sp>
      <p:sp>
        <p:nvSpPr>
          <p:cNvPr id="27" name="Rectangle 26"/>
          <p:cNvSpPr/>
          <p:nvPr/>
        </p:nvSpPr>
        <p:spPr>
          <a:xfrm>
            <a:off x="844245" y="3647774"/>
            <a:ext cx="356188" cy="369332"/>
          </a:xfrm>
          <a:prstGeom prst="rect">
            <a:avLst/>
          </a:prstGeom>
        </p:spPr>
        <p:txBody>
          <a:bodyPr wrap="none">
            <a:spAutoFit/>
          </a:bodyPr>
          <a:lstStyle/>
          <a:p>
            <a:r>
              <a:rPr lang="en-US" b="1" dirty="0">
                <a:solidFill>
                  <a:prstClr val="black"/>
                </a:solidFill>
                <a:latin typeface="Arial Rounded MT Bold" panose="020F0704030504030204" pitchFamily="34" charset="0"/>
              </a:rPr>
              <a:t>D</a:t>
            </a:r>
          </a:p>
        </p:txBody>
      </p:sp>
      <p:sp>
        <p:nvSpPr>
          <p:cNvPr id="28" name="Rectangle 27"/>
          <p:cNvSpPr/>
          <p:nvPr/>
        </p:nvSpPr>
        <p:spPr>
          <a:xfrm>
            <a:off x="4076007" y="4647465"/>
            <a:ext cx="324128" cy="369332"/>
          </a:xfrm>
          <a:prstGeom prst="rect">
            <a:avLst/>
          </a:prstGeom>
        </p:spPr>
        <p:txBody>
          <a:bodyPr wrap="none">
            <a:spAutoFit/>
          </a:bodyPr>
          <a:lstStyle/>
          <a:p>
            <a:r>
              <a:rPr lang="en-US" b="1" dirty="0">
                <a:solidFill>
                  <a:prstClr val="black"/>
                </a:solidFill>
                <a:latin typeface="Arial Rounded MT Bold" panose="020F0704030504030204" pitchFamily="34" charset="0"/>
              </a:rPr>
              <a:t>F</a:t>
            </a:r>
          </a:p>
        </p:txBody>
      </p:sp>
      <p:sp>
        <p:nvSpPr>
          <p:cNvPr id="29" name="Rectangle 28"/>
          <p:cNvSpPr/>
          <p:nvPr/>
        </p:nvSpPr>
        <p:spPr>
          <a:xfrm>
            <a:off x="5798967" y="3195677"/>
            <a:ext cx="367408" cy="369332"/>
          </a:xfrm>
          <a:prstGeom prst="rect">
            <a:avLst/>
          </a:prstGeom>
        </p:spPr>
        <p:txBody>
          <a:bodyPr wrap="none">
            <a:spAutoFit/>
          </a:bodyPr>
          <a:lstStyle/>
          <a:p>
            <a:r>
              <a:rPr lang="en-US" b="1" dirty="0">
                <a:solidFill>
                  <a:prstClr val="black"/>
                </a:solidFill>
                <a:latin typeface="Arial Rounded MT Bold" panose="020F0704030504030204" pitchFamily="34" charset="0"/>
              </a:rPr>
              <a:t>G</a:t>
            </a:r>
          </a:p>
        </p:txBody>
      </p:sp>
      <p:sp>
        <p:nvSpPr>
          <p:cNvPr id="34" name="Rectangle 33"/>
          <p:cNvSpPr/>
          <p:nvPr/>
        </p:nvSpPr>
        <p:spPr>
          <a:xfrm>
            <a:off x="3291957" y="4628920"/>
            <a:ext cx="338554" cy="369332"/>
          </a:xfrm>
          <a:prstGeom prst="rect">
            <a:avLst/>
          </a:prstGeom>
        </p:spPr>
        <p:txBody>
          <a:bodyPr wrap="none">
            <a:spAutoFit/>
          </a:bodyPr>
          <a:lstStyle/>
          <a:p>
            <a:r>
              <a:rPr lang="en-US" b="1" dirty="0">
                <a:solidFill>
                  <a:prstClr val="black"/>
                </a:solidFill>
                <a:latin typeface="Arial Rounded MT Bold" panose="020F0704030504030204" pitchFamily="34" charset="0"/>
              </a:rPr>
              <a:t>E</a:t>
            </a:r>
          </a:p>
        </p:txBody>
      </p:sp>
      <p:sp>
        <p:nvSpPr>
          <p:cNvPr id="35" name="Rectangle 34"/>
          <p:cNvSpPr/>
          <p:nvPr/>
        </p:nvSpPr>
        <p:spPr>
          <a:xfrm>
            <a:off x="3068086" y="5950803"/>
            <a:ext cx="580287"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rPr>
              <a:t>G</a:t>
            </a:r>
          </a:p>
        </p:txBody>
      </p:sp>
      <p:graphicFrame>
        <p:nvGraphicFramePr>
          <p:cNvPr id="40" name="Table 39"/>
          <p:cNvGraphicFramePr>
            <a:graphicFrameLocks noGrp="1"/>
          </p:cNvGraphicFramePr>
          <p:nvPr>
            <p:extLst>
              <p:ext uri="{D42A27DB-BD31-4B8C-83A1-F6EECF244321}">
                <p14:modId xmlns:p14="http://schemas.microsoft.com/office/powerpoint/2010/main" val="441767024"/>
              </p:ext>
            </p:extLst>
          </p:nvPr>
        </p:nvGraphicFramePr>
        <p:xfrm>
          <a:off x="7771306" y="2531586"/>
          <a:ext cx="3936279" cy="2966720"/>
        </p:xfrm>
        <a:graphic>
          <a:graphicData uri="http://schemas.openxmlformats.org/drawingml/2006/table">
            <a:tbl>
              <a:tblPr firstRow="1" bandRow="1">
                <a:tableStyleId>{5C22544A-7EE6-4342-B048-85BDC9FD1C3A}</a:tableStyleId>
              </a:tblPr>
              <a:tblGrid>
                <a:gridCol w="1012102">
                  <a:extLst>
                    <a:ext uri="{9D8B030D-6E8A-4147-A177-3AD203B41FA5}">
                      <a16:colId xmlns:a16="http://schemas.microsoft.com/office/drawing/2014/main" val="2989644895"/>
                    </a:ext>
                  </a:extLst>
                </a:gridCol>
                <a:gridCol w="1811800">
                  <a:extLst>
                    <a:ext uri="{9D8B030D-6E8A-4147-A177-3AD203B41FA5}">
                      <a16:colId xmlns:a16="http://schemas.microsoft.com/office/drawing/2014/main" val="4244960412"/>
                    </a:ext>
                  </a:extLst>
                </a:gridCol>
                <a:gridCol w="1112377">
                  <a:extLst>
                    <a:ext uri="{9D8B030D-6E8A-4147-A177-3AD203B41FA5}">
                      <a16:colId xmlns:a16="http://schemas.microsoft.com/office/drawing/2014/main" val="2572560869"/>
                    </a:ext>
                  </a:extLst>
                </a:gridCol>
              </a:tblGrid>
              <a:tr h="370840">
                <a:tc>
                  <a:txBody>
                    <a:bodyPr/>
                    <a:lstStyle/>
                    <a:p>
                      <a:pPr algn="ctr"/>
                      <a:r>
                        <a:rPr lang="en-US" dirty="0">
                          <a:latin typeface="Arial Rounded MT Bold" panose="020F0704030504030204" pitchFamily="34" charset="0"/>
                        </a:rPr>
                        <a:t>NODE</a:t>
                      </a:r>
                    </a:p>
                  </a:txBody>
                  <a:tcPr/>
                </a:tc>
                <a:tc>
                  <a:txBody>
                    <a:bodyPr/>
                    <a:lstStyle/>
                    <a:p>
                      <a:pPr algn="ctr"/>
                      <a:r>
                        <a:rPr lang="en-US" dirty="0">
                          <a:latin typeface="Arial Rounded MT Bold" panose="020F0704030504030204" pitchFamily="34" charset="0"/>
                        </a:rPr>
                        <a:t>NEIGHBORS</a:t>
                      </a:r>
                    </a:p>
                  </a:txBody>
                  <a:tcPr/>
                </a:tc>
                <a:tc>
                  <a:txBody>
                    <a:bodyPr/>
                    <a:lstStyle/>
                    <a:p>
                      <a:pPr algn="ctr"/>
                      <a:r>
                        <a:rPr lang="en-US" dirty="0">
                          <a:latin typeface="Arial Rounded MT Bold" panose="020F0704030504030204" pitchFamily="34" charset="0"/>
                        </a:rPr>
                        <a:t>LABEL</a:t>
                      </a:r>
                    </a:p>
                  </a:txBody>
                  <a:tcPr/>
                </a:tc>
                <a:extLst>
                  <a:ext uri="{0D108BD9-81ED-4DB2-BD59-A6C34878D82A}">
                    <a16:rowId xmlns:a16="http://schemas.microsoft.com/office/drawing/2014/main" val="1978098576"/>
                  </a:ext>
                </a:extLst>
              </a:tr>
              <a:tr h="370840">
                <a:tc>
                  <a:txBody>
                    <a:bodyPr/>
                    <a:lstStyle/>
                    <a:p>
                      <a:pPr algn="ctr"/>
                      <a:r>
                        <a:rPr lang="en-US" b="1" dirty="0">
                          <a:latin typeface="Arial Rounded MT Bold" panose="020F0704030504030204" pitchFamily="34" charset="0"/>
                        </a:rPr>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latin typeface="Arial Rounded MT Bold" panose="020F0704030504030204" pitchFamily="34" charset="0"/>
                        </a:rPr>
                        <a:t>B,C</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rPr>
                        <a:t>X</a:t>
                      </a:r>
                    </a:p>
                  </a:txBody>
                  <a:tcPr/>
                </a:tc>
                <a:extLst>
                  <a:ext uri="{0D108BD9-81ED-4DB2-BD59-A6C34878D82A}">
                    <a16:rowId xmlns:a16="http://schemas.microsoft.com/office/drawing/2014/main" val="3592035499"/>
                  </a:ext>
                </a:extLst>
              </a:tr>
              <a:tr h="370840">
                <a:tc>
                  <a:txBody>
                    <a:bodyPr/>
                    <a:lstStyle/>
                    <a:p>
                      <a:pPr algn="ctr"/>
                      <a:r>
                        <a:rPr lang="en-US" b="1" dirty="0">
                          <a:latin typeface="Arial Rounded MT Bold" panose="020F0704030504030204" pitchFamily="34" charset="0"/>
                        </a:rPr>
                        <a:t>B</a:t>
                      </a:r>
                    </a:p>
                  </a:txBody>
                  <a:tcPr/>
                </a:tc>
                <a:tc>
                  <a:txBody>
                    <a:bodyPr/>
                    <a:lstStyle/>
                    <a:p>
                      <a:pPr algn="ctr"/>
                      <a:r>
                        <a:rPr lang="en-US" sz="1800" b="1" dirty="0">
                          <a:latin typeface="Arial Rounded MT Bold" panose="020F0704030504030204" pitchFamily="34" charset="0"/>
                        </a:rPr>
                        <a:t>D,E</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rPr>
                        <a:t>X</a:t>
                      </a:r>
                    </a:p>
                  </a:txBody>
                  <a:tcPr/>
                </a:tc>
                <a:extLst>
                  <a:ext uri="{0D108BD9-81ED-4DB2-BD59-A6C34878D82A}">
                    <a16:rowId xmlns:a16="http://schemas.microsoft.com/office/drawing/2014/main" val="1939942222"/>
                  </a:ext>
                </a:extLst>
              </a:tr>
              <a:tr h="370840">
                <a:tc>
                  <a:txBody>
                    <a:bodyPr/>
                    <a:lstStyle/>
                    <a:p>
                      <a:pPr algn="ctr"/>
                      <a:r>
                        <a:rPr lang="en-US" b="1" dirty="0">
                          <a:latin typeface="Arial Rounded MT Bold" panose="020F0704030504030204" pitchFamily="34" charset="0"/>
                        </a:rPr>
                        <a:t>C</a:t>
                      </a:r>
                    </a:p>
                  </a:txBody>
                  <a:tcPr/>
                </a:tc>
                <a:tc>
                  <a:txBody>
                    <a:bodyPr/>
                    <a:lstStyle/>
                    <a:p>
                      <a:pPr algn="ctr"/>
                      <a:r>
                        <a:rPr lang="en-US" sz="1800" b="1" dirty="0">
                          <a:latin typeface="Arial Rounded MT Bold" panose="020F0704030504030204" pitchFamily="34" charset="0"/>
                        </a:rPr>
                        <a:t>E,F,G</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rPr>
                        <a:t>X</a:t>
                      </a:r>
                    </a:p>
                  </a:txBody>
                  <a:tcPr/>
                </a:tc>
                <a:extLst>
                  <a:ext uri="{0D108BD9-81ED-4DB2-BD59-A6C34878D82A}">
                    <a16:rowId xmlns:a16="http://schemas.microsoft.com/office/drawing/2014/main" val="371904882"/>
                  </a:ext>
                </a:extLst>
              </a:tr>
              <a:tr h="370840">
                <a:tc>
                  <a:txBody>
                    <a:bodyPr/>
                    <a:lstStyle/>
                    <a:p>
                      <a:pPr algn="ctr"/>
                      <a:r>
                        <a:rPr lang="en-US" b="1" dirty="0">
                          <a:latin typeface="Arial Rounded MT Bold" panose="020F0704030504030204" pitchFamily="34" charset="0"/>
                        </a:rPr>
                        <a:t>D</a:t>
                      </a:r>
                    </a:p>
                  </a:txBody>
                  <a:tcPr/>
                </a:tc>
                <a:tc>
                  <a:txBody>
                    <a:bodyPr/>
                    <a:lstStyle/>
                    <a:p>
                      <a:pPr algn="ctr"/>
                      <a:r>
                        <a:rPr lang="en-US" b="1" dirty="0">
                          <a:latin typeface="Arial Rounded MT Bold" panose="020F0704030504030204" pitchFamily="34" charset="0"/>
                        </a:rPr>
                        <a: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rPr>
                        <a:t>X</a:t>
                      </a:r>
                    </a:p>
                  </a:txBody>
                  <a:tcPr/>
                </a:tc>
                <a:extLst>
                  <a:ext uri="{0D108BD9-81ED-4DB2-BD59-A6C34878D82A}">
                    <a16:rowId xmlns:a16="http://schemas.microsoft.com/office/drawing/2014/main" val="1084115065"/>
                  </a:ext>
                </a:extLst>
              </a:tr>
              <a:tr h="370840">
                <a:tc>
                  <a:txBody>
                    <a:bodyPr/>
                    <a:lstStyle/>
                    <a:p>
                      <a:pPr algn="ctr"/>
                      <a:r>
                        <a:rPr lang="en-US" b="1" dirty="0">
                          <a:latin typeface="Arial Rounded MT Bold" panose="020F0704030504030204" pitchFamily="34" charset="0"/>
                        </a:rPr>
                        <a:t>E</a:t>
                      </a:r>
                    </a:p>
                  </a:txBody>
                  <a:tcPr/>
                </a:tc>
                <a:tc>
                  <a:txBody>
                    <a:bodyPr/>
                    <a:lstStyle/>
                    <a:p>
                      <a:pPr algn="ctr"/>
                      <a:r>
                        <a:rPr lang="en-US" b="1" dirty="0">
                          <a:latin typeface="Arial Rounded MT Bold" panose="020F0704030504030204" pitchFamily="34" charset="0"/>
                        </a:rPr>
                        <a:t>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rPr>
                        <a:t>X</a:t>
                      </a:r>
                    </a:p>
                  </a:txBody>
                  <a:tcPr/>
                </a:tc>
                <a:extLst>
                  <a:ext uri="{0D108BD9-81ED-4DB2-BD59-A6C34878D82A}">
                    <a16:rowId xmlns:a16="http://schemas.microsoft.com/office/drawing/2014/main" val="4208500189"/>
                  </a:ext>
                </a:extLst>
              </a:tr>
              <a:tr h="370840">
                <a:tc>
                  <a:txBody>
                    <a:bodyPr/>
                    <a:lstStyle/>
                    <a:p>
                      <a:pPr algn="ctr"/>
                      <a:r>
                        <a:rPr lang="en-US" b="1" dirty="0">
                          <a:latin typeface="Arial Rounded MT Bold" panose="020F0704030504030204" pitchFamily="34" charset="0"/>
                        </a:rPr>
                        <a:t>F</a:t>
                      </a:r>
                    </a:p>
                  </a:txBody>
                  <a:tcPr/>
                </a:tc>
                <a:tc>
                  <a:txBody>
                    <a:bodyPr/>
                    <a:lstStyle/>
                    <a:p>
                      <a:pPr algn="ctr"/>
                      <a:r>
                        <a:rPr lang="en-US" b="1" dirty="0">
                          <a:latin typeface="Arial Rounded MT Bold" panose="020F0704030504030204" pitchFamily="34" charset="0"/>
                        </a:rPr>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rPr>
                        <a:t>X</a:t>
                      </a:r>
                    </a:p>
                  </a:txBody>
                  <a:tcPr/>
                </a:tc>
                <a:extLst>
                  <a:ext uri="{0D108BD9-81ED-4DB2-BD59-A6C34878D82A}">
                    <a16:rowId xmlns:a16="http://schemas.microsoft.com/office/drawing/2014/main" val="1862253349"/>
                  </a:ext>
                </a:extLst>
              </a:tr>
              <a:tr h="370840">
                <a:tc>
                  <a:txBody>
                    <a:bodyPr/>
                    <a:lstStyle/>
                    <a:p>
                      <a:pPr algn="ctr"/>
                      <a:r>
                        <a:rPr lang="en-US" b="1" dirty="0">
                          <a:latin typeface="Arial Rounded MT Bold" panose="020F0704030504030204" pitchFamily="34" charset="0"/>
                        </a:rPr>
                        <a:t>G</a:t>
                      </a:r>
                    </a:p>
                  </a:txBody>
                  <a:tcPr/>
                </a:tc>
                <a:tc>
                  <a:txBody>
                    <a:bodyPr/>
                    <a:lstStyle/>
                    <a:p>
                      <a:pPr algn="ctr"/>
                      <a:r>
                        <a:rPr lang="en-US" b="1" dirty="0">
                          <a:latin typeface="Arial Rounded MT Bold" panose="020F0704030504030204" pitchFamily="34" charset="0"/>
                        </a:rPr>
                        <a:t>F</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rPr>
                        <a:t>X</a:t>
                      </a:r>
                    </a:p>
                  </a:txBody>
                  <a:tcPr/>
                </a:tc>
                <a:extLst>
                  <a:ext uri="{0D108BD9-81ED-4DB2-BD59-A6C34878D82A}">
                    <a16:rowId xmlns:a16="http://schemas.microsoft.com/office/drawing/2014/main" val="1205733479"/>
                  </a:ext>
                </a:extLst>
              </a:tr>
            </a:tbl>
          </a:graphicData>
        </a:graphic>
      </p:graphicFrame>
      <p:cxnSp>
        <p:nvCxnSpPr>
          <p:cNvPr id="42" name="Straight Arrow Connector 41"/>
          <p:cNvCxnSpPr/>
          <p:nvPr/>
        </p:nvCxnSpPr>
        <p:spPr>
          <a:xfrm>
            <a:off x="1948920" y="2586178"/>
            <a:ext cx="119848" cy="4163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728885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Straight Connector 45"/>
          <p:cNvCxnSpPr/>
          <p:nvPr/>
        </p:nvCxnSpPr>
        <p:spPr>
          <a:xfrm flipV="1">
            <a:off x="8243744" y="2932010"/>
            <a:ext cx="774663" cy="350727"/>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ln>
            <a:noFill/>
          </a:ln>
        </p:spPr>
        <p:txBody>
          <a:bodyPr/>
          <a:lstStyle/>
          <a:p>
            <a:r>
              <a:rPr lang="en-US" dirty="0"/>
              <a:t>Traversing </a:t>
            </a:r>
            <a:r>
              <a:rPr lang="en-US"/>
              <a:t>a Graph?</a:t>
            </a:r>
            <a:endParaRPr lang="en-US" dirty="0"/>
          </a:p>
        </p:txBody>
      </p:sp>
      <p:sp>
        <p:nvSpPr>
          <p:cNvPr id="3" name="Slide Number Placeholder 2">
            <a:extLst>
              <a:ext uri="{FF2B5EF4-FFF2-40B4-BE49-F238E27FC236}">
                <a16:creationId xmlns:a16="http://schemas.microsoft.com/office/drawing/2014/main" id="{FECE8D6E-9B51-4569-8368-14E579DD347C}"/>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14/110</a:t>
            </a:r>
          </a:p>
        </p:txBody>
      </p:sp>
      <p:sp>
        <p:nvSpPr>
          <p:cNvPr id="4" name="Rectangle 3"/>
          <p:cNvSpPr/>
          <p:nvPr/>
        </p:nvSpPr>
        <p:spPr>
          <a:xfrm>
            <a:off x="659641" y="2135625"/>
            <a:ext cx="10872717" cy="2308324"/>
          </a:xfrm>
          <a:prstGeom prst="rect">
            <a:avLst/>
          </a:prstGeom>
        </p:spPr>
        <p:txBody>
          <a:bodyPr wrap="square">
            <a:spAutoFit/>
          </a:bodyPr>
          <a:lstStyle/>
          <a:p>
            <a:pPr marL="438912" lvl="0" indent="-320040">
              <a:buClr>
                <a:srgbClr val="F0AD00"/>
              </a:buClr>
              <a:buSzPct val="80000"/>
              <a:buFont typeface="Wingdings 2"/>
              <a:buChar char=""/>
            </a:pPr>
            <a:r>
              <a:rPr lang="en-US" sz="2000" b="1" dirty="0">
                <a:solidFill>
                  <a:srgbClr val="FF0000"/>
                </a:solidFill>
              </a:rPr>
              <a:t>Depth-First Search: DFS</a:t>
            </a:r>
          </a:p>
          <a:p>
            <a:pPr lvl="0" fontAlgn="base">
              <a:spcBef>
                <a:spcPct val="20000"/>
              </a:spcBef>
              <a:spcAft>
                <a:spcPct val="0"/>
              </a:spcAft>
              <a:buClr>
                <a:srgbClr val="000000"/>
              </a:buClr>
            </a:pPr>
            <a:r>
              <a:rPr lang="en-US" altLang="en-US" sz="2000" dirty="0">
                <a:solidFill>
                  <a:srgbClr val="3333CC"/>
                </a:solidFill>
                <a:latin typeface="Times New Roman"/>
                <a:sym typeface="Symbol" panose="05050102010706020507" pitchFamily="18" charset="2"/>
              </a:rPr>
              <a:t>	</a:t>
            </a:r>
            <a:r>
              <a:rPr lang="en-US" altLang="en-US" sz="2000" dirty="0">
                <a:solidFill>
                  <a:srgbClr val="000000"/>
                </a:solidFill>
                <a:latin typeface="Times New Roman"/>
                <a:sym typeface="Symbol" panose="05050102010706020507" pitchFamily="18" charset="2"/>
              </a:rPr>
              <a:t>search deeper whenever possible</a:t>
            </a:r>
          </a:p>
          <a:p>
            <a:pPr marL="1776222" lvl="2" indent="-742950">
              <a:buClr>
                <a:srgbClr val="F0AD00"/>
              </a:buClr>
              <a:buSzPct val="80000"/>
              <a:buFont typeface="+mj-lt"/>
              <a:buAutoNum type="arabicPeriod"/>
            </a:pPr>
            <a:endParaRPr lang="en-US" sz="2000" dirty="0">
              <a:solidFill>
                <a:prstClr val="black"/>
              </a:solidFill>
            </a:endParaRPr>
          </a:p>
          <a:p>
            <a:pPr marL="1776222" lvl="2" indent="-742950">
              <a:buClr>
                <a:srgbClr val="F0AD00"/>
              </a:buClr>
              <a:buSzPct val="80000"/>
              <a:buFont typeface="+mj-lt"/>
              <a:buAutoNum type="arabicPeriod"/>
            </a:pPr>
            <a:endParaRPr lang="en-US" sz="2000" dirty="0">
              <a:solidFill>
                <a:prstClr val="black"/>
              </a:solidFill>
            </a:endParaRPr>
          </a:p>
          <a:p>
            <a:pPr marL="438912" lvl="0" indent="-320040">
              <a:buClr>
                <a:srgbClr val="F0AD00"/>
              </a:buClr>
              <a:buSzPct val="80000"/>
              <a:buFont typeface="Wingdings 2"/>
              <a:buChar char=""/>
            </a:pPr>
            <a:r>
              <a:rPr lang="en-US" sz="2000" b="1" dirty="0">
                <a:solidFill>
                  <a:srgbClr val="7030A0"/>
                </a:solidFill>
              </a:rPr>
              <a:t> Breadth-First Search: BFS</a:t>
            </a:r>
          </a:p>
          <a:p>
            <a:pPr marL="1033272" lvl="2">
              <a:buClr>
                <a:srgbClr val="F0AD00"/>
              </a:buClr>
              <a:buSzPct val="80000"/>
            </a:pPr>
            <a:r>
              <a:rPr lang="en-US" altLang="en-US" sz="2000" dirty="0">
                <a:solidFill>
                  <a:srgbClr val="000000"/>
                </a:solidFill>
                <a:latin typeface="Times New Roman"/>
                <a:sym typeface="Symbol" panose="05050102010706020507" pitchFamily="18" charset="2"/>
              </a:rPr>
              <a:t>search in breadth first manner whenever possible</a:t>
            </a:r>
          </a:p>
          <a:p>
            <a:pPr marL="1033272" lvl="2">
              <a:buClr>
                <a:srgbClr val="F0AD00"/>
              </a:buClr>
              <a:buSzPct val="80000"/>
            </a:pPr>
            <a:endParaRPr lang="en-US" sz="2000" dirty="0">
              <a:solidFill>
                <a:prstClr val="black"/>
              </a:solidFill>
            </a:endParaRPr>
          </a:p>
        </p:txBody>
      </p:sp>
      <p:sp>
        <p:nvSpPr>
          <p:cNvPr id="19" name="Rectangle 18"/>
          <p:cNvSpPr/>
          <p:nvPr/>
        </p:nvSpPr>
        <p:spPr>
          <a:xfrm>
            <a:off x="1460007" y="4415718"/>
            <a:ext cx="1942968" cy="707886"/>
          </a:xfrm>
          <a:prstGeom prst="rect">
            <a:avLst/>
          </a:prstGeom>
        </p:spPr>
        <p:txBody>
          <a:bodyPr wrap="none">
            <a:spAutoFit/>
          </a:bodyPr>
          <a:lstStyle/>
          <a:p>
            <a:r>
              <a:rPr lang="en-US" sz="4000" b="1" dirty="0">
                <a:solidFill>
                  <a:srgbClr val="FF0000"/>
                </a:solidFill>
              </a:rPr>
              <a:t>ABCD </a:t>
            </a:r>
          </a:p>
        </p:txBody>
      </p:sp>
      <p:sp>
        <p:nvSpPr>
          <p:cNvPr id="21" name="Rectangle 20"/>
          <p:cNvSpPr/>
          <p:nvPr/>
        </p:nvSpPr>
        <p:spPr>
          <a:xfrm>
            <a:off x="1460007" y="5285469"/>
            <a:ext cx="1492716" cy="707886"/>
          </a:xfrm>
          <a:prstGeom prst="rect">
            <a:avLst/>
          </a:prstGeom>
        </p:spPr>
        <p:txBody>
          <a:bodyPr wrap="none">
            <a:spAutoFit/>
          </a:bodyPr>
          <a:lstStyle/>
          <a:p>
            <a:r>
              <a:rPr lang="en-US" sz="4000" b="1" dirty="0">
                <a:solidFill>
                  <a:srgbClr val="7030A0"/>
                </a:solidFill>
              </a:rPr>
              <a:t>ADBC</a:t>
            </a:r>
          </a:p>
        </p:txBody>
      </p:sp>
      <p:cxnSp>
        <p:nvCxnSpPr>
          <p:cNvPr id="18" name="Straight Connector 17"/>
          <p:cNvCxnSpPr>
            <a:stCxn id="29" idx="1"/>
          </p:cNvCxnSpPr>
          <p:nvPr/>
        </p:nvCxnSpPr>
        <p:spPr>
          <a:xfrm flipH="1" flipV="1">
            <a:off x="8161956" y="3343431"/>
            <a:ext cx="2198288" cy="93317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24" idx="5"/>
          </p:cNvCxnSpPr>
          <p:nvPr/>
        </p:nvCxnSpPr>
        <p:spPr>
          <a:xfrm>
            <a:off x="9393119" y="3071107"/>
            <a:ext cx="1158049" cy="13377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V="1">
            <a:off x="9013207" y="3090551"/>
            <a:ext cx="175670" cy="1109474"/>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24" name="Oval 16"/>
          <p:cNvSpPr>
            <a:spLocks noChangeArrowheads="1"/>
          </p:cNvSpPr>
          <p:nvPr/>
        </p:nvSpPr>
        <p:spPr bwMode="auto">
          <a:xfrm>
            <a:off x="9021370" y="269935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25" name="Straight Connector 24"/>
          <p:cNvCxnSpPr/>
          <p:nvPr/>
        </p:nvCxnSpPr>
        <p:spPr>
          <a:xfrm flipH="1">
            <a:off x="9185061" y="4408872"/>
            <a:ext cx="1119177" cy="684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a:endCxn id="38" idx="1"/>
          </p:cNvCxnSpPr>
          <p:nvPr/>
        </p:nvCxnSpPr>
        <p:spPr>
          <a:xfrm>
            <a:off x="8232214" y="3545007"/>
            <a:ext cx="563889" cy="8638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27" name="Oval 16"/>
          <p:cNvSpPr>
            <a:spLocks noChangeArrowheads="1"/>
          </p:cNvSpPr>
          <p:nvPr/>
        </p:nvSpPr>
        <p:spPr bwMode="auto">
          <a:xfrm>
            <a:off x="8750818" y="4191107"/>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8" name="Oval 16"/>
          <p:cNvSpPr>
            <a:spLocks noChangeArrowheads="1"/>
          </p:cNvSpPr>
          <p:nvPr/>
        </p:nvSpPr>
        <p:spPr bwMode="auto">
          <a:xfrm>
            <a:off x="7860465" y="3218939"/>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9" name="Oval 16"/>
          <p:cNvSpPr>
            <a:spLocks noChangeArrowheads="1"/>
          </p:cNvSpPr>
          <p:nvPr/>
        </p:nvSpPr>
        <p:spPr bwMode="auto">
          <a:xfrm>
            <a:off x="10296462" y="421282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37" name="TextBox 36"/>
          <p:cNvSpPr txBox="1"/>
          <p:nvPr/>
        </p:nvSpPr>
        <p:spPr>
          <a:xfrm>
            <a:off x="9070659" y="2721218"/>
            <a:ext cx="35137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A</a:t>
            </a:r>
          </a:p>
        </p:txBody>
      </p:sp>
      <p:sp>
        <p:nvSpPr>
          <p:cNvPr id="38" name="TextBox 37"/>
          <p:cNvSpPr txBox="1"/>
          <p:nvPr/>
        </p:nvSpPr>
        <p:spPr>
          <a:xfrm>
            <a:off x="8796103" y="4224206"/>
            <a:ext cx="35137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B</a:t>
            </a:r>
          </a:p>
        </p:txBody>
      </p:sp>
      <p:sp>
        <p:nvSpPr>
          <p:cNvPr id="40" name="Rectangle 39"/>
          <p:cNvSpPr/>
          <p:nvPr/>
        </p:nvSpPr>
        <p:spPr>
          <a:xfrm>
            <a:off x="7908532" y="3256611"/>
            <a:ext cx="356188" cy="369332"/>
          </a:xfrm>
          <a:prstGeom prst="rect">
            <a:avLst/>
          </a:prstGeom>
        </p:spPr>
        <p:txBody>
          <a:bodyPr wrap="none">
            <a:spAutoFit/>
          </a:bodyPr>
          <a:lstStyle/>
          <a:p>
            <a:r>
              <a:rPr lang="en-US" b="1" dirty="0">
                <a:solidFill>
                  <a:prstClr val="black"/>
                </a:solidFill>
                <a:latin typeface="Arial Rounded MT Bold" panose="020F0704030504030204" pitchFamily="34" charset="0"/>
              </a:rPr>
              <a:t>D</a:t>
            </a:r>
          </a:p>
        </p:txBody>
      </p:sp>
      <p:sp>
        <p:nvSpPr>
          <p:cNvPr id="43" name="Rectangle 42"/>
          <p:cNvSpPr/>
          <p:nvPr/>
        </p:nvSpPr>
        <p:spPr>
          <a:xfrm>
            <a:off x="10356244" y="4237757"/>
            <a:ext cx="356188" cy="369332"/>
          </a:xfrm>
          <a:prstGeom prst="rect">
            <a:avLst/>
          </a:prstGeom>
        </p:spPr>
        <p:txBody>
          <a:bodyPr wrap="none">
            <a:spAutoFit/>
          </a:bodyPr>
          <a:lstStyle/>
          <a:p>
            <a:r>
              <a:rPr lang="en-US" b="1" dirty="0">
                <a:solidFill>
                  <a:prstClr val="black"/>
                </a:solidFill>
                <a:latin typeface="Arial Rounded MT Bold" panose="020F0704030504030204" pitchFamily="34" charset="0"/>
              </a:rPr>
              <a:t>C</a:t>
            </a:r>
          </a:p>
        </p:txBody>
      </p:sp>
      <p:cxnSp>
        <p:nvCxnSpPr>
          <p:cNvPr id="45" name="Straight Arrow Connector 44"/>
          <p:cNvCxnSpPr/>
          <p:nvPr/>
        </p:nvCxnSpPr>
        <p:spPr>
          <a:xfrm>
            <a:off x="9013207" y="2223590"/>
            <a:ext cx="119848" cy="4163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5F663665-4CD1-4EFA-8956-7428D3ADAC95}"/>
              </a:ext>
            </a:extLst>
          </p:cNvPr>
          <p:cNvSpPr txBox="1"/>
          <p:nvPr/>
        </p:nvSpPr>
        <p:spPr>
          <a:xfrm>
            <a:off x="5463711" y="2699358"/>
            <a:ext cx="1610569" cy="369332"/>
          </a:xfrm>
          <a:prstGeom prst="rect">
            <a:avLst/>
          </a:prstGeom>
          <a:noFill/>
          <a:ln>
            <a:solidFill>
              <a:srgbClr val="42B82E"/>
            </a:solidFill>
          </a:ln>
        </p:spPr>
        <p:txBody>
          <a:bodyPr wrap="none" rtlCol="0">
            <a:spAutoFit/>
          </a:bodyPr>
          <a:lstStyle/>
          <a:p>
            <a:r>
              <a:rPr lang="en-US" dirty="0">
                <a:solidFill>
                  <a:srgbClr val="00B050"/>
                </a:solidFill>
                <a:latin typeface="Arial Rounded MT Bold" panose="020F0704030504030204" pitchFamily="34" charset="0"/>
              </a:rPr>
              <a:t>NOT Unique!</a:t>
            </a:r>
          </a:p>
        </p:txBody>
      </p:sp>
    </p:spTree>
    <p:custDataLst>
      <p:tags r:id="rId1"/>
    </p:custDataLst>
    <p:extLst>
      <p:ext uri="{BB962C8B-B14F-4D97-AF65-F5344CB8AC3E}">
        <p14:creationId xmlns:p14="http://schemas.microsoft.com/office/powerpoint/2010/main" val="281763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Straight Connector 45"/>
          <p:cNvCxnSpPr/>
          <p:nvPr/>
        </p:nvCxnSpPr>
        <p:spPr>
          <a:xfrm flipV="1">
            <a:off x="8243744" y="2932010"/>
            <a:ext cx="774663" cy="350727"/>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ln>
            <a:noFill/>
          </a:ln>
        </p:spPr>
        <p:txBody>
          <a:bodyPr/>
          <a:lstStyle/>
          <a:p>
            <a:r>
              <a:rPr lang="en-US" dirty="0"/>
              <a:t>Traversing </a:t>
            </a:r>
            <a:r>
              <a:rPr lang="en-US"/>
              <a:t>a Graph?</a:t>
            </a:r>
            <a:endParaRPr lang="en-US" dirty="0"/>
          </a:p>
        </p:txBody>
      </p:sp>
      <p:sp>
        <p:nvSpPr>
          <p:cNvPr id="3" name="Slide Number Placeholder 2">
            <a:extLst>
              <a:ext uri="{FF2B5EF4-FFF2-40B4-BE49-F238E27FC236}">
                <a16:creationId xmlns:a16="http://schemas.microsoft.com/office/drawing/2014/main" id="{FECE8D6E-9B51-4569-8368-14E579DD347C}"/>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15/110</a:t>
            </a:r>
          </a:p>
        </p:txBody>
      </p:sp>
      <p:sp>
        <p:nvSpPr>
          <p:cNvPr id="4" name="Rectangle 3"/>
          <p:cNvSpPr/>
          <p:nvPr/>
        </p:nvSpPr>
        <p:spPr>
          <a:xfrm>
            <a:off x="659641" y="2135625"/>
            <a:ext cx="10872717" cy="2308324"/>
          </a:xfrm>
          <a:prstGeom prst="rect">
            <a:avLst/>
          </a:prstGeom>
        </p:spPr>
        <p:txBody>
          <a:bodyPr wrap="square">
            <a:spAutoFit/>
          </a:bodyPr>
          <a:lstStyle/>
          <a:p>
            <a:pPr marL="438912" lvl="0" indent="-320040">
              <a:buClr>
                <a:srgbClr val="F0AD00"/>
              </a:buClr>
              <a:buSzPct val="80000"/>
              <a:buFont typeface="Wingdings 2"/>
              <a:buChar char=""/>
            </a:pPr>
            <a:r>
              <a:rPr lang="en-US" sz="2000" b="1" dirty="0">
                <a:solidFill>
                  <a:srgbClr val="FF0000"/>
                </a:solidFill>
              </a:rPr>
              <a:t>Depth-First Search: DFS</a:t>
            </a:r>
          </a:p>
          <a:p>
            <a:pPr lvl="0" fontAlgn="base">
              <a:spcBef>
                <a:spcPct val="20000"/>
              </a:spcBef>
              <a:spcAft>
                <a:spcPct val="0"/>
              </a:spcAft>
              <a:buClr>
                <a:srgbClr val="000000"/>
              </a:buClr>
            </a:pPr>
            <a:r>
              <a:rPr lang="en-US" altLang="en-US" sz="2000" dirty="0">
                <a:solidFill>
                  <a:srgbClr val="3333CC"/>
                </a:solidFill>
                <a:latin typeface="Times New Roman"/>
                <a:sym typeface="Symbol" panose="05050102010706020507" pitchFamily="18" charset="2"/>
              </a:rPr>
              <a:t>	</a:t>
            </a:r>
            <a:r>
              <a:rPr lang="en-US" altLang="en-US" sz="2000" dirty="0">
                <a:solidFill>
                  <a:srgbClr val="000000"/>
                </a:solidFill>
                <a:latin typeface="Times New Roman"/>
                <a:sym typeface="Symbol" panose="05050102010706020507" pitchFamily="18" charset="2"/>
              </a:rPr>
              <a:t>search deeper whenever possible</a:t>
            </a:r>
          </a:p>
          <a:p>
            <a:pPr marL="1776222" lvl="2" indent="-742950">
              <a:buClr>
                <a:srgbClr val="F0AD00"/>
              </a:buClr>
              <a:buSzPct val="80000"/>
              <a:buFont typeface="+mj-lt"/>
              <a:buAutoNum type="arabicPeriod"/>
            </a:pPr>
            <a:endParaRPr lang="en-US" sz="2000" dirty="0">
              <a:solidFill>
                <a:prstClr val="black"/>
              </a:solidFill>
            </a:endParaRPr>
          </a:p>
          <a:p>
            <a:pPr marL="1776222" lvl="2" indent="-742950">
              <a:buClr>
                <a:srgbClr val="F0AD00"/>
              </a:buClr>
              <a:buSzPct val="80000"/>
              <a:buFont typeface="+mj-lt"/>
              <a:buAutoNum type="arabicPeriod"/>
            </a:pPr>
            <a:endParaRPr lang="en-US" sz="2000" dirty="0">
              <a:solidFill>
                <a:prstClr val="black"/>
              </a:solidFill>
            </a:endParaRPr>
          </a:p>
          <a:p>
            <a:pPr marL="438912" lvl="0" indent="-320040">
              <a:buClr>
                <a:srgbClr val="F0AD00"/>
              </a:buClr>
              <a:buSzPct val="80000"/>
              <a:buFont typeface="Wingdings 2"/>
              <a:buChar char=""/>
            </a:pPr>
            <a:r>
              <a:rPr lang="en-US" sz="2000" b="1" dirty="0">
                <a:solidFill>
                  <a:srgbClr val="7030A0"/>
                </a:solidFill>
              </a:rPr>
              <a:t> Breadth-First Search: BFS</a:t>
            </a:r>
          </a:p>
          <a:p>
            <a:pPr marL="1033272" lvl="2">
              <a:buClr>
                <a:srgbClr val="F0AD00"/>
              </a:buClr>
              <a:buSzPct val="80000"/>
            </a:pPr>
            <a:r>
              <a:rPr lang="en-US" altLang="en-US" sz="2000" dirty="0">
                <a:solidFill>
                  <a:srgbClr val="000000"/>
                </a:solidFill>
                <a:latin typeface="Times New Roman"/>
                <a:sym typeface="Symbol" panose="05050102010706020507" pitchFamily="18" charset="2"/>
              </a:rPr>
              <a:t>search in breadth first manner whenever possible</a:t>
            </a:r>
          </a:p>
          <a:p>
            <a:pPr marL="1033272" lvl="2">
              <a:buClr>
                <a:srgbClr val="F0AD00"/>
              </a:buClr>
              <a:buSzPct val="80000"/>
            </a:pPr>
            <a:endParaRPr lang="en-US" sz="2000" dirty="0">
              <a:solidFill>
                <a:prstClr val="black"/>
              </a:solidFill>
            </a:endParaRPr>
          </a:p>
        </p:txBody>
      </p:sp>
      <p:sp>
        <p:nvSpPr>
          <p:cNvPr id="19" name="Rectangle 18"/>
          <p:cNvSpPr/>
          <p:nvPr/>
        </p:nvSpPr>
        <p:spPr>
          <a:xfrm>
            <a:off x="1460007" y="4415718"/>
            <a:ext cx="5684441" cy="707886"/>
          </a:xfrm>
          <a:prstGeom prst="rect">
            <a:avLst/>
          </a:prstGeom>
        </p:spPr>
        <p:txBody>
          <a:bodyPr wrap="none">
            <a:spAutoFit/>
          </a:bodyPr>
          <a:lstStyle/>
          <a:p>
            <a:r>
              <a:rPr lang="en-US" sz="4000" b="1" dirty="0">
                <a:solidFill>
                  <a:srgbClr val="FF0000"/>
                </a:solidFill>
              </a:rPr>
              <a:t>ABCD,  ABDC, ADCB,  </a:t>
            </a:r>
          </a:p>
        </p:txBody>
      </p:sp>
      <p:sp>
        <p:nvSpPr>
          <p:cNvPr id="21" name="Rectangle 20"/>
          <p:cNvSpPr/>
          <p:nvPr/>
        </p:nvSpPr>
        <p:spPr>
          <a:xfrm>
            <a:off x="1460007" y="5285469"/>
            <a:ext cx="3651769" cy="707886"/>
          </a:xfrm>
          <a:prstGeom prst="rect">
            <a:avLst/>
          </a:prstGeom>
        </p:spPr>
        <p:txBody>
          <a:bodyPr wrap="none">
            <a:spAutoFit/>
          </a:bodyPr>
          <a:lstStyle/>
          <a:p>
            <a:r>
              <a:rPr lang="en-US" sz="4000" b="1" dirty="0">
                <a:solidFill>
                  <a:srgbClr val="7030A0"/>
                </a:solidFill>
              </a:rPr>
              <a:t>ADBC,  ABDC</a:t>
            </a:r>
          </a:p>
        </p:txBody>
      </p:sp>
      <p:cxnSp>
        <p:nvCxnSpPr>
          <p:cNvPr id="18" name="Straight Connector 17"/>
          <p:cNvCxnSpPr>
            <a:stCxn id="29" idx="1"/>
          </p:cNvCxnSpPr>
          <p:nvPr/>
        </p:nvCxnSpPr>
        <p:spPr>
          <a:xfrm flipH="1" flipV="1">
            <a:off x="8161956" y="3343431"/>
            <a:ext cx="2198288" cy="93317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24" idx="5"/>
          </p:cNvCxnSpPr>
          <p:nvPr/>
        </p:nvCxnSpPr>
        <p:spPr>
          <a:xfrm>
            <a:off x="9393119" y="3071107"/>
            <a:ext cx="1158049" cy="13377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V="1">
            <a:off x="9013207" y="3090551"/>
            <a:ext cx="175670" cy="1109474"/>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24" name="Oval 16"/>
          <p:cNvSpPr>
            <a:spLocks noChangeArrowheads="1"/>
          </p:cNvSpPr>
          <p:nvPr/>
        </p:nvSpPr>
        <p:spPr bwMode="auto">
          <a:xfrm>
            <a:off x="9021370" y="269935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25" name="Straight Connector 24"/>
          <p:cNvCxnSpPr/>
          <p:nvPr/>
        </p:nvCxnSpPr>
        <p:spPr>
          <a:xfrm flipH="1">
            <a:off x="9185061" y="4408872"/>
            <a:ext cx="1119177" cy="684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a:endCxn id="38" idx="1"/>
          </p:cNvCxnSpPr>
          <p:nvPr/>
        </p:nvCxnSpPr>
        <p:spPr>
          <a:xfrm>
            <a:off x="8232214" y="3545007"/>
            <a:ext cx="563889" cy="8638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27" name="Oval 16"/>
          <p:cNvSpPr>
            <a:spLocks noChangeArrowheads="1"/>
          </p:cNvSpPr>
          <p:nvPr/>
        </p:nvSpPr>
        <p:spPr bwMode="auto">
          <a:xfrm>
            <a:off x="8750818" y="4191107"/>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8" name="Oval 16"/>
          <p:cNvSpPr>
            <a:spLocks noChangeArrowheads="1"/>
          </p:cNvSpPr>
          <p:nvPr/>
        </p:nvSpPr>
        <p:spPr bwMode="auto">
          <a:xfrm>
            <a:off x="7860465" y="3218939"/>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9" name="Oval 16"/>
          <p:cNvSpPr>
            <a:spLocks noChangeArrowheads="1"/>
          </p:cNvSpPr>
          <p:nvPr/>
        </p:nvSpPr>
        <p:spPr bwMode="auto">
          <a:xfrm>
            <a:off x="10296462" y="421282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37" name="TextBox 36"/>
          <p:cNvSpPr txBox="1"/>
          <p:nvPr/>
        </p:nvSpPr>
        <p:spPr>
          <a:xfrm>
            <a:off x="9070659" y="2721218"/>
            <a:ext cx="35137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A</a:t>
            </a:r>
          </a:p>
        </p:txBody>
      </p:sp>
      <p:sp>
        <p:nvSpPr>
          <p:cNvPr id="38" name="TextBox 37"/>
          <p:cNvSpPr txBox="1"/>
          <p:nvPr/>
        </p:nvSpPr>
        <p:spPr>
          <a:xfrm>
            <a:off x="8796103" y="4224206"/>
            <a:ext cx="35137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B</a:t>
            </a:r>
          </a:p>
        </p:txBody>
      </p:sp>
      <p:sp>
        <p:nvSpPr>
          <p:cNvPr id="40" name="Rectangle 39"/>
          <p:cNvSpPr/>
          <p:nvPr/>
        </p:nvSpPr>
        <p:spPr>
          <a:xfrm>
            <a:off x="7908532" y="3256611"/>
            <a:ext cx="356188" cy="369332"/>
          </a:xfrm>
          <a:prstGeom prst="rect">
            <a:avLst/>
          </a:prstGeom>
        </p:spPr>
        <p:txBody>
          <a:bodyPr wrap="none">
            <a:spAutoFit/>
          </a:bodyPr>
          <a:lstStyle/>
          <a:p>
            <a:r>
              <a:rPr lang="en-US" b="1" dirty="0">
                <a:solidFill>
                  <a:prstClr val="black"/>
                </a:solidFill>
                <a:latin typeface="Arial Rounded MT Bold" panose="020F0704030504030204" pitchFamily="34" charset="0"/>
              </a:rPr>
              <a:t>D</a:t>
            </a:r>
          </a:p>
        </p:txBody>
      </p:sp>
      <p:sp>
        <p:nvSpPr>
          <p:cNvPr id="43" name="Rectangle 42"/>
          <p:cNvSpPr/>
          <p:nvPr/>
        </p:nvSpPr>
        <p:spPr>
          <a:xfrm>
            <a:off x="10356244" y="4237757"/>
            <a:ext cx="356188" cy="369332"/>
          </a:xfrm>
          <a:prstGeom prst="rect">
            <a:avLst/>
          </a:prstGeom>
        </p:spPr>
        <p:txBody>
          <a:bodyPr wrap="none">
            <a:spAutoFit/>
          </a:bodyPr>
          <a:lstStyle/>
          <a:p>
            <a:r>
              <a:rPr lang="en-US" b="1" dirty="0">
                <a:solidFill>
                  <a:prstClr val="black"/>
                </a:solidFill>
                <a:latin typeface="Arial Rounded MT Bold" panose="020F0704030504030204" pitchFamily="34" charset="0"/>
              </a:rPr>
              <a:t>C</a:t>
            </a:r>
          </a:p>
        </p:txBody>
      </p:sp>
      <p:cxnSp>
        <p:nvCxnSpPr>
          <p:cNvPr id="45" name="Straight Arrow Connector 44"/>
          <p:cNvCxnSpPr/>
          <p:nvPr/>
        </p:nvCxnSpPr>
        <p:spPr>
          <a:xfrm>
            <a:off x="9013207" y="2223590"/>
            <a:ext cx="119848" cy="4163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5F663665-4CD1-4EFA-8956-7428D3ADAC95}"/>
              </a:ext>
            </a:extLst>
          </p:cNvPr>
          <p:cNvSpPr txBox="1"/>
          <p:nvPr/>
        </p:nvSpPr>
        <p:spPr>
          <a:xfrm>
            <a:off x="5463711" y="2699358"/>
            <a:ext cx="1610569" cy="369332"/>
          </a:xfrm>
          <a:prstGeom prst="rect">
            <a:avLst/>
          </a:prstGeom>
          <a:noFill/>
          <a:ln>
            <a:solidFill>
              <a:srgbClr val="42B82E"/>
            </a:solidFill>
          </a:ln>
        </p:spPr>
        <p:txBody>
          <a:bodyPr wrap="none" rtlCol="0">
            <a:spAutoFit/>
          </a:bodyPr>
          <a:lstStyle/>
          <a:p>
            <a:r>
              <a:rPr lang="en-US" dirty="0">
                <a:solidFill>
                  <a:srgbClr val="00B050"/>
                </a:solidFill>
                <a:latin typeface="Arial Rounded MT Bold" panose="020F0704030504030204" pitchFamily="34" charset="0"/>
              </a:rPr>
              <a:t>NOT Unique!</a:t>
            </a:r>
          </a:p>
        </p:txBody>
      </p:sp>
    </p:spTree>
    <p:custDataLst>
      <p:tags r:id="rId1"/>
    </p:custDataLst>
    <p:extLst>
      <p:ext uri="{BB962C8B-B14F-4D97-AF65-F5344CB8AC3E}">
        <p14:creationId xmlns:p14="http://schemas.microsoft.com/office/powerpoint/2010/main" val="36180630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Depth-First Search</a:t>
            </a:r>
          </a:p>
        </p:txBody>
      </p:sp>
      <p:sp>
        <p:nvSpPr>
          <p:cNvPr id="13" name="Slide Number Placeholder 12">
            <a:extLst>
              <a:ext uri="{FF2B5EF4-FFF2-40B4-BE49-F238E27FC236}">
                <a16:creationId xmlns:a16="http://schemas.microsoft.com/office/drawing/2014/main" id="{776A51E1-4A16-40E9-B15F-1A7BF1D1F658}"/>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16/110</a:t>
            </a:r>
          </a:p>
        </p:txBody>
      </p:sp>
      <p:cxnSp>
        <p:nvCxnSpPr>
          <p:cNvPr id="3" name="Straight Connector 2"/>
          <p:cNvCxnSpPr>
            <a:stCxn id="12" idx="1"/>
          </p:cNvCxnSpPr>
          <p:nvPr/>
        </p:nvCxnSpPr>
        <p:spPr>
          <a:xfrm flipH="1" flipV="1">
            <a:off x="591484" y="3154930"/>
            <a:ext cx="2198288" cy="93317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 name="Straight Connector 3"/>
          <p:cNvCxnSpPr>
            <a:stCxn id="7" idx="5"/>
          </p:cNvCxnSpPr>
          <p:nvPr/>
        </p:nvCxnSpPr>
        <p:spPr>
          <a:xfrm>
            <a:off x="1822647" y="2882606"/>
            <a:ext cx="1158049" cy="13377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flipV="1">
            <a:off x="1668663" y="2798110"/>
            <a:ext cx="1856048" cy="24517"/>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1442735" y="2902050"/>
            <a:ext cx="175670" cy="1109474"/>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 name="Oval 16"/>
          <p:cNvSpPr>
            <a:spLocks noChangeArrowheads="1"/>
          </p:cNvSpPr>
          <p:nvPr/>
        </p:nvSpPr>
        <p:spPr bwMode="auto">
          <a:xfrm>
            <a:off x="1450898" y="251085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8" name="Straight Connector 7"/>
          <p:cNvCxnSpPr/>
          <p:nvPr/>
        </p:nvCxnSpPr>
        <p:spPr>
          <a:xfrm flipH="1">
            <a:off x="1614589" y="4220371"/>
            <a:ext cx="1119177" cy="684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a:endCxn id="25" idx="1"/>
          </p:cNvCxnSpPr>
          <p:nvPr/>
        </p:nvCxnSpPr>
        <p:spPr>
          <a:xfrm>
            <a:off x="661742" y="3356506"/>
            <a:ext cx="563889" cy="8638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180346" y="4002606"/>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1" name="Oval 16"/>
          <p:cNvSpPr>
            <a:spLocks noChangeArrowheads="1"/>
          </p:cNvSpPr>
          <p:nvPr/>
        </p:nvSpPr>
        <p:spPr bwMode="auto">
          <a:xfrm>
            <a:off x="289993" y="303043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2" name="Oval 16"/>
          <p:cNvSpPr>
            <a:spLocks noChangeArrowheads="1"/>
          </p:cNvSpPr>
          <p:nvPr/>
        </p:nvSpPr>
        <p:spPr bwMode="auto">
          <a:xfrm>
            <a:off x="2725990" y="4024323"/>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5" name="Straight Connector 14"/>
          <p:cNvCxnSpPr>
            <a:stCxn id="12" idx="7"/>
          </p:cNvCxnSpPr>
          <p:nvPr/>
        </p:nvCxnSpPr>
        <p:spPr>
          <a:xfrm flipV="1">
            <a:off x="3097739" y="2849627"/>
            <a:ext cx="650011" cy="123847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20" idx="6"/>
          </p:cNvCxnSpPr>
          <p:nvPr/>
        </p:nvCxnSpPr>
        <p:spPr>
          <a:xfrm flipV="1">
            <a:off x="3958367" y="2985345"/>
            <a:ext cx="1367969" cy="125700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flipV="1">
            <a:off x="3902347" y="2791509"/>
            <a:ext cx="1353035" cy="6601"/>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3740601" y="3066765"/>
            <a:ext cx="45505" cy="95755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3522836" y="2616013"/>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0" name="Oval 16"/>
          <p:cNvSpPr>
            <a:spLocks noChangeArrowheads="1"/>
          </p:cNvSpPr>
          <p:nvPr/>
        </p:nvSpPr>
        <p:spPr bwMode="auto">
          <a:xfrm>
            <a:off x="3522836" y="4024585"/>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1" name="Oval 16"/>
          <p:cNvSpPr>
            <a:spLocks noChangeArrowheads="1"/>
          </p:cNvSpPr>
          <p:nvPr/>
        </p:nvSpPr>
        <p:spPr bwMode="auto">
          <a:xfrm>
            <a:off x="5241811" y="260081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TextBox 23"/>
          <p:cNvSpPr txBox="1"/>
          <p:nvPr/>
        </p:nvSpPr>
        <p:spPr>
          <a:xfrm>
            <a:off x="1500187" y="2532717"/>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25" name="TextBox 24"/>
          <p:cNvSpPr txBox="1"/>
          <p:nvPr/>
        </p:nvSpPr>
        <p:spPr>
          <a:xfrm>
            <a:off x="1225631" y="4035705"/>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26" name="TextBox 25"/>
          <p:cNvSpPr txBox="1"/>
          <p:nvPr/>
        </p:nvSpPr>
        <p:spPr>
          <a:xfrm>
            <a:off x="3590421" y="2637961"/>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27" name="Rectangle 26"/>
          <p:cNvSpPr/>
          <p:nvPr/>
        </p:nvSpPr>
        <p:spPr>
          <a:xfrm>
            <a:off x="338060" y="3068110"/>
            <a:ext cx="343364" cy="369332"/>
          </a:xfrm>
          <a:prstGeom prst="rect">
            <a:avLst/>
          </a:prstGeom>
        </p:spPr>
        <p:txBody>
          <a:bodyPr wrap="none">
            <a:spAutoFit/>
          </a:bodyPr>
          <a:lstStyle/>
          <a:p>
            <a:r>
              <a:rPr lang="en-US" b="1" dirty="0">
                <a:solidFill>
                  <a:prstClr val="black"/>
                </a:solidFill>
              </a:rPr>
              <a:t>D</a:t>
            </a:r>
          </a:p>
        </p:txBody>
      </p:sp>
      <p:sp>
        <p:nvSpPr>
          <p:cNvPr id="28" name="Rectangle 27"/>
          <p:cNvSpPr/>
          <p:nvPr/>
        </p:nvSpPr>
        <p:spPr>
          <a:xfrm>
            <a:off x="3569822" y="4067801"/>
            <a:ext cx="304892" cy="369332"/>
          </a:xfrm>
          <a:prstGeom prst="rect">
            <a:avLst/>
          </a:prstGeom>
        </p:spPr>
        <p:txBody>
          <a:bodyPr wrap="none">
            <a:spAutoFit/>
          </a:bodyPr>
          <a:lstStyle/>
          <a:p>
            <a:r>
              <a:rPr lang="en-US" b="1" dirty="0">
                <a:solidFill>
                  <a:prstClr val="black"/>
                </a:solidFill>
              </a:rPr>
              <a:t>F</a:t>
            </a:r>
          </a:p>
        </p:txBody>
      </p:sp>
      <p:sp>
        <p:nvSpPr>
          <p:cNvPr id="29" name="Rectangle 28"/>
          <p:cNvSpPr/>
          <p:nvPr/>
        </p:nvSpPr>
        <p:spPr>
          <a:xfrm>
            <a:off x="5292782" y="2616013"/>
            <a:ext cx="340158" cy="369332"/>
          </a:xfrm>
          <a:prstGeom prst="rect">
            <a:avLst/>
          </a:prstGeom>
        </p:spPr>
        <p:txBody>
          <a:bodyPr wrap="none">
            <a:spAutoFit/>
          </a:bodyPr>
          <a:lstStyle/>
          <a:p>
            <a:r>
              <a:rPr lang="en-US" b="1" dirty="0">
                <a:solidFill>
                  <a:prstClr val="black"/>
                </a:solidFill>
              </a:rPr>
              <a:t>G</a:t>
            </a:r>
          </a:p>
        </p:txBody>
      </p:sp>
      <p:sp>
        <p:nvSpPr>
          <p:cNvPr id="34" name="Rectangle 33"/>
          <p:cNvSpPr/>
          <p:nvPr/>
        </p:nvSpPr>
        <p:spPr>
          <a:xfrm>
            <a:off x="2785772" y="4049256"/>
            <a:ext cx="316112" cy="369332"/>
          </a:xfrm>
          <a:prstGeom prst="rect">
            <a:avLst/>
          </a:prstGeom>
        </p:spPr>
        <p:txBody>
          <a:bodyPr wrap="none">
            <a:spAutoFit/>
          </a:bodyPr>
          <a:lstStyle/>
          <a:p>
            <a:r>
              <a:rPr lang="en-US" b="1" dirty="0">
                <a:solidFill>
                  <a:prstClr val="black"/>
                </a:solidFill>
              </a:rPr>
              <a:t>E</a:t>
            </a:r>
          </a:p>
        </p:txBody>
      </p:sp>
      <p:cxnSp>
        <p:nvCxnSpPr>
          <p:cNvPr id="42" name="Straight Arrow Connector 41"/>
          <p:cNvCxnSpPr/>
          <p:nvPr/>
        </p:nvCxnSpPr>
        <p:spPr>
          <a:xfrm>
            <a:off x="1442735" y="2006514"/>
            <a:ext cx="119848" cy="4163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A24584F2-FAB9-45A3-8751-0DB4540D8947}"/>
              </a:ext>
            </a:extLst>
          </p:cNvPr>
          <p:cNvSpPr/>
          <p:nvPr/>
        </p:nvSpPr>
        <p:spPr>
          <a:xfrm>
            <a:off x="1442983" y="2505822"/>
            <a:ext cx="435532" cy="456646"/>
          </a:xfrm>
          <a:prstGeom prst="ellipse">
            <a:avLst/>
          </a:prstGeom>
          <a:noFill/>
          <a:ln w="57150">
            <a:solidFill>
              <a:srgbClr val="66FF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5" name="Table 44">
            <a:extLst>
              <a:ext uri="{FF2B5EF4-FFF2-40B4-BE49-F238E27FC236}">
                <a16:creationId xmlns:a16="http://schemas.microsoft.com/office/drawing/2014/main" id="{896AC4F2-8C43-43C3-804A-310FEE7FD407}"/>
              </a:ext>
            </a:extLst>
          </p:cNvPr>
          <p:cNvGraphicFramePr>
            <a:graphicFrameLocks noGrp="1"/>
          </p:cNvGraphicFramePr>
          <p:nvPr/>
        </p:nvGraphicFramePr>
        <p:xfrm>
          <a:off x="6264192" y="3007293"/>
          <a:ext cx="5537063" cy="633880"/>
        </p:xfrm>
        <a:graphic>
          <a:graphicData uri="http://schemas.openxmlformats.org/drawingml/2006/table">
            <a:tbl>
              <a:tblPr firstRow="1" bandRow="1">
                <a:tableStyleId>{5940675A-B579-460E-94D1-54222C63F5DA}</a:tableStyleId>
              </a:tblPr>
              <a:tblGrid>
                <a:gridCol w="791009">
                  <a:extLst>
                    <a:ext uri="{9D8B030D-6E8A-4147-A177-3AD203B41FA5}">
                      <a16:colId xmlns:a16="http://schemas.microsoft.com/office/drawing/2014/main" val="2132967321"/>
                    </a:ext>
                  </a:extLst>
                </a:gridCol>
                <a:gridCol w="791009">
                  <a:extLst>
                    <a:ext uri="{9D8B030D-6E8A-4147-A177-3AD203B41FA5}">
                      <a16:colId xmlns:a16="http://schemas.microsoft.com/office/drawing/2014/main" val="1063077608"/>
                    </a:ext>
                  </a:extLst>
                </a:gridCol>
                <a:gridCol w="791009">
                  <a:extLst>
                    <a:ext uri="{9D8B030D-6E8A-4147-A177-3AD203B41FA5}">
                      <a16:colId xmlns:a16="http://schemas.microsoft.com/office/drawing/2014/main" val="2993623427"/>
                    </a:ext>
                  </a:extLst>
                </a:gridCol>
                <a:gridCol w="791009">
                  <a:extLst>
                    <a:ext uri="{9D8B030D-6E8A-4147-A177-3AD203B41FA5}">
                      <a16:colId xmlns:a16="http://schemas.microsoft.com/office/drawing/2014/main" val="1839577594"/>
                    </a:ext>
                  </a:extLst>
                </a:gridCol>
                <a:gridCol w="791009">
                  <a:extLst>
                    <a:ext uri="{9D8B030D-6E8A-4147-A177-3AD203B41FA5}">
                      <a16:colId xmlns:a16="http://schemas.microsoft.com/office/drawing/2014/main" val="1386812864"/>
                    </a:ext>
                  </a:extLst>
                </a:gridCol>
                <a:gridCol w="791009">
                  <a:extLst>
                    <a:ext uri="{9D8B030D-6E8A-4147-A177-3AD203B41FA5}">
                      <a16:colId xmlns:a16="http://schemas.microsoft.com/office/drawing/2014/main" val="3091020297"/>
                    </a:ext>
                  </a:extLst>
                </a:gridCol>
                <a:gridCol w="791009">
                  <a:extLst>
                    <a:ext uri="{9D8B030D-6E8A-4147-A177-3AD203B41FA5}">
                      <a16:colId xmlns:a16="http://schemas.microsoft.com/office/drawing/2014/main" val="267198006"/>
                    </a:ext>
                  </a:extLst>
                </a:gridCol>
              </a:tblGrid>
              <a:tr h="633880">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10776323"/>
                  </a:ext>
                </a:extLst>
              </a:tr>
            </a:tbl>
          </a:graphicData>
        </a:graphic>
      </p:graphicFrame>
      <p:sp>
        <p:nvSpPr>
          <p:cNvPr id="46" name="Rectangle 45">
            <a:extLst>
              <a:ext uri="{FF2B5EF4-FFF2-40B4-BE49-F238E27FC236}">
                <a16:creationId xmlns:a16="http://schemas.microsoft.com/office/drawing/2014/main" id="{5BBA84F0-6EAC-41DF-9568-8C550EA87AE4}"/>
              </a:ext>
            </a:extLst>
          </p:cNvPr>
          <p:cNvSpPr/>
          <p:nvPr/>
        </p:nvSpPr>
        <p:spPr>
          <a:xfrm>
            <a:off x="6396330" y="2998002"/>
            <a:ext cx="585417" cy="707886"/>
          </a:xfrm>
          <a:prstGeom prst="rect">
            <a:avLst/>
          </a:prstGeom>
        </p:spPr>
        <p:txBody>
          <a:bodyPr wrap="none">
            <a:spAutoFit/>
          </a:bodyPr>
          <a:lstStyle/>
          <a:p>
            <a:r>
              <a:rPr lang="en-US" sz="4000" b="1" dirty="0">
                <a:solidFill>
                  <a:srgbClr val="FF0000"/>
                </a:solidFill>
              </a:rPr>
              <a:t>A</a:t>
            </a:r>
          </a:p>
        </p:txBody>
      </p:sp>
    </p:spTree>
    <p:custDataLst>
      <p:tags r:id="rId1"/>
    </p:custDataLst>
    <p:extLst>
      <p:ext uri="{BB962C8B-B14F-4D97-AF65-F5344CB8AC3E}">
        <p14:creationId xmlns:p14="http://schemas.microsoft.com/office/powerpoint/2010/main" val="2347055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2000" fill="hold"/>
                                        <p:tgtEl>
                                          <p:spTgt spid="6"/>
                                        </p:tgtEl>
                                        <p:attrNameLst>
                                          <p:attrName>stroke.color</p:attrName>
                                        </p:attrNameLst>
                                      </p:cBhvr>
                                      <p:to>
                                        <a:srgbClr val="00FF00"/>
                                      </p:to>
                                    </p:animClr>
                                    <p:set>
                                      <p:cBhvr>
                                        <p:cTn id="15" dur="2000" fill="hold"/>
                                        <p:tgtEl>
                                          <p:spTgt spid="6"/>
                                        </p:tgtEl>
                                        <p:attrNameLst>
                                          <p:attrName>stroke.on</p:attrName>
                                        </p:attrNameLst>
                                      </p:cBhvr>
                                      <p:to>
                                        <p:strVal val="true"/>
                                      </p:to>
                                    </p:set>
                                  </p:childTnLst>
                                </p:cTn>
                              </p:par>
                              <p:par>
                                <p:cTn id="16" presetID="7" presetClass="emph" presetSubtype="2" fill="hold" nodeType="withEffect">
                                  <p:stCondLst>
                                    <p:cond delay="0"/>
                                  </p:stCondLst>
                                  <p:childTnLst>
                                    <p:animClr clrSpc="rgb" dir="cw">
                                      <p:cBhvr>
                                        <p:cTn id="17" dur="2000" fill="hold"/>
                                        <p:tgtEl>
                                          <p:spTgt spid="5"/>
                                        </p:tgtEl>
                                        <p:attrNameLst>
                                          <p:attrName>stroke.color</p:attrName>
                                        </p:attrNameLst>
                                      </p:cBhvr>
                                      <p:to>
                                        <a:srgbClr val="00FF00"/>
                                      </p:to>
                                    </p:animClr>
                                    <p:set>
                                      <p:cBhvr>
                                        <p:cTn id="18" dur="2000" fill="hold"/>
                                        <p:tgtEl>
                                          <p:spTgt spid="5"/>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Depth-First Search</a:t>
            </a:r>
          </a:p>
        </p:txBody>
      </p:sp>
      <p:sp>
        <p:nvSpPr>
          <p:cNvPr id="13" name="Slide Number Placeholder 12">
            <a:extLst>
              <a:ext uri="{FF2B5EF4-FFF2-40B4-BE49-F238E27FC236}">
                <a16:creationId xmlns:a16="http://schemas.microsoft.com/office/drawing/2014/main" id="{776A51E1-4A16-40E9-B15F-1A7BF1D1F658}"/>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17/110</a:t>
            </a:r>
          </a:p>
        </p:txBody>
      </p:sp>
      <p:cxnSp>
        <p:nvCxnSpPr>
          <p:cNvPr id="3" name="Straight Connector 2"/>
          <p:cNvCxnSpPr>
            <a:stCxn id="12" idx="1"/>
          </p:cNvCxnSpPr>
          <p:nvPr/>
        </p:nvCxnSpPr>
        <p:spPr>
          <a:xfrm flipH="1" flipV="1">
            <a:off x="591484" y="3154930"/>
            <a:ext cx="2198288" cy="93317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 name="Straight Connector 3"/>
          <p:cNvCxnSpPr>
            <a:stCxn id="7" idx="5"/>
          </p:cNvCxnSpPr>
          <p:nvPr/>
        </p:nvCxnSpPr>
        <p:spPr>
          <a:xfrm>
            <a:off x="1822647" y="2882606"/>
            <a:ext cx="1158049" cy="13377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flipV="1">
            <a:off x="1668663" y="2798110"/>
            <a:ext cx="1856048" cy="24517"/>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1442735" y="2902050"/>
            <a:ext cx="175670" cy="1109474"/>
          </a:xfrm>
          <a:prstGeom prst="line">
            <a:avLst/>
          </a:prstGeom>
          <a:ln w="38100">
            <a:solidFill>
              <a:srgbClr val="66FF33"/>
            </a:solidFill>
            <a:headEnd type="stealth"/>
          </a:ln>
        </p:spPr>
        <p:style>
          <a:lnRef idx="1">
            <a:schemeClr val="accent1"/>
          </a:lnRef>
          <a:fillRef idx="0">
            <a:schemeClr val="accent1"/>
          </a:fillRef>
          <a:effectRef idx="0">
            <a:schemeClr val="accent1"/>
          </a:effectRef>
          <a:fontRef idx="minor">
            <a:schemeClr val="tx1"/>
          </a:fontRef>
        </p:style>
      </p:cxnSp>
      <p:sp>
        <p:nvSpPr>
          <p:cNvPr id="7" name="Oval 16"/>
          <p:cNvSpPr>
            <a:spLocks noChangeArrowheads="1"/>
          </p:cNvSpPr>
          <p:nvPr/>
        </p:nvSpPr>
        <p:spPr bwMode="auto">
          <a:xfrm>
            <a:off x="1450898" y="251085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8" name="Straight Connector 7"/>
          <p:cNvCxnSpPr/>
          <p:nvPr/>
        </p:nvCxnSpPr>
        <p:spPr>
          <a:xfrm flipH="1">
            <a:off x="1614589" y="4220371"/>
            <a:ext cx="1119177" cy="684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a:endCxn id="25" idx="1"/>
          </p:cNvCxnSpPr>
          <p:nvPr/>
        </p:nvCxnSpPr>
        <p:spPr>
          <a:xfrm>
            <a:off x="661742" y="3356506"/>
            <a:ext cx="563889" cy="8638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180346" y="4002606"/>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1" name="Oval 16"/>
          <p:cNvSpPr>
            <a:spLocks noChangeArrowheads="1"/>
          </p:cNvSpPr>
          <p:nvPr/>
        </p:nvSpPr>
        <p:spPr bwMode="auto">
          <a:xfrm>
            <a:off x="289993" y="303043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2" name="Oval 16"/>
          <p:cNvSpPr>
            <a:spLocks noChangeArrowheads="1"/>
          </p:cNvSpPr>
          <p:nvPr/>
        </p:nvSpPr>
        <p:spPr bwMode="auto">
          <a:xfrm>
            <a:off x="2725990" y="4024323"/>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5" name="Straight Connector 14"/>
          <p:cNvCxnSpPr>
            <a:stCxn id="12" idx="7"/>
          </p:cNvCxnSpPr>
          <p:nvPr/>
        </p:nvCxnSpPr>
        <p:spPr>
          <a:xfrm flipV="1">
            <a:off x="3097739" y="2849627"/>
            <a:ext cx="650011" cy="123847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20" idx="6"/>
          </p:cNvCxnSpPr>
          <p:nvPr/>
        </p:nvCxnSpPr>
        <p:spPr>
          <a:xfrm flipV="1">
            <a:off x="3958367" y="2985345"/>
            <a:ext cx="1367969" cy="125700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flipV="1">
            <a:off x="3902347" y="2791509"/>
            <a:ext cx="1353035" cy="6601"/>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3740601" y="3066765"/>
            <a:ext cx="45505" cy="95755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3522836" y="2616013"/>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0" name="Oval 16"/>
          <p:cNvSpPr>
            <a:spLocks noChangeArrowheads="1"/>
          </p:cNvSpPr>
          <p:nvPr/>
        </p:nvSpPr>
        <p:spPr bwMode="auto">
          <a:xfrm>
            <a:off x="3522836" y="4024585"/>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1" name="Oval 16"/>
          <p:cNvSpPr>
            <a:spLocks noChangeArrowheads="1"/>
          </p:cNvSpPr>
          <p:nvPr/>
        </p:nvSpPr>
        <p:spPr bwMode="auto">
          <a:xfrm>
            <a:off x="5241811" y="260081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TextBox 23"/>
          <p:cNvSpPr txBox="1"/>
          <p:nvPr/>
        </p:nvSpPr>
        <p:spPr>
          <a:xfrm>
            <a:off x="1500187" y="2532717"/>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25" name="TextBox 24"/>
          <p:cNvSpPr txBox="1"/>
          <p:nvPr/>
        </p:nvSpPr>
        <p:spPr>
          <a:xfrm>
            <a:off x="1225631" y="4035705"/>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26" name="TextBox 25"/>
          <p:cNvSpPr txBox="1"/>
          <p:nvPr/>
        </p:nvSpPr>
        <p:spPr>
          <a:xfrm>
            <a:off x="3590421" y="2637961"/>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27" name="Rectangle 26"/>
          <p:cNvSpPr/>
          <p:nvPr/>
        </p:nvSpPr>
        <p:spPr>
          <a:xfrm>
            <a:off x="338060" y="3068110"/>
            <a:ext cx="343364" cy="369332"/>
          </a:xfrm>
          <a:prstGeom prst="rect">
            <a:avLst/>
          </a:prstGeom>
        </p:spPr>
        <p:txBody>
          <a:bodyPr wrap="none">
            <a:spAutoFit/>
          </a:bodyPr>
          <a:lstStyle/>
          <a:p>
            <a:r>
              <a:rPr lang="en-US" b="1" dirty="0">
                <a:solidFill>
                  <a:prstClr val="black"/>
                </a:solidFill>
              </a:rPr>
              <a:t>D</a:t>
            </a:r>
          </a:p>
        </p:txBody>
      </p:sp>
      <p:sp>
        <p:nvSpPr>
          <p:cNvPr id="28" name="Rectangle 27"/>
          <p:cNvSpPr/>
          <p:nvPr/>
        </p:nvSpPr>
        <p:spPr>
          <a:xfrm>
            <a:off x="3569822" y="4067801"/>
            <a:ext cx="304892" cy="369332"/>
          </a:xfrm>
          <a:prstGeom prst="rect">
            <a:avLst/>
          </a:prstGeom>
        </p:spPr>
        <p:txBody>
          <a:bodyPr wrap="none">
            <a:spAutoFit/>
          </a:bodyPr>
          <a:lstStyle/>
          <a:p>
            <a:r>
              <a:rPr lang="en-US" b="1" dirty="0">
                <a:solidFill>
                  <a:prstClr val="black"/>
                </a:solidFill>
              </a:rPr>
              <a:t>F</a:t>
            </a:r>
          </a:p>
        </p:txBody>
      </p:sp>
      <p:sp>
        <p:nvSpPr>
          <p:cNvPr id="29" name="Rectangle 28"/>
          <p:cNvSpPr/>
          <p:nvPr/>
        </p:nvSpPr>
        <p:spPr>
          <a:xfrm>
            <a:off x="5292782" y="2616013"/>
            <a:ext cx="340158" cy="369332"/>
          </a:xfrm>
          <a:prstGeom prst="rect">
            <a:avLst/>
          </a:prstGeom>
        </p:spPr>
        <p:txBody>
          <a:bodyPr wrap="none">
            <a:spAutoFit/>
          </a:bodyPr>
          <a:lstStyle/>
          <a:p>
            <a:r>
              <a:rPr lang="en-US" b="1" dirty="0">
                <a:solidFill>
                  <a:prstClr val="black"/>
                </a:solidFill>
              </a:rPr>
              <a:t>G</a:t>
            </a:r>
          </a:p>
        </p:txBody>
      </p:sp>
      <p:sp>
        <p:nvSpPr>
          <p:cNvPr id="34" name="Rectangle 33"/>
          <p:cNvSpPr/>
          <p:nvPr/>
        </p:nvSpPr>
        <p:spPr>
          <a:xfrm>
            <a:off x="2785772" y="4049256"/>
            <a:ext cx="316112" cy="369332"/>
          </a:xfrm>
          <a:prstGeom prst="rect">
            <a:avLst/>
          </a:prstGeom>
        </p:spPr>
        <p:txBody>
          <a:bodyPr wrap="none">
            <a:spAutoFit/>
          </a:bodyPr>
          <a:lstStyle/>
          <a:p>
            <a:r>
              <a:rPr lang="en-US" b="1" dirty="0">
                <a:solidFill>
                  <a:prstClr val="black"/>
                </a:solidFill>
              </a:rPr>
              <a:t>E</a:t>
            </a:r>
          </a:p>
        </p:txBody>
      </p:sp>
      <p:cxnSp>
        <p:nvCxnSpPr>
          <p:cNvPr id="42" name="Straight Arrow Connector 41"/>
          <p:cNvCxnSpPr/>
          <p:nvPr/>
        </p:nvCxnSpPr>
        <p:spPr>
          <a:xfrm>
            <a:off x="1442735" y="2006514"/>
            <a:ext cx="119848" cy="4163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aphicFrame>
        <p:nvGraphicFramePr>
          <p:cNvPr id="14" name="Table 13">
            <a:extLst>
              <a:ext uri="{FF2B5EF4-FFF2-40B4-BE49-F238E27FC236}">
                <a16:creationId xmlns:a16="http://schemas.microsoft.com/office/drawing/2014/main" id="{BF5406CB-F50F-4509-A076-FA2DB2EB100E}"/>
              </a:ext>
            </a:extLst>
          </p:cNvPr>
          <p:cNvGraphicFramePr>
            <a:graphicFrameLocks noGrp="1"/>
          </p:cNvGraphicFramePr>
          <p:nvPr/>
        </p:nvGraphicFramePr>
        <p:xfrm>
          <a:off x="6264192" y="3007293"/>
          <a:ext cx="5537063" cy="633880"/>
        </p:xfrm>
        <a:graphic>
          <a:graphicData uri="http://schemas.openxmlformats.org/drawingml/2006/table">
            <a:tbl>
              <a:tblPr firstRow="1" bandRow="1">
                <a:tableStyleId>{5940675A-B579-460E-94D1-54222C63F5DA}</a:tableStyleId>
              </a:tblPr>
              <a:tblGrid>
                <a:gridCol w="791009">
                  <a:extLst>
                    <a:ext uri="{9D8B030D-6E8A-4147-A177-3AD203B41FA5}">
                      <a16:colId xmlns:a16="http://schemas.microsoft.com/office/drawing/2014/main" val="2132967321"/>
                    </a:ext>
                  </a:extLst>
                </a:gridCol>
                <a:gridCol w="791009">
                  <a:extLst>
                    <a:ext uri="{9D8B030D-6E8A-4147-A177-3AD203B41FA5}">
                      <a16:colId xmlns:a16="http://schemas.microsoft.com/office/drawing/2014/main" val="1063077608"/>
                    </a:ext>
                  </a:extLst>
                </a:gridCol>
                <a:gridCol w="791009">
                  <a:extLst>
                    <a:ext uri="{9D8B030D-6E8A-4147-A177-3AD203B41FA5}">
                      <a16:colId xmlns:a16="http://schemas.microsoft.com/office/drawing/2014/main" val="2993623427"/>
                    </a:ext>
                  </a:extLst>
                </a:gridCol>
                <a:gridCol w="791009">
                  <a:extLst>
                    <a:ext uri="{9D8B030D-6E8A-4147-A177-3AD203B41FA5}">
                      <a16:colId xmlns:a16="http://schemas.microsoft.com/office/drawing/2014/main" val="1839577594"/>
                    </a:ext>
                  </a:extLst>
                </a:gridCol>
                <a:gridCol w="791009">
                  <a:extLst>
                    <a:ext uri="{9D8B030D-6E8A-4147-A177-3AD203B41FA5}">
                      <a16:colId xmlns:a16="http://schemas.microsoft.com/office/drawing/2014/main" val="1386812864"/>
                    </a:ext>
                  </a:extLst>
                </a:gridCol>
                <a:gridCol w="791009">
                  <a:extLst>
                    <a:ext uri="{9D8B030D-6E8A-4147-A177-3AD203B41FA5}">
                      <a16:colId xmlns:a16="http://schemas.microsoft.com/office/drawing/2014/main" val="3091020297"/>
                    </a:ext>
                  </a:extLst>
                </a:gridCol>
                <a:gridCol w="791009">
                  <a:extLst>
                    <a:ext uri="{9D8B030D-6E8A-4147-A177-3AD203B41FA5}">
                      <a16:colId xmlns:a16="http://schemas.microsoft.com/office/drawing/2014/main" val="267198006"/>
                    </a:ext>
                  </a:extLst>
                </a:gridCol>
              </a:tblGrid>
              <a:tr h="633880">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10776323"/>
                  </a:ext>
                </a:extLst>
              </a:tr>
            </a:tbl>
          </a:graphicData>
        </a:graphic>
      </p:graphicFrame>
      <p:sp>
        <p:nvSpPr>
          <p:cNvPr id="35" name="Rectangle 34">
            <a:extLst>
              <a:ext uri="{FF2B5EF4-FFF2-40B4-BE49-F238E27FC236}">
                <a16:creationId xmlns:a16="http://schemas.microsoft.com/office/drawing/2014/main" id="{457BF2CC-3120-4731-A1D8-517E098EF9CA}"/>
              </a:ext>
            </a:extLst>
          </p:cNvPr>
          <p:cNvSpPr/>
          <p:nvPr/>
        </p:nvSpPr>
        <p:spPr>
          <a:xfrm>
            <a:off x="6396330" y="2998002"/>
            <a:ext cx="585417" cy="707886"/>
          </a:xfrm>
          <a:prstGeom prst="rect">
            <a:avLst/>
          </a:prstGeom>
        </p:spPr>
        <p:txBody>
          <a:bodyPr wrap="none">
            <a:spAutoFit/>
          </a:bodyPr>
          <a:lstStyle/>
          <a:p>
            <a:r>
              <a:rPr lang="en-US" sz="4000" b="1" dirty="0">
                <a:solidFill>
                  <a:srgbClr val="FF0000"/>
                </a:solidFill>
              </a:rPr>
              <a:t>A</a:t>
            </a:r>
          </a:p>
        </p:txBody>
      </p:sp>
      <p:sp>
        <p:nvSpPr>
          <p:cNvPr id="37" name="Rectangle 36">
            <a:extLst>
              <a:ext uri="{FF2B5EF4-FFF2-40B4-BE49-F238E27FC236}">
                <a16:creationId xmlns:a16="http://schemas.microsoft.com/office/drawing/2014/main" id="{DF75F60E-5E52-413B-A609-EE6BC608E8CE}"/>
              </a:ext>
            </a:extLst>
          </p:cNvPr>
          <p:cNvSpPr/>
          <p:nvPr/>
        </p:nvSpPr>
        <p:spPr>
          <a:xfrm>
            <a:off x="7157966" y="2967415"/>
            <a:ext cx="542136" cy="707886"/>
          </a:xfrm>
          <a:prstGeom prst="rect">
            <a:avLst/>
          </a:prstGeom>
        </p:spPr>
        <p:txBody>
          <a:bodyPr wrap="none">
            <a:spAutoFit/>
          </a:bodyPr>
          <a:lstStyle/>
          <a:p>
            <a:r>
              <a:rPr lang="en-US" sz="4000" b="1" dirty="0">
                <a:solidFill>
                  <a:srgbClr val="FF0000"/>
                </a:solidFill>
              </a:rPr>
              <a:t>B</a:t>
            </a:r>
          </a:p>
        </p:txBody>
      </p:sp>
      <p:sp>
        <p:nvSpPr>
          <p:cNvPr id="23" name="Oval 22">
            <a:extLst>
              <a:ext uri="{FF2B5EF4-FFF2-40B4-BE49-F238E27FC236}">
                <a16:creationId xmlns:a16="http://schemas.microsoft.com/office/drawing/2014/main" id="{A24584F2-FAB9-45A3-8751-0DB4540D8947}"/>
              </a:ext>
            </a:extLst>
          </p:cNvPr>
          <p:cNvSpPr/>
          <p:nvPr/>
        </p:nvSpPr>
        <p:spPr>
          <a:xfrm>
            <a:off x="1174043" y="3993961"/>
            <a:ext cx="435532" cy="456646"/>
          </a:xfrm>
          <a:prstGeom prst="ellipse">
            <a:avLst/>
          </a:prstGeom>
          <a:noFill/>
          <a:ln w="57150">
            <a:solidFill>
              <a:srgbClr val="66FF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0797698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Depth-First Search</a:t>
            </a:r>
          </a:p>
        </p:txBody>
      </p:sp>
      <p:sp>
        <p:nvSpPr>
          <p:cNvPr id="13" name="Slide Number Placeholder 12">
            <a:extLst>
              <a:ext uri="{FF2B5EF4-FFF2-40B4-BE49-F238E27FC236}">
                <a16:creationId xmlns:a16="http://schemas.microsoft.com/office/drawing/2014/main" id="{776A51E1-4A16-40E9-B15F-1A7BF1D1F658}"/>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18/110</a:t>
            </a:r>
          </a:p>
        </p:txBody>
      </p:sp>
      <p:cxnSp>
        <p:nvCxnSpPr>
          <p:cNvPr id="3" name="Straight Connector 2"/>
          <p:cNvCxnSpPr>
            <a:stCxn id="12" idx="1"/>
          </p:cNvCxnSpPr>
          <p:nvPr/>
        </p:nvCxnSpPr>
        <p:spPr>
          <a:xfrm flipH="1" flipV="1">
            <a:off x="591484" y="3154930"/>
            <a:ext cx="2198288" cy="93317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 name="Straight Connector 3"/>
          <p:cNvCxnSpPr>
            <a:stCxn id="7" idx="5"/>
          </p:cNvCxnSpPr>
          <p:nvPr/>
        </p:nvCxnSpPr>
        <p:spPr>
          <a:xfrm>
            <a:off x="1822647" y="2882606"/>
            <a:ext cx="1158049" cy="13377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flipV="1">
            <a:off x="1668663" y="2798110"/>
            <a:ext cx="1856048" cy="24517"/>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1442735" y="2902050"/>
            <a:ext cx="175670" cy="1109474"/>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 name="Oval 16"/>
          <p:cNvSpPr>
            <a:spLocks noChangeArrowheads="1"/>
          </p:cNvSpPr>
          <p:nvPr/>
        </p:nvSpPr>
        <p:spPr bwMode="auto">
          <a:xfrm>
            <a:off x="1450898" y="251085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8" name="Straight Connector 7"/>
          <p:cNvCxnSpPr/>
          <p:nvPr/>
        </p:nvCxnSpPr>
        <p:spPr>
          <a:xfrm flipH="1">
            <a:off x="1614589" y="4220371"/>
            <a:ext cx="1119177" cy="6846"/>
          </a:xfrm>
          <a:prstGeom prst="line">
            <a:avLst/>
          </a:prstGeom>
          <a:ln w="38100">
            <a:solidFill>
              <a:srgbClr val="66FF33"/>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a:endCxn id="25" idx="1"/>
          </p:cNvCxnSpPr>
          <p:nvPr/>
        </p:nvCxnSpPr>
        <p:spPr>
          <a:xfrm>
            <a:off x="661742" y="3356506"/>
            <a:ext cx="563889" cy="863865"/>
          </a:xfrm>
          <a:prstGeom prst="line">
            <a:avLst/>
          </a:prstGeom>
          <a:ln w="38100">
            <a:solidFill>
              <a:srgbClr val="66FF33"/>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180346" y="4002606"/>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1" name="Oval 16"/>
          <p:cNvSpPr>
            <a:spLocks noChangeArrowheads="1"/>
          </p:cNvSpPr>
          <p:nvPr/>
        </p:nvSpPr>
        <p:spPr bwMode="auto">
          <a:xfrm>
            <a:off x="289993" y="303043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2" name="Oval 16"/>
          <p:cNvSpPr>
            <a:spLocks noChangeArrowheads="1"/>
          </p:cNvSpPr>
          <p:nvPr/>
        </p:nvSpPr>
        <p:spPr bwMode="auto">
          <a:xfrm>
            <a:off x="2725990" y="4024323"/>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5" name="Straight Connector 14"/>
          <p:cNvCxnSpPr>
            <a:stCxn id="12" idx="7"/>
          </p:cNvCxnSpPr>
          <p:nvPr/>
        </p:nvCxnSpPr>
        <p:spPr>
          <a:xfrm flipV="1">
            <a:off x="3097739" y="2849627"/>
            <a:ext cx="650011" cy="123847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20" idx="6"/>
          </p:cNvCxnSpPr>
          <p:nvPr/>
        </p:nvCxnSpPr>
        <p:spPr>
          <a:xfrm flipV="1">
            <a:off x="3958367" y="2985345"/>
            <a:ext cx="1367969" cy="125700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flipV="1">
            <a:off x="3902347" y="2791509"/>
            <a:ext cx="1353035" cy="6601"/>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3740601" y="3066765"/>
            <a:ext cx="45505" cy="95755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3522836" y="2616013"/>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0" name="Oval 16"/>
          <p:cNvSpPr>
            <a:spLocks noChangeArrowheads="1"/>
          </p:cNvSpPr>
          <p:nvPr/>
        </p:nvSpPr>
        <p:spPr bwMode="auto">
          <a:xfrm>
            <a:off x="3522836" y="4024585"/>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1" name="Oval 16"/>
          <p:cNvSpPr>
            <a:spLocks noChangeArrowheads="1"/>
          </p:cNvSpPr>
          <p:nvPr/>
        </p:nvSpPr>
        <p:spPr bwMode="auto">
          <a:xfrm>
            <a:off x="5241811" y="260081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TextBox 23"/>
          <p:cNvSpPr txBox="1"/>
          <p:nvPr/>
        </p:nvSpPr>
        <p:spPr>
          <a:xfrm>
            <a:off x="1500187" y="2532717"/>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25" name="TextBox 24"/>
          <p:cNvSpPr txBox="1"/>
          <p:nvPr/>
        </p:nvSpPr>
        <p:spPr>
          <a:xfrm>
            <a:off x="1225631" y="4035705"/>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26" name="TextBox 25"/>
          <p:cNvSpPr txBox="1"/>
          <p:nvPr/>
        </p:nvSpPr>
        <p:spPr>
          <a:xfrm>
            <a:off x="3590421" y="2637961"/>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27" name="Rectangle 26"/>
          <p:cNvSpPr/>
          <p:nvPr/>
        </p:nvSpPr>
        <p:spPr>
          <a:xfrm>
            <a:off x="338060" y="3068110"/>
            <a:ext cx="343364" cy="369332"/>
          </a:xfrm>
          <a:prstGeom prst="rect">
            <a:avLst/>
          </a:prstGeom>
        </p:spPr>
        <p:txBody>
          <a:bodyPr wrap="none">
            <a:spAutoFit/>
          </a:bodyPr>
          <a:lstStyle/>
          <a:p>
            <a:r>
              <a:rPr lang="en-US" b="1" dirty="0">
                <a:solidFill>
                  <a:prstClr val="black"/>
                </a:solidFill>
              </a:rPr>
              <a:t>D</a:t>
            </a:r>
          </a:p>
        </p:txBody>
      </p:sp>
      <p:sp>
        <p:nvSpPr>
          <p:cNvPr id="28" name="Rectangle 27"/>
          <p:cNvSpPr/>
          <p:nvPr/>
        </p:nvSpPr>
        <p:spPr>
          <a:xfrm>
            <a:off x="3569822" y="4067801"/>
            <a:ext cx="304892" cy="369332"/>
          </a:xfrm>
          <a:prstGeom prst="rect">
            <a:avLst/>
          </a:prstGeom>
        </p:spPr>
        <p:txBody>
          <a:bodyPr wrap="none">
            <a:spAutoFit/>
          </a:bodyPr>
          <a:lstStyle/>
          <a:p>
            <a:r>
              <a:rPr lang="en-US" b="1" dirty="0">
                <a:solidFill>
                  <a:prstClr val="black"/>
                </a:solidFill>
              </a:rPr>
              <a:t>F</a:t>
            </a:r>
          </a:p>
        </p:txBody>
      </p:sp>
      <p:sp>
        <p:nvSpPr>
          <p:cNvPr id="29" name="Rectangle 28"/>
          <p:cNvSpPr/>
          <p:nvPr/>
        </p:nvSpPr>
        <p:spPr>
          <a:xfrm>
            <a:off x="5292782" y="2616013"/>
            <a:ext cx="340158" cy="369332"/>
          </a:xfrm>
          <a:prstGeom prst="rect">
            <a:avLst/>
          </a:prstGeom>
        </p:spPr>
        <p:txBody>
          <a:bodyPr wrap="none">
            <a:spAutoFit/>
          </a:bodyPr>
          <a:lstStyle/>
          <a:p>
            <a:r>
              <a:rPr lang="en-US" b="1" dirty="0">
                <a:solidFill>
                  <a:prstClr val="black"/>
                </a:solidFill>
              </a:rPr>
              <a:t>G</a:t>
            </a:r>
          </a:p>
        </p:txBody>
      </p:sp>
      <p:sp>
        <p:nvSpPr>
          <p:cNvPr id="34" name="Rectangle 33"/>
          <p:cNvSpPr/>
          <p:nvPr/>
        </p:nvSpPr>
        <p:spPr>
          <a:xfrm>
            <a:off x="2785772" y="4049256"/>
            <a:ext cx="316112" cy="369332"/>
          </a:xfrm>
          <a:prstGeom prst="rect">
            <a:avLst/>
          </a:prstGeom>
        </p:spPr>
        <p:txBody>
          <a:bodyPr wrap="none">
            <a:spAutoFit/>
          </a:bodyPr>
          <a:lstStyle/>
          <a:p>
            <a:r>
              <a:rPr lang="en-US" b="1" dirty="0">
                <a:solidFill>
                  <a:prstClr val="black"/>
                </a:solidFill>
              </a:rPr>
              <a:t>E</a:t>
            </a:r>
          </a:p>
        </p:txBody>
      </p:sp>
      <p:cxnSp>
        <p:nvCxnSpPr>
          <p:cNvPr id="42" name="Straight Arrow Connector 41"/>
          <p:cNvCxnSpPr/>
          <p:nvPr/>
        </p:nvCxnSpPr>
        <p:spPr>
          <a:xfrm>
            <a:off x="1442735" y="2006514"/>
            <a:ext cx="119848" cy="4163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aphicFrame>
        <p:nvGraphicFramePr>
          <p:cNvPr id="14" name="Table 13">
            <a:extLst>
              <a:ext uri="{FF2B5EF4-FFF2-40B4-BE49-F238E27FC236}">
                <a16:creationId xmlns:a16="http://schemas.microsoft.com/office/drawing/2014/main" id="{BF5406CB-F50F-4509-A076-FA2DB2EB100E}"/>
              </a:ext>
            </a:extLst>
          </p:cNvPr>
          <p:cNvGraphicFramePr>
            <a:graphicFrameLocks noGrp="1"/>
          </p:cNvGraphicFramePr>
          <p:nvPr/>
        </p:nvGraphicFramePr>
        <p:xfrm>
          <a:off x="6264192" y="3007293"/>
          <a:ext cx="5537063" cy="633880"/>
        </p:xfrm>
        <a:graphic>
          <a:graphicData uri="http://schemas.openxmlformats.org/drawingml/2006/table">
            <a:tbl>
              <a:tblPr firstRow="1" bandRow="1">
                <a:tableStyleId>{5940675A-B579-460E-94D1-54222C63F5DA}</a:tableStyleId>
              </a:tblPr>
              <a:tblGrid>
                <a:gridCol w="791009">
                  <a:extLst>
                    <a:ext uri="{9D8B030D-6E8A-4147-A177-3AD203B41FA5}">
                      <a16:colId xmlns:a16="http://schemas.microsoft.com/office/drawing/2014/main" val="2132967321"/>
                    </a:ext>
                  </a:extLst>
                </a:gridCol>
                <a:gridCol w="791009">
                  <a:extLst>
                    <a:ext uri="{9D8B030D-6E8A-4147-A177-3AD203B41FA5}">
                      <a16:colId xmlns:a16="http://schemas.microsoft.com/office/drawing/2014/main" val="1063077608"/>
                    </a:ext>
                  </a:extLst>
                </a:gridCol>
                <a:gridCol w="791009">
                  <a:extLst>
                    <a:ext uri="{9D8B030D-6E8A-4147-A177-3AD203B41FA5}">
                      <a16:colId xmlns:a16="http://schemas.microsoft.com/office/drawing/2014/main" val="2993623427"/>
                    </a:ext>
                  </a:extLst>
                </a:gridCol>
                <a:gridCol w="791009">
                  <a:extLst>
                    <a:ext uri="{9D8B030D-6E8A-4147-A177-3AD203B41FA5}">
                      <a16:colId xmlns:a16="http://schemas.microsoft.com/office/drawing/2014/main" val="1839577594"/>
                    </a:ext>
                  </a:extLst>
                </a:gridCol>
                <a:gridCol w="791009">
                  <a:extLst>
                    <a:ext uri="{9D8B030D-6E8A-4147-A177-3AD203B41FA5}">
                      <a16:colId xmlns:a16="http://schemas.microsoft.com/office/drawing/2014/main" val="1386812864"/>
                    </a:ext>
                  </a:extLst>
                </a:gridCol>
                <a:gridCol w="791009">
                  <a:extLst>
                    <a:ext uri="{9D8B030D-6E8A-4147-A177-3AD203B41FA5}">
                      <a16:colId xmlns:a16="http://schemas.microsoft.com/office/drawing/2014/main" val="3091020297"/>
                    </a:ext>
                  </a:extLst>
                </a:gridCol>
                <a:gridCol w="791009">
                  <a:extLst>
                    <a:ext uri="{9D8B030D-6E8A-4147-A177-3AD203B41FA5}">
                      <a16:colId xmlns:a16="http://schemas.microsoft.com/office/drawing/2014/main" val="267198006"/>
                    </a:ext>
                  </a:extLst>
                </a:gridCol>
              </a:tblGrid>
              <a:tr h="633880">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10776323"/>
                  </a:ext>
                </a:extLst>
              </a:tr>
            </a:tbl>
          </a:graphicData>
        </a:graphic>
      </p:graphicFrame>
      <p:sp>
        <p:nvSpPr>
          <p:cNvPr id="35" name="Rectangle 34">
            <a:extLst>
              <a:ext uri="{FF2B5EF4-FFF2-40B4-BE49-F238E27FC236}">
                <a16:creationId xmlns:a16="http://schemas.microsoft.com/office/drawing/2014/main" id="{457BF2CC-3120-4731-A1D8-517E098EF9CA}"/>
              </a:ext>
            </a:extLst>
          </p:cNvPr>
          <p:cNvSpPr/>
          <p:nvPr/>
        </p:nvSpPr>
        <p:spPr>
          <a:xfrm>
            <a:off x="6396330" y="2998002"/>
            <a:ext cx="585417" cy="707886"/>
          </a:xfrm>
          <a:prstGeom prst="rect">
            <a:avLst/>
          </a:prstGeom>
        </p:spPr>
        <p:txBody>
          <a:bodyPr wrap="none">
            <a:spAutoFit/>
          </a:bodyPr>
          <a:lstStyle/>
          <a:p>
            <a:r>
              <a:rPr lang="en-US" sz="4000" b="1" dirty="0">
                <a:solidFill>
                  <a:srgbClr val="FF0000"/>
                </a:solidFill>
              </a:rPr>
              <a:t>A</a:t>
            </a:r>
          </a:p>
        </p:txBody>
      </p:sp>
      <p:sp>
        <p:nvSpPr>
          <p:cNvPr id="37" name="Rectangle 36">
            <a:extLst>
              <a:ext uri="{FF2B5EF4-FFF2-40B4-BE49-F238E27FC236}">
                <a16:creationId xmlns:a16="http://schemas.microsoft.com/office/drawing/2014/main" id="{DF75F60E-5E52-413B-A609-EE6BC608E8CE}"/>
              </a:ext>
            </a:extLst>
          </p:cNvPr>
          <p:cNvSpPr/>
          <p:nvPr/>
        </p:nvSpPr>
        <p:spPr>
          <a:xfrm>
            <a:off x="7157966" y="2967415"/>
            <a:ext cx="542136" cy="707886"/>
          </a:xfrm>
          <a:prstGeom prst="rect">
            <a:avLst/>
          </a:prstGeom>
        </p:spPr>
        <p:txBody>
          <a:bodyPr wrap="none">
            <a:spAutoFit/>
          </a:bodyPr>
          <a:lstStyle/>
          <a:p>
            <a:r>
              <a:rPr lang="en-US" sz="4000" b="1" dirty="0">
                <a:solidFill>
                  <a:srgbClr val="FF0000"/>
                </a:solidFill>
              </a:rPr>
              <a:t>B</a:t>
            </a:r>
          </a:p>
        </p:txBody>
      </p:sp>
      <p:sp>
        <p:nvSpPr>
          <p:cNvPr id="23" name="Oval 22">
            <a:extLst>
              <a:ext uri="{FF2B5EF4-FFF2-40B4-BE49-F238E27FC236}">
                <a16:creationId xmlns:a16="http://schemas.microsoft.com/office/drawing/2014/main" id="{A24584F2-FAB9-45A3-8751-0DB4540D8947}"/>
              </a:ext>
            </a:extLst>
          </p:cNvPr>
          <p:cNvSpPr/>
          <p:nvPr/>
        </p:nvSpPr>
        <p:spPr>
          <a:xfrm>
            <a:off x="1174043" y="3993961"/>
            <a:ext cx="435532" cy="456646"/>
          </a:xfrm>
          <a:prstGeom prst="ellipse">
            <a:avLst/>
          </a:prstGeom>
          <a:noFill/>
          <a:ln w="57150">
            <a:solidFill>
              <a:srgbClr val="66FF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5197193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Depth-First Search</a:t>
            </a:r>
          </a:p>
        </p:txBody>
      </p:sp>
      <p:sp>
        <p:nvSpPr>
          <p:cNvPr id="13" name="Slide Number Placeholder 12">
            <a:extLst>
              <a:ext uri="{FF2B5EF4-FFF2-40B4-BE49-F238E27FC236}">
                <a16:creationId xmlns:a16="http://schemas.microsoft.com/office/drawing/2014/main" id="{776A51E1-4A16-40E9-B15F-1A7BF1D1F658}"/>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19/110</a:t>
            </a:r>
          </a:p>
        </p:txBody>
      </p:sp>
      <p:cxnSp>
        <p:nvCxnSpPr>
          <p:cNvPr id="3" name="Straight Connector 2"/>
          <p:cNvCxnSpPr>
            <a:stCxn id="12" idx="1"/>
          </p:cNvCxnSpPr>
          <p:nvPr/>
        </p:nvCxnSpPr>
        <p:spPr>
          <a:xfrm flipH="1" flipV="1">
            <a:off x="591484" y="3154930"/>
            <a:ext cx="2198288" cy="93317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 name="Straight Connector 3"/>
          <p:cNvCxnSpPr>
            <a:stCxn id="7" idx="5"/>
          </p:cNvCxnSpPr>
          <p:nvPr/>
        </p:nvCxnSpPr>
        <p:spPr>
          <a:xfrm>
            <a:off x="1822647" y="2882606"/>
            <a:ext cx="1158049" cy="13377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flipV="1">
            <a:off x="1668663" y="2798110"/>
            <a:ext cx="1856048" cy="24517"/>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1442735" y="2902050"/>
            <a:ext cx="175670" cy="1109474"/>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 name="Oval 16"/>
          <p:cNvSpPr>
            <a:spLocks noChangeArrowheads="1"/>
          </p:cNvSpPr>
          <p:nvPr/>
        </p:nvSpPr>
        <p:spPr bwMode="auto">
          <a:xfrm>
            <a:off x="1450898" y="251085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8" name="Straight Connector 7"/>
          <p:cNvCxnSpPr/>
          <p:nvPr/>
        </p:nvCxnSpPr>
        <p:spPr>
          <a:xfrm flipH="1">
            <a:off x="1614589" y="4220371"/>
            <a:ext cx="1119177" cy="684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a:endCxn id="25" idx="1"/>
          </p:cNvCxnSpPr>
          <p:nvPr/>
        </p:nvCxnSpPr>
        <p:spPr>
          <a:xfrm>
            <a:off x="661742" y="3356506"/>
            <a:ext cx="563889" cy="863865"/>
          </a:xfrm>
          <a:prstGeom prst="line">
            <a:avLst/>
          </a:prstGeom>
          <a:ln w="38100">
            <a:solidFill>
              <a:srgbClr val="66FF33"/>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180346" y="4002606"/>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1" name="Oval 16"/>
          <p:cNvSpPr>
            <a:spLocks noChangeArrowheads="1"/>
          </p:cNvSpPr>
          <p:nvPr/>
        </p:nvSpPr>
        <p:spPr bwMode="auto">
          <a:xfrm>
            <a:off x="289993" y="303043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2" name="Oval 16"/>
          <p:cNvSpPr>
            <a:spLocks noChangeArrowheads="1"/>
          </p:cNvSpPr>
          <p:nvPr/>
        </p:nvSpPr>
        <p:spPr bwMode="auto">
          <a:xfrm>
            <a:off x="2725990" y="4024323"/>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5" name="Straight Connector 14"/>
          <p:cNvCxnSpPr>
            <a:stCxn id="12" idx="7"/>
          </p:cNvCxnSpPr>
          <p:nvPr/>
        </p:nvCxnSpPr>
        <p:spPr>
          <a:xfrm flipV="1">
            <a:off x="3097739" y="2849627"/>
            <a:ext cx="650011" cy="123847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20" idx="6"/>
          </p:cNvCxnSpPr>
          <p:nvPr/>
        </p:nvCxnSpPr>
        <p:spPr>
          <a:xfrm flipV="1">
            <a:off x="3958367" y="2985345"/>
            <a:ext cx="1367969" cy="125700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flipV="1">
            <a:off x="3902347" y="2791509"/>
            <a:ext cx="1353035" cy="6601"/>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3740601" y="3066765"/>
            <a:ext cx="45505" cy="95755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3522836" y="2616013"/>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0" name="Oval 16"/>
          <p:cNvSpPr>
            <a:spLocks noChangeArrowheads="1"/>
          </p:cNvSpPr>
          <p:nvPr/>
        </p:nvSpPr>
        <p:spPr bwMode="auto">
          <a:xfrm>
            <a:off x="3522836" y="4024585"/>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1" name="Oval 16"/>
          <p:cNvSpPr>
            <a:spLocks noChangeArrowheads="1"/>
          </p:cNvSpPr>
          <p:nvPr/>
        </p:nvSpPr>
        <p:spPr bwMode="auto">
          <a:xfrm>
            <a:off x="5241811" y="260081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TextBox 23"/>
          <p:cNvSpPr txBox="1"/>
          <p:nvPr/>
        </p:nvSpPr>
        <p:spPr>
          <a:xfrm>
            <a:off x="1500187" y="2532717"/>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25" name="TextBox 24"/>
          <p:cNvSpPr txBox="1"/>
          <p:nvPr/>
        </p:nvSpPr>
        <p:spPr>
          <a:xfrm>
            <a:off x="1225631" y="4035705"/>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26" name="TextBox 25"/>
          <p:cNvSpPr txBox="1"/>
          <p:nvPr/>
        </p:nvSpPr>
        <p:spPr>
          <a:xfrm>
            <a:off x="3590421" y="2637961"/>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27" name="Rectangle 26"/>
          <p:cNvSpPr/>
          <p:nvPr/>
        </p:nvSpPr>
        <p:spPr>
          <a:xfrm>
            <a:off x="338060" y="3068110"/>
            <a:ext cx="343364" cy="369332"/>
          </a:xfrm>
          <a:prstGeom prst="rect">
            <a:avLst/>
          </a:prstGeom>
        </p:spPr>
        <p:txBody>
          <a:bodyPr wrap="none">
            <a:spAutoFit/>
          </a:bodyPr>
          <a:lstStyle/>
          <a:p>
            <a:r>
              <a:rPr lang="en-US" b="1" dirty="0">
                <a:solidFill>
                  <a:prstClr val="black"/>
                </a:solidFill>
              </a:rPr>
              <a:t>D</a:t>
            </a:r>
          </a:p>
        </p:txBody>
      </p:sp>
      <p:sp>
        <p:nvSpPr>
          <p:cNvPr id="28" name="Rectangle 27"/>
          <p:cNvSpPr/>
          <p:nvPr/>
        </p:nvSpPr>
        <p:spPr>
          <a:xfrm>
            <a:off x="3569822" y="4067801"/>
            <a:ext cx="304892" cy="369332"/>
          </a:xfrm>
          <a:prstGeom prst="rect">
            <a:avLst/>
          </a:prstGeom>
        </p:spPr>
        <p:txBody>
          <a:bodyPr wrap="none">
            <a:spAutoFit/>
          </a:bodyPr>
          <a:lstStyle/>
          <a:p>
            <a:r>
              <a:rPr lang="en-US" b="1" dirty="0">
                <a:solidFill>
                  <a:prstClr val="black"/>
                </a:solidFill>
              </a:rPr>
              <a:t>F</a:t>
            </a:r>
          </a:p>
        </p:txBody>
      </p:sp>
      <p:sp>
        <p:nvSpPr>
          <p:cNvPr id="29" name="Rectangle 28"/>
          <p:cNvSpPr/>
          <p:nvPr/>
        </p:nvSpPr>
        <p:spPr>
          <a:xfrm>
            <a:off x="5292782" y="2616013"/>
            <a:ext cx="340158" cy="369332"/>
          </a:xfrm>
          <a:prstGeom prst="rect">
            <a:avLst/>
          </a:prstGeom>
        </p:spPr>
        <p:txBody>
          <a:bodyPr wrap="none">
            <a:spAutoFit/>
          </a:bodyPr>
          <a:lstStyle/>
          <a:p>
            <a:r>
              <a:rPr lang="en-US" b="1" dirty="0">
                <a:solidFill>
                  <a:prstClr val="black"/>
                </a:solidFill>
              </a:rPr>
              <a:t>G</a:t>
            </a:r>
          </a:p>
        </p:txBody>
      </p:sp>
      <p:sp>
        <p:nvSpPr>
          <p:cNvPr id="34" name="Rectangle 33"/>
          <p:cNvSpPr/>
          <p:nvPr/>
        </p:nvSpPr>
        <p:spPr>
          <a:xfrm>
            <a:off x="2785772" y="4049256"/>
            <a:ext cx="316112" cy="369332"/>
          </a:xfrm>
          <a:prstGeom prst="rect">
            <a:avLst/>
          </a:prstGeom>
        </p:spPr>
        <p:txBody>
          <a:bodyPr wrap="none">
            <a:spAutoFit/>
          </a:bodyPr>
          <a:lstStyle/>
          <a:p>
            <a:r>
              <a:rPr lang="en-US" b="1" dirty="0">
                <a:solidFill>
                  <a:prstClr val="black"/>
                </a:solidFill>
              </a:rPr>
              <a:t>E</a:t>
            </a:r>
          </a:p>
        </p:txBody>
      </p:sp>
      <p:cxnSp>
        <p:nvCxnSpPr>
          <p:cNvPr id="42" name="Straight Arrow Connector 41"/>
          <p:cNvCxnSpPr/>
          <p:nvPr/>
        </p:nvCxnSpPr>
        <p:spPr>
          <a:xfrm>
            <a:off x="1442735" y="2006514"/>
            <a:ext cx="119848" cy="4163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aphicFrame>
        <p:nvGraphicFramePr>
          <p:cNvPr id="14" name="Table 13">
            <a:extLst>
              <a:ext uri="{FF2B5EF4-FFF2-40B4-BE49-F238E27FC236}">
                <a16:creationId xmlns:a16="http://schemas.microsoft.com/office/drawing/2014/main" id="{BF5406CB-F50F-4509-A076-FA2DB2EB100E}"/>
              </a:ext>
            </a:extLst>
          </p:cNvPr>
          <p:cNvGraphicFramePr>
            <a:graphicFrameLocks noGrp="1"/>
          </p:cNvGraphicFramePr>
          <p:nvPr/>
        </p:nvGraphicFramePr>
        <p:xfrm>
          <a:off x="6264192" y="3007293"/>
          <a:ext cx="5537063" cy="633880"/>
        </p:xfrm>
        <a:graphic>
          <a:graphicData uri="http://schemas.openxmlformats.org/drawingml/2006/table">
            <a:tbl>
              <a:tblPr firstRow="1" bandRow="1">
                <a:tableStyleId>{5940675A-B579-460E-94D1-54222C63F5DA}</a:tableStyleId>
              </a:tblPr>
              <a:tblGrid>
                <a:gridCol w="791009">
                  <a:extLst>
                    <a:ext uri="{9D8B030D-6E8A-4147-A177-3AD203B41FA5}">
                      <a16:colId xmlns:a16="http://schemas.microsoft.com/office/drawing/2014/main" val="2132967321"/>
                    </a:ext>
                  </a:extLst>
                </a:gridCol>
                <a:gridCol w="791009">
                  <a:extLst>
                    <a:ext uri="{9D8B030D-6E8A-4147-A177-3AD203B41FA5}">
                      <a16:colId xmlns:a16="http://schemas.microsoft.com/office/drawing/2014/main" val="1063077608"/>
                    </a:ext>
                  </a:extLst>
                </a:gridCol>
                <a:gridCol w="791009">
                  <a:extLst>
                    <a:ext uri="{9D8B030D-6E8A-4147-A177-3AD203B41FA5}">
                      <a16:colId xmlns:a16="http://schemas.microsoft.com/office/drawing/2014/main" val="2993623427"/>
                    </a:ext>
                  </a:extLst>
                </a:gridCol>
                <a:gridCol w="791009">
                  <a:extLst>
                    <a:ext uri="{9D8B030D-6E8A-4147-A177-3AD203B41FA5}">
                      <a16:colId xmlns:a16="http://schemas.microsoft.com/office/drawing/2014/main" val="1839577594"/>
                    </a:ext>
                  </a:extLst>
                </a:gridCol>
                <a:gridCol w="791009">
                  <a:extLst>
                    <a:ext uri="{9D8B030D-6E8A-4147-A177-3AD203B41FA5}">
                      <a16:colId xmlns:a16="http://schemas.microsoft.com/office/drawing/2014/main" val="1386812864"/>
                    </a:ext>
                  </a:extLst>
                </a:gridCol>
                <a:gridCol w="791009">
                  <a:extLst>
                    <a:ext uri="{9D8B030D-6E8A-4147-A177-3AD203B41FA5}">
                      <a16:colId xmlns:a16="http://schemas.microsoft.com/office/drawing/2014/main" val="3091020297"/>
                    </a:ext>
                  </a:extLst>
                </a:gridCol>
                <a:gridCol w="791009">
                  <a:extLst>
                    <a:ext uri="{9D8B030D-6E8A-4147-A177-3AD203B41FA5}">
                      <a16:colId xmlns:a16="http://schemas.microsoft.com/office/drawing/2014/main" val="267198006"/>
                    </a:ext>
                  </a:extLst>
                </a:gridCol>
              </a:tblGrid>
              <a:tr h="633880">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10776323"/>
                  </a:ext>
                </a:extLst>
              </a:tr>
            </a:tbl>
          </a:graphicData>
        </a:graphic>
      </p:graphicFrame>
      <p:sp>
        <p:nvSpPr>
          <p:cNvPr id="35" name="Rectangle 34">
            <a:extLst>
              <a:ext uri="{FF2B5EF4-FFF2-40B4-BE49-F238E27FC236}">
                <a16:creationId xmlns:a16="http://schemas.microsoft.com/office/drawing/2014/main" id="{457BF2CC-3120-4731-A1D8-517E098EF9CA}"/>
              </a:ext>
            </a:extLst>
          </p:cNvPr>
          <p:cNvSpPr/>
          <p:nvPr/>
        </p:nvSpPr>
        <p:spPr>
          <a:xfrm>
            <a:off x="6396330" y="2998002"/>
            <a:ext cx="585417" cy="707886"/>
          </a:xfrm>
          <a:prstGeom prst="rect">
            <a:avLst/>
          </a:prstGeom>
        </p:spPr>
        <p:txBody>
          <a:bodyPr wrap="none">
            <a:spAutoFit/>
          </a:bodyPr>
          <a:lstStyle/>
          <a:p>
            <a:r>
              <a:rPr lang="en-US" sz="4000" b="1" dirty="0">
                <a:solidFill>
                  <a:srgbClr val="FF0000"/>
                </a:solidFill>
              </a:rPr>
              <a:t>A</a:t>
            </a:r>
          </a:p>
        </p:txBody>
      </p:sp>
      <p:sp>
        <p:nvSpPr>
          <p:cNvPr id="37" name="Rectangle 36">
            <a:extLst>
              <a:ext uri="{FF2B5EF4-FFF2-40B4-BE49-F238E27FC236}">
                <a16:creationId xmlns:a16="http://schemas.microsoft.com/office/drawing/2014/main" id="{DF75F60E-5E52-413B-A609-EE6BC608E8CE}"/>
              </a:ext>
            </a:extLst>
          </p:cNvPr>
          <p:cNvSpPr/>
          <p:nvPr/>
        </p:nvSpPr>
        <p:spPr>
          <a:xfrm>
            <a:off x="7157966" y="2967415"/>
            <a:ext cx="542136" cy="707886"/>
          </a:xfrm>
          <a:prstGeom prst="rect">
            <a:avLst/>
          </a:prstGeom>
        </p:spPr>
        <p:txBody>
          <a:bodyPr wrap="none">
            <a:spAutoFit/>
          </a:bodyPr>
          <a:lstStyle/>
          <a:p>
            <a:r>
              <a:rPr lang="en-US" sz="4000" b="1" dirty="0">
                <a:solidFill>
                  <a:srgbClr val="FF0000"/>
                </a:solidFill>
              </a:rPr>
              <a:t>B</a:t>
            </a:r>
          </a:p>
        </p:txBody>
      </p:sp>
      <p:sp>
        <p:nvSpPr>
          <p:cNvPr id="33" name="Rectangle 32">
            <a:extLst>
              <a:ext uri="{FF2B5EF4-FFF2-40B4-BE49-F238E27FC236}">
                <a16:creationId xmlns:a16="http://schemas.microsoft.com/office/drawing/2014/main" id="{FB870B62-A576-46D1-AEEF-76FB1129DE65}"/>
              </a:ext>
            </a:extLst>
          </p:cNvPr>
          <p:cNvSpPr/>
          <p:nvPr/>
        </p:nvSpPr>
        <p:spPr>
          <a:xfrm>
            <a:off x="7965672" y="2954758"/>
            <a:ext cx="596638" cy="707886"/>
          </a:xfrm>
          <a:prstGeom prst="rect">
            <a:avLst/>
          </a:prstGeom>
        </p:spPr>
        <p:txBody>
          <a:bodyPr wrap="none">
            <a:spAutoFit/>
          </a:bodyPr>
          <a:lstStyle/>
          <a:p>
            <a:r>
              <a:rPr lang="en-US" sz="4000" b="1" dirty="0">
                <a:solidFill>
                  <a:srgbClr val="FF0000"/>
                </a:solidFill>
              </a:rPr>
              <a:t>D</a:t>
            </a:r>
          </a:p>
        </p:txBody>
      </p:sp>
      <p:sp>
        <p:nvSpPr>
          <p:cNvPr id="36" name="Oval 35">
            <a:extLst>
              <a:ext uri="{FF2B5EF4-FFF2-40B4-BE49-F238E27FC236}">
                <a16:creationId xmlns:a16="http://schemas.microsoft.com/office/drawing/2014/main" id="{F77DB4C9-54BD-41A0-BB86-C057F6B2AF22}"/>
              </a:ext>
            </a:extLst>
          </p:cNvPr>
          <p:cNvSpPr/>
          <p:nvPr/>
        </p:nvSpPr>
        <p:spPr>
          <a:xfrm>
            <a:off x="293231" y="3022664"/>
            <a:ext cx="435532" cy="456646"/>
          </a:xfrm>
          <a:prstGeom prst="ellipse">
            <a:avLst/>
          </a:prstGeom>
          <a:noFill/>
          <a:ln w="57150">
            <a:solidFill>
              <a:srgbClr val="66FF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077820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Depth-First Search</a:t>
            </a:r>
          </a:p>
        </p:txBody>
      </p:sp>
      <p:sp>
        <p:nvSpPr>
          <p:cNvPr id="13" name="Slide Number Placeholder 12">
            <a:extLst>
              <a:ext uri="{FF2B5EF4-FFF2-40B4-BE49-F238E27FC236}">
                <a16:creationId xmlns:a16="http://schemas.microsoft.com/office/drawing/2014/main" id="{776A51E1-4A16-40E9-B15F-1A7BF1D1F658}"/>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20/110</a:t>
            </a:r>
          </a:p>
        </p:txBody>
      </p:sp>
      <p:cxnSp>
        <p:nvCxnSpPr>
          <p:cNvPr id="3" name="Straight Connector 2"/>
          <p:cNvCxnSpPr>
            <a:stCxn id="12" idx="1"/>
          </p:cNvCxnSpPr>
          <p:nvPr/>
        </p:nvCxnSpPr>
        <p:spPr>
          <a:xfrm flipH="1" flipV="1">
            <a:off x="591484" y="3154930"/>
            <a:ext cx="2198288" cy="93317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 name="Straight Connector 3"/>
          <p:cNvCxnSpPr>
            <a:stCxn id="7" idx="5"/>
          </p:cNvCxnSpPr>
          <p:nvPr/>
        </p:nvCxnSpPr>
        <p:spPr>
          <a:xfrm>
            <a:off x="1822647" y="2882606"/>
            <a:ext cx="1158049" cy="13377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flipV="1">
            <a:off x="1668663" y="2798110"/>
            <a:ext cx="1856048" cy="24517"/>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1442735" y="2902050"/>
            <a:ext cx="175670" cy="1109474"/>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 name="Oval 16"/>
          <p:cNvSpPr>
            <a:spLocks noChangeArrowheads="1"/>
          </p:cNvSpPr>
          <p:nvPr/>
        </p:nvSpPr>
        <p:spPr bwMode="auto">
          <a:xfrm>
            <a:off x="1450898" y="251085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8" name="Straight Connector 7"/>
          <p:cNvCxnSpPr/>
          <p:nvPr/>
        </p:nvCxnSpPr>
        <p:spPr>
          <a:xfrm flipH="1">
            <a:off x="1614589" y="4220371"/>
            <a:ext cx="1119177" cy="684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a:endCxn id="25" idx="1"/>
          </p:cNvCxnSpPr>
          <p:nvPr/>
        </p:nvCxnSpPr>
        <p:spPr>
          <a:xfrm>
            <a:off x="661742" y="3356506"/>
            <a:ext cx="563889" cy="8638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180346" y="4002606"/>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1" name="Oval 16"/>
          <p:cNvSpPr>
            <a:spLocks noChangeArrowheads="1"/>
          </p:cNvSpPr>
          <p:nvPr/>
        </p:nvSpPr>
        <p:spPr bwMode="auto">
          <a:xfrm>
            <a:off x="289993" y="303043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2" name="Oval 16"/>
          <p:cNvSpPr>
            <a:spLocks noChangeArrowheads="1"/>
          </p:cNvSpPr>
          <p:nvPr/>
        </p:nvSpPr>
        <p:spPr bwMode="auto">
          <a:xfrm>
            <a:off x="2725990" y="4024323"/>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5" name="Straight Connector 14"/>
          <p:cNvCxnSpPr>
            <a:stCxn id="12" idx="7"/>
          </p:cNvCxnSpPr>
          <p:nvPr/>
        </p:nvCxnSpPr>
        <p:spPr>
          <a:xfrm flipV="1">
            <a:off x="3097739" y="2849627"/>
            <a:ext cx="650011" cy="123847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20" idx="6"/>
          </p:cNvCxnSpPr>
          <p:nvPr/>
        </p:nvCxnSpPr>
        <p:spPr>
          <a:xfrm flipV="1">
            <a:off x="3958367" y="2985345"/>
            <a:ext cx="1367969" cy="125700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flipV="1">
            <a:off x="3902347" y="2791509"/>
            <a:ext cx="1353035" cy="6601"/>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3740601" y="3066765"/>
            <a:ext cx="45505" cy="95755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3522836" y="2616013"/>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0" name="Oval 16"/>
          <p:cNvSpPr>
            <a:spLocks noChangeArrowheads="1"/>
          </p:cNvSpPr>
          <p:nvPr/>
        </p:nvSpPr>
        <p:spPr bwMode="auto">
          <a:xfrm>
            <a:off x="3522836" y="4024585"/>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1" name="Oval 16"/>
          <p:cNvSpPr>
            <a:spLocks noChangeArrowheads="1"/>
          </p:cNvSpPr>
          <p:nvPr/>
        </p:nvSpPr>
        <p:spPr bwMode="auto">
          <a:xfrm>
            <a:off x="5241811" y="260081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TextBox 23"/>
          <p:cNvSpPr txBox="1"/>
          <p:nvPr/>
        </p:nvSpPr>
        <p:spPr>
          <a:xfrm>
            <a:off x="1500187" y="2532717"/>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25" name="TextBox 24"/>
          <p:cNvSpPr txBox="1"/>
          <p:nvPr/>
        </p:nvSpPr>
        <p:spPr>
          <a:xfrm>
            <a:off x="1225631" y="4035705"/>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26" name="TextBox 25"/>
          <p:cNvSpPr txBox="1"/>
          <p:nvPr/>
        </p:nvSpPr>
        <p:spPr>
          <a:xfrm>
            <a:off x="3590421" y="2637961"/>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27" name="Rectangle 26"/>
          <p:cNvSpPr/>
          <p:nvPr/>
        </p:nvSpPr>
        <p:spPr>
          <a:xfrm>
            <a:off x="338060" y="3068110"/>
            <a:ext cx="343364" cy="369332"/>
          </a:xfrm>
          <a:prstGeom prst="rect">
            <a:avLst/>
          </a:prstGeom>
        </p:spPr>
        <p:txBody>
          <a:bodyPr wrap="none">
            <a:spAutoFit/>
          </a:bodyPr>
          <a:lstStyle/>
          <a:p>
            <a:r>
              <a:rPr lang="en-US" b="1" dirty="0">
                <a:solidFill>
                  <a:prstClr val="black"/>
                </a:solidFill>
              </a:rPr>
              <a:t>D</a:t>
            </a:r>
          </a:p>
        </p:txBody>
      </p:sp>
      <p:sp>
        <p:nvSpPr>
          <p:cNvPr id="28" name="Rectangle 27"/>
          <p:cNvSpPr/>
          <p:nvPr/>
        </p:nvSpPr>
        <p:spPr>
          <a:xfrm>
            <a:off x="3569822" y="4067801"/>
            <a:ext cx="304892" cy="369332"/>
          </a:xfrm>
          <a:prstGeom prst="rect">
            <a:avLst/>
          </a:prstGeom>
        </p:spPr>
        <p:txBody>
          <a:bodyPr wrap="none">
            <a:spAutoFit/>
          </a:bodyPr>
          <a:lstStyle/>
          <a:p>
            <a:r>
              <a:rPr lang="en-US" b="1" dirty="0">
                <a:solidFill>
                  <a:prstClr val="black"/>
                </a:solidFill>
              </a:rPr>
              <a:t>F</a:t>
            </a:r>
          </a:p>
        </p:txBody>
      </p:sp>
      <p:sp>
        <p:nvSpPr>
          <p:cNvPr id="29" name="Rectangle 28"/>
          <p:cNvSpPr/>
          <p:nvPr/>
        </p:nvSpPr>
        <p:spPr>
          <a:xfrm>
            <a:off x="5292782" y="2616013"/>
            <a:ext cx="340158" cy="369332"/>
          </a:xfrm>
          <a:prstGeom prst="rect">
            <a:avLst/>
          </a:prstGeom>
        </p:spPr>
        <p:txBody>
          <a:bodyPr wrap="none">
            <a:spAutoFit/>
          </a:bodyPr>
          <a:lstStyle/>
          <a:p>
            <a:r>
              <a:rPr lang="en-US" b="1" dirty="0">
                <a:solidFill>
                  <a:prstClr val="black"/>
                </a:solidFill>
              </a:rPr>
              <a:t>G</a:t>
            </a:r>
          </a:p>
        </p:txBody>
      </p:sp>
      <p:sp>
        <p:nvSpPr>
          <p:cNvPr id="34" name="Rectangle 33"/>
          <p:cNvSpPr/>
          <p:nvPr/>
        </p:nvSpPr>
        <p:spPr>
          <a:xfrm>
            <a:off x="2785772" y="4049256"/>
            <a:ext cx="316112" cy="369332"/>
          </a:xfrm>
          <a:prstGeom prst="rect">
            <a:avLst/>
          </a:prstGeom>
        </p:spPr>
        <p:txBody>
          <a:bodyPr wrap="none">
            <a:spAutoFit/>
          </a:bodyPr>
          <a:lstStyle/>
          <a:p>
            <a:r>
              <a:rPr lang="en-US" b="1" dirty="0">
                <a:solidFill>
                  <a:prstClr val="black"/>
                </a:solidFill>
              </a:rPr>
              <a:t>E</a:t>
            </a:r>
          </a:p>
        </p:txBody>
      </p:sp>
      <p:cxnSp>
        <p:nvCxnSpPr>
          <p:cNvPr id="42" name="Straight Arrow Connector 41"/>
          <p:cNvCxnSpPr/>
          <p:nvPr/>
        </p:nvCxnSpPr>
        <p:spPr>
          <a:xfrm>
            <a:off x="1442735" y="2006514"/>
            <a:ext cx="119848" cy="4163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aphicFrame>
        <p:nvGraphicFramePr>
          <p:cNvPr id="14" name="Table 13">
            <a:extLst>
              <a:ext uri="{FF2B5EF4-FFF2-40B4-BE49-F238E27FC236}">
                <a16:creationId xmlns:a16="http://schemas.microsoft.com/office/drawing/2014/main" id="{BF5406CB-F50F-4509-A076-FA2DB2EB100E}"/>
              </a:ext>
            </a:extLst>
          </p:cNvPr>
          <p:cNvGraphicFramePr>
            <a:graphicFrameLocks noGrp="1"/>
          </p:cNvGraphicFramePr>
          <p:nvPr/>
        </p:nvGraphicFramePr>
        <p:xfrm>
          <a:off x="6264192" y="3007293"/>
          <a:ext cx="5537063" cy="633880"/>
        </p:xfrm>
        <a:graphic>
          <a:graphicData uri="http://schemas.openxmlformats.org/drawingml/2006/table">
            <a:tbl>
              <a:tblPr firstRow="1" bandRow="1">
                <a:tableStyleId>{5940675A-B579-460E-94D1-54222C63F5DA}</a:tableStyleId>
              </a:tblPr>
              <a:tblGrid>
                <a:gridCol w="791009">
                  <a:extLst>
                    <a:ext uri="{9D8B030D-6E8A-4147-A177-3AD203B41FA5}">
                      <a16:colId xmlns:a16="http://schemas.microsoft.com/office/drawing/2014/main" val="2132967321"/>
                    </a:ext>
                  </a:extLst>
                </a:gridCol>
                <a:gridCol w="791009">
                  <a:extLst>
                    <a:ext uri="{9D8B030D-6E8A-4147-A177-3AD203B41FA5}">
                      <a16:colId xmlns:a16="http://schemas.microsoft.com/office/drawing/2014/main" val="1063077608"/>
                    </a:ext>
                  </a:extLst>
                </a:gridCol>
                <a:gridCol w="791009">
                  <a:extLst>
                    <a:ext uri="{9D8B030D-6E8A-4147-A177-3AD203B41FA5}">
                      <a16:colId xmlns:a16="http://schemas.microsoft.com/office/drawing/2014/main" val="2993623427"/>
                    </a:ext>
                  </a:extLst>
                </a:gridCol>
                <a:gridCol w="791009">
                  <a:extLst>
                    <a:ext uri="{9D8B030D-6E8A-4147-A177-3AD203B41FA5}">
                      <a16:colId xmlns:a16="http://schemas.microsoft.com/office/drawing/2014/main" val="1839577594"/>
                    </a:ext>
                  </a:extLst>
                </a:gridCol>
                <a:gridCol w="791009">
                  <a:extLst>
                    <a:ext uri="{9D8B030D-6E8A-4147-A177-3AD203B41FA5}">
                      <a16:colId xmlns:a16="http://schemas.microsoft.com/office/drawing/2014/main" val="1386812864"/>
                    </a:ext>
                  </a:extLst>
                </a:gridCol>
                <a:gridCol w="791009">
                  <a:extLst>
                    <a:ext uri="{9D8B030D-6E8A-4147-A177-3AD203B41FA5}">
                      <a16:colId xmlns:a16="http://schemas.microsoft.com/office/drawing/2014/main" val="3091020297"/>
                    </a:ext>
                  </a:extLst>
                </a:gridCol>
                <a:gridCol w="791009">
                  <a:extLst>
                    <a:ext uri="{9D8B030D-6E8A-4147-A177-3AD203B41FA5}">
                      <a16:colId xmlns:a16="http://schemas.microsoft.com/office/drawing/2014/main" val="267198006"/>
                    </a:ext>
                  </a:extLst>
                </a:gridCol>
              </a:tblGrid>
              <a:tr h="633880">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10776323"/>
                  </a:ext>
                </a:extLst>
              </a:tr>
            </a:tbl>
          </a:graphicData>
        </a:graphic>
      </p:graphicFrame>
      <p:sp>
        <p:nvSpPr>
          <p:cNvPr id="35" name="Rectangle 34">
            <a:extLst>
              <a:ext uri="{FF2B5EF4-FFF2-40B4-BE49-F238E27FC236}">
                <a16:creationId xmlns:a16="http://schemas.microsoft.com/office/drawing/2014/main" id="{457BF2CC-3120-4731-A1D8-517E098EF9CA}"/>
              </a:ext>
            </a:extLst>
          </p:cNvPr>
          <p:cNvSpPr/>
          <p:nvPr/>
        </p:nvSpPr>
        <p:spPr>
          <a:xfrm>
            <a:off x="6396330" y="2998002"/>
            <a:ext cx="585417" cy="707886"/>
          </a:xfrm>
          <a:prstGeom prst="rect">
            <a:avLst/>
          </a:prstGeom>
        </p:spPr>
        <p:txBody>
          <a:bodyPr wrap="none">
            <a:spAutoFit/>
          </a:bodyPr>
          <a:lstStyle/>
          <a:p>
            <a:r>
              <a:rPr lang="en-US" sz="4000" b="1" dirty="0">
                <a:solidFill>
                  <a:srgbClr val="FF0000"/>
                </a:solidFill>
              </a:rPr>
              <a:t>A</a:t>
            </a:r>
          </a:p>
        </p:txBody>
      </p:sp>
      <p:sp>
        <p:nvSpPr>
          <p:cNvPr id="37" name="Rectangle 36">
            <a:extLst>
              <a:ext uri="{FF2B5EF4-FFF2-40B4-BE49-F238E27FC236}">
                <a16:creationId xmlns:a16="http://schemas.microsoft.com/office/drawing/2014/main" id="{DF75F60E-5E52-413B-A609-EE6BC608E8CE}"/>
              </a:ext>
            </a:extLst>
          </p:cNvPr>
          <p:cNvSpPr/>
          <p:nvPr/>
        </p:nvSpPr>
        <p:spPr>
          <a:xfrm>
            <a:off x="7157966" y="2967415"/>
            <a:ext cx="542136" cy="707886"/>
          </a:xfrm>
          <a:prstGeom prst="rect">
            <a:avLst/>
          </a:prstGeom>
        </p:spPr>
        <p:txBody>
          <a:bodyPr wrap="none">
            <a:spAutoFit/>
          </a:bodyPr>
          <a:lstStyle/>
          <a:p>
            <a:r>
              <a:rPr lang="en-US" sz="4000" b="1" dirty="0">
                <a:solidFill>
                  <a:srgbClr val="FF0000"/>
                </a:solidFill>
              </a:rPr>
              <a:t>B</a:t>
            </a:r>
          </a:p>
        </p:txBody>
      </p:sp>
      <p:sp>
        <p:nvSpPr>
          <p:cNvPr id="38" name="Rectangle 37">
            <a:extLst>
              <a:ext uri="{FF2B5EF4-FFF2-40B4-BE49-F238E27FC236}">
                <a16:creationId xmlns:a16="http://schemas.microsoft.com/office/drawing/2014/main" id="{76AF2CB9-D04B-4D1E-A733-9D202F8EAA4D}"/>
              </a:ext>
            </a:extLst>
          </p:cNvPr>
          <p:cNvSpPr/>
          <p:nvPr/>
        </p:nvSpPr>
        <p:spPr>
          <a:xfrm>
            <a:off x="7965672" y="2954758"/>
            <a:ext cx="596638" cy="707886"/>
          </a:xfrm>
          <a:prstGeom prst="rect">
            <a:avLst/>
          </a:prstGeom>
        </p:spPr>
        <p:txBody>
          <a:bodyPr wrap="none">
            <a:spAutoFit/>
          </a:bodyPr>
          <a:lstStyle/>
          <a:p>
            <a:r>
              <a:rPr lang="en-US" sz="4000" b="1" dirty="0">
                <a:solidFill>
                  <a:srgbClr val="FF0000"/>
                </a:solidFill>
              </a:rPr>
              <a:t>D</a:t>
            </a:r>
          </a:p>
        </p:txBody>
      </p:sp>
      <p:sp>
        <p:nvSpPr>
          <p:cNvPr id="39" name="Rectangle 38">
            <a:extLst>
              <a:ext uri="{FF2B5EF4-FFF2-40B4-BE49-F238E27FC236}">
                <a16:creationId xmlns:a16="http://schemas.microsoft.com/office/drawing/2014/main" id="{17446EAF-123B-48A0-A455-7BB4D0AA807C}"/>
              </a:ext>
            </a:extLst>
          </p:cNvPr>
          <p:cNvSpPr/>
          <p:nvPr/>
        </p:nvSpPr>
        <p:spPr>
          <a:xfrm>
            <a:off x="8724026" y="2998002"/>
            <a:ext cx="510076" cy="707886"/>
          </a:xfrm>
          <a:prstGeom prst="rect">
            <a:avLst/>
          </a:prstGeom>
        </p:spPr>
        <p:txBody>
          <a:bodyPr wrap="none">
            <a:spAutoFit/>
          </a:bodyPr>
          <a:lstStyle/>
          <a:p>
            <a:r>
              <a:rPr lang="en-US" sz="4000" b="1" dirty="0">
                <a:solidFill>
                  <a:srgbClr val="FF0000"/>
                </a:solidFill>
              </a:rPr>
              <a:t>E</a:t>
            </a:r>
          </a:p>
        </p:txBody>
      </p:sp>
      <p:sp>
        <p:nvSpPr>
          <p:cNvPr id="41" name="Rectangle 40">
            <a:extLst>
              <a:ext uri="{FF2B5EF4-FFF2-40B4-BE49-F238E27FC236}">
                <a16:creationId xmlns:a16="http://schemas.microsoft.com/office/drawing/2014/main" id="{B39DA76B-B72B-44D2-9009-5AE521710776}"/>
              </a:ext>
            </a:extLst>
          </p:cNvPr>
          <p:cNvSpPr/>
          <p:nvPr/>
        </p:nvSpPr>
        <p:spPr>
          <a:xfrm>
            <a:off x="9531732" y="2985345"/>
            <a:ext cx="596638" cy="707886"/>
          </a:xfrm>
          <a:prstGeom prst="rect">
            <a:avLst/>
          </a:prstGeom>
        </p:spPr>
        <p:txBody>
          <a:bodyPr wrap="none">
            <a:spAutoFit/>
          </a:bodyPr>
          <a:lstStyle/>
          <a:p>
            <a:r>
              <a:rPr lang="en-US" sz="4000" b="1" dirty="0">
                <a:solidFill>
                  <a:srgbClr val="FF0000"/>
                </a:solidFill>
              </a:rPr>
              <a:t>C</a:t>
            </a:r>
          </a:p>
        </p:txBody>
      </p:sp>
      <p:sp>
        <p:nvSpPr>
          <p:cNvPr id="43" name="Rectangle 42">
            <a:extLst>
              <a:ext uri="{FF2B5EF4-FFF2-40B4-BE49-F238E27FC236}">
                <a16:creationId xmlns:a16="http://schemas.microsoft.com/office/drawing/2014/main" id="{3A444E79-1F26-4B92-86E0-A5D12291D2DB}"/>
              </a:ext>
            </a:extLst>
          </p:cNvPr>
          <p:cNvSpPr/>
          <p:nvPr/>
        </p:nvSpPr>
        <p:spPr>
          <a:xfrm>
            <a:off x="10372235" y="2986847"/>
            <a:ext cx="494046" cy="707886"/>
          </a:xfrm>
          <a:prstGeom prst="rect">
            <a:avLst/>
          </a:prstGeom>
        </p:spPr>
        <p:txBody>
          <a:bodyPr wrap="none">
            <a:spAutoFit/>
          </a:bodyPr>
          <a:lstStyle/>
          <a:p>
            <a:r>
              <a:rPr lang="en-US" sz="4000" b="1" dirty="0">
                <a:solidFill>
                  <a:srgbClr val="FF0000"/>
                </a:solidFill>
              </a:rPr>
              <a:t>F</a:t>
            </a:r>
          </a:p>
        </p:txBody>
      </p:sp>
      <p:sp>
        <p:nvSpPr>
          <p:cNvPr id="44" name="Rectangle 43">
            <a:extLst>
              <a:ext uri="{FF2B5EF4-FFF2-40B4-BE49-F238E27FC236}">
                <a16:creationId xmlns:a16="http://schemas.microsoft.com/office/drawing/2014/main" id="{ACC85732-5A5A-4108-851A-19D3CE741F59}"/>
              </a:ext>
            </a:extLst>
          </p:cNvPr>
          <p:cNvSpPr/>
          <p:nvPr/>
        </p:nvSpPr>
        <p:spPr>
          <a:xfrm>
            <a:off x="11179941" y="2974190"/>
            <a:ext cx="596638" cy="707886"/>
          </a:xfrm>
          <a:prstGeom prst="rect">
            <a:avLst/>
          </a:prstGeom>
        </p:spPr>
        <p:txBody>
          <a:bodyPr wrap="none">
            <a:spAutoFit/>
          </a:bodyPr>
          <a:lstStyle/>
          <a:p>
            <a:r>
              <a:rPr lang="en-US" sz="4000" b="1" dirty="0">
                <a:solidFill>
                  <a:srgbClr val="FF0000"/>
                </a:solidFill>
              </a:rPr>
              <a:t>G</a:t>
            </a:r>
          </a:p>
        </p:txBody>
      </p:sp>
      <p:sp>
        <p:nvSpPr>
          <p:cNvPr id="23" name="Oval 22">
            <a:extLst>
              <a:ext uri="{FF2B5EF4-FFF2-40B4-BE49-F238E27FC236}">
                <a16:creationId xmlns:a16="http://schemas.microsoft.com/office/drawing/2014/main" id="{A24584F2-FAB9-45A3-8751-0DB4540D8947}"/>
              </a:ext>
            </a:extLst>
          </p:cNvPr>
          <p:cNvSpPr/>
          <p:nvPr/>
        </p:nvSpPr>
        <p:spPr>
          <a:xfrm>
            <a:off x="2724941" y="4011891"/>
            <a:ext cx="435532" cy="456646"/>
          </a:xfrm>
          <a:prstGeom prst="ellipse">
            <a:avLst/>
          </a:prstGeom>
          <a:noFill/>
          <a:ln w="57150">
            <a:solidFill>
              <a:srgbClr val="66FF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B8A553E3-4E69-433C-A042-4D9145F41702}"/>
              </a:ext>
            </a:extLst>
          </p:cNvPr>
          <p:cNvSpPr/>
          <p:nvPr/>
        </p:nvSpPr>
        <p:spPr>
          <a:xfrm>
            <a:off x="3540729" y="2604430"/>
            <a:ext cx="435532" cy="456646"/>
          </a:xfrm>
          <a:prstGeom prst="ellipse">
            <a:avLst/>
          </a:prstGeom>
          <a:noFill/>
          <a:ln w="57150">
            <a:solidFill>
              <a:srgbClr val="66FF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7CA93588-5B7D-4A25-84B1-CC1AA0F79D91}"/>
              </a:ext>
            </a:extLst>
          </p:cNvPr>
          <p:cNvSpPr/>
          <p:nvPr/>
        </p:nvSpPr>
        <p:spPr>
          <a:xfrm>
            <a:off x="3522800" y="4020853"/>
            <a:ext cx="435532" cy="456646"/>
          </a:xfrm>
          <a:prstGeom prst="ellipse">
            <a:avLst/>
          </a:prstGeom>
          <a:noFill/>
          <a:ln w="57150">
            <a:solidFill>
              <a:srgbClr val="66FF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9F3F4807-C02E-4BA6-B65B-AC5519700032}"/>
              </a:ext>
            </a:extLst>
          </p:cNvPr>
          <p:cNvSpPr/>
          <p:nvPr/>
        </p:nvSpPr>
        <p:spPr>
          <a:xfrm>
            <a:off x="5252988" y="2586498"/>
            <a:ext cx="435532" cy="456646"/>
          </a:xfrm>
          <a:prstGeom prst="ellipse">
            <a:avLst/>
          </a:prstGeom>
          <a:noFill/>
          <a:ln w="57150">
            <a:solidFill>
              <a:srgbClr val="66FF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651117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3"/>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40"/>
                                        </p:tgtEl>
                                        <p:attrNameLst>
                                          <p:attrName>style.visibility</p:attrName>
                                        </p:attrNameLst>
                                      </p:cBhvr>
                                      <p:to>
                                        <p:strVal val="hidden"/>
                                      </p:to>
                                    </p:set>
                                  </p:childTnLst>
                                </p:cTn>
                              </p:par>
                              <p:par>
                                <p:cTn id="19" presetID="1" presetClass="entr" presetSubtype="0" fill="hold" grpId="0"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3">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45"/>
                                        </p:tgtEl>
                                        <p:attrNameLst>
                                          <p:attrName>style.visibility</p:attrName>
                                        </p:attrNameLst>
                                      </p:cBhvr>
                                      <p:to>
                                        <p:strVal val="hidden"/>
                                      </p:to>
                                    </p:set>
                                  </p:childTnLst>
                                </p:cTn>
                              </p:par>
                              <p:par>
                                <p:cTn id="27" presetID="1" presetClass="entr" presetSubtype="0" fill="hold" grpId="0" nodeType="withEffect">
                                  <p:stCondLst>
                                    <p:cond delay="0"/>
                                  </p:stCondLst>
                                  <p:childTnLst>
                                    <p:set>
                                      <p:cBhvr>
                                        <p:cTn id="28" dur="1" fill="hold">
                                          <p:stCondLst>
                                            <p:cond delay="0"/>
                                          </p:stCondLst>
                                        </p:cTn>
                                        <p:tgtEl>
                                          <p:spTgt spid="4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4">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4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1" animBg="1"/>
      <p:bldP spid="40" grpId="0" animBg="1"/>
      <p:bldP spid="40" grpId="1" animBg="1"/>
      <p:bldP spid="45" grpId="0" animBg="1"/>
      <p:bldP spid="45" grpId="1" animBg="1"/>
      <p:bldP spid="46" grpId="0" animBg="1"/>
      <p:bldP spid="46"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Depth-First Search</a:t>
            </a:r>
          </a:p>
        </p:txBody>
      </p:sp>
      <p:sp>
        <p:nvSpPr>
          <p:cNvPr id="13" name="Slide Number Placeholder 12">
            <a:extLst>
              <a:ext uri="{FF2B5EF4-FFF2-40B4-BE49-F238E27FC236}">
                <a16:creationId xmlns:a16="http://schemas.microsoft.com/office/drawing/2014/main" id="{776A51E1-4A16-40E9-B15F-1A7BF1D1F658}"/>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21/110</a:t>
            </a:r>
          </a:p>
        </p:txBody>
      </p:sp>
      <p:cxnSp>
        <p:nvCxnSpPr>
          <p:cNvPr id="3" name="Straight Connector 2"/>
          <p:cNvCxnSpPr>
            <a:stCxn id="12" idx="1"/>
          </p:cNvCxnSpPr>
          <p:nvPr/>
        </p:nvCxnSpPr>
        <p:spPr>
          <a:xfrm flipH="1" flipV="1">
            <a:off x="1097669" y="3734594"/>
            <a:ext cx="2198288" cy="93317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 name="Straight Connector 3"/>
          <p:cNvCxnSpPr>
            <a:stCxn id="7" idx="5"/>
          </p:cNvCxnSpPr>
          <p:nvPr/>
        </p:nvCxnSpPr>
        <p:spPr>
          <a:xfrm>
            <a:off x="2328832" y="3462270"/>
            <a:ext cx="1158049" cy="13377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flipV="1">
            <a:off x="2174848" y="3377774"/>
            <a:ext cx="1856048" cy="24517"/>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1948920" y="3481714"/>
            <a:ext cx="175670" cy="1109474"/>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 name="Oval 16"/>
          <p:cNvSpPr>
            <a:spLocks noChangeArrowheads="1"/>
          </p:cNvSpPr>
          <p:nvPr/>
        </p:nvSpPr>
        <p:spPr bwMode="auto">
          <a:xfrm>
            <a:off x="1957083" y="309052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8" name="Straight Connector 7"/>
          <p:cNvCxnSpPr/>
          <p:nvPr/>
        </p:nvCxnSpPr>
        <p:spPr>
          <a:xfrm flipH="1">
            <a:off x="2120774" y="4800035"/>
            <a:ext cx="1119177" cy="684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a:endCxn id="25" idx="1"/>
          </p:cNvCxnSpPr>
          <p:nvPr/>
        </p:nvCxnSpPr>
        <p:spPr>
          <a:xfrm>
            <a:off x="1167927" y="3936170"/>
            <a:ext cx="563889" cy="8638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686531" y="458227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1" name="Oval 16"/>
          <p:cNvSpPr>
            <a:spLocks noChangeArrowheads="1"/>
          </p:cNvSpPr>
          <p:nvPr/>
        </p:nvSpPr>
        <p:spPr bwMode="auto">
          <a:xfrm>
            <a:off x="796178" y="3610102"/>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2" name="Oval 16"/>
          <p:cNvSpPr>
            <a:spLocks noChangeArrowheads="1"/>
          </p:cNvSpPr>
          <p:nvPr/>
        </p:nvSpPr>
        <p:spPr bwMode="auto">
          <a:xfrm>
            <a:off x="3232175" y="460398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5" name="Straight Connector 14"/>
          <p:cNvCxnSpPr>
            <a:stCxn id="12" idx="7"/>
          </p:cNvCxnSpPr>
          <p:nvPr/>
        </p:nvCxnSpPr>
        <p:spPr>
          <a:xfrm flipV="1">
            <a:off x="3603924" y="3429291"/>
            <a:ext cx="650011" cy="123847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20" idx="6"/>
          </p:cNvCxnSpPr>
          <p:nvPr/>
        </p:nvCxnSpPr>
        <p:spPr>
          <a:xfrm flipV="1">
            <a:off x="4464552" y="3565009"/>
            <a:ext cx="1367969" cy="125700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flipV="1">
            <a:off x="4408532" y="3371173"/>
            <a:ext cx="1353035" cy="6601"/>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4246786" y="3646429"/>
            <a:ext cx="45505" cy="95755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4029021" y="319567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0" name="Oval 16"/>
          <p:cNvSpPr>
            <a:spLocks noChangeArrowheads="1"/>
          </p:cNvSpPr>
          <p:nvPr/>
        </p:nvSpPr>
        <p:spPr bwMode="auto">
          <a:xfrm>
            <a:off x="4029021" y="46042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1" name="Oval 16"/>
          <p:cNvSpPr>
            <a:spLocks noChangeArrowheads="1"/>
          </p:cNvSpPr>
          <p:nvPr/>
        </p:nvSpPr>
        <p:spPr bwMode="auto">
          <a:xfrm>
            <a:off x="5747996" y="318047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TextBox 23"/>
          <p:cNvSpPr txBox="1"/>
          <p:nvPr/>
        </p:nvSpPr>
        <p:spPr>
          <a:xfrm>
            <a:off x="2006372" y="3112381"/>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25" name="TextBox 24"/>
          <p:cNvSpPr txBox="1"/>
          <p:nvPr/>
        </p:nvSpPr>
        <p:spPr>
          <a:xfrm>
            <a:off x="1731816" y="4615369"/>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26" name="TextBox 25"/>
          <p:cNvSpPr txBox="1"/>
          <p:nvPr/>
        </p:nvSpPr>
        <p:spPr>
          <a:xfrm>
            <a:off x="4096606" y="3217625"/>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27" name="Rectangle 26"/>
          <p:cNvSpPr/>
          <p:nvPr/>
        </p:nvSpPr>
        <p:spPr>
          <a:xfrm>
            <a:off x="844245" y="3647774"/>
            <a:ext cx="343364" cy="369332"/>
          </a:xfrm>
          <a:prstGeom prst="rect">
            <a:avLst/>
          </a:prstGeom>
        </p:spPr>
        <p:txBody>
          <a:bodyPr wrap="none">
            <a:spAutoFit/>
          </a:bodyPr>
          <a:lstStyle/>
          <a:p>
            <a:r>
              <a:rPr lang="en-US" b="1" dirty="0">
                <a:solidFill>
                  <a:prstClr val="black"/>
                </a:solidFill>
              </a:rPr>
              <a:t>D</a:t>
            </a:r>
          </a:p>
        </p:txBody>
      </p:sp>
      <p:sp>
        <p:nvSpPr>
          <p:cNvPr id="28" name="Rectangle 27"/>
          <p:cNvSpPr/>
          <p:nvPr/>
        </p:nvSpPr>
        <p:spPr>
          <a:xfrm>
            <a:off x="4076007" y="4647465"/>
            <a:ext cx="304892" cy="369332"/>
          </a:xfrm>
          <a:prstGeom prst="rect">
            <a:avLst/>
          </a:prstGeom>
        </p:spPr>
        <p:txBody>
          <a:bodyPr wrap="none">
            <a:spAutoFit/>
          </a:bodyPr>
          <a:lstStyle/>
          <a:p>
            <a:r>
              <a:rPr lang="en-US" b="1" dirty="0">
                <a:solidFill>
                  <a:prstClr val="black"/>
                </a:solidFill>
              </a:rPr>
              <a:t>F</a:t>
            </a:r>
          </a:p>
        </p:txBody>
      </p:sp>
      <p:sp>
        <p:nvSpPr>
          <p:cNvPr id="29" name="Rectangle 28"/>
          <p:cNvSpPr/>
          <p:nvPr/>
        </p:nvSpPr>
        <p:spPr>
          <a:xfrm>
            <a:off x="5798967" y="3195677"/>
            <a:ext cx="340158" cy="369332"/>
          </a:xfrm>
          <a:prstGeom prst="rect">
            <a:avLst/>
          </a:prstGeom>
        </p:spPr>
        <p:txBody>
          <a:bodyPr wrap="none">
            <a:spAutoFit/>
          </a:bodyPr>
          <a:lstStyle/>
          <a:p>
            <a:r>
              <a:rPr lang="en-US" b="1" dirty="0">
                <a:solidFill>
                  <a:prstClr val="black"/>
                </a:solidFill>
              </a:rPr>
              <a:t>G</a:t>
            </a:r>
          </a:p>
        </p:txBody>
      </p:sp>
      <p:sp>
        <p:nvSpPr>
          <p:cNvPr id="34" name="Rectangle 33"/>
          <p:cNvSpPr/>
          <p:nvPr/>
        </p:nvSpPr>
        <p:spPr>
          <a:xfrm>
            <a:off x="3291957" y="4628920"/>
            <a:ext cx="316112" cy="369332"/>
          </a:xfrm>
          <a:prstGeom prst="rect">
            <a:avLst/>
          </a:prstGeom>
        </p:spPr>
        <p:txBody>
          <a:bodyPr wrap="none">
            <a:spAutoFit/>
          </a:bodyPr>
          <a:lstStyle/>
          <a:p>
            <a:r>
              <a:rPr lang="en-US" b="1" dirty="0">
                <a:solidFill>
                  <a:prstClr val="black"/>
                </a:solidFill>
              </a:rPr>
              <a:t>E</a:t>
            </a:r>
          </a:p>
        </p:txBody>
      </p:sp>
      <p:graphicFrame>
        <p:nvGraphicFramePr>
          <p:cNvPr id="40" name="Table 39"/>
          <p:cNvGraphicFramePr>
            <a:graphicFrameLocks noGrp="1"/>
          </p:cNvGraphicFramePr>
          <p:nvPr/>
        </p:nvGraphicFramePr>
        <p:xfrm>
          <a:off x="7771306" y="2531586"/>
          <a:ext cx="3944444" cy="2966720"/>
        </p:xfrm>
        <a:graphic>
          <a:graphicData uri="http://schemas.openxmlformats.org/drawingml/2006/table">
            <a:tbl>
              <a:tblPr firstRow="1" bandRow="1">
                <a:tableStyleId>{5C22544A-7EE6-4342-B048-85BDC9FD1C3A}</a:tableStyleId>
              </a:tblPr>
              <a:tblGrid>
                <a:gridCol w="1014201">
                  <a:extLst>
                    <a:ext uri="{9D8B030D-6E8A-4147-A177-3AD203B41FA5}">
                      <a16:colId xmlns:a16="http://schemas.microsoft.com/office/drawing/2014/main" val="2989644895"/>
                    </a:ext>
                  </a:extLst>
                </a:gridCol>
                <a:gridCol w="1815558">
                  <a:extLst>
                    <a:ext uri="{9D8B030D-6E8A-4147-A177-3AD203B41FA5}">
                      <a16:colId xmlns:a16="http://schemas.microsoft.com/office/drawing/2014/main" val="4244960412"/>
                    </a:ext>
                  </a:extLst>
                </a:gridCol>
                <a:gridCol w="1114685">
                  <a:extLst>
                    <a:ext uri="{9D8B030D-6E8A-4147-A177-3AD203B41FA5}">
                      <a16:colId xmlns:a16="http://schemas.microsoft.com/office/drawing/2014/main" val="2572560869"/>
                    </a:ext>
                  </a:extLst>
                </a:gridCol>
              </a:tblGrid>
              <a:tr h="370840">
                <a:tc>
                  <a:txBody>
                    <a:bodyPr/>
                    <a:lstStyle/>
                    <a:p>
                      <a:pPr algn="ctr"/>
                      <a:r>
                        <a:rPr lang="en-US" dirty="0"/>
                        <a:t>NODE</a:t>
                      </a:r>
                    </a:p>
                  </a:txBody>
                  <a:tcPr/>
                </a:tc>
                <a:tc>
                  <a:txBody>
                    <a:bodyPr/>
                    <a:lstStyle/>
                    <a:p>
                      <a:pPr algn="ctr"/>
                      <a:r>
                        <a:rPr lang="en-US" dirty="0"/>
                        <a:t>NEIGHBORS</a:t>
                      </a:r>
                    </a:p>
                  </a:txBody>
                  <a:tcPr/>
                </a:tc>
                <a:tc>
                  <a:txBody>
                    <a:bodyPr/>
                    <a:lstStyle/>
                    <a:p>
                      <a:pPr algn="ctr"/>
                      <a:r>
                        <a:rPr lang="en-US" dirty="0"/>
                        <a:t>LABEL</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E,F,G</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F</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205733479"/>
                  </a:ext>
                </a:extLst>
              </a:tr>
            </a:tbl>
          </a:graphicData>
        </a:graphic>
      </p:graphicFrame>
      <p:cxnSp>
        <p:nvCxnSpPr>
          <p:cNvPr id="42" name="Straight Arrow Connector 41"/>
          <p:cNvCxnSpPr/>
          <p:nvPr/>
        </p:nvCxnSpPr>
        <p:spPr>
          <a:xfrm>
            <a:off x="1948920" y="2586178"/>
            <a:ext cx="119848" cy="4163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aphicFrame>
        <p:nvGraphicFramePr>
          <p:cNvPr id="30" name="Table 29"/>
          <p:cNvGraphicFramePr>
            <a:graphicFrameLocks noGrp="1"/>
          </p:cNvGraphicFramePr>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endParaRPr lang="en-US" dirty="0">
                        <a:solidFill>
                          <a:schemeClr val="tx1"/>
                        </a:solidFill>
                      </a:endParaRP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extLst>
                  <a:ext uri="{0D108BD9-81ED-4DB2-BD59-A6C34878D82A}">
                    <a16:rowId xmlns:a16="http://schemas.microsoft.com/office/drawing/2014/main" val="660647860"/>
                  </a:ext>
                </a:extLst>
              </a:tr>
            </a:tbl>
          </a:graphicData>
        </a:graphic>
      </p:graphicFrame>
      <p:sp>
        <p:nvSpPr>
          <p:cNvPr id="31" name="TextBox 30"/>
          <p:cNvSpPr txBox="1"/>
          <p:nvPr/>
        </p:nvSpPr>
        <p:spPr>
          <a:xfrm>
            <a:off x="965262" y="5554545"/>
            <a:ext cx="362600" cy="461665"/>
          </a:xfrm>
          <a:prstGeom prst="rect">
            <a:avLst/>
          </a:prstGeom>
          <a:noFill/>
        </p:spPr>
        <p:txBody>
          <a:bodyPr wrap="none" rtlCol="0">
            <a:spAutoFit/>
          </a:bodyPr>
          <a:lstStyle/>
          <a:p>
            <a:r>
              <a:rPr lang="en-US" sz="2400" b="1">
                <a:effectLst>
                  <a:outerShdw blurRad="38100" dist="38100" dir="2700000" algn="tl">
                    <a:srgbClr val="000000">
                      <a:alpha val="43137"/>
                    </a:srgbClr>
                  </a:outerShdw>
                </a:effectLst>
              </a:rPr>
              <a:t>S</a:t>
            </a:r>
          </a:p>
        </p:txBody>
      </p:sp>
      <p:cxnSp>
        <p:nvCxnSpPr>
          <p:cNvPr id="32" name="Straight Connector 31"/>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3" name="Table 32"/>
          <p:cNvGraphicFramePr>
            <a:graphicFrameLocks noGrp="1"/>
          </p:cNvGraphicFramePr>
          <p:nvPr/>
        </p:nvGraphicFramePr>
        <p:xfrm>
          <a:off x="1437550" y="6006356"/>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endParaRPr lang="en-US"/>
                    </a:p>
                  </a:txBody>
                  <a:tcPr>
                    <a:noFill/>
                  </a:tcPr>
                </a:tc>
                <a:tc>
                  <a:txBody>
                    <a:bodyPr/>
                    <a:lstStyle/>
                    <a:p>
                      <a:endParaRPr lang="en-US" dirty="0"/>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dirty="0"/>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spTree>
    <p:custDataLst>
      <p:tags r:id="rId1"/>
    </p:custDataLst>
    <p:extLst>
      <p:ext uri="{BB962C8B-B14F-4D97-AF65-F5344CB8AC3E}">
        <p14:creationId xmlns:p14="http://schemas.microsoft.com/office/powerpoint/2010/main" val="12697230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Depth-First Search</a:t>
            </a:r>
          </a:p>
        </p:txBody>
      </p:sp>
      <p:sp>
        <p:nvSpPr>
          <p:cNvPr id="13" name="Slide Number Placeholder 12">
            <a:extLst>
              <a:ext uri="{FF2B5EF4-FFF2-40B4-BE49-F238E27FC236}">
                <a16:creationId xmlns:a16="http://schemas.microsoft.com/office/drawing/2014/main" id="{02A876D7-FD58-4884-8965-571A11E916E6}"/>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22/110</a:t>
            </a:r>
          </a:p>
        </p:txBody>
      </p:sp>
      <p:cxnSp>
        <p:nvCxnSpPr>
          <p:cNvPr id="3" name="Straight Connector 2"/>
          <p:cNvCxnSpPr>
            <a:stCxn id="12" idx="1"/>
          </p:cNvCxnSpPr>
          <p:nvPr/>
        </p:nvCxnSpPr>
        <p:spPr>
          <a:xfrm flipH="1" flipV="1">
            <a:off x="1097669" y="3734594"/>
            <a:ext cx="2198288" cy="93317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 name="Straight Connector 3"/>
          <p:cNvCxnSpPr>
            <a:stCxn id="7" idx="5"/>
          </p:cNvCxnSpPr>
          <p:nvPr/>
        </p:nvCxnSpPr>
        <p:spPr>
          <a:xfrm>
            <a:off x="2328832" y="3462270"/>
            <a:ext cx="1158049" cy="13377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flipV="1">
            <a:off x="2174848" y="3377774"/>
            <a:ext cx="1856048" cy="24517"/>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1948920" y="3481714"/>
            <a:ext cx="175670" cy="1109474"/>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 name="Oval 16"/>
          <p:cNvSpPr>
            <a:spLocks noChangeArrowheads="1"/>
          </p:cNvSpPr>
          <p:nvPr/>
        </p:nvSpPr>
        <p:spPr bwMode="auto">
          <a:xfrm>
            <a:off x="1957083" y="309052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8" name="Straight Connector 7"/>
          <p:cNvCxnSpPr/>
          <p:nvPr/>
        </p:nvCxnSpPr>
        <p:spPr>
          <a:xfrm flipH="1">
            <a:off x="2120774" y="4800035"/>
            <a:ext cx="1119177" cy="684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a:endCxn id="25" idx="1"/>
          </p:cNvCxnSpPr>
          <p:nvPr/>
        </p:nvCxnSpPr>
        <p:spPr>
          <a:xfrm>
            <a:off x="1167927" y="3936170"/>
            <a:ext cx="563889" cy="8638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686531" y="458227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1" name="Oval 16"/>
          <p:cNvSpPr>
            <a:spLocks noChangeArrowheads="1"/>
          </p:cNvSpPr>
          <p:nvPr/>
        </p:nvSpPr>
        <p:spPr bwMode="auto">
          <a:xfrm>
            <a:off x="796178" y="3610102"/>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2" name="Oval 16"/>
          <p:cNvSpPr>
            <a:spLocks noChangeArrowheads="1"/>
          </p:cNvSpPr>
          <p:nvPr/>
        </p:nvSpPr>
        <p:spPr bwMode="auto">
          <a:xfrm>
            <a:off x="3232175" y="460398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5" name="Straight Connector 14"/>
          <p:cNvCxnSpPr>
            <a:stCxn id="12" idx="7"/>
          </p:cNvCxnSpPr>
          <p:nvPr/>
        </p:nvCxnSpPr>
        <p:spPr>
          <a:xfrm flipV="1">
            <a:off x="3603924" y="3429291"/>
            <a:ext cx="650011" cy="123847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20" idx="6"/>
          </p:cNvCxnSpPr>
          <p:nvPr/>
        </p:nvCxnSpPr>
        <p:spPr>
          <a:xfrm flipV="1">
            <a:off x="4464552" y="3565009"/>
            <a:ext cx="1367969" cy="125700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flipV="1">
            <a:off x="4408532" y="3371173"/>
            <a:ext cx="1353035" cy="6601"/>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4246786" y="3646429"/>
            <a:ext cx="45505" cy="95755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4029021" y="319567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0" name="Oval 16"/>
          <p:cNvSpPr>
            <a:spLocks noChangeArrowheads="1"/>
          </p:cNvSpPr>
          <p:nvPr/>
        </p:nvSpPr>
        <p:spPr bwMode="auto">
          <a:xfrm>
            <a:off x="4029021" y="46042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1" name="Oval 16"/>
          <p:cNvSpPr>
            <a:spLocks noChangeArrowheads="1"/>
          </p:cNvSpPr>
          <p:nvPr/>
        </p:nvSpPr>
        <p:spPr bwMode="auto">
          <a:xfrm>
            <a:off x="5747996" y="318047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TextBox 23"/>
          <p:cNvSpPr txBox="1"/>
          <p:nvPr/>
        </p:nvSpPr>
        <p:spPr>
          <a:xfrm>
            <a:off x="2006372" y="3112381"/>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25" name="TextBox 24"/>
          <p:cNvSpPr txBox="1"/>
          <p:nvPr/>
        </p:nvSpPr>
        <p:spPr>
          <a:xfrm>
            <a:off x="1731816" y="4615369"/>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26" name="TextBox 25"/>
          <p:cNvSpPr txBox="1"/>
          <p:nvPr/>
        </p:nvSpPr>
        <p:spPr>
          <a:xfrm>
            <a:off x="4096606" y="3217625"/>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27" name="Rectangle 26"/>
          <p:cNvSpPr/>
          <p:nvPr/>
        </p:nvSpPr>
        <p:spPr>
          <a:xfrm>
            <a:off x="844245" y="3647774"/>
            <a:ext cx="343364" cy="369332"/>
          </a:xfrm>
          <a:prstGeom prst="rect">
            <a:avLst/>
          </a:prstGeom>
        </p:spPr>
        <p:txBody>
          <a:bodyPr wrap="none">
            <a:spAutoFit/>
          </a:bodyPr>
          <a:lstStyle/>
          <a:p>
            <a:r>
              <a:rPr lang="en-US" b="1" dirty="0">
                <a:solidFill>
                  <a:prstClr val="black"/>
                </a:solidFill>
              </a:rPr>
              <a:t>D</a:t>
            </a:r>
          </a:p>
        </p:txBody>
      </p:sp>
      <p:sp>
        <p:nvSpPr>
          <p:cNvPr id="28" name="Rectangle 27"/>
          <p:cNvSpPr/>
          <p:nvPr/>
        </p:nvSpPr>
        <p:spPr>
          <a:xfrm>
            <a:off x="4076007" y="4647465"/>
            <a:ext cx="304892" cy="369332"/>
          </a:xfrm>
          <a:prstGeom prst="rect">
            <a:avLst/>
          </a:prstGeom>
        </p:spPr>
        <p:txBody>
          <a:bodyPr wrap="none">
            <a:spAutoFit/>
          </a:bodyPr>
          <a:lstStyle/>
          <a:p>
            <a:r>
              <a:rPr lang="en-US" b="1" dirty="0">
                <a:solidFill>
                  <a:prstClr val="black"/>
                </a:solidFill>
              </a:rPr>
              <a:t>F</a:t>
            </a:r>
          </a:p>
        </p:txBody>
      </p:sp>
      <p:sp>
        <p:nvSpPr>
          <p:cNvPr id="29" name="Rectangle 28"/>
          <p:cNvSpPr/>
          <p:nvPr/>
        </p:nvSpPr>
        <p:spPr>
          <a:xfrm>
            <a:off x="5798967" y="3195677"/>
            <a:ext cx="340158" cy="369332"/>
          </a:xfrm>
          <a:prstGeom prst="rect">
            <a:avLst/>
          </a:prstGeom>
        </p:spPr>
        <p:txBody>
          <a:bodyPr wrap="none">
            <a:spAutoFit/>
          </a:bodyPr>
          <a:lstStyle/>
          <a:p>
            <a:r>
              <a:rPr lang="en-US" b="1" dirty="0">
                <a:solidFill>
                  <a:prstClr val="black"/>
                </a:solidFill>
              </a:rPr>
              <a:t>G</a:t>
            </a:r>
          </a:p>
        </p:txBody>
      </p:sp>
      <p:sp>
        <p:nvSpPr>
          <p:cNvPr id="34" name="Rectangle 33"/>
          <p:cNvSpPr/>
          <p:nvPr/>
        </p:nvSpPr>
        <p:spPr>
          <a:xfrm>
            <a:off x="3291957" y="4628920"/>
            <a:ext cx="316112" cy="369332"/>
          </a:xfrm>
          <a:prstGeom prst="rect">
            <a:avLst/>
          </a:prstGeom>
        </p:spPr>
        <p:txBody>
          <a:bodyPr wrap="none">
            <a:spAutoFit/>
          </a:bodyPr>
          <a:lstStyle/>
          <a:p>
            <a:r>
              <a:rPr lang="en-US" b="1" dirty="0">
                <a:solidFill>
                  <a:prstClr val="black"/>
                </a:solidFill>
              </a:rPr>
              <a:t>E</a:t>
            </a:r>
          </a:p>
        </p:txBody>
      </p:sp>
      <p:graphicFrame>
        <p:nvGraphicFramePr>
          <p:cNvPr id="40" name="Table 39"/>
          <p:cNvGraphicFramePr>
            <a:graphicFrameLocks noGrp="1"/>
          </p:cNvGraphicFramePr>
          <p:nvPr>
            <p:extLst>
              <p:ext uri="{D42A27DB-BD31-4B8C-83A1-F6EECF244321}">
                <p14:modId xmlns:p14="http://schemas.microsoft.com/office/powerpoint/2010/main" val="2329146163"/>
              </p:ext>
            </p:extLst>
          </p:nvPr>
        </p:nvGraphicFramePr>
        <p:xfrm>
          <a:off x="7771306" y="2531586"/>
          <a:ext cx="3772994" cy="2966720"/>
        </p:xfrm>
        <a:graphic>
          <a:graphicData uri="http://schemas.openxmlformats.org/drawingml/2006/table">
            <a:tbl>
              <a:tblPr firstRow="1" bandRow="1">
                <a:tableStyleId>{5C22544A-7EE6-4342-B048-85BDC9FD1C3A}</a:tableStyleId>
              </a:tblPr>
              <a:tblGrid>
                <a:gridCol w="970118">
                  <a:extLst>
                    <a:ext uri="{9D8B030D-6E8A-4147-A177-3AD203B41FA5}">
                      <a16:colId xmlns:a16="http://schemas.microsoft.com/office/drawing/2014/main" val="2989644895"/>
                    </a:ext>
                  </a:extLst>
                </a:gridCol>
                <a:gridCol w="1736643">
                  <a:extLst>
                    <a:ext uri="{9D8B030D-6E8A-4147-A177-3AD203B41FA5}">
                      <a16:colId xmlns:a16="http://schemas.microsoft.com/office/drawing/2014/main" val="4244960412"/>
                    </a:ext>
                  </a:extLst>
                </a:gridCol>
                <a:gridCol w="1066233">
                  <a:extLst>
                    <a:ext uri="{9D8B030D-6E8A-4147-A177-3AD203B41FA5}">
                      <a16:colId xmlns:a16="http://schemas.microsoft.com/office/drawing/2014/main" val="2572560869"/>
                    </a:ext>
                  </a:extLst>
                </a:gridCol>
              </a:tblGrid>
              <a:tr h="370840">
                <a:tc>
                  <a:txBody>
                    <a:bodyPr/>
                    <a:lstStyle/>
                    <a:p>
                      <a:pPr algn="ctr"/>
                      <a:r>
                        <a:rPr lang="en-US" dirty="0"/>
                        <a:t>NODE</a:t>
                      </a:r>
                    </a:p>
                  </a:txBody>
                  <a:tcPr/>
                </a:tc>
                <a:tc>
                  <a:txBody>
                    <a:bodyPr/>
                    <a:lstStyle/>
                    <a:p>
                      <a:pPr algn="ctr"/>
                      <a:r>
                        <a:rPr lang="en-US" dirty="0"/>
                        <a:t>NEIGHBORS</a:t>
                      </a:r>
                    </a:p>
                  </a:txBody>
                  <a:tcPr/>
                </a:tc>
                <a:tc>
                  <a:txBody>
                    <a:bodyPr/>
                    <a:lstStyle/>
                    <a:p>
                      <a:pPr algn="ctr"/>
                      <a:r>
                        <a:rPr lang="en-US" dirty="0"/>
                        <a:t>LABEL</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E,F,G</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F</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205733479"/>
                  </a:ext>
                </a:extLst>
              </a:tr>
            </a:tbl>
          </a:graphicData>
        </a:graphic>
      </p:graphicFrame>
      <p:cxnSp>
        <p:nvCxnSpPr>
          <p:cNvPr id="42" name="Straight Arrow Connector 41"/>
          <p:cNvCxnSpPr/>
          <p:nvPr/>
        </p:nvCxnSpPr>
        <p:spPr>
          <a:xfrm>
            <a:off x="1948920" y="2586178"/>
            <a:ext cx="119848" cy="4163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aphicFrame>
        <p:nvGraphicFramePr>
          <p:cNvPr id="30" name="Table 29"/>
          <p:cNvGraphicFramePr>
            <a:graphicFrameLocks noGrp="1"/>
          </p:cNvGraphicFramePr>
          <p:nvPr>
            <p:extLst>
              <p:ext uri="{D42A27DB-BD31-4B8C-83A1-F6EECF244321}">
                <p14:modId xmlns:p14="http://schemas.microsoft.com/office/powerpoint/2010/main" val="325738016"/>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extLst>
                  <a:ext uri="{0D108BD9-81ED-4DB2-BD59-A6C34878D82A}">
                    <a16:rowId xmlns:a16="http://schemas.microsoft.com/office/drawing/2014/main" val="660647860"/>
                  </a:ext>
                </a:extLst>
              </a:tr>
            </a:tbl>
          </a:graphicData>
        </a:graphic>
      </p:graphicFrame>
      <p:sp>
        <p:nvSpPr>
          <p:cNvPr id="31" name="TextBox 30"/>
          <p:cNvSpPr txBox="1"/>
          <p:nvPr/>
        </p:nvSpPr>
        <p:spPr>
          <a:xfrm>
            <a:off x="965262" y="5554545"/>
            <a:ext cx="362600" cy="461665"/>
          </a:xfrm>
          <a:prstGeom prst="rect">
            <a:avLst/>
          </a:prstGeom>
          <a:noFill/>
        </p:spPr>
        <p:txBody>
          <a:bodyPr wrap="none" rtlCol="0">
            <a:spAutoFit/>
          </a:bodyPr>
          <a:lstStyle/>
          <a:p>
            <a:r>
              <a:rPr lang="en-US" sz="2400" b="1">
                <a:effectLst>
                  <a:outerShdw blurRad="38100" dist="38100" dir="2700000" algn="tl">
                    <a:srgbClr val="000000">
                      <a:alpha val="43137"/>
                    </a:srgbClr>
                  </a:outerShdw>
                </a:effectLst>
              </a:rPr>
              <a:t>S</a:t>
            </a:r>
          </a:p>
        </p:txBody>
      </p:sp>
      <p:cxnSp>
        <p:nvCxnSpPr>
          <p:cNvPr id="32" name="Straight Connector 31"/>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3" name="Table 32"/>
          <p:cNvGraphicFramePr>
            <a:graphicFrameLocks noGrp="1"/>
          </p:cNvGraphicFramePr>
          <p:nvPr/>
        </p:nvGraphicFramePr>
        <p:xfrm>
          <a:off x="1437550" y="6006356"/>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endParaRPr lang="en-US"/>
                    </a:p>
                  </a:txBody>
                  <a:tcPr>
                    <a:noFill/>
                  </a:tcPr>
                </a:tc>
                <a:tc>
                  <a:txBody>
                    <a:bodyPr/>
                    <a:lstStyle/>
                    <a:p>
                      <a:endParaRPr lang="en-US" dirty="0"/>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dirty="0"/>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sp>
        <p:nvSpPr>
          <p:cNvPr id="35" name="Rectangle 34"/>
          <p:cNvSpPr/>
          <p:nvPr/>
        </p:nvSpPr>
        <p:spPr>
          <a:xfrm>
            <a:off x="10729839" y="2828667"/>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Tree>
    <p:custDataLst>
      <p:tags r:id="rId1"/>
    </p:custDataLst>
    <p:extLst>
      <p:ext uri="{BB962C8B-B14F-4D97-AF65-F5344CB8AC3E}">
        <p14:creationId xmlns:p14="http://schemas.microsoft.com/office/powerpoint/2010/main" val="33655686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Depth-First Search</a:t>
            </a:r>
          </a:p>
        </p:txBody>
      </p:sp>
      <p:sp>
        <p:nvSpPr>
          <p:cNvPr id="13" name="Slide Number Placeholder 12">
            <a:extLst>
              <a:ext uri="{FF2B5EF4-FFF2-40B4-BE49-F238E27FC236}">
                <a16:creationId xmlns:a16="http://schemas.microsoft.com/office/drawing/2014/main" id="{A5B58499-60A2-43D2-B3BB-A7E521133213}"/>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23/110</a:t>
            </a:r>
          </a:p>
        </p:txBody>
      </p:sp>
      <p:cxnSp>
        <p:nvCxnSpPr>
          <p:cNvPr id="3" name="Straight Connector 2"/>
          <p:cNvCxnSpPr>
            <a:stCxn id="12" idx="1"/>
          </p:cNvCxnSpPr>
          <p:nvPr/>
        </p:nvCxnSpPr>
        <p:spPr>
          <a:xfrm flipH="1" flipV="1">
            <a:off x="1097669" y="3734594"/>
            <a:ext cx="2198288" cy="93317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 name="Straight Connector 3"/>
          <p:cNvCxnSpPr>
            <a:stCxn id="7" idx="5"/>
          </p:cNvCxnSpPr>
          <p:nvPr/>
        </p:nvCxnSpPr>
        <p:spPr>
          <a:xfrm>
            <a:off x="2328832" y="3462270"/>
            <a:ext cx="1158049" cy="13377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flipV="1">
            <a:off x="2174848" y="3377774"/>
            <a:ext cx="1856048" cy="24517"/>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1948920" y="3481714"/>
            <a:ext cx="175670" cy="1109474"/>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 name="Oval 16"/>
          <p:cNvSpPr>
            <a:spLocks noChangeArrowheads="1"/>
          </p:cNvSpPr>
          <p:nvPr/>
        </p:nvSpPr>
        <p:spPr bwMode="auto">
          <a:xfrm>
            <a:off x="1957083" y="309052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8" name="Straight Connector 7"/>
          <p:cNvCxnSpPr/>
          <p:nvPr/>
        </p:nvCxnSpPr>
        <p:spPr>
          <a:xfrm flipH="1">
            <a:off x="2120774" y="4800035"/>
            <a:ext cx="1119177" cy="684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a:endCxn id="25" idx="1"/>
          </p:cNvCxnSpPr>
          <p:nvPr/>
        </p:nvCxnSpPr>
        <p:spPr>
          <a:xfrm>
            <a:off x="1167927" y="3936170"/>
            <a:ext cx="563889" cy="8638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686531" y="458227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1" name="Oval 16"/>
          <p:cNvSpPr>
            <a:spLocks noChangeArrowheads="1"/>
          </p:cNvSpPr>
          <p:nvPr/>
        </p:nvSpPr>
        <p:spPr bwMode="auto">
          <a:xfrm>
            <a:off x="796178" y="3610102"/>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2" name="Oval 16"/>
          <p:cNvSpPr>
            <a:spLocks noChangeArrowheads="1"/>
          </p:cNvSpPr>
          <p:nvPr/>
        </p:nvSpPr>
        <p:spPr bwMode="auto">
          <a:xfrm>
            <a:off x="3232175" y="460398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5" name="Straight Connector 14"/>
          <p:cNvCxnSpPr>
            <a:stCxn id="12" idx="7"/>
          </p:cNvCxnSpPr>
          <p:nvPr/>
        </p:nvCxnSpPr>
        <p:spPr>
          <a:xfrm flipV="1">
            <a:off x="3603924" y="3429291"/>
            <a:ext cx="650011" cy="123847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20" idx="6"/>
          </p:cNvCxnSpPr>
          <p:nvPr/>
        </p:nvCxnSpPr>
        <p:spPr>
          <a:xfrm flipV="1">
            <a:off x="4464552" y="3565009"/>
            <a:ext cx="1367969" cy="125700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flipV="1">
            <a:off x="4408532" y="3371173"/>
            <a:ext cx="1353035" cy="6601"/>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4246786" y="3646429"/>
            <a:ext cx="45505" cy="95755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4029021" y="319567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0" name="Oval 16"/>
          <p:cNvSpPr>
            <a:spLocks noChangeArrowheads="1"/>
          </p:cNvSpPr>
          <p:nvPr/>
        </p:nvSpPr>
        <p:spPr bwMode="auto">
          <a:xfrm>
            <a:off x="4029021" y="46042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1" name="Oval 16"/>
          <p:cNvSpPr>
            <a:spLocks noChangeArrowheads="1"/>
          </p:cNvSpPr>
          <p:nvPr/>
        </p:nvSpPr>
        <p:spPr bwMode="auto">
          <a:xfrm>
            <a:off x="5747996" y="318047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TextBox 23"/>
          <p:cNvSpPr txBox="1"/>
          <p:nvPr/>
        </p:nvSpPr>
        <p:spPr>
          <a:xfrm>
            <a:off x="2006372" y="3112381"/>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25" name="TextBox 24"/>
          <p:cNvSpPr txBox="1"/>
          <p:nvPr/>
        </p:nvSpPr>
        <p:spPr>
          <a:xfrm>
            <a:off x="1731816" y="4615369"/>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26" name="TextBox 25"/>
          <p:cNvSpPr txBox="1"/>
          <p:nvPr/>
        </p:nvSpPr>
        <p:spPr>
          <a:xfrm>
            <a:off x="4096606" y="3217625"/>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27" name="Rectangle 26"/>
          <p:cNvSpPr/>
          <p:nvPr/>
        </p:nvSpPr>
        <p:spPr>
          <a:xfrm>
            <a:off x="844245" y="3647774"/>
            <a:ext cx="343364" cy="369332"/>
          </a:xfrm>
          <a:prstGeom prst="rect">
            <a:avLst/>
          </a:prstGeom>
        </p:spPr>
        <p:txBody>
          <a:bodyPr wrap="none">
            <a:spAutoFit/>
          </a:bodyPr>
          <a:lstStyle/>
          <a:p>
            <a:r>
              <a:rPr lang="en-US" b="1" dirty="0">
                <a:solidFill>
                  <a:prstClr val="black"/>
                </a:solidFill>
              </a:rPr>
              <a:t>D</a:t>
            </a:r>
          </a:p>
        </p:txBody>
      </p:sp>
      <p:sp>
        <p:nvSpPr>
          <p:cNvPr id="28" name="Rectangle 27"/>
          <p:cNvSpPr/>
          <p:nvPr/>
        </p:nvSpPr>
        <p:spPr>
          <a:xfrm>
            <a:off x="4076007" y="4647465"/>
            <a:ext cx="304892" cy="369332"/>
          </a:xfrm>
          <a:prstGeom prst="rect">
            <a:avLst/>
          </a:prstGeom>
        </p:spPr>
        <p:txBody>
          <a:bodyPr wrap="none">
            <a:spAutoFit/>
          </a:bodyPr>
          <a:lstStyle/>
          <a:p>
            <a:r>
              <a:rPr lang="en-US" b="1" dirty="0">
                <a:solidFill>
                  <a:prstClr val="black"/>
                </a:solidFill>
              </a:rPr>
              <a:t>F</a:t>
            </a:r>
          </a:p>
        </p:txBody>
      </p:sp>
      <p:sp>
        <p:nvSpPr>
          <p:cNvPr id="29" name="Rectangle 28"/>
          <p:cNvSpPr/>
          <p:nvPr/>
        </p:nvSpPr>
        <p:spPr>
          <a:xfrm>
            <a:off x="5798967" y="3195677"/>
            <a:ext cx="340158" cy="369332"/>
          </a:xfrm>
          <a:prstGeom prst="rect">
            <a:avLst/>
          </a:prstGeom>
        </p:spPr>
        <p:txBody>
          <a:bodyPr wrap="none">
            <a:spAutoFit/>
          </a:bodyPr>
          <a:lstStyle/>
          <a:p>
            <a:r>
              <a:rPr lang="en-US" b="1" dirty="0">
                <a:solidFill>
                  <a:prstClr val="black"/>
                </a:solidFill>
              </a:rPr>
              <a:t>G</a:t>
            </a:r>
          </a:p>
        </p:txBody>
      </p:sp>
      <p:sp>
        <p:nvSpPr>
          <p:cNvPr id="34" name="Rectangle 33"/>
          <p:cNvSpPr/>
          <p:nvPr/>
        </p:nvSpPr>
        <p:spPr>
          <a:xfrm>
            <a:off x="3291957" y="4628920"/>
            <a:ext cx="316112" cy="369332"/>
          </a:xfrm>
          <a:prstGeom prst="rect">
            <a:avLst/>
          </a:prstGeom>
        </p:spPr>
        <p:txBody>
          <a:bodyPr wrap="none">
            <a:spAutoFit/>
          </a:bodyPr>
          <a:lstStyle/>
          <a:p>
            <a:r>
              <a:rPr lang="en-US" b="1" dirty="0">
                <a:solidFill>
                  <a:prstClr val="black"/>
                </a:solidFill>
              </a:rPr>
              <a:t>E</a:t>
            </a:r>
          </a:p>
        </p:txBody>
      </p:sp>
      <p:graphicFrame>
        <p:nvGraphicFramePr>
          <p:cNvPr id="40" name="Table 39"/>
          <p:cNvGraphicFramePr>
            <a:graphicFrameLocks noGrp="1"/>
          </p:cNvGraphicFramePr>
          <p:nvPr>
            <p:extLst>
              <p:ext uri="{D42A27DB-BD31-4B8C-83A1-F6EECF244321}">
                <p14:modId xmlns:p14="http://schemas.microsoft.com/office/powerpoint/2010/main" val="945936828"/>
              </p:ext>
            </p:extLst>
          </p:nvPr>
        </p:nvGraphicFramePr>
        <p:xfrm>
          <a:off x="7771306" y="2531586"/>
          <a:ext cx="3960773" cy="2966720"/>
        </p:xfrm>
        <a:graphic>
          <a:graphicData uri="http://schemas.openxmlformats.org/drawingml/2006/table">
            <a:tbl>
              <a:tblPr firstRow="1" bandRow="1">
                <a:tableStyleId>{5C22544A-7EE6-4342-B048-85BDC9FD1C3A}</a:tableStyleId>
              </a:tblPr>
              <a:tblGrid>
                <a:gridCol w="1018400">
                  <a:extLst>
                    <a:ext uri="{9D8B030D-6E8A-4147-A177-3AD203B41FA5}">
                      <a16:colId xmlns:a16="http://schemas.microsoft.com/office/drawing/2014/main" val="2989644895"/>
                    </a:ext>
                  </a:extLst>
                </a:gridCol>
                <a:gridCol w="1823074">
                  <a:extLst>
                    <a:ext uri="{9D8B030D-6E8A-4147-A177-3AD203B41FA5}">
                      <a16:colId xmlns:a16="http://schemas.microsoft.com/office/drawing/2014/main" val="4244960412"/>
                    </a:ext>
                  </a:extLst>
                </a:gridCol>
                <a:gridCol w="1119299">
                  <a:extLst>
                    <a:ext uri="{9D8B030D-6E8A-4147-A177-3AD203B41FA5}">
                      <a16:colId xmlns:a16="http://schemas.microsoft.com/office/drawing/2014/main" val="2572560869"/>
                    </a:ext>
                  </a:extLst>
                </a:gridCol>
              </a:tblGrid>
              <a:tr h="370840">
                <a:tc>
                  <a:txBody>
                    <a:bodyPr/>
                    <a:lstStyle/>
                    <a:p>
                      <a:pPr algn="ctr"/>
                      <a:r>
                        <a:rPr lang="en-US" dirty="0"/>
                        <a:t>NODE</a:t>
                      </a:r>
                    </a:p>
                  </a:txBody>
                  <a:tcPr/>
                </a:tc>
                <a:tc>
                  <a:txBody>
                    <a:bodyPr/>
                    <a:lstStyle/>
                    <a:p>
                      <a:pPr algn="ctr"/>
                      <a:r>
                        <a:rPr lang="en-US" dirty="0"/>
                        <a:t>NEIGHBORS</a:t>
                      </a:r>
                    </a:p>
                  </a:txBody>
                  <a:tcPr/>
                </a:tc>
                <a:tc>
                  <a:txBody>
                    <a:bodyPr/>
                    <a:lstStyle/>
                    <a:p>
                      <a:pPr algn="ctr"/>
                      <a:r>
                        <a:rPr lang="en-US" dirty="0"/>
                        <a:t>LABEL</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E,F,G</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F</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205733479"/>
                  </a:ext>
                </a:extLst>
              </a:tr>
            </a:tbl>
          </a:graphicData>
        </a:graphic>
      </p:graphicFrame>
      <p:cxnSp>
        <p:nvCxnSpPr>
          <p:cNvPr id="42" name="Straight Arrow Connector 41"/>
          <p:cNvCxnSpPr/>
          <p:nvPr/>
        </p:nvCxnSpPr>
        <p:spPr>
          <a:xfrm>
            <a:off x="1948920" y="2586178"/>
            <a:ext cx="119848" cy="4163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aphicFrame>
        <p:nvGraphicFramePr>
          <p:cNvPr id="30" name="Table 29"/>
          <p:cNvGraphicFramePr>
            <a:graphicFrameLocks noGrp="1"/>
          </p:cNvGraphicFramePr>
          <p:nvPr>
            <p:extLst>
              <p:ext uri="{D42A27DB-BD31-4B8C-83A1-F6EECF244321}">
                <p14:modId xmlns:p14="http://schemas.microsoft.com/office/powerpoint/2010/main" val="316001814"/>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endParaRPr lang="en-US" dirty="0">
                        <a:solidFill>
                          <a:schemeClr val="tx1"/>
                        </a:solidFill>
                      </a:endParaRP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extLst>
                  <a:ext uri="{0D108BD9-81ED-4DB2-BD59-A6C34878D82A}">
                    <a16:rowId xmlns:a16="http://schemas.microsoft.com/office/drawing/2014/main" val="660647860"/>
                  </a:ext>
                </a:extLst>
              </a:tr>
            </a:tbl>
          </a:graphicData>
        </a:graphic>
      </p:graphicFrame>
      <p:sp>
        <p:nvSpPr>
          <p:cNvPr id="31" name="TextBox 30"/>
          <p:cNvSpPr txBox="1"/>
          <p:nvPr/>
        </p:nvSpPr>
        <p:spPr>
          <a:xfrm>
            <a:off x="965262" y="5554545"/>
            <a:ext cx="362600" cy="461665"/>
          </a:xfrm>
          <a:prstGeom prst="rect">
            <a:avLst/>
          </a:prstGeom>
          <a:noFill/>
        </p:spPr>
        <p:txBody>
          <a:bodyPr wrap="none" rtlCol="0">
            <a:spAutoFit/>
          </a:bodyPr>
          <a:lstStyle/>
          <a:p>
            <a:r>
              <a:rPr lang="en-US" sz="2400" b="1">
                <a:effectLst>
                  <a:outerShdw blurRad="38100" dist="38100" dir="2700000" algn="tl">
                    <a:srgbClr val="000000">
                      <a:alpha val="43137"/>
                    </a:srgbClr>
                  </a:outerShdw>
                </a:effectLst>
              </a:rPr>
              <a:t>S</a:t>
            </a:r>
          </a:p>
        </p:txBody>
      </p:sp>
      <p:cxnSp>
        <p:nvCxnSpPr>
          <p:cNvPr id="32" name="Straight Connector 31"/>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3" name="Table 32"/>
          <p:cNvGraphicFramePr>
            <a:graphicFrameLocks noGrp="1"/>
          </p:cNvGraphicFramePr>
          <p:nvPr/>
        </p:nvGraphicFramePr>
        <p:xfrm>
          <a:off x="1437550" y="6006356"/>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endParaRPr lang="en-US" dirty="0">
                        <a:solidFill>
                          <a:schemeClr val="tx1"/>
                        </a:solidFill>
                      </a:endParaRPr>
                    </a:p>
                  </a:txBody>
                  <a:tcPr>
                    <a:noFill/>
                  </a:tcPr>
                </a:tc>
                <a:tc>
                  <a:txBody>
                    <a:bodyPr/>
                    <a:lstStyle/>
                    <a:p>
                      <a:endParaRPr lang="en-US"/>
                    </a:p>
                  </a:txBody>
                  <a:tcPr>
                    <a:noFill/>
                  </a:tcPr>
                </a:tc>
                <a:tc>
                  <a:txBody>
                    <a:bodyPr/>
                    <a:lstStyle/>
                    <a:p>
                      <a:endParaRPr lang="en-US" dirty="0"/>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dirty="0"/>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sp>
        <p:nvSpPr>
          <p:cNvPr id="35" name="Rectangle 34"/>
          <p:cNvSpPr/>
          <p:nvPr/>
        </p:nvSpPr>
        <p:spPr>
          <a:xfrm>
            <a:off x="10922534" y="2828667"/>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Tree>
    <p:custDataLst>
      <p:tags r:id="rId1"/>
    </p:custDataLst>
    <p:extLst>
      <p:ext uri="{BB962C8B-B14F-4D97-AF65-F5344CB8AC3E}">
        <p14:creationId xmlns:p14="http://schemas.microsoft.com/office/powerpoint/2010/main" val="24924965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Depth-First Search</a:t>
            </a:r>
          </a:p>
        </p:txBody>
      </p:sp>
      <p:sp>
        <p:nvSpPr>
          <p:cNvPr id="13" name="Slide Number Placeholder 12">
            <a:extLst>
              <a:ext uri="{FF2B5EF4-FFF2-40B4-BE49-F238E27FC236}">
                <a16:creationId xmlns:a16="http://schemas.microsoft.com/office/drawing/2014/main" id="{7891312A-89CA-4501-BB39-3E93430C5F4A}"/>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24/110</a:t>
            </a:r>
          </a:p>
        </p:txBody>
      </p:sp>
      <p:cxnSp>
        <p:nvCxnSpPr>
          <p:cNvPr id="3" name="Straight Connector 2"/>
          <p:cNvCxnSpPr>
            <a:stCxn id="12" idx="1"/>
          </p:cNvCxnSpPr>
          <p:nvPr/>
        </p:nvCxnSpPr>
        <p:spPr>
          <a:xfrm flipH="1" flipV="1">
            <a:off x="1097669" y="3734594"/>
            <a:ext cx="2198288" cy="93317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 name="Straight Connector 3"/>
          <p:cNvCxnSpPr>
            <a:stCxn id="7" idx="5"/>
          </p:cNvCxnSpPr>
          <p:nvPr/>
        </p:nvCxnSpPr>
        <p:spPr>
          <a:xfrm>
            <a:off x="2328832" y="3462270"/>
            <a:ext cx="1158049" cy="13377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flipV="1">
            <a:off x="2174848" y="3377774"/>
            <a:ext cx="1856048" cy="24517"/>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1948920" y="3481714"/>
            <a:ext cx="175670" cy="1109474"/>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 name="Oval 16"/>
          <p:cNvSpPr>
            <a:spLocks noChangeArrowheads="1"/>
          </p:cNvSpPr>
          <p:nvPr/>
        </p:nvSpPr>
        <p:spPr bwMode="auto">
          <a:xfrm>
            <a:off x="1957083" y="309052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8" name="Straight Connector 7"/>
          <p:cNvCxnSpPr/>
          <p:nvPr/>
        </p:nvCxnSpPr>
        <p:spPr>
          <a:xfrm flipH="1">
            <a:off x="2120774" y="4800035"/>
            <a:ext cx="1119177" cy="684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a:endCxn id="25" idx="1"/>
          </p:cNvCxnSpPr>
          <p:nvPr/>
        </p:nvCxnSpPr>
        <p:spPr>
          <a:xfrm>
            <a:off x="1167927" y="3936170"/>
            <a:ext cx="563889" cy="8638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686531" y="458227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1" name="Oval 16"/>
          <p:cNvSpPr>
            <a:spLocks noChangeArrowheads="1"/>
          </p:cNvSpPr>
          <p:nvPr/>
        </p:nvSpPr>
        <p:spPr bwMode="auto">
          <a:xfrm>
            <a:off x="796178" y="3610102"/>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2" name="Oval 16"/>
          <p:cNvSpPr>
            <a:spLocks noChangeArrowheads="1"/>
          </p:cNvSpPr>
          <p:nvPr/>
        </p:nvSpPr>
        <p:spPr bwMode="auto">
          <a:xfrm>
            <a:off x="3232175" y="460398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5" name="Straight Connector 14"/>
          <p:cNvCxnSpPr>
            <a:stCxn id="12" idx="7"/>
          </p:cNvCxnSpPr>
          <p:nvPr/>
        </p:nvCxnSpPr>
        <p:spPr>
          <a:xfrm flipV="1">
            <a:off x="3603924" y="3429291"/>
            <a:ext cx="650011" cy="123847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20" idx="6"/>
          </p:cNvCxnSpPr>
          <p:nvPr/>
        </p:nvCxnSpPr>
        <p:spPr>
          <a:xfrm flipV="1">
            <a:off x="4464552" y="3565009"/>
            <a:ext cx="1367969" cy="125700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flipV="1">
            <a:off x="4408532" y="3371173"/>
            <a:ext cx="1353035" cy="6601"/>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4246786" y="3646429"/>
            <a:ext cx="45505" cy="95755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4029021" y="319567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0" name="Oval 16"/>
          <p:cNvSpPr>
            <a:spLocks noChangeArrowheads="1"/>
          </p:cNvSpPr>
          <p:nvPr/>
        </p:nvSpPr>
        <p:spPr bwMode="auto">
          <a:xfrm>
            <a:off x="4029021" y="46042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1" name="Oval 16"/>
          <p:cNvSpPr>
            <a:spLocks noChangeArrowheads="1"/>
          </p:cNvSpPr>
          <p:nvPr/>
        </p:nvSpPr>
        <p:spPr bwMode="auto">
          <a:xfrm>
            <a:off x="5747996" y="318047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TextBox 23"/>
          <p:cNvSpPr txBox="1"/>
          <p:nvPr/>
        </p:nvSpPr>
        <p:spPr>
          <a:xfrm>
            <a:off x="2006372" y="3112381"/>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25" name="TextBox 24"/>
          <p:cNvSpPr txBox="1"/>
          <p:nvPr/>
        </p:nvSpPr>
        <p:spPr>
          <a:xfrm>
            <a:off x="1731816" y="4615369"/>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26" name="TextBox 25"/>
          <p:cNvSpPr txBox="1"/>
          <p:nvPr/>
        </p:nvSpPr>
        <p:spPr>
          <a:xfrm>
            <a:off x="4096606" y="3217625"/>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27" name="Rectangle 26"/>
          <p:cNvSpPr/>
          <p:nvPr/>
        </p:nvSpPr>
        <p:spPr>
          <a:xfrm>
            <a:off x="844245" y="3647774"/>
            <a:ext cx="343364" cy="369332"/>
          </a:xfrm>
          <a:prstGeom prst="rect">
            <a:avLst/>
          </a:prstGeom>
        </p:spPr>
        <p:txBody>
          <a:bodyPr wrap="none">
            <a:spAutoFit/>
          </a:bodyPr>
          <a:lstStyle/>
          <a:p>
            <a:r>
              <a:rPr lang="en-US" b="1" dirty="0">
                <a:solidFill>
                  <a:prstClr val="black"/>
                </a:solidFill>
              </a:rPr>
              <a:t>D</a:t>
            </a:r>
          </a:p>
        </p:txBody>
      </p:sp>
      <p:sp>
        <p:nvSpPr>
          <p:cNvPr id="28" name="Rectangle 27"/>
          <p:cNvSpPr/>
          <p:nvPr/>
        </p:nvSpPr>
        <p:spPr>
          <a:xfrm>
            <a:off x="4076007" y="4647465"/>
            <a:ext cx="304892" cy="369332"/>
          </a:xfrm>
          <a:prstGeom prst="rect">
            <a:avLst/>
          </a:prstGeom>
        </p:spPr>
        <p:txBody>
          <a:bodyPr wrap="none">
            <a:spAutoFit/>
          </a:bodyPr>
          <a:lstStyle/>
          <a:p>
            <a:r>
              <a:rPr lang="en-US" b="1" dirty="0">
                <a:solidFill>
                  <a:prstClr val="black"/>
                </a:solidFill>
              </a:rPr>
              <a:t>F</a:t>
            </a:r>
          </a:p>
        </p:txBody>
      </p:sp>
      <p:sp>
        <p:nvSpPr>
          <p:cNvPr id="29" name="Rectangle 28"/>
          <p:cNvSpPr/>
          <p:nvPr/>
        </p:nvSpPr>
        <p:spPr>
          <a:xfrm>
            <a:off x="5798967" y="3195677"/>
            <a:ext cx="340158" cy="369332"/>
          </a:xfrm>
          <a:prstGeom prst="rect">
            <a:avLst/>
          </a:prstGeom>
        </p:spPr>
        <p:txBody>
          <a:bodyPr wrap="none">
            <a:spAutoFit/>
          </a:bodyPr>
          <a:lstStyle/>
          <a:p>
            <a:r>
              <a:rPr lang="en-US" b="1" dirty="0">
                <a:solidFill>
                  <a:prstClr val="black"/>
                </a:solidFill>
              </a:rPr>
              <a:t>G</a:t>
            </a:r>
          </a:p>
        </p:txBody>
      </p:sp>
      <p:sp>
        <p:nvSpPr>
          <p:cNvPr id="34" name="Rectangle 33"/>
          <p:cNvSpPr/>
          <p:nvPr/>
        </p:nvSpPr>
        <p:spPr>
          <a:xfrm>
            <a:off x="3291957" y="4628920"/>
            <a:ext cx="316112" cy="369332"/>
          </a:xfrm>
          <a:prstGeom prst="rect">
            <a:avLst/>
          </a:prstGeom>
        </p:spPr>
        <p:txBody>
          <a:bodyPr wrap="none">
            <a:spAutoFit/>
          </a:bodyPr>
          <a:lstStyle/>
          <a:p>
            <a:r>
              <a:rPr lang="en-US" b="1" dirty="0">
                <a:solidFill>
                  <a:prstClr val="black"/>
                </a:solidFill>
              </a:rPr>
              <a:t>E</a:t>
            </a:r>
          </a:p>
        </p:txBody>
      </p:sp>
      <p:graphicFrame>
        <p:nvGraphicFramePr>
          <p:cNvPr id="40" name="Table 39"/>
          <p:cNvGraphicFramePr>
            <a:graphicFrameLocks noGrp="1"/>
          </p:cNvGraphicFramePr>
          <p:nvPr>
            <p:extLst>
              <p:ext uri="{D42A27DB-BD31-4B8C-83A1-F6EECF244321}">
                <p14:modId xmlns:p14="http://schemas.microsoft.com/office/powerpoint/2010/main" val="569367750"/>
              </p:ext>
            </p:extLst>
          </p:nvPr>
        </p:nvGraphicFramePr>
        <p:xfrm>
          <a:off x="7771306" y="2531586"/>
          <a:ext cx="4009758" cy="2966720"/>
        </p:xfrm>
        <a:graphic>
          <a:graphicData uri="http://schemas.openxmlformats.org/drawingml/2006/table">
            <a:tbl>
              <a:tblPr firstRow="1" bandRow="1">
                <a:tableStyleId>{5C22544A-7EE6-4342-B048-85BDC9FD1C3A}</a:tableStyleId>
              </a:tblPr>
              <a:tblGrid>
                <a:gridCol w="1030995">
                  <a:extLst>
                    <a:ext uri="{9D8B030D-6E8A-4147-A177-3AD203B41FA5}">
                      <a16:colId xmlns:a16="http://schemas.microsoft.com/office/drawing/2014/main" val="2989644895"/>
                    </a:ext>
                  </a:extLst>
                </a:gridCol>
                <a:gridCol w="1845621">
                  <a:extLst>
                    <a:ext uri="{9D8B030D-6E8A-4147-A177-3AD203B41FA5}">
                      <a16:colId xmlns:a16="http://schemas.microsoft.com/office/drawing/2014/main" val="4244960412"/>
                    </a:ext>
                  </a:extLst>
                </a:gridCol>
                <a:gridCol w="1133142">
                  <a:extLst>
                    <a:ext uri="{9D8B030D-6E8A-4147-A177-3AD203B41FA5}">
                      <a16:colId xmlns:a16="http://schemas.microsoft.com/office/drawing/2014/main" val="2572560869"/>
                    </a:ext>
                  </a:extLst>
                </a:gridCol>
              </a:tblGrid>
              <a:tr h="370840">
                <a:tc>
                  <a:txBody>
                    <a:bodyPr/>
                    <a:lstStyle/>
                    <a:p>
                      <a:pPr algn="ctr"/>
                      <a:r>
                        <a:rPr lang="en-US" dirty="0"/>
                        <a:t>NODE</a:t>
                      </a:r>
                    </a:p>
                  </a:txBody>
                  <a:tcPr/>
                </a:tc>
                <a:tc>
                  <a:txBody>
                    <a:bodyPr/>
                    <a:lstStyle/>
                    <a:p>
                      <a:pPr algn="ctr"/>
                      <a:r>
                        <a:rPr lang="en-US" dirty="0"/>
                        <a:t>NEIGHBORS</a:t>
                      </a:r>
                    </a:p>
                  </a:txBody>
                  <a:tcPr/>
                </a:tc>
                <a:tc>
                  <a:txBody>
                    <a:bodyPr/>
                    <a:lstStyle/>
                    <a:p>
                      <a:pPr algn="ctr"/>
                      <a:r>
                        <a:rPr lang="en-US" dirty="0"/>
                        <a:t>LABEL</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E,F,G</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F</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205733479"/>
                  </a:ext>
                </a:extLst>
              </a:tr>
            </a:tbl>
          </a:graphicData>
        </a:graphic>
      </p:graphicFrame>
      <p:cxnSp>
        <p:nvCxnSpPr>
          <p:cNvPr id="42" name="Straight Arrow Connector 41"/>
          <p:cNvCxnSpPr/>
          <p:nvPr/>
        </p:nvCxnSpPr>
        <p:spPr>
          <a:xfrm>
            <a:off x="1948920" y="2586178"/>
            <a:ext cx="119848" cy="4163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aphicFrame>
        <p:nvGraphicFramePr>
          <p:cNvPr id="30" name="Table 29"/>
          <p:cNvGraphicFramePr>
            <a:graphicFrameLocks noGrp="1"/>
          </p:cNvGraphicFramePr>
          <p:nvPr>
            <p:extLst>
              <p:ext uri="{D42A27DB-BD31-4B8C-83A1-F6EECF244321}">
                <p14:modId xmlns:p14="http://schemas.microsoft.com/office/powerpoint/2010/main" val="3644053308"/>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C</a:t>
                      </a:r>
                    </a:p>
                  </a:txBody>
                  <a:tcPr>
                    <a:solidFill>
                      <a:schemeClr val="accent2">
                        <a:lumMod val="60000"/>
                        <a:lumOff val="40000"/>
                      </a:schemeClr>
                    </a:solidFill>
                  </a:tcPr>
                </a:tc>
                <a:tc>
                  <a:txBody>
                    <a:bodyPr/>
                    <a:lstStyle/>
                    <a:p>
                      <a:pPr algn="ctr"/>
                      <a:r>
                        <a:rPr lang="en-US" dirty="0">
                          <a:solidFill>
                            <a:schemeClr val="tx1"/>
                          </a:solidFill>
                        </a:rPr>
                        <a:t>B</a:t>
                      </a: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extLst>
                  <a:ext uri="{0D108BD9-81ED-4DB2-BD59-A6C34878D82A}">
                    <a16:rowId xmlns:a16="http://schemas.microsoft.com/office/drawing/2014/main" val="660647860"/>
                  </a:ext>
                </a:extLst>
              </a:tr>
            </a:tbl>
          </a:graphicData>
        </a:graphic>
      </p:graphicFrame>
      <p:sp>
        <p:nvSpPr>
          <p:cNvPr id="31" name="TextBox 30"/>
          <p:cNvSpPr txBox="1"/>
          <p:nvPr/>
        </p:nvSpPr>
        <p:spPr>
          <a:xfrm>
            <a:off x="965262" y="5554545"/>
            <a:ext cx="362600" cy="461665"/>
          </a:xfrm>
          <a:prstGeom prst="rect">
            <a:avLst/>
          </a:prstGeom>
          <a:noFill/>
        </p:spPr>
        <p:txBody>
          <a:bodyPr wrap="none" rtlCol="0">
            <a:spAutoFit/>
          </a:bodyPr>
          <a:lstStyle/>
          <a:p>
            <a:r>
              <a:rPr lang="en-US" sz="2400" b="1">
                <a:effectLst>
                  <a:outerShdw blurRad="38100" dist="38100" dir="2700000" algn="tl">
                    <a:srgbClr val="000000">
                      <a:alpha val="43137"/>
                    </a:srgbClr>
                  </a:outerShdw>
                </a:effectLst>
              </a:rPr>
              <a:t>S</a:t>
            </a:r>
          </a:p>
        </p:txBody>
      </p:sp>
      <p:cxnSp>
        <p:nvCxnSpPr>
          <p:cNvPr id="32" name="Straight Connector 31"/>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3" name="Table 32"/>
          <p:cNvGraphicFramePr>
            <a:graphicFrameLocks noGrp="1"/>
          </p:cNvGraphicFramePr>
          <p:nvPr/>
        </p:nvGraphicFramePr>
        <p:xfrm>
          <a:off x="1437550" y="6006356"/>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endParaRPr lang="en-US" dirty="0">
                        <a:solidFill>
                          <a:schemeClr val="tx1"/>
                        </a:solidFill>
                      </a:endParaRPr>
                    </a:p>
                  </a:txBody>
                  <a:tcPr>
                    <a:noFill/>
                  </a:tcPr>
                </a:tc>
                <a:tc>
                  <a:txBody>
                    <a:bodyPr/>
                    <a:lstStyle/>
                    <a:p>
                      <a:endParaRPr lang="en-US"/>
                    </a:p>
                  </a:txBody>
                  <a:tcPr>
                    <a:noFill/>
                  </a:tcPr>
                </a:tc>
                <a:tc>
                  <a:txBody>
                    <a:bodyPr/>
                    <a:lstStyle/>
                    <a:p>
                      <a:endParaRPr lang="en-US" dirty="0"/>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dirty="0"/>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sp>
        <p:nvSpPr>
          <p:cNvPr id="35" name="Rectangle 34"/>
          <p:cNvSpPr/>
          <p:nvPr/>
        </p:nvSpPr>
        <p:spPr>
          <a:xfrm>
            <a:off x="10924071" y="2833056"/>
            <a:ext cx="652710" cy="584775"/>
          </a:xfrm>
          <a:prstGeom prst="rect">
            <a:avLst/>
          </a:prstGeom>
        </p:spPr>
        <p:txBody>
          <a:bodyPr wrap="squar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6" name="Rectangle 35"/>
          <p:cNvSpPr/>
          <p:nvPr/>
        </p:nvSpPr>
        <p:spPr>
          <a:xfrm>
            <a:off x="10980594" y="3233653"/>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7" name="Rectangle 36"/>
          <p:cNvSpPr/>
          <p:nvPr/>
        </p:nvSpPr>
        <p:spPr>
          <a:xfrm>
            <a:off x="10976238" y="3581998"/>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Tree>
    <p:custDataLst>
      <p:tags r:id="rId1"/>
    </p:custDataLst>
    <p:extLst>
      <p:ext uri="{BB962C8B-B14F-4D97-AF65-F5344CB8AC3E}">
        <p14:creationId xmlns:p14="http://schemas.microsoft.com/office/powerpoint/2010/main" val="3069423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Depth-First Search</a:t>
            </a:r>
          </a:p>
        </p:txBody>
      </p:sp>
      <p:sp>
        <p:nvSpPr>
          <p:cNvPr id="13" name="Slide Number Placeholder 12">
            <a:extLst>
              <a:ext uri="{FF2B5EF4-FFF2-40B4-BE49-F238E27FC236}">
                <a16:creationId xmlns:a16="http://schemas.microsoft.com/office/drawing/2014/main" id="{941ED167-7000-46A2-BDDC-7B9BD72157F0}"/>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25/110</a:t>
            </a:r>
          </a:p>
        </p:txBody>
      </p:sp>
      <p:cxnSp>
        <p:nvCxnSpPr>
          <p:cNvPr id="3" name="Straight Connector 2"/>
          <p:cNvCxnSpPr>
            <a:stCxn id="12" idx="1"/>
          </p:cNvCxnSpPr>
          <p:nvPr/>
        </p:nvCxnSpPr>
        <p:spPr>
          <a:xfrm flipH="1" flipV="1">
            <a:off x="1097669" y="3734594"/>
            <a:ext cx="2198288" cy="93317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 name="Straight Connector 3"/>
          <p:cNvCxnSpPr>
            <a:stCxn id="7" idx="5"/>
          </p:cNvCxnSpPr>
          <p:nvPr/>
        </p:nvCxnSpPr>
        <p:spPr>
          <a:xfrm>
            <a:off x="2328832" y="3462270"/>
            <a:ext cx="1158049" cy="13377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flipV="1">
            <a:off x="2174848" y="3377774"/>
            <a:ext cx="1856048" cy="24517"/>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1948920" y="3481714"/>
            <a:ext cx="175670" cy="1109474"/>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 name="Oval 16"/>
          <p:cNvSpPr>
            <a:spLocks noChangeArrowheads="1"/>
          </p:cNvSpPr>
          <p:nvPr/>
        </p:nvSpPr>
        <p:spPr bwMode="auto">
          <a:xfrm>
            <a:off x="1957083" y="309052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8" name="Straight Connector 7"/>
          <p:cNvCxnSpPr/>
          <p:nvPr/>
        </p:nvCxnSpPr>
        <p:spPr>
          <a:xfrm flipH="1">
            <a:off x="2120774" y="4800035"/>
            <a:ext cx="1119177" cy="684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a:endCxn id="25" idx="1"/>
          </p:cNvCxnSpPr>
          <p:nvPr/>
        </p:nvCxnSpPr>
        <p:spPr>
          <a:xfrm>
            <a:off x="1167927" y="3936170"/>
            <a:ext cx="563889" cy="8638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686531" y="458227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1" name="Oval 16"/>
          <p:cNvSpPr>
            <a:spLocks noChangeArrowheads="1"/>
          </p:cNvSpPr>
          <p:nvPr/>
        </p:nvSpPr>
        <p:spPr bwMode="auto">
          <a:xfrm>
            <a:off x="796178" y="3610102"/>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2" name="Oval 16"/>
          <p:cNvSpPr>
            <a:spLocks noChangeArrowheads="1"/>
          </p:cNvSpPr>
          <p:nvPr/>
        </p:nvSpPr>
        <p:spPr bwMode="auto">
          <a:xfrm>
            <a:off x="3232175" y="460398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5" name="Straight Connector 14"/>
          <p:cNvCxnSpPr>
            <a:stCxn id="12" idx="7"/>
          </p:cNvCxnSpPr>
          <p:nvPr/>
        </p:nvCxnSpPr>
        <p:spPr>
          <a:xfrm flipV="1">
            <a:off x="3603924" y="3429291"/>
            <a:ext cx="650011" cy="123847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20" idx="6"/>
          </p:cNvCxnSpPr>
          <p:nvPr/>
        </p:nvCxnSpPr>
        <p:spPr>
          <a:xfrm flipV="1">
            <a:off x="4464552" y="3565009"/>
            <a:ext cx="1367969" cy="125700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flipV="1">
            <a:off x="4408532" y="3371173"/>
            <a:ext cx="1353035" cy="6601"/>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4246786" y="3646429"/>
            <a:ext cx="45505" cy="95755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4029021" y="319567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0" name="Oval 16"/>
          <p:cNvSpPr>
            <a:spLocks noChangeArrowheads="1"/>
          </p:cNvSpPr>
          <p:nvPr/>
        </p:nvSpPr>
        <p:spPr bwMode="auto">
          <a:xfrm>
            <a:off x="4029021" y="46042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1" name="Oval 16"/>
          <p:cNvSpPr>
            <a:spLocks noChangeArrowheads="1"/>
          </p:cNvSpPr>
          <p:nvPr/>
        </p:nvSpPr>
        <p:spPr bwMode="auto">
          <a:xfrm>
            <a:off x="5747996" y="318047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TextBox 23"/>
          <p:cNvSpPr txBox="1"/>
          <p:nvPr/>
        </p:nvSpPr>
        <p:spPr>
          <a:xfrm>
            <a:off x="2006372" y="3112381"/>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25" name="TextBox 24"/>
          <p:cNvSpPr txBox="1"/>
          <p:nvPr/>
        </p:nvSpPr>
        <p:spPr>
          <a:xfrm>
            <a:off x="1731816" y="4615369"/>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26" name="TextBox 25"/>
          <p:cNvSpPr txBox="1"/>
          <p:nvPr/>
        </p:nvSpPr>
        <p:spPr>
          <a:xfrm>
            <a:off x="4096606" y="3217625"/>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27" name="Rectangle 26"/>
          <p:cNvSpPr/>
          <p:nvPr/>
        </p:nvSpPr>
        <p:spPr>
          <a:xfrm>
            <a:off x="844245" y="3647774"/>
            <a:ext cx="343364" cy="369332"/>
          </a:xfrm>
          <a:prstGeom prst="rect">
            <a:avLst/>
          </a:prstGeom>
        </p:spPr>
        <p:txBody>
          <a:bodyPr wrap="none">
            <a:spAutoFit/>
          </a:bodyPr>
          <a:lstStyle/>
          <a:p>
            <a:r>
              <a:rPr lang="en-US" b="1" dirty="0">
                <a:solidFill>
                  <a:prstClr val="black"/>
                </a:solidFill>
              </a:rPr>
              <a:t>D</a:t>
            </a:r>
          </a:p>
        </p:txBody>
      </p:sp>
      <p:sp>
        <p:nvSpPr>
          <p:cNvPr id="28" name="Rectangle 27"/>
          <p:cNvSpPr/>
          <p:nvPr/>
        </p:nvSpPr>
        <p:spPr>
          <a:xfrm>
            <a:off x="4076007" y="4647465"/>
            <a:ext cx="304892" cy="369332"/>
          </a:xfrm>
          <a:prstGeom prst="rect">
            <a:avLst/>
          </a:prstGeom>
        </p:spPr>
        <p:txBody>
          <a:bodyPr wrap="none">
            <a:spAutoFit/>
          </a:bodyPr>
          <a:lstStyle/>
          <a:p>
            <a:r>
              <a:rPr lang="en-US" b="1" dirty="0">
                <a:solidFill>
                  <a:prstClr val="black"/>
                </a:solidFill>
              </a:rPr>
              <a:t>F</a:t>
            </a:r>
          </a:p>
        </p:txBody>
      </p:sp>
      <p:sp>
        <p:nvSpPr>
          <p:cNvPr id="29" name="Rectangle 28"/>
          <p:cNvSpPr/>
          <p:nvPr/>
        </p:nvSpPr>
        <p:spPr>
          <a:xfrm>
            <a:off x="5798967" y="3195677"/>
            <a:ext cx="340158" cy="369332"/>
          </a:xfrm>
          <a:prstGeom prst="rect">
            <a:avLst/>
          </a:prstGeom>
        </p:spPr>
        <p:txBody>
          <a:bodyPr wrap="none">
            <a:spAutoFit/>
          </a:bodyPr>
          <a:lstStyle/>
          <a:p>
            <a:r>
              <a:rPr lang="en-US" b="1" dirty="0">
                <a:solidFill>
                  <a:prstClr val="black"/>
                </a:solidFill>
              </a:rPr>
              <a:t>G</a:t>
            </a:r>
          </a:p>
        </p:txBody>
      </p:sp>
      <p:sp>
        <p:nvSpPr>
          <p:cNvPr id="34" name="Rectangle 33"/>
          <p:cNvSpPr/>
          <p:nvPr/>
        </p:nvSpPr>
        <p:spPr>
          <a:xfrm>
            <a:off x="3291957" y="4628920"/>
            <a:ext cx="316112" cy="369332"/>
          </a:xfrm>
          <a:prstGeom prst="rect">
            <a:avLst/>
          </a:prstGeom>
        </p:spPr>
        <p:txBody>
          <a:bodyPr wrap="none">
            <a:spAutoFit/>
          </a:bodyPr>
          <a:lstStyle/>
          <a:p>
            <a:r>
              <a:rPr lang="en-US" b="1" dirty="0">
                <a:solidFill>
                  <a:prstClr val="black"/>
                </a:solidFill>
              </a:rPr>
              <a:t>E</a:t>
            </a:r>
          </a:p>
        </p:txBody>
      </p:sp>
      <p:graphicFrame>
        <p:nvGraphicFramePr>
          <p:cNvPr id="40" name="Table 39"/>
          <p:cNvGraphicFramePr>
            <a:graphicFrameLocks noGrp="1"/>
          </p:cNvGraphicFramePr>
          <p:nvPr>
            <p:extLst>
              <p:ext uri="{D42A27DB-BD31-4B8C-83A1-F6EECF244321}">
                <p14:modId xmlns:p14="http://schemas.microsoft.com/office/powerpoint/2010/main" val="593655866"/>
              </p:ext>
            </p:extLst>
          </p:nvPr>
        </p:nvGraphicFramePr>
        <p:xfrm>
          <a:off x="7771306" y="2531586"/>
          <a:ext cx="3993431" cy="2966720"/>
        </p:xfrm>
        <a:graphic>
          <a:graphicData uri="http://schemas.openxmlformats.org/drawingml/2006/table">
            <a:tbl>
              <a:tblPr firstRow="1" bandRow="1">
                <a:tableStyleId>{5C22544A-7EE6-4342-B048-85BDC9FD1C3A}</a:tableStyleId>
              </a:tblPr>
              <a:tblGrid>
                <a:gridCol w="1026797">
                  <a:extLst>
                    <a:ext uri="{9D8B030D-6E8A-4147-A177-3AD203B41FA5}">
                      <a16:colId xmlns:a16="http://schemas.microsoft.com/office/drawing/2014/main" val="2989644895"/>
                    </a:ext>
                  </a:extLst>
                </a:gridCol>
                <a:gridCol w="1838106">
                  <a:extLst>
                    <a:ext uri="{9D8B030D-6E8A-4147-A177-3AD203B41FA5}">
                      <a16:colId xmlns:a16="http://schemas.microsoft.com/office/drawing/2014/main" val="4244960412"/>
                    </a:ext>
                  </a:extLst>
                </a:gridCol>
                <a:gridCol w="1128528">
                  <a:extLst>
                    <a:ext uri="{9D8B030D-6E8A-4147-A177-3AD203B41FA5}">
                      <a16:colId xmlns:a16="http://schemas.microsoft.com/office/drawing/2014/main" val="2572560869"/>
                    </a:ext>
                  </a:extLst>
                </a:gridCol>
              </a:tblGrid>
              <a:tr h="370840">
                <a:tc>
                  <a:txBody>
                    <a:bodyPr/>
                    <a:lstStyle/>
                    <a:p>
                      <a:pPr algn="ctr"/>
                      <a:r>
                        <a:rPr lang="en-US" dirty="0"/>
                        <a:t>NODE</a:t>
                      </a:r>
                    </a:p>
                  </a:txBody>
                  <a:tcPr/>
                </a:tc>
                <a:tc>
                  <a:txBody>
                    <a:bodyPr/>
                    <a:lstStyle/>
                    <a:p>
                      <a:pPr algn="ctr"/>
                      <a:r>
                        <a:rPr lang="en-US" dirty="0"/>
                        <a:t>NEIGHBORS</a:t>
                      </a:r>
                    </a:p>
                  </a:txBody>
                  <a:tcPr/>
                </a:tc>
                <a:tc>
                  <a:txBody>
                    <a:bodyPr/>
                    <a:lstStyle/>
                    <a:p>
                      <a:pPr algn="ctr"/>
                      <a:r>
                        <a:rPr lang="en-US" dirty="0"/>
                        <a:t>LABEL</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E,F,G</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F</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205733479"/>
                  </a:ext>
                </a:extLst>
              </a:tr>
            </a:tbl>
          </a:graphicData>
        </a:graphic>
      </p:graphicFrame>
      <p:cxnSp>
        <p:nvCxnSpPr>
          <p:cNvPr id="42" name="Straight Arrow Connector 41"/>
          <p:cNvCxnSpPr/>
          <p:nvPr/>
        </p:nvCxnSpPr>
        <p:spPr>
          <a:xfrm>
            <a:off x="1948920" y="2586178"/>
            <a:ext cx="119848" cy="4163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aphicFrame>
        <p:nvGraphicFramePr>
          <p:cNvPr id="30" name="Table 29"/>
          <p:cNvGraphicFramePr>
            <a:graphicFrameLocks noGrp="1"/>
          </p:cNvGraphicFramePr>
          <p:nvPr>
            <p:extLst>
              <p:ext uri="{D42A27DB-BD31-4B8C-83A1-F6EECF244321}">
                <p14:modId xmlns:p14="http://schemas.microsoft.com/office/powerpoint/2010/main" val="3227895357"/>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C</a:t>
                      </a: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extLst>
                  <a:ext uri="{0D108BD9-81ED-4DB2-BD59-A6C34878D82A}">
                    <a16:rowId xmlns:a16="http://schemas.microsoft.com/office/drawing/2014/main" val="660647860"/>
                  </a:ext>
                </a:extLst>
              </a:tr>
            </a:tbl>
          </a:graphicData>
        </a:graphic>
      </p:graphicFrame>
      <p:sp>
        <p:nvSpPr>
          <p:cNvPr id="31" name="TextBox 30"/>
          <p:cNvSpPr txBox="1"/>
          <p:nvPr/>
        </p:nvSpPr>
        <p:spPr>
          <a:xfrm>
            <a:off x="965262" y="5554545"/>
            <a:ext cx="362600" cy="461665"/>
          </a:xfrm>
          <a:prstGeom prst="rect">
            <a:avLst/>
          </a:prstGeom>
          <a:noFill/>
        </p:spPr>
        <p:txBody>
          <a:bodyPr wrap="none" rtlCol="0">
            <a:spAutoFit/>
          </a:bodyPr>
          <a:lstStyle/>
          <a:p>
            <a:r>
              <a:rPr lang="en-US" sz="2400" b="1">
                <a:effectLst>
                  <a:outerShdw blurRad="38100" dist="38100" dir="2700000" algn="tl">
                    <a:srgbClr val="000000">
                      <a:alpha val="43137"/>
                    </a:srgbClr>
                  </a:outerShdw>
                </a:effectLst>
              </a:rPr>
              <a:t>S</a:t>
            </a:r>
          </a:p>
        </p:txBody>
      </p:sp>
      <p:cxnSp>
        <p:nvCxnSpPr>
          <p:cNvPr id="32" name="Straight Connector 31"/>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3" name="Table 32"/>
          <p:cNvGraphicFramePr>
            <a:graphicFrameLocks noGrp="1"/>
          </p:cNvGraphicFramePr>
          <p:nvPr/>
        </p:nvGraphicFramePr>
        <p:xfrm>
          <a:off x="1437550" y="6006356"/>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B</a:t>
                      </a:r>
                    </a:p>
                  </a:txBody>
                  <a:tcPr>
                    <a:noFill/>
                  </a:tcPr>
                </a:tc>
                <a:tc>
                  <a:txBody>
                    <a:bodyPr/>
                    <a:lstStyle/>
                    <a:p>
                      <a:endParaRPr lang="en-US"/>
                    </a:p>
                  </a:txBody>
                  <a:tcPr>
                    <a:noFill/>
                  </a:tcPr>
                </a:tc>
                <a:tc>
                  <a:txBody>
                    <a:bodyPr/>
                    <a:lstStyle/>
                    <a:p>
                      <a:endParaRPr lang="en-US" dirty="0"/>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dirty="0"/>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sp>
        <p:nvSpPr>
          <p:cNvPr id="35" name="Rectangle 34"/>
          <p:cNvSpPr/>
          <p:nvPr/>
        </p:nvSpPr>
        <p:spPr>
          <a:xfrm>
            <a:off x="10927803" y="2833056"/>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6" name="Rectangle 35"/>
          <p:cNvSpPr/>
          <p:nvPr/>
        </p:nvSpPr>
        <p:spPr>
          <a:xfrm>
            <a:off x="10923446" y="3233653"/>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7" name="Rectangle 36"/>
          <p:cNvSpPr/>
          <p:nvPr/>
        </p:nvSpPr>
        <p:spPr>
          <a:xfrm>
            <a:off x="10919090" y="3581998"/>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Tree>
    <p:custDataLst>
      <p:tags r:id="rId1"/>
    </p:custDataLst>
    <p:extLst>
      <p:ext uri="{BB962C8B-B14F-4D97-AF65-F5344CB8AC3E}">
        <p14:creationId xmlns:p14="http://schemas.microsoft.com/office/powerpoint/2010/main" val="9538938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Depth-First Search</a:t>
            </a:r>
          </a:p>
        </p:txBody>
      </p:sp>
      <p:sp>
        <p:nvSpPr>
          <p:cNvPr id="13" name="Slide Number Placeholder 12">
            <a:extLst>
              <a:ext uri="{FF2B5EF4-FFF2-40B4-BE49-F238E27FC236}">
                <a16:creationId xmlns:a16="http://schemas.microsoft.com/office/drawing/2014/main" id="{EBCE9EF1-5AFB-436D-8FDA-32411E6C5EC4}"/>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26/110</a:t>
            </a:r>
          </a:p>
        </p:txBody>
      </p:sp>
      <p:cxnSp>
        <p:nvCxnSpPr>
          <p:cNvPr id="3" name="Straight Connector 2"/>
          <p:cNvCxnSpPr>
            <a:stCxn id="12" idx="1"/>
          </p:cNvCxnSpPr>
          <p:nvPr/>
        </p:nvCxnSpPr>
        <p:spPr>
          <a:xfrm flipH="1" flipV="1">
            <a:off x="1097669" y="3734594"/>
            <a:ext cx="2198288" cy="93317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 name="Straight Connector 3"/>
          <p:cNvCxnSpPr>
            <a:stCxn id="7" idx="5"/>
          </p:cNvCxnSpPr>
          <p:nvPr/>
        </p:nvCxnSpPr>
        <p:spPr>
          <a:xfrm>
            <a:off x="2328832" y="3462270"/>
            <a:ext cx="1158049" cy="13377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flipV="1">
            <a:off x="2174848" y="3377774"/>
            <a:ext cx="1856048" cy="24517"/>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1948920" y="3481714"/>
            <a:ext cx="175670" cy="1109474"/>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 name="Oval 16"/>
          <p:cNvSpPr>
            <a:spLocks noChangeArrowheads="1"/>
          </p:cNvSpPr>
          <p:nvPr/>
        </p:nvSpPr>
        <p:spPr bwMode="auto">
          <a:xfrm>
            <a:off x="1957083" y="309052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8" name="Straight Connector 7"/>
          <p:cNvCxnSpPr/>
          <p:nvPr/>
        </p:nvCxnSpPr>
        <p:spPr>
          <a:xfrm flipH="1">
            <a:off x="2120774" y="4800035"/>
            <a:ext cx="1119177" cy="684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a:endCxn id="25" idx="1"/>
          </p:cNvCxnSpPr>
          <p:nvPr/>
        </p:nvCxnSpPr>
        <p:spPr>
          <a:xfrm>
            <a:off x="1167927" y="3936170"/>
            <a:ext cx="563889" cy="8638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686531" y="458227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1" name="Oval 16"/>
          <p:cNvSpPr>
            <a:spLocks noChangeArrowheads="1"/>
          </p:cNvSpPr>
          <p:nvPr/>
        </p:nvSpPr>
        <p:spPr bwMode="auto">
          <a:xfrm>
            <a:off x="796178" y="3610102"/>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2" name="Oval 16"/>
          <p:cNvSpPr>
            <a:spLocks noChangeArrowheads="1"/>
          </p:cNvSpPr>
          <p:nvPr/>
        </p:nvSpPr>
        <p:spPr bwMode="auto">
          <a:xfrm>
            <a:off x="3232175" y="460398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5" name="Straight Connector 14"/>
          <p:cNvCxnSpPr>
            <a:stCxn id="12" idx="7"/>
          </p:cNvCxnSpPr>
          <p:nvPr/>
        </p:nvCxnSpPr>
        <p:spPr>
          <a:xfrm flipV="1">
            <a:off x="3603924" y="3429291"/>
            <a:ext cx="650011" cy="123847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20" idx="6"/>
          </p:cNvCxnSpPr>
          <p:nvPr/>
        </p:nvCxnSpPr>
        <p:spPr>
          <a:xfrm flipV="1">
            <a:off x="4464552" y="3565009"/>
            <a:ext cx="1367969" cy="125700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flipV="1">
            <a:off x="4408532" y="3371173"/>
            <a:ext cx="1353035" cy="6601"/>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4246786" y="3646429"/>
            <a:ext cx="45505" cy="95755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4029021" y="319567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0" name="Oval 16"/>
          <p:cNvSpPr>
            <a:spLocks noChangeArrowheads="1"/>
          </p:cNvSpPr>
          <p:nvPr/>
        </p:nvSpPr>
        <p:spPr bwMode="auto">
          <a:xfrm>
            <a:off x="4029021" y="46042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1" name="Oval 16"/>
          <p:cNvSpPr>
            <a:spLocks noChangeArrowheads="1"/>
          </p:cNvSpPr>
          <p:nvPr/>
        </p:nvSpPr>
        <p:spPr bwMode="auto">
          <a:xfrm>
            <a:off x="5747996" y="318047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TextBox 23"/>
          <p:cNvSpPr txBox="1"/>
          <p:nvPr/>
        </p:nvSpPr>
        <p:spPr>
          <a:xfrm>
            <a:off x="2006372" y="3112381"/>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25" name="TextBox 24"/>
          <p:cNvSpPr txBox="1"/>
          <p:nvPr/>
        </p:nvSpPr>
        <p:spPr>
          <a:xfrm>
            <a:off x="1731816" y="4615369"/>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26" name="TextBox 25"/>
          <p:cNvSpPr txBox="1"/>
          <p:nvPr/>
        </p:nvSpPr>
        <p:spPr>
          <a:xfrm>
            <a:off x="4096606" y="3217625"/>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27" name="Rectangle 26"/>
          <p:cNvSpPr/>
          <p:nvPr/>
        </p:nvSpPr>
        <p:spPr>
          <a:xfrm>
            <a:off x="844245" y="3647774"/>
            <a:ext cx="343364" cy="369332"/>
          </a:xfrm>
          <a:prstGeom prst="rect">
            <a:avLst/>
          </a:prstGeom>
        </p:spPr>
        <p:txBody>
          <a:bodyPr wrap="none">
            <a:spAutoFit/>
          </a:bodyPr>
          <a:lstStyle/>
          <a:p>
            <a:r>
              <a:rPr lang="en-US" b="1" dirty="0">
                <a:solidFill>
                  <a:prstClr val="black"/>
                </a:solidFill>
              </a:rPr>
              <a:t>D</a:t>
            </a:r>
          </a:p>
        </p:txBody>
      </p:sp>
      <p:sp>
        <p:nvSpPr>
          <p:cNvPr id="28" name="Rectangle 27"/>
          <p:cNvSpPr/>
          <p:nvPr/>
        </p:nvSpPr>
        <p:spPr>
          <a:xfrm>
            <a:off x="4076007" y="4647465"/>
            <a:ext cx="304892" cy="369332"/>
          </a:xfrm>
          <a:prstGeom prst="rect">
            <a:avLst/>
          </a:prstGeom>
        </p:spPr>
        <p:txBody>
          <a:bodyPr wrap="none">
            <a:spAutoFit/>
          </a:bodyPr>
          <a:lstStyle/>
          <a:p>
            <a:r>
              <a:rPr lang="en-US" b="1" dirty="0">
                <a:solidFill>
                  <a:prstClr val="black"/>
                </a:solidFill>
              </a:rPr>
              <a:t>F</a:t>
            </a:r>
          </a:p>
        </p:txBody>
      </p:sp>
      <p:sp>
        <p:nvSpPr>
          <p:cNvPr id="29" name="Rectangle 28"/>
          <p:cNvSpPr/>
          <p:nvPr/>
        </p:nvSpPr>
        <p:spPr>
          <a:xfrm>
            <a:off x="5798967" y="3195677"/>
            <a:ext cx="340158" cy="369332"/>
          </a:xfrm>
          <a:prstGeom prst="rect">
            <a:avLst/>
          </a:prstGeom>
        </p:spPr>
        <p:txBody>
          <a:bodyPr wrap="none">
            <a:spAutoFit/>
          </a:bodyPr>
          <a:lstStyle/>
          <a:p>
            <a:r>
              <a:rPr lang="en-US" b="1" dirty="0">
                <a:solidFill>
                  <a:prstClr val="black"/>
                </a:solidFill>
              </a:rPr>
              <a:t>G</a:t>
            </a:r>
          </a:p>
        </p:txBody>
      </p:sp>
      <p:sp>
        <p:nvSpPr>
          <p:cNvPr id="34" name="Rectangle 33"/>
          <p:cNvSpPr/>
          <p:nvPr/>
        </p:nvSpPr>
        <p:spPr>
          <a:xfrm>
            <a:off x="3291957" y="4628920"/>
            <a:ext cx="316112" cy="369332"/>
          </a:xfrm>
          <a:prstGeom prst="rect">
            <a:avLst/>
          </a:prstGeom>
        </p:spPr>
        <p:txBody>
          <a:bodyPr wrap="none">
            <a:spAutoFit/>
          </a:bodyPr>
          <a:lstStyle/>
          <a:p>
            <a:r>
              <a:rPr lang="en-US" b="1" dirty="0">
                <a:solidFill>
                  <a:prstClr val="black"/>
                </a:solidFill>
              </a:rPr>
              <a:t>E</a:t>
            </a:r>
          </a:p>
        </p:txBody>
      </p:sp>
      <p:graphicFrame>
        <p:nvGraphicFramePr>
          <p:cNvPr id="40" name="Table 39"/>
          <p:cNvGraphicFramePr>
            <a:graphicFrameLocks noGrp="1"/>
          </p:cNvGraphicFramePr>
          <p:nvPr>
            <p:extLst>
              <p:ext uri="{D42A27DB-BD31-4B8C-83A1-F6EECF244321}">
                <p14:modId xmlns:p14="http://schemas.microsoft.com/office/powerpoint/2010/main" val="1852948942"/>
              </p:ext>
            </p:extLst>
          </p:nvPr>
        </p:nvGraphicFramePr>
        <p:xfrm>
          <a:off x="7771306" y="2531586"/>
          <a:ext cx="3985264" cy="2966720"/>
        </p:xfrm>
        <a:graphic>
          <a:graphicData uri="http://schemas.openxmlformats.org/drawingml/2006/table">
            <a:tbl>
              <a:tblPr firstRow="1" bandRow="1">
                <a:tableStyleId>{5C22544A-7EE6-4342-B048-85BDC9FD1C3A}</a:tableStyleId>
              </a:tblPr>
              <a:tblGrid>
                <a:gridCol w="1024697">
                  <a:extLst>
                    <a:ext uri="{9D8B030D-6E8A-4147-A177-3AD203B41FA5}">
                      <a16:colId xmlns:a16="http://schemas.microsoft.com/office/drawing/2014/main" val="2989644895"/>
                    </a:ext>
                  </a:extLst>
                </a:gridCol>
                <a:gridCol w="1834347">
                  <a:extLst>
                    <a:ext uri="{9D8B030D-6E8A-4147-A177-3AD203B41FA5}">
                      <a16:colId xmlns:a16="http://schemas.microsoft.com/office/drawing/2014/main" val="4244960412"/>
                    </a:ext>
                  </a:extLst>
                </a:gridCol>
                <a:gridCol w="1126220">
                  <a:extLst>
                    <a:ext uri="{9D8B030D-6E8A-4147-A177-3AD203B41FA5}">
                      <a16:colId xmlns:a16="http://schemas.microsoft.com/office/drawing/2014/main" val="2572560869"/>
                    </a:ext>
                  </a:extLst>
                </a:gridCol>
              </a:tblGrid>
              <a:tr h="370840">
                <a:tc>
                  <a:txBody>
                    <a:bodyPr/>
                    <a:lstStyle/>
                    <a:p>
                      <a:pPr algn="ctr"/>
                      <a:r>
                        <a:rPr lang="en-US" dirty="0"/>
                        <a:t>NODE</a:t>
                      </a:r>
                    </a:p>
                  </a:txBody>
                  <a:tcPr/>
                </a:tc>
                <a:tc>
                  <a:txBody>
                    <a:bodyPr/>
                    <a:lstStyle/>
                    <a:p>
                      <a:pPr algn="ctr"/>
                      <a:r>
                        <a:rPr lang="en-US" dirty="0"/>
                        <a:t>NEIGHBORS</a:t>
                      </a:r>
                    </a:p>
                  </a:txBody>
                  <a:tcPr/>
                </a:tc>
                <a:tc>
                  <a:txBody>
                    <a:bodyPr/>
                    <a:lstStyle/>
                    <a:p>
                      <a:pPr algn="ctr"/>
                      <a:r>
                        <a:rPr lang="en-US" dirty="0"/>
                        <a:t>LABEL</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E,F,G</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F</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205733479"/>
                  </a:ext>
                </a:extLst>
              </a:tr>
            </a:tbl>
          </a:graphicData>
        </a:graphic>
      </p:graphicFrame>
      <p:cxnSp>
        <p:nvCxnSpPr>
          <p:cNvPr id="42" name="Straight Arrow Connector 41"/>
          <p:cNvCxnSpPr/>
          <p:nvPr/>
        </p:nvCxnSpPr>
        <p:spPr>
          <a:xfrm>
            <a:off x="1948920" y="2586178"/>
            <a:ext cx="119848" cy="4163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aphicFrame>
        <p:nvGraphicFramePr>
          <p:cNvPr id="30" name="Table 29"/>
          <p:cNvGraphicFramePr>
            <a:graphicFrameLocks noGrp="1"/>
          </p:cNvGraphicFramePr>
          <p:nvPr>
            <p:extLst>
              <p:ext uri="{D42A27DB-BD31-4B8C-83A1-F6EECF244321}">
                <p14:modId xmlns:p14="http://schemas.microsoft.com/office/powerpoint/2010/main" val="3722716539"/>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C</a:t>
                      </a:r>
                    </a:p>
                  </a:txBody>
                  <a:tcPr>
                    <a:solidFill>
                      <a:schemeClr val="accent2">
                        <a:lumMod val="60000"/>
                        <a:lumOff val="40000"/>
                      </a:schemeClr>
                    </a:solidFill>
                  </a:tcPr>
                </a:tc>
                <a:tc>
                  <a:txBody>
                    <a:bodyPr/>
                    <a:lstStyle/>
                    <a:p>
                      <a:pPr algn="ctr"/>
                      <a:r>
                        <a:rPr lang="en-US" dirty="0">
                          <a:solidFill>
                            <a:schemeClr val="tx1"/>
                          </a:solidFill>
                        </a:rPr>
                        <a:t>E</a:t>
                      </a:r>
                    </a:p>
                  </a:txBody>
                  <a:tcPr>
                    <a:solidFill>
                      <a:schemeClr val="accent2">
                        <a:lumMod val="60000"/>
                        <a:lumOff val="40000"/>
                      </a:schemeClr>
                    </a:solidFill>
                  </a:tcPr>
                </a:tc>
                <a:tc>
                  <a:txBody>
                    <a:bodyPr/>
                    <a:lstStyle/>
                    <a:p>
                      <a:pPr algn="ctr"/>
                      <a:r>
                        <a:rPr lang="en-US" dirty="0">
                          <a:solidFill>
                            <a:schemeClr val="tx1"/>
                          </a:solidFill>
                        </a:rPr>
                        <a:t>D</a:t>
                      </a:r>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extLst>
                  <a:ext uri="{0D108BD9-81ED-4DB2-BD59-A6C34878D82A}">
                    <a16:rowId xmlns:a16="http://schemas.microsoft.com/office/drawing/2014/main" val="660647860"/>
                  </a:ext>
                </a:extLst>
              </a:tr>
            </a:tbl>
          </a:graphicData>
        </a:graphic>
      </p:graphicFrame>
      <p:sp>
        <p:nvSpPr>
          <p:cNvPr id="31" name="TextBox 30"/>
          <p:cNvSpPr txBox="1"/>
          <p:nvPr/>
        </p:nvSpPr>
        <p:spPr>
          <a:xfrm>
            <a:off x="965262" y="5554545"/>
            <a:ext cx="362600" cy="461665"/>
          </a:xfrm>
          <a:prstGeom prst="rect">
            <a:avLst/>
          </a:prstGeom>
          <a:noFill/>
        </p:spPr>
        <p:txBody>
          <a:bodyPr wrap="none" rtlCol="0">
            <a:spAutoFit/>
          </a:bodyPr>
          <a:lstStyle/>
          <a:p>
            <a:r>
              <a:rPr lang="en-US" sz="2400" b="1">
                <a:effectLst>
                  <a:outerShdw blurRad="38100" dist="38100" dir="2700000" algn="tl">
                    <a:srgbClr val="000000">
                      <a:alpha val="43137"/>
                    </a:srgbClr>
                  </a:outerShdw>
                </a:effectLst>
              </a:rPr>
              <a:t>S</a:t>
            </a:r>
          </a:p>
        </p:txBody>
      </p:sp>
      <p:cxnSp>
        <p:nvCxnSpPr>
          <p:cNvPr id="32" name="Straight Connector 31"/>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3" name="Table 32"/>
          <p:cNvGraphicFramePr>
            <a:graphicFrameLocks noGrp="1"/>
          </p:cNvGraphicFramePr>
          <p:nvPr/>
        </p:nvGraphicFramePr>
        <p:xfrm>
          <a:off x="1437550" y="6006356"/>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B</a:t>
                      </a:r>
                    </a:p>
                  </a:txBody>
                  <a:tcPr>
                    <a:noFill/>
                  </a:tcPr>
                </a:tc>
                <a:tc>
                  <a:txBody>
                    <a:bodyPr/>
                    <a:lstStyle/>
                    <a:p>
                      <a:endParaRPr lang="en-US"/>
                    </a:p>
                  </a:txBody>
                  <a:tcPr>
                    <a:noFill/>
                  </a:tcPr>
                </a:tc>
                <a:tc>
                  <a:txBody>
                    <a:bodyPr/>
                    <a:lstStyle/>
                    <a:p>
                      <a:endParaRPr lang="en-US" dirty="0"/>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dirty="0"/>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sp>
        <p:nvSpPr>
          <p:cNvPr id="35" name="Rectangle 34"/>
          <p:cNvSpPr/>
          <p:nvPr/>
        </p:nvSpPr>
        <p:spPr>
          <a:xfrm>
            <a:off x="10919639" y="2833056"/>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6" name="Rectangle 35"/>
          <p:cNvSpPr/>
          <p:nvPr/>
        </p:nvSpPr>
        <p:spPr>
          <a:xfrm>
            <a:off x="10915282" y="3233653"/>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7" name="Rectangle 36"/>
          <p:cNvSpPr/>
          <p:nvPr/>
        </p:nvSpPr>
        <p:spPr>
          <a:xfrm>
            <a:off x="10910926" y="3581998"/>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8" name="Rectangle 37"/>
          <p:cNvSpPr/>
          <p:nvPr/>
        </p:nvSpPr>
        <p:spPr>
          <a:xfrm>
            <a:off x="10910930" y="3973882"/>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9" name="Rectangle 38"/>
          <p:cNvSpPr/>
          <p:nvPr/>
        </p:nvSpPr>
        <p:spPr>
          <a:xfrm>
            <a:off x="10906574" y="4322227"/>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Tree>
    <p:custDataLst>
      <p:tags r:id="rId1"/>
    </p:custDataLst>
    <p:extLst>
      <p:ext uri="{BB962C8B-B14F-4D97-AF65-F5344CB8AC3E}">
        <p14:creationId xmlns:p14="http://schemas.microsoft.com/office/powerpoint/2010/main" val="8714324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Depth-First Search</a:t>
            </a:r>
          </a:p>
        </p:txBody>
      </p:sp>
      <p:sp>
        <p:nvSpPr>
          <p:cNvPr id="13" name="Slide Number Placeholder 12">
            <a:extLst>
              <a:ext uri="{FF2B5EF4-FFF2-40B4-BE49-F238E27FC236}">
                <a16:creationId xmlns:a16="http://schemas.microsoft.com/office/drawing/2014/main" id="{D2C6F941-51D1-4727-854C-E888351C34FE}"/>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27/110</a:t>
            </a:r>
          </a:p>
        </p:txBody>
      </p:sp>
      <p:cxnSp>
        <p:nvCxnSpPr>
          <p:cNvPr id="3" name="Straight Connector 2"/>
          <p:cNvCxnSpPr>
            <a:stCxn id="12" idx="1"/>
          </p:cNvCxnSpPr>
          <p:nvPr/>
        </p:nvCxnSpPr>
        <p:spPr>
          <a:xfrm flipH="1" flipV="1">
            <a:off x="1097669" y="3734594"/>
            <a:ext cx="2198288" cy="93317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 name="Straight Connector 3"/>
          <p:cNvCxnSpPr>
            <a:stCxn id="7" idx="5"/>
          </p:cNvCxnSpPr>
          <p:nvPr/>
        </p:nvCxnSpPr>
        <p:spPr>
          <a:xfrm>
            <a:off x="2328832" y="3462270"/>
            <a:ext cx="1158049" cy="13377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flipV="1">
            <a:off x="2174848" y="3377774"/>
            <a:ext cx="1856048" cy="24517"/>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1948920" y="3481714"/>
            <a:ext cx="175670" cy="1109474"/>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 name="Oval 16"/>
          <p:cNvSpPr>
            <a:spLocks noChangeArrowheads="1"/>
          </p:cNvSpPr>
          <p:nvPr/>
        </p:nvSpPr>
        <p:spPr bwMode="auto">
          <a:xfrm>
            <a:off x="1957083" y="309052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8" name="Straight Connector 7"/>
          <p:cNvCxnSpPr/>
          <p:nvPr/>
        </p:nvCxnSpPr>
        <p:spPr>
          <a:xfrm flipH="1">
            <a:off x="2120774" y="4800035"/>
            <a:ext cx="1119177" cy="684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a:endCxn id="25" idx="1"/>
          </p:cNvCxnSpPr>
          <p:nvPr/>
        </p:nvCxnSpPr>
        <p:spPr>
          <a:xfrm>
            <a:off x="1167927" y="3936170"/>
            <a:ext cx="563889" cy="8638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686531" y="458227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1" name="Oval 16"/>
          <p:cNvSpPr>
            <a:spLocks noChangeArrowheads="1"/>
          </p:cNvSpPr>
          <p:nvPr/>
        </p:nvSpPr>
        <p:spPr bwMode="auto">
          <a:xfrm>
            <a:off x="796178" y="3610102"/>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2" name="Oval 16"/>
          <p:cNvSpPr>
            <a:spLocks noChangeArrowheads="1"/>
          </p:cNvSpPr>
          <p:nvPr/>
        </p:nvSpPr>
        <p:spPr bwMode="auto">
          <a:xfrm>
            <a:off x="3232175" y="460398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5" name="Straight Connector 14"/>
          <p:cNvCxnSpPr>
            <a:stCxn id="12" idx="7"/>
          </p:cNvCxnSpPr>
          <p:nvPr/>
        </p:nvCxnSpPr>
        <p:spPr>
          <a:xfrm flipV="1">
            <a:off x="3603924" y="3429291"/>
            <a:ext cx="650011" cy="123847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20" idx="6"/>
          </p:cNvCxnSpPr>
          <p:nvPr/>
        </p:nvCxnSpPr>
        <p:spPr>
          <a:xfrm flipV="1">
            <a:off x="4464552" y="3565009"/>
            <a:ext cx="1367969" cy="125700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flipV="1">
            <a:off x="4408532" y="3371173"/>
            <a:ext cx="1353035" cy="6601"/>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4246786" y="3646429"/>
            <a:ext cx="45505" cy="95755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4029021" y="319567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0" name="Oval 16"/>
          <p:cNvSpPr>
            <a:spLocks noChangeArrowheads="1"/>
          </p:cNvSpPr>
          <p:nvPr/>
        </p:nvSpPr>
        <p:spPr bwMode="auto">
          <a:xfrm>
            <a:off x="4029021" y="46042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1" name="Oval 16"/>
          <p:cNvSpPr>
            <a:spLocks noChangeArrowheads="1"/>
          </p:cNvSpPr>
          <p:nvPr/>
        </p:nvSpPr>
        <p:spPr bwMode="auto">
          <a:xfrm>
            <a:off x="5747996" y="318047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TextBox 23"/>
          <p:cNvSpPr txBox="1"/>
          <p:nvPr/>
        </p:nvSpPr>
        <p:spPr>
          <a:xfrm>
            <a:off x="2006372" y="3112381"/>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25" name="TextBox 24"/>
          <p:cNvSpPr txBox="1"/>
          <p:nvPr/>
        </p:nvSpPr>
        <p:spPr>
          <a:xfrm>
            <a:off x="1731816" y="4615369"/>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26" name="TextBox 25"/>
          <p:cNvSpPr txBox="1"/>
          <p:nvPr/>
        </p:nvSpPr>
        <p:spPr>
          <a:xfrm>
            <a:off x="4096606" y="3217625"/>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27" name="Rectangle 26"/>
          <p:cNvSpPr/>
          <p:nvPr/>
        </p:nvSpPr>
        <p:spPr>
          <a:xfrm>
            <a:off x="844245" y="3647774"/>
            <a:ext cx="343364" cy="369332"/>
          </a:xfrm>
          <a:prstGeom prst="rect">
            <a:avLst/>
          </a:prstGeom>
        </p:spPr>
        <p:txBody>
          <a:bodyPr wrap="none">
            <a:spAutoFit/>
          </a:bodyPr>
          <a:lstStyle/>
          <a:p>
            <a:r>
              <a:rPr lang="en-US" b="1" dirty="0">
                <a:solidFill>
                  <a:prstClr val="black"/>
                </a:solidFill>
              </a:rPr>
              <a:t>D</a:t>
            </a:r>
          </a:p>
        </p:txBody>
      </p:sp>
      <p:sp>
        <p:nvSpPr>
          <p:cNvPr id="28" name="Rectangle 27"/>
          <p:cNvSpPr/>
          <p:nvPr/>
        </p:nvSpPr>
        <p:spPr>
          <a:xfrm>
            <a:off x="4076007" y="4647465"/>
            <a:ext cx="304892" cy="369332"/>
          </a:xfrm>
          <a:prstGeom prst="rect">
            <a:avLst/>
          </a:prstGeom>
        </p:spPr>
        <p:txBody>
          <a:bodyPr wrap="none">
            <a:spAutoFit/>
          </a:bodyPr>
          <a:lstStyle/>
          <a:p>
            <a:r>
              <a:rPr lang="en-US" b="1" dirty="0">
                <a:solidFill>
                  <a:prstClr val="black"/>
                </a:solidFill>
              </a:rPr>
              <a:t>F</a:t>
            </a:r>
          </a:p>
        </p:txBody>
      </p:sp>
      <p:sp>
        <p:nvSpPr>
          <p:cNvPr id="29" name="Rectangle 28"/>
          <p:cNvSpPr/>
          <p:nvPr/>
        </p:nvSpPr>
        <p:spPr>
          <a:xfrm>
            <a:off x="5798967" y="3195677"/>
            <a:ext cx="340158" cy="369332"/>
          </a:xfrm>
          <a:prstGeom prst="rect">
            <a:avLst/>
          </a:prstGeom>
        </p:spPr>
        <p:txBody>
          <a:bodyPr wrap="none">
            <a:spAutoFit/>
          </a:bodyPr>
          <a:lstStyle/>
          <a:p>
            <a:r>
              <a:rPr lang="en-US" b="1" dirty="0">
                <a:solidFill>
                  <a:prstClr val="black"/>
                </a:solidFill>
              </a:rPr>
              <a:t>G</a:t>
            </a:r>
          </a:p>
        </p:txBody>
      </p:sp>
      <p:sp>
        <p:nvSpPr>
          <p:cNvPr id="34" name="Rectangle 33"/>
          <p:cNvSpPr/>
          <p:nvPr/>
        </p:nvSpPr>
        <p:spPr>
          <a:xfrm>
            <a:off x="3291957" y="4628920"/>
            <a:ext cx="316112" cy="369332"/>
          </a:xfrm>
          <a:prstGeom prst="rect">
            <a:avLst/>
          </a:prstGeom>
        </p:spPr>
        <p:txBody>
          <a:bodyPr wrap="none">
            <a:spAutoFit/>
          </a:bodyPr>
          <a:lstStyle/>
          <a:p>
            <a:r>
              <a:rPr lang="en-US" b="1" dirty="0">
                <a:solidFill>
                  <a:prstClr val="black"/>
                </a:solidFill>
              </a:rPr>
              <a:t>E</a:t>
            </a:r>
          </a:p>
        </p:txBody>
      </p:sp>
      <p:graphicFrame>
        <p:nvGraphicFramePr>
          <p:cNvPr id="40" name="Table 39"/>
          <p:cNvGraphicFramePr>
            <a:graphicFrameLocks noGrp="1"/>
          </p:cNvGraphicFramePr>
          <p:nvPr>
            <p:extLst>
              <p:ext uri="{D42A27DB-BD31-4B8C-83A1-F6EECF244321}">
                <p14:modId xmlns:p14="http://schemas.microsoft.com/office/powerpoint/2010/main" val="1654096107"/>
              </p:ext>
            </p:extLst>
          </p:nvPr>
        </p:nvGraphicFramePr>
        <p:xfrm>
          <a:off x="7771306" y="2531586"/>
          <a:ext cx="4001594" cy="2966720"/>
        </p:xfrm>
        <a:graphic>
          <a:graphicData uri="http://schemas.openxmlformats.org/drawingml/2006/table">
            <a:tbl>
              <a:tblPr firstRow="1" bandRow="1">
                <a:tableStyleId>{5C22544A-7EE6-4342-B048-85BDC9FD1C3A}</a:tableStyleId>
              </a:tblPr>
              <a:tblGrid>
                <a:gridCol w="1028896">
                  <a:extLst>
                    <a:ext uri="{9D8B030D-6E8A-4147-A177-3AD203B41FA5}">
                      <a16:colId xmlns:a16="http://schemas.microsoft.com/office/drawing/2014/main" val="2989644895"/>
                    </a:ext>
                  </a:extLst>
                </a:gridCol>
                <a:gridCol w="1841863">
                  <a:extLst>
                    <a:ext uri="{9D8B030D-6E8A-4147-A177-3AD203B41FA5}">
                      <a16:colId xmlns:a16="http://schemas.microsoft.com/office/drawing/2014/main" val="4244960412"/>
                    </a:ext>
                  </a:extLst>
                </a:gridCol>
                <a:gridCol w="1130835">
                  <a:extLst>
                    <a:ext uri="{9D8B030D-6E8A-4147-A177-3AD203B41FA5}">
                      <a16:colId xmlns:a16="http://schemas.microsoft.com/office/drawing/2014/main" val="2572560869"/>
                    </a:ext>
                  </a:extLst>
                </a:gridCol>
              </a:tblGrid>
              <a:tr h="370840">
                <a:tc>
                  <a:txBody>
                    <a:bodyPr/>
                    <a:lstStyle/>
                    <a:p>
                      <a:pPr algn="ctr"/>
                      <a:r>
                        <a:rPr lang="en-US" dirty="0"/>
                        <a:t>NODE</a:t>
                      </a:r>
                    </a:p>
                  </a:txBody>
                  <a:tcPr/>
                </a:tc>
                <a:tc>
                  <a:txBody>
                    <a:bodyPr/>
                    <a:lstStyle/>
                    <a:p>
                      <a:pPr algn="ctr"/>
                      <a:r>
                        <a:rPr lang="en-US" dirty="0"/>
                        <a:t>NEIGHBORS</a:t>
                      </a:r>
                    </a:p>
                  </a:txBody>
                  <a:tcPr/>
                </a:tc>
                <a:tc>
                  <a:txBody>
                    <a:bodyPr/>
                    <a:lstStyle/>
                    <a:p>
                      <a:pPr algn="ctr"/>
                      <a:r>
                        <a:rPr lang="en-US" dirty="0"/>
                        <a:t>LABEL</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E,F,G</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F</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205733479"/>
                  </a:ext>
                </a:extLst>
              </a:tr>
            </a:tbl>
          </a:graphicData>
        </a:graphic>
      </p:graphicFrame>
      <p:cxnSp>
        <p:nvCxnSpPr>
          <p:cNvPr id="42" name="Straight Arrow Connector 41"/>
          <p:cNvCxnSpPr/>
          <p:nvPr/>
        </p:nvCxnSpPr>
        <p:spPr>
          <a:xfrm>
            <a:off x="1948920" y="2586178"/>
            <a:ext cx="119848" cy="4163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aphicFrame>
        <p:nvGraphicFramePr>
          <p:cNvPr id="30" name="Table 29"/>
          <p:cNvGraphicFramePr>
            <a:graphicFrameLocks noGrp="1"/>
          </p:cNvGraphicFramePr>
          <p:nvPr>
            <p:extLst>
              <p:ext uri="{D42A27DB-BD31-4B8C-83A1-F6EECF244321}">
                <p14:modId xmlns:p14="http://schemas.microsoft.com/office/powerpoint/2010/main" val="1735015263"/>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C</a:t>
                      </a:r>
                    </a:p>
                  </a:txBody>
                  <a:tcPr>
                    <a:solidFill>
                      <a:schemeClr val="accent2">
                        <a:lumMod val="60000"/>
                        <a:lumOff val="40000"/>
                      </a:schemeClr>
                    </a:solidFill>
                  </a:tcPr>
                </a:tc>
                <a:tc>
                  <a:txBody>
                    <a:bodyPr/>
                    <a:lstStyle/>
                    <a:p>
                      <a:pPr algn="ctr"/>
                      <a:r>
                        <a:rPr lang="en-US" dirty="0">
                          <a:solidFill>
                            <a:schemeClr val="tx1"/>
                          </a:solidFill>
                        </a:rPr>
                        <a:t>E</a:t>
                      </a: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extLst>
                  <a:ext uri="{0D108BD9-81ED-4DB2-BD59-A6C34878D82A}">
                    <a16:rowId xmlns:a16="http://schemas.microsoft.com/office/drawing/2014/main" val="660647860"/>
                  </a:ext>
                </a:extLst>
              </a:tr>
            </a:tbl>
          </a:graphicData>
        </a:graphic>
      </p:graphicFrame>
      <p:sp>
        <p:nvSpPr>
          <p:cNvPr id="31" name="TextBox 30"/>
          <p:cNvSpPr txBox="1"/>
          <p:nvPr/>
        </p:nvSpPr>
        <p:spPr>
          <a:xfrm>
            <a:off x="965262" y="5554545"/>
            <a:ext cx="362600" cy="461665"/>
          </a:xfrm>
          <a:prstGeom prst="rect">
            <a:avLst/>
          </a:prstGeom>
          <a:noFill/>
        </p:spPr>
        <p:txBody>
          <a:bodyPr wrap="none" rtlCol="0">
            <a:spAutoFit/>
          </a:bodyPr>
          <a:lstStyle/>
          <a:p>
            <a:r>
              <a:rPr lang="en-US" sz="2400" b="1">
                <a:effectLst>
                  <a:outerShdw blurRad="38100" dist="38100" dir="2700000" algn="tl">
                    <a:srgbClr val="000000">
                      <a:alpha val="43137"/>
                    </a:srgbClr>
                  </a:outerShdw>
                </a:effectLst>
              </a:rPr>
              <a:t>S</a:t>
            </a:r>
          </a:p>
        </p:txBody>
      </p:sp>
      <p:cxnSp>
        <p:nvCxnSpPr>
          <p:cNvPr id="32" name="Straight Connector 31"/>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3" name="Table 32"/>
          <p:cNvGraphicFramePr>
            <a:graphicFrameLocks noGrp="1"/>
          </p:cNvGraphicFramePr>
          <p:nvPr/>
        </p:nvGraphicFramePr>
        <p:xfrm>
          <a:off x="1437550" y="6006356"/>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B</a:t>
                      </a:r>
                    </a:p>
                  </a:txBody>
                  <a:tcPr>
                    <a:noFill/>
                  </a:tcPr>
                </a:tc>
                <a:tc>
                  <a:txBody>
                    <a:bodyPr/>
                    <a:lstStyle/>
                    <a:p>
                      <a:pPr algn="ctr"/>
                      <a:r>
                        <a:rPr lang="en-US" dirty="0">
                          <a:solidFill>
                            <a:schemeClr val="tx1"/>
                          </a:solidFill>
                        </a:rPr>
                        <a:t>D</a:t>
                      </a:r>
                    </a:p>
                  </a:txBody>
                  <a:tcPr>
                    <a:noFill/>
                  </a:tcPr>
                </a:tc>
                <a:tc>
                  <a:txBody>
                    <a:bodyPr/>
                    <a:lstStyle/>
                    <a:p>
                      <a:endParaRPr lang="en-US" dirty="0"/>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dirty="0"/>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sp>
        <p:nvSpPr>
          <p:cNvPr id="35" name="Rectangle 34"/>
          <p:cNvSpPr/>
          <p:nvPr/>
        </p:nvSpPr>
        <p:spPr>
          <a:xfrm>
            <a:off x="10993118" y="2833056"/>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6" name="Rectangle 35"/>
          <p:cNvSpPr/>
          <p:nvPr/>
        </p:nvSpPr>
        <p:spPr>
          <a:xfrm>
            <a:off x="10988761" y="3233653"/>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7" name="Rectangle 36"/>
          <p:cNvSpPr/>
          <p:nvPr/>
        </p:nvSpPr>
        <p:spPr>
          <a:xfrm>
            <a:off x="10984405" y="3581998"/>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8" name="Rectangle 37"/>
          <p:cNvSpPr/>
          <p:nvPr/>
        </p:nvSpPr>
        <p:spPr>
          <a:xfrm>
            <a:off x="10984409" y="3973882"/>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9" name="Rectangle 38"/>
          <p:cNvSpPr/>
          <p:nvPr/>
        </p:nvSpPr>
        <p:spPr>
          <a:xfrm>
            <a:off x="10980053" y="4322227"/>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Tree>
    <p:custDataLst>
      <p:tags r:id="rId1"/>
    </p:custDataLst>
    <p:extLst>
      <p:ext uri="{BB962C8B-B14F-4D97-AF65-F5344CB8AC3E}">
        <p14:creationId xmlns:p14="http://schemas.microsoft.com/office/powerpoint/2010/main" val="12993602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Depth-First Search</a:t>
            </a:r>
          </a:p>
        </p:txBody>
      </p:sp>
      <p:sp>
        <p:nvSpPr>
          <p:cNvPr id="13" name="Slide Number Placeholder 12">
            <a:extLst>
              <a:ext uri="{FF2B5EF4-FFF2-40B4-BE49-F238E27FC236}">
                <a16:creationId xmlns:a16="http://schemas.microsoft.com/office/drawing/2014/main" id="{DF0D7FB5-31CF-4B03-93A3-47793A156D9B}"/>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28/110</a:t>
            </a:r>
          </a:p>
        </p:txBody>
      </p:sp>
      <p:cxnSp>
        <p:nvCxnSpPr>
          <p:cNvPr id="3" name="Straight Connector 2"/>
          <p:cNvCxnSpPr>
            <a:stCxn id="12" idx="1"/>
          </p:cNvCxnSpPr>
          <p:nvPr/>
        </p:nvCxnSpPr>
        <p:spPr>
          <a:xfrm flipH="1" flipV="1">
            <a:off x="1097669" y="3734594"/>
            <a:ext cx="2198288" cy="93317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 name="Straight Connector 3"/>
          <p:cNvCxnSpPr>
            <a:stCxn id="7" idx="5"/>
          </p:cNvCxnSpPr>
          <p:nvPr/>
        </p:nvCxnSpPr>
        <p:spPr>
          <a:xfrm>
            <a:off x="2328832" y="3462270"/>
            <a:ext cx="1158049" cy="13377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flipV="1">
            <a:off x="2174848" y="3377774"/>
            <a:ext cx="1856048" cy="24517"/>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1948920" y="3481714"/>
            <a:ext cx="175670" cy="1109474"/>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 name="Oval 16"/>
          <p:cNvSpPr>
            <a:spLocks noChangeArrowheads="1"/>
          </p:cNvSpPr>
          <p:nvPr/>
        </p:nvSpPr>
        <p:spPr bwMode="auto">
          <a:xfrm>
            <a:off x="1957083" y="309052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8" name="Straight Connector 7"/>
          <p:cNvCxnSpPr/>
          <p:nvPr/>
        </p:nvCxnSpPr>
        <p:spPr>
          <a:xfrm flipH="1">
            <a:off x="2120774" y="4800035"/>
            <a:ext cx="1119177" cy="684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a:endCxn id="25" idx="1"/>
          </p:cNvCxnSpPr>
          <p:nvPr/>
        </p:nvCxnSpPr>
        <p:spPr>
          <a:xfrm>
            <a:off x="1167927" y="3936170"/>
            <a:ext cx="563889" cy="8638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686531" y="458227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1" name="Oval 16"/>
          <p:cNvSpPr>
            <a:spLocks noChangeArrowheads="1"/>
          </p:cNvSpPr>
          <p:nvPr/>
        </p:nvSpPr>
        <p:spPr bwMode="auto">
          <a:xfrm>
            <a:off x="796178" y="3610102"/>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2" name="Oval 16"/>
          <p:cNvSpPr>
            <a:spLocks noChangeArrowheads="1"/>
          </p:cNvSpPr>
          <p:nvPr/>
        </p:nvSpPr>
        <p:spPr bwMode="auto">
          <a:xfrm>
            <a:off x="3232175" y="460398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5" name="Straight Connector 14"/>
          <p:cNvCxnSpPr>
            <a:stCxn id="12" idx="7"/>
          </p:cNvCxnSpPr>
          <p:nvPr/>
        </p:nvCxnSpPr>
        <p:spPr>
          <a:xfrm flipV="1">
            <a:off x="3603924" y="3429291"/>
            <a:ext cx="650011" cy="123847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20" idx="6"/>
          </p:cNvCxnSpPr>
          <p:nvPr/>
        </p:nvCxnSpPr>
        <p:spPr>
          <a:xfrm flipV="1">
            <a:off x="4464552" y="3565009"/>
            <a:ext cx="1367969" cy="125700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flipV="1">
            <a:off x="4408532" y="3371173"/>
            <a:ext cx="1353035" cy="6601"/>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4246786" y="3646429"/>
            <a:ext cx="45505" cy="95755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4029021" y="319567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0" name="Oval 16"/>
          <p:cNvSpPr>
            <a:spLocks noChangeArrowheads="1"/>
          </p:cNvSpPr>
          <p:nvPr/>
        </p:nvSpPr>
        <p:spPr bwMode="auto">
          <a:xfrm>
            <a:off x="4029021" y="46042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1" name="Oval 16"/>
          <p:cNvSpPr>
            <a:spLocks noChangeArrowheads="1"/>
          </p:cNvSpPr>
          <p:nvPr/>
        </p:nvSpPr>
        <p:spPr bwMode="auto">
          <a:xfrm>
            <a:off x="5747996" y="318047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TextBox 23"/>
          <p:cNvSpPr txBox="1"/>
          <p:nvPr/>
        </p:nvSpPr>
        <p:spPr>
          <a:xfrm>
            <a:off x="2006372" y="3112381"/>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25" name="TextBox 24"/>
          <p:cNvSpPr txBox="1"/>
          <p:nvPr/>
        </p:nvSpPr>
        <p:spPr>
          <a:xfrm>
            <a:off x="1731816" y="4615369"/>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26" name="TextBox 25"/>
          <p:cNvSpPr txBox="1"/>
          <p:nvPr/>
        </p:nvSpPr>
        <p:spPr>
          <a:xfrm>
            <a:off x="4096606" y="3217625"/>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27" name="Rectangle 26"/>
          <p:cNvSpPr/>
          <p:nvPr/>
        </p:nvSpPr>
        <p:spPr>
          <a:xfrm>
            <a:off x="844245" y="3647774"/>
            <a:ext cx="343364" cy="369332"/>
          </a:xfrm>
          <a:prstGeom prst="rect">
            <a:avLst/>
          </a:prstGeom>
        </p:spPr>
        <p:txBody>
          <a:bodyPr wrap="none">
            <a:spAutoFit/>
          </a:bodyPr>
          <a:lstStyle/>
          <a:p>
            <a:r>
              <a:rPr lang="en-US" b="1" dirty="0">
                <a:solidFill>
                  <a:prstClr val="black"/>
                </a:solidFill>
              </a:rPr>
              <a:t>D</a:t>
            </a:r>
          </a:p>
        </p:txBody>
      </p:sp>
      <p:sp>
        <p:nvSpPr>
          <p:cNvPr id="28" name="Rectangle 27"/>
          <p:cNvSpPr/>
          <p:nvPr/>
        </p:nvSpPr>
        <p:spPr>
          <a:xfrm>
            <a:off x="4076007" y="4647465"/>
            <a:ext cx="304892" cy="369332"/>
          </a:xfrm>
          <a:prstGeom prst="rect">
            <a:avLst/>
          </a:prstGeom>
        </p:spPr>
        <p:txBody>
          <a:bodyPr wrap="none">
            <a:spAutoFit/>
          </a:bodyPr>
          <a:lstStyle/>
          <a:p>
            <a:r>
              <a:rPr lang="en-US" b="1" dirty="0">
                <a:solidFill>
                  <a:prstClr val="black"/>
                </a:solidFill>
              </a:rPr>
              <a:t>F</a:t>
            </a:r>
          </a:p>
        </p:txBody>
      </p:sp>
      <p:sp>
        <p:nvSpPr>
          <p:cNvPr id="29" name="Rectangle 28"/>
          <p:cNvSpPr/>
          <p:nvPr/>
        </p:nvSpPr>
        <p:spPr>
          <a:xfrm>
            <a:off x="5798967" y="3195677"/>
            <a:ext cx="340158" cy="369332"/>
          </a:xfrm>
          <a:prstGeom prst="rect">
            <a:avLst/>
          </a:prstGeom>
        </p:spPr>
        <p:txBody>
          <a:bodyPr wrap="none">
            <a:spAutoFit/>
          </a:bodyPr>
          <a:lstStyle/>
          <a:p>
            <a:r>
              <a:rPr lang="en-US" b="1" dirty="0">
                <a:solidFill>
                  <a:prstClr val="black"/>
                </a:solidFill>
              </a:rPr>
              <a:t>G</a:t>
            </a:r>
          </a:p>
        </p:txBody>
      </p:sp>
      <p:sp>
        <p:nvSpPr>
          <p:cNvPr id="34" name="Rectangle 33"/>
          <p:cNvSpPr/>
          <p:nvPr/>
        </p:nvSpPr>
        <p:spPr>
          <a:xfrm>
            <a:off x="3291957" y="4628920"/>
            <a:ext cx="316112" cy="369332"/>
          </a:xfrm>
          <a:prstGeom prst="rect">
            <a:avLst/>
          </a:prstGeom>
        </p:spPr>
        <p:txBody>
          <a:bodyPr wrap="none">
            <a:spAutoFit/>
          </a:bodyPr>
          <a:lstStyle/>
          <a:p>
            <a:r>
              <a:rPr lang="en-US" b="1" dirty="0">
                <a:solidFill>
                  <a:prstClr val="black"/>
                </a:solidFill>
              </a:rPr>
              <a:t>E</a:t>
            </a:r>
          </a:p>
        </p:txBody>
      </p:sp>
      <p:graphicFrame>
        <p:nvGraphicFramePr>
          <p:cNvPr id="40" name="Table 39"/>
          <p:cNvGraphicFramePr>
            <a:graphicFrameLocks noGrp="1"/>
          </p:cNvGraphicFramePr>
          <p:nvPr>
            <p:extLst>
              <p:ext uri="{D42A27DB-BD31-4B8C-83A1-F6EECF244321}">
                <p14:modId xmlns:p14="http://schemas.microsoft.com/office/powerpoint/2010/main" val="2884324797"/>
              </p:ext>
            </p:extLst>
          </p:nvPr>
        </p:nvGraphicFramePr>
        <p:xfrm>
          <a:off x="7771306" y="2531586"/>
          <a:ext cx="3936279" cy="2966720"/>
        </p:xfrm>
        <a:graphic>
          <a:graphicData uri="http://schemas.openxmlformats.org/drawingml/2006/table">
            <a:tbl>
              <a:tblPr firstRow="1" bandRow="1">
                <a:tableStyleId>{5C22544A-7EE6-4342-B048-85BDC9FD1C3A}</a:tableStyleId>
              </a:tblPr>
              <a:tblGrid>
                <a:gridCol w="1012102">
                  <a:extLst>
                    <a:ext uri="{9D8B030D-6E8A-4147-A177-3AD203B41FA5}">
                      <a16:colId xmlns:a16="http://schemas.microsoft.com/office/drawing/2014/main" val="2989644895"/>
                    </a:ext>
                  </a:extLst>
                </a:gridCol>
                <a:gridCol w="1811800">
                  <a:extLst>
                    <a:ext uri="{9D8B030D-6E8A-4147-A177-3AD203B41FA5}">
                      <a16:colId xmlns:a16="http://schemas.microsoft.com/office/drawing/2014/main" val="4244960412"/>
                    </a:ext>
                  </a:extLst>
                </a:gridCol>
                <a:gridCol w="1112377">
                  <a:extLst>
                    <a:ext uri="{9D8B030D-6E8A-4147-A177-3AD203B41FA5}">
                      <a16:colId xmlns:a16="http://schemas.microsoft.com/office/drawing/2014/main" val="2572560869"/>
                    </a:ext>
                  </a:extLst>
                </a:gridCol>
              </a:tblGrid>
              <a:tr h="370840">
                <a:tc>
                  <a:txBody>
                    <a:bodyPr/>
                    <a:lstStyle/>
                    <a:p>
                      <a:pPr algn="ctr"/>
                      <a:r>
                        <a:rPr lang="en-US" dirty="0"/>
                        <a:t>NODE</a:t>
                      </a:r>
                    </a:p>
                  </a:txBody>
                  <a:tcPr/>
                </a:tc>
                <a:tc>
                  <a:txBody>
                    <a:bodyPr/>
                    <a:lstStyle/>
                    <a:p>
                      <a:pPr algn="ctr"/>
                      <a:r>
                        <a:rPr lang="en-US" dirty="0"/>
                        <a:t>NEIGHBORS</a:t>
                      </a:r>
                    </a:p>
                  </a:txBody>
                  <a:tcPr/>
                </a:tc>
                <a:tc>
                  <a:txBody>
                    <a:bodyPr/>
                    <a:lstStyle/>
                    <a:p>
                      <a:pPr algn="ctr"/>
                      <a:r>
                        <a:rPr lang="en-US" dirty="0"/>
                        <a:t>LABEL</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E,F,G</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F</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205733479"/>
                  </a:ext>
                </a:extLst>
              </a:tr>
            </a:tbl>
          </a:graphicData>
        </a:graphic>
      </p:graphicFrame>
      <p:cxnSp>
        <p:nvCxnSpPr>
          <p:cNvPr id="42" name="Straight Arrow Connector 41"/>
          <p:cNvCxnSpPr/>
          <p:nvPr/>
        </p:nvCxnSpPr>
        <p:spPr>
          <a:xfrm>
            <a:off x="1948920" y="2586178"/>
            <a:ext cx="119848" cy="4163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aphicFrame>
        <p:nvGraphicFramePr>
          <p:cNvPr id="30" name="Table 29"/>
          <p:cNvGraphicFramePr>
            <a:graphicFrameLocks noGrp="1"/>
          </p:cNvGraphicFramePr>
          <p:nvPr>
            <p:extLst>
              <p:ext uri="{D42A27DB-BD31-4B8C-83A1-F6EECF244321}">
                <p14:modId xmlns:p14="http://schemas.microsoft.com/office/powerpoint/2010/main" val="4051869571"/>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C</a:t>
                      </a: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extLst>
                  <a:ext uri="{0D108BD9-81ED-4DB2-BD59-A6C34878D82A}">
                    <a16:rowId xmlns:a16="http://schemas.microsoft.com/office/drawing/2014/main" val="660647860"/>
                  </a:ext>
                </a:extLst>
              </a:tr>
            </a:tbl>
          </a:graphicData>
        </a:graphic>
      </p:graphicFrame>
      <p:sp>
        <p:nvSpPr>
          <p:cNvPr id="31" name="TextBox 30"/>
          <p:cNvSpPr txBox="1"/>
          <p:nvPr/>
        </p:nvSpPr>
        <p:spPr>
          <a:xfrm>
            <a:off x="965262" y="5554545"/>
            <a:ext cx="362600" cy="461665"/>
          </a:xfrm>
          <a:prstGeom prst="rect">
            <a:avLst/>
          </a:prstGeom>
          <a:noFill/>
        </p:spPr>
        <p:txBody>
          <a:bodyPr wrap="none" rtlCol="0">
            <a:spAutoFit/>
          </a:bodyPr>
          <a:lstStyle/>
          <a:p>
            <a:r>
              <a:rPr lang="en-US" sz="2400" b="1">
                <a:effectLst>
                  <a:outerShdw blurRad="38100" dist="38100" dir="2700000" algn="tl">
                    <a:srgbClr val="000000">
                      <a:alpha val="43137"/>
                    </a:srgbClr>
                  </a:outerShdw>
                </a:effectLst>
              </a:rPr>
              <a:t>S</a:t>
            </a:r>
          </a:p>
        </p:txBody>
      </p:sp>
      <p:cxnSp>
        <p:nvCxnSpPr>
          <p:cNvPr id="32" name="Straight Connector 31"/>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3" name="Table 32"/>
          <p:cNvGraphicFramePr>
            <a:graphicFrameLocks noGrp="1"/>
          </p:cNvGraphicFramePr>
          <p:nvPr/>
        </p:nvGraphicFramePr>
        <p:xfrm>
          <a:off x="1437550" y="6006356"/>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B</a:t>
                      </a:r>
                    </a:p>
                  </a:txBody>
                  <a:tcPr>
                    <a:noFill/>
                  </a:tcPr>
                </a:tc>
                <a:tc>
                  <a:txBody>
                    <a:bodyPr/>
                    <a:lstStyle/>
                    <a:p>
                      <a:pPr algn="ctr"/>
                      <a:r>
                        <a:rPr lang="en-US" dirty="0">
                          <a:solidFill>
                            <a:schemeClr val="tx1"/>
                          </a:solidFill>
                        </a:rPr>
                        <a:t>D</a:t>
                      </a:r>
                    </a:p>
                  </a:txBody>
                  <a:tcPr>
                    <a:noFill/>
                  </a:tcPr>
                </a:tc>
                <a:tc>
                  <a:txBody>
                    <a:bodyPr/>
                    <a:lstStyle/>
                    <a:p>
                      <a:pPr algn="ctr"/>
                      <a:r>
                        <a:rPr lang="en-US" dirty="0">
                          <a:solidFill>
                            <a:schemeClr val="tx1"/>
                          </a:solidFill>
                        </a:rPr>
                        <a:t>E</a:t>
                      </a:r>
                      <a:endParaRPr lang="en-US" dirty="0"/>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dirty="0"/>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sp>
        <p:nvSpPr>
          <p:cNvPr id="35" name="Rectangle 34"/>
          <p:cNvSpPr/>
          <p:nvPr/>
        </p:nvSpPr>
        <p:spPr>
          <a:xfrm>
            <a:off x="10911475" y="2833056"/>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6" name="Rectangle 35"/>
          <p:cNvSpPr/>
          <p:nvPr/>
        </p:nvSpPr>
        <p:spPr>
          <a:xfrm>
            <a:off x="10907118" y="3233653"/>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7" name="Rectangle 36"/>
          <p:cNvSpPr/>
          <p:nvPr/>
        </p:nvSpPr>
        <p:spPr>
          <a:xfrm>
            <a:off x="10902762" y="3581998"/>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8" name="Rectangle 37"/>
          <p:cNvSpPr/>
          <p:nvPr/>
        </p:nvSpPr>
        <p:spPr>
          <a:xfrm>
            <a:off x="10902766" y="3973882"/>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9" name="Rectangle 38"/>
          <p:cNvSpPr/>
          <p:nvPr/>
        </p:nvSpPr>
        <p:spPr>
          <a:xfrm>
            <a:off x="10898410" y="4322227"/>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Tree>
    <p:custDataLst>
      <p:tags r:id="rId1"/>
    </p:custDataLst>
    <p:extLst>
      <p:ext uri="{BB962C8B-B14F-4D97-AF65-F5344CB8AC3E}">
        <p14:creationId xmlns:p14="http://schemas.microsoft.com/office/powerpoint/2010/main" val="29618337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Depth-First Search</a:t>
            </a:r>
          </a:p>
        </p:txBody>
      </p:sp>
      <p:sp>
        <p:nvSpPr>
          <p:cNvPr id="13" name="Slide Number Placeholder 12">
            <a:extLst>
              <a:ext uri="{FF2B5EF4-FFF2-40B4-BE49-F238E27FC236}">
                <a16:creationId xmlns:a16="http://schemas.microsoft.com/office/drawing/2014/main" id="{12A7DC45-0F9E-4C48-8729-E7F3A982D7A5}"/>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29/110</a:t>
            </a:r>
          </a:p>
        </p:txBody>
      </p:sp>
      <p:cxnSp>
        <p:nvCxnSpPr>
          <p:cNvPr id="3" name="Straight Connector 2"/>
          <p:cNvCxnSpPr>
            <a:stCxn id="12" idx="1"/>
          </p:cNvCxnSpPr>
          <p:nvPr/>
        </p:nvCxnSpPr>
        <p:spPr>
          <a:xfrm flipH="1" flipV="1">
            <a:off x="1097669" y="3734594"/>
            <a:ext cx="2198288" cy="93317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 name="Straight Connector 3"/>
          <p:cNvCxnSpPr>
            <a:stCxn id="7" idx="5"/>
          </p:cNvCxnSpPr>
          <p:nvPr/>
        </p:nvCxnSpPr>
        <p:spPr>
          <a:xfrm>
            <a:off x="2328832" y="3462270"/>
            <a:ext cx="1158049" cy="13377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flipV="1">
            <a:off x="2174848" y="3377774"/>
            <a:ext cx="1856048" cy="24517"/>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1948920" y="3481714"/>
            <a:ext cx="175670" cy="1109474"/>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 name="Oval 16"/>
          <p:cNvSpPr>
            <a:spLocks noChangeArrowheads="1"/>
          </p:cNvSpPr>
          <p:nvPr/>
        </p:nvSpPr>
        <p:spPr bwMode="auto">
          <a:xfrm>
            <a:off x="1957083" y="309052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8" name="Straight Connector 7"/>
          <p:cNvCxnSpPr/>
          <p:nvPr/>
        </p:nvCxnSpPr>
        <p:spPr>
          <a:xfrm flipH="1">
            <a:off x="2120774" y="4800035"/>
            <a:ext cx="1119177" cy="684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a:endCxn id="25" idx="1"/>
          </p:cNvCxnSpPr>
          <p:nvPr/>
        </p:nvCxnSpPr>
        <p:spPr>
          <a:xfrm>
            <a:off x="1167927" y="3936170"/>
            <a:ext cx="563889" cy="8638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686531" y="458227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1" name="Oval 16"/>
          <p:cNvSpPr>
            <a:spLocks noChangeArrowheads="1"/>
          </p:cNvSpPr>
          <p:nvPr/>
        </p:nvSpPr>
        <p:spPr bwMode="auto">
          <a:xfrm>
            <a:off x="796178" y="3610102"/>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2" name="Oval 16"/>
          <p:cNvSpPr>
            <a:spLocks noChangeArrowheads="1"/>
          </p:cNvSpPr>
          <p:nvPr/>
        </p:nvSpPr>
        <p:spPr bwMode="auto">
          <a:xfrm>
            <a:off x="3232175" y="460398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5" name="Straight Connector 14"/>
          <p:cNvCxnSpPr>
            <a:stCxn id="12" idx="7"/>
          </p:cNvCxnSpPr>
          <p:nvPr/>
        </p:nvCxnSpPr>
        <p:spPr>
          <a:xfrm flipV="1">
            <a:off x="3603924" y="3429291"/>
            <a:ext cx="650011" cy="123847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20" idx="6"/>
          </p:cNvCxnSpPr>
          <p:nvPr/>
        </p:nvCxnSpPr>
        <p:spPr>
          <a:xfrm flipV="1">
            <a:off x="4464552" y="3565009"/>
            <a:ext cx="1367969" cy="125700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flipV="1">
            <a:off x="4408532" y="3371173"/>
            <a:ext cx="1353035" cy="6601"/>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4246786" y="3646429"/>
            <a:ext cx="45505" cy="95755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4029021" y="319567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0" name="Oval 16"/>
          <p:cNvSpPr>
            <a:spLocks noChangeArrowheads="1"/>
          </p:cNvSpPr>
          <p:nvPr/>
        </p:nvSpPr>
        <p:spPr bwMode="auto">
          <a:xfrm>
            <a:off x="4029021" y="46042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1" name="Oval 16"/>
          <p:cNvSpPr>
            <a:spLocks noChangeArrowheads="1"/>
          </p:cNvSpPr>
          <p:nvPr/>
        </p:nvSpPr>
        <p:spPr bwMode="auto">
          <a:xfrm>
            <a:off x="5747996" y="318047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TextBox 23"/>
          <p:cNvSpPr txBox="1"/>
          <p:nvPr/>
        </p:nvSpPr>
        <p:spPr>
          <a:xfrm>
            <a:off x="2006372" y="3112381"/>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25" name="TextBox 24"/>
          <p:cNvSpPr txBox="1"/>
          <p:nvPr/>
        </p:nvSpPr>
        <p:spPr>
          <a:xfrm>
            <a:off x="1731816" y="4615369"/>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26" name="TextBox 25"/>
          <p:cNvSpPr txBox="1"/>
          <p:nvPr/>
        </p:nvSpPr>
        <p:spPr>
          <a:xfrm>
            <a:off x="4096606" y="3217625"/>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27" name="Rectangle 26"/>
          <p:cNvSpPr/>
          <p:nvPr/>
        </p:nvSpPr>
        <p:spPr>
          <a:xfrm>
            <a:off x="844245" y="3647774"/>
            <a:ext cx="343364" cy="369332"/>
          </a:xfrm>
          <a:prstGeom prst="rect">
            <a:avLst/>
          </a:prstGeom>
        </p:spPr>
        <p:txBody>
          <a:bodyPr wrap="none">
            <a:spAutoFit/>
          </a:bodyPr>
          <a:lstStyle/>
          <a:p>
            <a:r>
              <a:rPr lang="en-US" b="1" dirty="0">
                <a:solidFill>
                  <a:prstClr val="black"/>
                </a:solidFill>
              </a:rPr>
              <a:t>D</a:t>
            </a:r>
          </a:p>
        </p:txBody>
      </p:sp>
      <p:sp>
        <p:nvSpPr>
          <p:cNvPr id="28" name="Rectangle 27"/>
          <p:cNvSpPr/>
          <p:nvPr/>
        </p:nvSpPr>
        <p:spPr>
          <a:xfrm>
            <a:off x="4076007" y="4647465"/>
            <a:ext cx="304892" cy="369332"/>
          </a:xfrm>
          <a:prstGeom prst="rect">
            <a:avLst/>
          </a:prstGeom>
        </p:spPr>
        <p:txBody>
          <a:bodyPr wrap="none">
            <a:spAutoFit/>
          </a:bodyPr>
          <a:lstStyle/>
          <a:p>
            <a:r>
              <a:rPr lang="en-US" b="1" dirty="0">
                <a:solidFill>
                  <a:prstClr val="black"/>
                </a:solidFill>
              </a:rPr>
              <a:t>F</a:t>
            </a:r>
          </a:p>
        </p:txBody>
      </p:sp>
      <p:sp>
        <p:nvSpPr>
          <p:cNvPr id="29" name="Rectangle 28"/>
          <p:cNvSpPr/>
          <p:nvPr/>
        </p:nvSpPr>
        <p:spPr>
          <a:xfrm>
            <a:off x="5798967" y="3195677"/>
            <a:ext cx="340158" cy="369332"/>
          </a:xfrm>
          <a:prstGeom prst="rect">
            <a:avLst/>
          </a:prstGeom>
        </p:spPr>
        <p:txBody>
          <a:bodyPr wrap="none">
            <a:spAutoFit/>
          </a:bodyPr>
          <a:lstStyle/>
          <a:p>
            <a:r>
              <a:rPr lang="en-US" b="1" dirty="0">
                <a:solidFill>
                  <a:prstClr val="black"/>
                </a:solidFill>
              </a:rPr>
              <a:t>G</a:t>
            </a:r>
          </a:p>
        </p:txBody>
      </p:sp>
      <p:sp>
        <p:nvSpPr>
          <p:cNvPr id="34" name="Rectangle 33"/>
          <p:cNvSpPr/>
          <p:nvPr/>
        </p:nvSpPr>
        <p:spPr>
          <a:xfrm>
            <a:off x="3291957" y="4628920"/>
            <a:ext cx="316112" cy="369332"/>
          </a:xfrm>
          <a:prstGeom prst="rect">
            <a:avLst/>
          </a:prstGeom>
        </p:spPr>
        <p:txBody>
          <a:bodyPr wrap="none">
            <a:spAutoFit/>
          </a:bodyPr>
          <a:lstStyle/>
          <a:p>
            <a:r>
              <a:rPr lang="en-US" b="1" dirty="0">
                <a:solidFill>
                  <a:prstClr val="black"/>
                </a:solidFill>
              </a:rPr>
              <a:t>E</a:t>
            </a:r>
          </a:p>
        </p:txBody>
      </p:sp>
      <p:graphicFrame>
        <p:nvGraphicFramePr>
          <p:cNvPr id="40" name="Table 39"/>
          <p:cNvGraphicFramePr>
            <a:graphicFrameLocks noGrp="1"/>
          </p:cNvGraphicFramePr>
          <p:nvPr>
            <p:extLst>
              <p:ext uri="{D42A27DB-BD31-4B8C-83A1-F6EECF244321}">
                <p14:modId xmlns:p14="http://schemas.microsoft.com/office/powerpoint/2010/main" val="741958904"/>
              </p:ext>
            </p:extLst>
          </p:nvPr>
        </p:nvGraphicFramePr>
        <p:xfrm>
          <a:off x="7771306" y="2531586"/>
          <a:ext cx="3960773" cy="2966720"/>
        </p:xfrm>
        <a:graphic>
          <a:graphicData uri="http://schemas.openxmlformats.org/drawingml/2006/table">
            <a:tbl>
              <a:tblPr firstRow="1" bandRow="1">
                <a:tableStyleId>{5C22544A-7EE6-4342-B048-85BDC9FD1C3A}</a:tableStyleId>
              </a:tblPr>
              <a:tblGrid>
                <a:gridCol w="1018400">
                  <a:extLst>
                    <a:ext uri="{9D8B030D-6E8A-4147-A177-3AD203B41FA5}">
                      <a16:colId xmlns:a16="http://schemas.microsoft.com/office/drawing/2014/main" val="2989644895"/>
                    </a:ext>
                  </a:extLst>
                </a:gridCol>
                <a:gridCol w="1823074">
                  <a:extLst>
                    <a:ext uri="{9D8B030D-6E8A-4147-A177-3AD203B41FA5}">
                      <a16:colId xmlns:a16="http://schemas.microsoft.com/office/drawing/2014/main" val="4244960412"/>
                    </a:ext>
                  </a:extLst>
                </a:gridCol>
                <a:gridCol w="1119299">
                  <a:extLst>
                    <a:ext uri="{9D8B030D-6E8A-4147-A177-3AD203B41FA5}">
                      <a16:colId xmlns:a16="http://schemas.microsoft.com/office/drawing/2014/main" val="2572560869"/>
                    </a:ext>
                  </a:extLst>
                </a:gridCol>
              </a:tblGrid>
              <a:tr h="370840">
                <a:tc>
                  <a:txBody>
                    <a:bodyPr/>
                    <a:lstStyle/>
                    <a:p>
                      <a:pPr algn="ctr"/>
                      <a:r>
                        <a:rPr lang="en-US" dirty="0"/>
                        <a:t>NODE</a:t>
                      </a:r>
                    </a:p>
                  </a:txBody>
                  <a:tcPr/>
                </a:tc>
                <a:tc>
                  <a:txBody>
                    <a:bodyPr/>
                    <a:lstStyle/>
                    <a:p>
                      <a:pPr algn="ctr"/>
                      <a:r>
                        <a:rPr lang="en-US" dirty="0"/>
                        <a:t>NEIGHBORS</a:t>
                      </a:r>
                    </a:p>
                  </a:txBody>
                  <a:tcPr/>
                </a:tc>
                <a:tc>
                  <a:txBody>
                    <a:bodyPr/>
                    <a:lstStyle/>
                    <a:p>
                      <a:pPr algn="ctr"/>
                      <a:r>
                        <a:rPr lang="en-US" dirty="0"/>
                        <a:t>LABEL</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E,F,G</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F</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205733479"/>
                  </a:ext>
                </a:extLst>
              </a:tr>
            </a:tbl>
          </a:graphicData>
        </a:graphic>
      </p:graphicFrame>
      <p:cxnSp>
        <p:nvCxnSpPr>
          <p:cNvPr id="42" name="Straight Arrow Connector 41"/>
          <p:cNvCxnSpPr/>
          <p:nvPr/>
        </p:nvCxnSpPr>
        <p:spPr>
          <a:xfrm>
            <a:off x="1948920" y="2586178"/>
            <a:ext cx="119848" cy="4163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aphicFrame>
        <p:nvGraphicFramePr>
          <p:cNvPr id="30" name="Table 29"/>
          <p:cNvGraphicFramePr>
            <a:graphicFrameLocks noGrp="1"/>
          </p:cNvGraphicFramePr>
          <p:nvPr>
            <p:extLst>
              <p:ext uri="{D42A27DB-BD31-4B8C-83A1-F6EECF244321}">
                <p14:modId xmlns:p14="http://schemas.microsoft.com/office/powerpoint/2010/main" val="78785699"/>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endParaRPr lang="en-US" dirty="0">
                        <a:solidFill>
                          <a:schemeClr val="tx1"/>
                        </a:solidFill>
                      </a:endParaRP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extLst>
                  <a:ext uri="{0D108BD9-81ED-4DB2-BD59-A6C34878D82A}">
                    <a16:rowId xmlns:a16="http://schemas.microsoft.com/office/drawing/2014/main" val="660647860"/>
                  </a:ext>
                </a:extLst>
              </a:tr>
            </a:tbl>
          </a:graphicData>
        </a:graphic>
      </p:graphicFrame>
      <p:sp>
        <p:nvSpPr>
          <p:cNvPr id="31" name="TextBox 30"/>
          <p:cNvSpPr txBox="1"/>
          <p:nvPr/>
        </p:nvSpPr>
        <p:spPr>
          <a:xfrm>
            <a:off x="965262" y="5554545"/>
            <a:ext cx="362600" cy="461665"/>
          </a:xfrm>
          <a:prstGeom prst="rect">
            <a:avLst/>
          </a:prstGeom>
          <a:noFill/>
        </p:spPr>
        <p:txBody>
          <a:bodyPr wrap="none" rtlCol="0">
            <a:spAutoFit/>
          </a:bodyPr>
          <a:lstStyle/>
          <a:p>
            <a:r>
              <a:rPr lang="en-US" sz="2400" b="1">
                <a:effectLst>
                  <a:outerShdw blurRad="38100" dist="38100" dir="2700000" algn="tl">
                    <a:srgbClr val="000000">
                      <a:alpha val="43137"/>
                    </a:srgbClr>
                  </a:outerShdw>
                </a:effectLst>
              </a:rPr>
              <a:t>S</a:t>
            </a:r>
          </a:p>
        </p:txBody>
      </p:sp>
      <p:cxnSp>
        <p:nvCxnSpPr>
          <p:cNvPr id="32" name="Straight Connector 31"/>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3" name="Table 32"/>
          <p:cNvGraphicFramePr>
            <a:graphicFrameLocks noGrp="1"/>
          </p:cNvGraphicFramePr>
          <p:nvPr/>
        </p:nvGraphicFramePr>
        <p:xfrm>
          <a:off x="1437550" y="6006356"/>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B</a:t>
                      </a:r>
                    </a:p>
                  </a:txBody>
                  <a:tcPr>
                    <a:noFill/>
                  </a:tcPr>
                </a:tc>
                <a:tc>
                  <a:txBody>
                    <a:bodyPr/>
                    <a:lstStyle/>
                    <a:p>
                      <a:pPr algn="ctr"/>
                      <a:r>
                        <a:rPr lang="en-US" dirty="0">
                          <a:solidFill>
                            <a:schemeClr val="tx1"/>
                          </a:solidFill>
                        </a:rPr>
                        <a:t>D</a:t>
                      </a:r>
                    </a:p>
                  </a:txBody>
                  <a:tcPr>
                    <a:noFill/>
                  </a:tcPr>
                </a:tc>
                <a:tc>
                  <a:txBody>
                    <a:bodyPr/>
                    <a:lstStyle/>
                    <a:p>
                      <a:pPr algn="ctr"/>
                      <a:r>
                        <a:rPr lang="en-US" dirty="0">
                          <a:solidFill>
                            <a:schemeClr val="tx1"/>
                          </a:solidFill>
                        </a:rPr>
                        <a:t>E</a:t>
                      </a:r>
                      <a:endParaRPr lang="en-US" dirty="0"/>
                    </a:p>
                  </a:txBody>
                  <a:tcPr>
                    <a:noFill/>
                  </a:tcPr>
                </a:tc>
                <a:tc>
                  <a:txBody>
                    <a:bodyPr/>
                    <a:lstStyle/>
                    <a:p>
                      <a:pPr algn="ctr"/>
                      <a:r>
                        <a:rPr lang="en-US" dirty="0">
                          <a:solidFill>
                            <a:schemeClr val="tx1"/>
                          </a:solidFill>
                        </a:rPr>
                        <a:t>C</a:t>
                      </a:r>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dirty="0"/>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sp>
        <p:nvSpPr>
          <p:cNvPr id="35" name="Rectangle 34"/>
          <p:cNvSpPr/>
          <p:nvPr/>
        </p:nvSpPr>
        <p:spPr>
          <a:xfrm>
            <a:off x="10935967" y="2833056"/>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6" name="Rectangle 35"/>
          <p:cNvSpPr/>
          <p:nvPr/>
        </p:nvSpPr>
        <p:spPr>
          <a:xfrm>
            <a:off x="10931610" y="3233653"/>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7" name="Rectangle 36"/>
          <p:cNvSpPr/>
          <p:nvPr/>
        </p:nvSpPr>
        <p:spPr>
          <a:xfrm>
            <a:off x="10927254" y="3581998"/>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8" name="Rectangle 37"/>
          <p:cNvSpPr/>
          <p:nvPr/>
        </p:nvSpPr>
        <p:spPr>
          <a:xfrm>
            <a:off x="10927258" y="3973882"/>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9" name="Rectangle 38"/>
          <p:cNvSpPr/>
          <p:nvPr/>
        </p:nvSpPr>
        <p:spPr>
          <a:xfrm>
            <a:off x="10922902" y="4322227"/>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Tree>
    <p:custDataLst>
      <p:tags r:id="rId1"/>
    </p:custDataLst>
    <p:extLst>
      <p:ext uri="{BB962C8B-B14F-4D97-AF65-F5344CB8AC3E}">
        <p14:creationId xmlns:p14="http://schemas.microsoft.com/office/powerpoint/2010/main" val="28627940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Depth-First Search</a:t>
            </a:r>
          </a:p>
        </p:txBody>
      </p:sp>
      <p:sp>
        <p:nvSpPr>
          <p:cNvPr id="13" name="Slide Number Placeholder 12">
            <a:extLst>
              <a:ext uri="{FF2B5EF4-FFF2-40B4-BE49-F238E27FC236}">
                <a16:creationId xmlns:a16="http://schemas.microsoft.com/office/drawing/2014/main" id="{5C7A7AB1-CD08-4077-811B-4B2F38A39C02}"/>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30/110</a:t>
            </a:r>
          </a:p>
        </p:txBody>
      </p:sp>
      <p:cxnSp>
        <p:nvCxnSpPr>
          <p:cNvPr id="3" name="Straight Connector 2"/>
          <p:cNvCxnSpPr>
            <a:stCxn id="12" idx="1"/>
          </p:cNvCxnSpPr>
          <p:nvPr/>
        </p:nvCxnSpPr>
        <p:spPr>
          <a:xfrm flipH="1" flipV="1">
            <a:off x="1097669" y="3734594"/>
            <a:ext cx="2198288" cy="93317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 name="Straight Connector 3"/>
          <p:cNvCxnSpPr>
            <a:stCxn id="7" idx="5"/>
          </p:cNvCxnSpPr>
          <p:nvPr/>
        </p:nvCxnSpPr>
        <p:spPr>
          <a:xfrm>
            <a:off x="2328832" y="3462270"/>
            <a:ext cx="1158049" cy="13377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flipV="1">
            <a:off x="2174848" y="3377774"/>
            <a:ext cx="1856048" cy="24517"/>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1948920" y="3481714"/>
            <a:ext cx="175670" cy="1109474"/>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 name="Oval 16"/>
          <p:cNvSpPr>
            <a:spLocks noChangeArrowheads="1"/>
          </p:cNvSpPr>
          <p:nvPr/>
        </p:nvSpPr>
        <p:spPr bwMode="auto">
          <a:xfrm>
            <a:off x="1957083" y="309052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8" name="Straight Connector 7"/>
          <p:cNvCxnSpPr/>
          <p:nvPr/>
        </p:nvCxnSpPr>
        <p:spPr>
          <a:xfrm flipH="1">
            <a:off x="2120774" y="4800035"/>
            <a:ext cx="1119177" cy="684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a:endCxn id="25" idx="1"/>
          </p:cNvCxnSpPr>
          <p:nvPr/>
        </p:nvCxnSpPr>
        <p:spPr>
          <a:xfrm>
            <a:off x="1167927" y="3936170"/>
            <a:ext cx="563889" cy="8638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686531" y="458227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1" name="Oval 16"/>
          <p:cNvSpPr>
            <a:spLocks noChangeArrowheads="1"/>
          </p:cNvSpPr>
          <p:nvPr/>
        </p:nvSpPr>
        <p:spPr bwMode="auto">
          <a:xfrm>
            <a:off x="796178" y="3610102"/>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2" name="Oval 16"/>
          <p:cNvSpPr>
            <a:spLocks noChangeArrowheads="1"/>
          </p:cNvSpPr>
          <p:nvPr/>
        </p:nvSpPr>
        <p:spPr bwMode="auto">
          <a:xfrm>
            <a:off x="3232175" y="460398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5" name="Straight Connector 14"/>
          <p:cNvCxnSpPr>
            <a:stCxn id="12" idx="7"/>
          </p:cNvCxnSpPr>
          <p:nvPr/>
        </p:nvCxnSpPr>
        <p:spPr>
          <a:xfrm flipV="1">
            <a:off x="3603924" y="3429291"/>
            <a:ext cx="650011" cy="123847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20" idx="6"/>
          </p:cNvCxnSpPr>
          <p:nvPr/>
        </p:nvCxnSpPr>
        <p:spPr>
          <a:xfrm flipV="1">
            <a:off x="4464552" y="3565009"/>
            <a:ext cx="1367969" cy="125700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flipV="1">
            <a:off x="4408532" y="3371173"/>
            <a:ext cx="1353035" cy="6601"/>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4246786" y="3646429"/>
            <a:ext cx="45505" cy="95755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4029021" y="319567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0" name="Oval 16"/>
          <p:cNvSpPr>
            <a:spLocks noChangeArrowheads="1"/>
          </p:cNvSpPr>
          <p:nvPr/>
        </p:nvSpPr>
        <p:spPr bwMode="auto">
          <a:xfrm>
            <a:off x="4029021" y="46042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1" name="Oval 16"/>
          <p:cNvSpPr>
            <a:spLocks noChangeArrowheads="1"/>
          </p:cNvSpPr>
          <p:nvPr/>
        </p:nvSpPr>
        <p:spPr bwMode="auto">
          <a:xfrm>
            <a:off x="5747996" y="318047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TextBox 23"/>
          <p:cNvSpPr txBox="1"/>
          <p:nvPr/>
        </p:nvSpPr>
        <p:spPr>
          <a:xfrm>
            <a:off x="2006372" y="3112381"/>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25" name="TextBox 24"/>
          <p:cNvSpPr txBox="1"/>
          <p:nvPr/>
        </p:nvSpPr>
        <p:spPr>
          <a:xfrm>
            <a:off x="1731816" y="4615369"/>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26" name="TextBox 25"/>
          <p:cNvSpPr txBox="1"/>
          <p:nvPr/>
        </p:nvSpPr>
        <p:spPr>
          <a:xfrm>
            <a:off x="4096606" y="3217625"/>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27" name="Rectangle 26"/>
          <p:cNvSpPr/>
          <p:nvPr/>
        </p:nvSpPr>
        <p:spPr>
          <a:xfrm>
            <a:off x="844245" y="3647774"/>
            <a:ext cx="343364" cy="369332"/>
          </a:xfrm>
          <a:prstGeom prst="rect">
            <a:avLst/>
          </a:prstGeom>
        </p:spPr>
        <p:txBody>
          <a:bodyPr wrap="none">
            <a:spAutoFit/>
          </a:bodyPr>
          <a:lstStyle/>
          <a:p>
            <a:r>
              <a:rPr lang="en-US" b="1" dirty="0">
                <a:solidFill>
                  <a:prstClr val="black"/>
                </a:solidFill>
              </a:rPr>
              <a:t>D</a:t>
            </a:r>
          </a:p>
        </p:txBody>
      </p:sp>
      <p:sp>
        <p:nvSpPr>
          <p:cNvPr id="28" name="Rectangle 27"/>
          <p:cNvSpPr/>
          <p:nvPr/>
        </p:nvSpPr>
        <p:spPr>
          <a:xfrm>
            <a:off x="4076007" y="4647465"/>
            <a:ext cx="304892" cy="369332"/>
          </a:xfrm>
          <a:prstGeom prst="rect">
            <a:avLst/>
          </a:prstGeom>
        </p:spPr>
        <p:txBody>
          <a:bodyPr wrap="none">
            <a:spAutoFit/>
          </a:bodyPr>
          <a:lstStyle/>
          <a:p>
            <a:r>
              <a:rPr lang="en-US" b="1" dirty="0">
                <a:solidFill>
                  <a:prstClr val="black"/>
                </a:solidFill>
              </a:rPr>
              <a:t>F</a:t>
            </a:r>
          </a:p>
        </p:txBody>
      </p:sp>
      <p:sp>
        <p:nvSpPr>
          <p:cNvPr id="29" name="Rectangle 28"/>
          <p:cNvSpPr/>
          <p:nvPr/>
        </p:nvSpPr>
        <p:spPr>
          <a:xfrm>
            <a:off x="5798967" y="3195677"/>
            <a:ext cx="340158" cy="369332"/>
          </a:xfrm>
          <a:prstGeom prst="rect">
            <a:avLst/>
          </a:prstGeom>
        </p:spPr>
        <p:txBody>
          <a:bodyPr wrap="none">
            <a:spAutoFit/>
          </a:bodyPr>
          <a:lstStyle/>
          <a:p>
            <a:r>
              <a:rPr lang="en-US" b="1" dirty="0">
                <a:solidFill>
                  <a:prstClr val="black"/>
                </a:solidFill>
              </a:rPr>
              <a:t>G</a:t>
            </a:r>
          </a:p>
        </p:txBody>
      </p:sp>
      <p:sp>
        <p:nvSpPr>
          <p:cNvPr id="34" name="Rectangle 33"/>
          <p:cNvSpPr/>
          <p:nvPr/>
        </p:nvSpPr>
        <p:spPr>
          <a:xfrm>
            <a:off x="3291957" y="4628920"/>
            <a:ext cx="316112" cy="369332"/>
          </a:xfrm>
          <a:prstGeom prst="rect">
            <a:avLst/>
          </a:prstGeom>
        </p:spPr>
        <p:txBody>
          <a:bodyPr wrap="none">
            <a:spAutoFit/>
          </a:bodyPr>
          <a:lstStyle/>
          <a:p>
            <a:r>
              <a:rPr lang="en-US" b="1" dirty="0">
                <a:solidFill>
                  <a:prstClr val="black"/>
                </a:solidFill>
              </a:rPr>
              <a:t>E</a:t>
            </a:r>
          </a:p>
        </p:txBody>
      </p:sp>
      <p:graphicFrame>
        <p:nvGraphicFramePr>
          <p:cNvPr id="40" name="Table 39"/>
          <p:cNvGraphicFramePr>
            <a:graphicFrameLocks noGrp="1"/>
          </p:cNvGraphicFramePr>
          <p:nvPr>
            <p:extLst>
              <p:ext uri="{D42A27DB-BD31-4B8C-83A1-F6EECF244321}">
                <p14:modId xmlns:p14="http://schemas.microsoft.com/office/powerpoint/2010/main" val="1204677999"/>
              </p:ext>
            </p:extLst>
          </p:nvPr>
        </p:nvGraphicFramePr>
        <p:xfrm>
          <a:off x="7771306" y="2531586"/>
          <a:ext cx="3919951" cy="2966720"/>
        </p:xfrm>
        <a:graphic>
          <a:graphicData uri="http://schemas.openxmlformats.org/drawingml/2006/table">
            <a:tbl>
              <a:tblPr firstRow="1" bandRow="1">
                <a:tableStyleId>{5C22544A-7EE6-4342-B048-85BDC9FD1C3A}</a:tableStyleId>
              </a:tblPr>
              <a:tblGrid>
                <a:gridCol w="1007904">
                  <a:extLst>
                    <a:ext uri="{9D8B030D-6E8A-4147-A177-3AD203B41FA5}">
                      <a16:colId xmlns:a16="http://schemas.microsoft.com/office/drawing/2014/main" val="2989644895"/>
                    </a:ext>
                  </a:extLst>
                </a:gridCol>
                <a:gridCol w="1804284">
                  <a:extLst>
                    <a:ext uri="{9D8B030D-6E8A-4147-A177-3AD203B41FA5}">
                      <a16:colId xmlns:a16="http://schemas.microsoft.com/office/drawing/2014/main" val="4244960412"/>
                    </a:ext>
                  </a:extLst>
                </a:gridCol>
                <a:gridCol w="1107763">
                  <a:extLst>
                    <a:ext uri="{9D8B030D-6E8A-4147-A177-3AD203B41FA5}">
                      <a16:colId xmlns:a16="http://schemas.microsoft.com/office/drawing/2014/main" val="2572560869"/>
                    </a:ext>
                  </a:extLst>
                </a:gridCol>
              </a:tblGrid>
              <a:tr h="370840">
                <a:tc>
                  <a:txBody>
                    <a:bodyPr/>
                    <a:lstStyle/>
                    <a:p>
                      <a:pPr algn="ctr"/>
                      <a:r>
                        <a:rPr lang="en-US" dirty="0"/>
                        <a:t>NODE</a:t>
                      </a:r>
                    </a:p>
                  </a:txBody>
                  <a:tcPr/>
                </a:tc>
                <a:tc>
                  <a:txBody>
                    <a:bodyPr/>
                    <a:lstStyle/>
                    <a:p>
                      <a:pPr algn="ctr"/>
                      <a:r>
                        <a:rPr lang="en-US" dirty="0"/>
                        <a:t>NEIGHBORS</a:t>
                      </a:r>
                    </a:p>
                  </a:txBody>
                  <a:tcPr/>
                </a:tc>
                <a:tc>
                  <a:txBody>
                    <a:bodyPr/>
                    <a:lstStyle/>
                    <a:p>
                      <a:pPr algn="ctr"/>
                      <a:r>
                        <a:rPr lang="en-US" dirty="0"/>
                        <a:t>LABEL</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E,F,G</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F</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205733479"/>
                  </a:ext>
                </a:extLst>
              </a:tr>
            </a:tbl>
          </a:graphicData>
        </a:graphic>
      </p:graphicFrame>
      <p:cxnSp>
        <p:nvCxnSpPr>
          <p:cNvPr id="42" name="Straight Arrow Connector 41"/>
          <p:cNvCxnSpPr/>
          <p:nvPr/>
        </p:nvCxnSpPr>
        <p:spPr>
          <a:xfrm>
            <a:off x="1948920" y="2586178"/>
            <a:ext cx="119848" cy="4163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aphicFrame>
        <p:nvGraphicFramePr>
          <p:cNvPr id="30" name="Table 29"/>
          <p:cNvGraphicFramePr>
            <a:graphicFrameLocks noGrp="1"/>
          </p:cNvGraphicFramePr>
          <p:nvPr>
            <p:extLst>
              <p:ext uri="{D42A27DB-BD31-4B8C-83A1-F6EECF244321}">
                <p14:modId xmlns:p14="http://schemas.microsoft.com/office/powerpoint/2010/main" val="1896849273"/>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G</a:t>
                      </a:r>
                    </a:p>
                  </a:txBody>
                  <a:tcPr>
                    <a:solidFill>
                      <a:schemeClr val="accent2">
                        <a:lumMod val="60000"/>
                        <a:lumOff val="40000"/>
                      </a:schemeClr>
                    </a:solidFill>
                  </a:tcPr>
                </a:tc>
                <a:tc>
                  <a:txBody>
                    <a:bodyPr/>
                    <a:lstStyle/>
                    <a:p>
                      <a:pPr algn="ctr"/>
                      <a:r>
                        <a:rPr lang="en-US" dirty="0">
                          <a:solidFill>
                            <a:schemeClr val="tx1"/>
                          </a:solidFill>
                        </a:rPr>
                        <a:t>F</a:t>
                      </a: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extLst>
                  <a:ext uri="{0D108BD9-81ED-4DB2-BD59-A6C34878D82A}">
                    <a16:rowId xmlns:a16="http://schemas.microsoft.com/office/drawing/2014/main" val="660647860"/>
                  </a:ext>
                </a:extLst>
              </a:tr>
            </a:tbl>
          </a:graphicData>
        </a:graphic>
      </p:graphicFrame>
      <p:sp>
        <p:nvSpPr>
          <p:cNvPr id="31" name="TextBox 30"/>
          <p:cNvSpPr txBox="1"/>
          <p:nvPr/>
        </p:nvSpPr>
        <p:spPr>
          <a:xfrm>
            <a:off x="965262" y="5554545"/>
            <a:ext cx="362600" cy="461665"/>
          </a:xfrm>
          <a:prstGeom prst="rect">
            <a:avLst/>
          </a:prstGeom>
          <a:noFill/>
        </p:spPr>
        <p:txBody>
          <a:bodyPr wrap="none" rtlCol="0">
            <a:spAutoFit/>
          </a:bodyPr>
          <a:lstStyle/>
          <a:p>
            <a:r>
              <a:rPr lang="en-US" sz="2400" b="1">
                <a:effectLst>
                  <a:outerShdw blurRad="38100" dist="38100" dir="2700000" algn="tl">
                    <a:srgbClr val="000000">
                      <a:alpha val="43137"/>
                    </a:srgbClr>
                  </a:outerShdw>
                </a:effectLst>
              </a:rPr>
              <a:t>S</a:t>
            </a:r>
          </a:p>
        </p:txBody>
      </p:sp>
      <p:cxnSp>
        <p:nvCxnSpPr>
          <p:cNvPr id="32" name="Straight Connector 31"/>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3" name="Table 32"/>
          <p:cNvGraphicFramePr>
            <a:graphicFrameLocks noGrp="1"/>
          </p:cNvGraphicFramePr>
          <p:nvPr/>
        </p:nvGraphicFramePr>
        <p:xfrm>
          <a:off x="1437550" y="6006356"/>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B</a:t>
                      </a:r>
                    </a:p>
                  </a:txBody>
                  <a:tcPr>
                    <a:noFill/>
                  </a:tcPr>
                </a:tc>
                <a:tc>
                  <a:txBody>
                    <a:bodyPr/>
                    <a:lstStyle/>
                    <a:p>
                      <a:pPr algn="ctr"/>
                      <a:r>
                        <a:rPr lang="en-US" dirty="0">
                          <a:solidFill>
                            <a:schemeClr val="tx1"/>
                          </a:solidFill>
                        </a:rPr>
                        <a:t>D</a:t>
                      </a:r>
                    </a:p>
                  </a:txBody>
                  <a:tcPr>
                    <a:noFill/>
                  </a:tcPr>
                </a:tc>
                <a:tc>
                  <a:txBody>
                    <a:bodyPr/>
                    <a:lstStyle/>
                    <a:p>
                      <a:pPr algn="ctr"/>
                      <a:r>
                        <a:rPr lang="en-US" dirty="0">
                          <a:solidFill>
                            <a:schemeClr val="tx1"/>
                          </a:solidFill>
                        </a:rPr>
                        <a:t>E</a:t>
                      </a:r>
                      <a:endParaRPr lang="en-US" dirty="0"/>
                    </a:p>
                  </a:txBody>
                  <a:tcPr>
                    <a:noFill/>
                  </a:tcPr>
                </a:tc>
                <a:tc>
                  <a:txBody>
                    <a:bodyPr/>
                    <a:lstStyle/>
                    <a:p>
                      <a:pPr algn="ctr"/>
                      <a:r>
                        <a:rPr lang="en-US" dirty="0">
                          <a:solidFill>
                            <a:schemeClr val="tx1"/>
                          </a:solidFill>
                        </a:rPr>
                        <a:t>C</a:t>
                      </a:r>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dirty="0"/>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sp>
        <p:nvSpPr>
          <p:cNvPr id="35" name="Rectangle 34"/>
          <p:cNvSpPr/>
          <p:nvPr/>
        </p:nvSpPr>
        <p:spPr>
          <a:xfrm>
            <a:off x="10903309" y="2833056"/>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6" name="Rectangle 35"/>
          <p:cNvSpPr/>
          <p:nvPr/>
        </p:nvSpPr>
        <p:spPr>
          <a:xfrm>
            <a:off x="10898952" y="3233653"/>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7" name="Rectangle 36"/>
          <p:cNvSpPr/>
          <p:nvPr/>
        </p:nvSpPr>
        <p:spPr>
          <a:xfrm>
            <a:off x="10894596" y="3581998"/>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8" name="Rectangle 37"/>
          <p:cNvSpPr/>
          <p:nvPr/>
        </p:nvSpPr>
        <p:spPr>
          <a:xfrm>
            <a:off x="10894600" y="3973882"/>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9" name="Rectangle 38"/>
          <p:cNvSpPr/>
          <p:nvPr/>
        </p:nvSpPr>
        <p:spPr>
          <a:xfrm>
            <a:off x="10890244" y="4322227"/>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41" name="Rectangle 40"/>
          <p:cNvSpPr/>
          <p:nvPr/>
        </p:nvSpPr>
        <p:spPr>
          <a:xfrm>
            <a:off x="10890245" y="4714113"/>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43" name="Rectangle 42"/>
          <p:cNvSpPr/>
          <p:nvPr/>
        </p:nvSpPr>
        <p:spPr>
          <a:xfrm>
            <a:off x="10885889" y="5062458"/>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Tree>
    <p:custDataLst>
      <p:tags r:id="rId1"/>
    </p:custDataLst>
    <p:extLst>
      <p:ext uri="{BB962C8B-B14F-4D97-AF65-F5344CB8AC3E}">
        <p14:creationId xmlns:p14="http://schemas.microsoft.com/office/powerpoint/2010/main" val="23357723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Depth-First Search</a:t>
            </a:r>
          </a:p>
        </p:txBody>
      </p:sp>
      <p:sp>
        <p:nvSpPr>
          <p:cNvPr id="13" name="Slide Number Placeholder 12">
            <a:extLst>
              <a:ext uri="{FF2B5EF4-FFF2-40B4-BE49-F238E27FC236}">
                <a16:creationId xmlns:a16="http://schemas.microsoft.com/office/drawing/2014/main" id="{2294F06A-C18F-4F2D-8D6E-C359ACFF29B5}"/>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31/110</a:t>
            </a:r>
          </a:p>
        </p:txBody>
      </p:sp>
      <p:cxnSp>
        <p:nvCxnSpPr>
          <p:cNvPr id="3" name="Straight Connector 2"/>
          <p:cNvCxnSpPr>
            <a:stCxn id="12" idx="1"/>
          </p:cNvCxnSpPr>
          <p:nvPr/>
        </p:nvCxnSpPr>
        <p:spPr>
          <a:xfrm flipH="1" flipV="1">
            <a:off x="1097669" y="3734594"/>
            <a:ext cx="2198288" cy="93317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 name="Straight Connector 3"/>
          <p:cNvCxnSpPr>
            <a:stCxn id="7" idx="5"/>
          </p:cNvCxnSpPr>
          <p:nvPr/>
        </p:nvCxnSpPr>
        <p:spPr>
          <a:xfrm>
            <a:off x="2328832" y="3462270"/>
            <a:ext cx="1158049" cy="13377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flipV="1">
            <a:off x="2174848" y="3377774"/>
            <a:ext cx="1856048" cy="24517"/>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1948920" y="3481714"/>
            <a:ext cx="175670" cy="1109474"/>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 name="Oval 16"/>
          <p:cNvSpPr>
            <a:spLocks noChangeArrowheads="1"/>
          </p:cNvSpPr>
          <p:nvPr/>
        </p:nvSpPr>
        <p:spPr bwMode="auto">
          <a:xfrm>
            <a:off x="1957083" y="309052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8" name="Straight Connector 7"/>
          <p:cNvCxnSpPr/>
          <p:nvPr/>
        </p:nvCxnSpPr>
        <p:spPr>
          <a:xfrm flipH="1">
            <a:off x="2120774" y="4800035"/>
            <a:ext cx="1119177" cy="684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a:endCxn id="25" idx="1"/>
          </p:cNvCxnSpPr>
          <p:nvPr/>
        </p:nvCxnSpPr>
        <p:spPr>
          <a:xfrm>
            <a:off x="1167927" y="3936170"/>
            <a:ext cx="563889" cy="8638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686531" y="458227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1" name="Oval 16"/>
          <p:cNvSpPr>
            <a:spLocks noChangeArrowheads="1"/>
          </p:cNvSpPr>
          <p:nvPr/>
        </p:nvSpPr>
        <p:spPr bwMode="auto">
          <a:xfrm>
            <a:off x="796178" y="3610102"/>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2" name="Oval 16"/>
          <p:cNvSpPr>
            <a:spLocks noChangeArrowheads="1"/>
          </p:cNvSpPr>
          <p:nvPr/>
        </p:nvSpPr>
        <p:spPr bwMode="auto">
          <a:xfrm>
            <a:off x="3232175" y="460398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5" name="Straight Connector 14"/>
          <p:cNvCxnSpPr>
            <a:stCxn id="12" idx="7"/>
          </p:cNvCxnSpPr>
          <p:nvPr/>
        </p:nvCxnSpPr>
        <p:spPr>
          <a:xfrm flipV="1">
            <a:off x="3603924" y="3429291"/>
            <a:ext cx="650011" cy="123847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20" idx="6"/>
          </p:cNvCxnSpPr>
          <p:nvPr/>
        </p:nvCxnSpPr>
        <p:spPr>
          <a:xfrm flipV="1">
            <a:off x="4464552" y="3565009"/>
            <a:ext cx="1367969" cy="125700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flipV="1">
            <a:off x="4408532" y="3371173"/>
            <a:ext cx="1353035" cy="6601"/>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4246786" y="3646429"/>
            <a:ext cx="45505" cy="95755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4029021" y="319567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0" name="Oval 16"/>
          <p:cNvSpPr>
            <a:spLocks noChangeArrowheads="1"/>
          </p:cNvSpPr>
          <p:nvPr/>
        </p:nvSpPr>
        <p:spPr bwMode="auto">
          <a:xfrm>
            <a:off x="4029021" y="46042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1" name="Oval 16"/>
          <p:cNvSpPr>
            <a:spLocks noChangeArrowheads="1"/>
          </p:cNvSpPr>
          <p:nvPr/>
        </p:nvSpPr>
        <p:spPr bwMode="auto">
          <a:xfrm>
            <a:off x="5747996" y="318047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TextBox 23"/>
          <p:cNvSpPr txBox="1"/>
          <p:nvPr/>
        </p:nvSpPr>
        <p:spPr>
          <a:xfrm>
            <a:off x="2006372" y="3112381"/>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25" name="TextBox 24"/>
          <p:cNvSpPr txBox="1"/>
          <p:nvPr/>
        </p:nvSpPr>
        <p:spPr>
          <a:xfrm>
            <a:off x="1731816" y="4615369"/>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26" name="TextBox 25"/>
          <p:cNvSpPr txBox="1"/>
          <p:nvPr/>
        </p:nvSpPr>
        <p:spPr>
          <a:xfrm>
            <a:off x="4096606" y="3217625"/>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27" name="Rectangle 26"/>
          <p:cNvSpPr/>
          <p:nvPr/>
        </p:nvSpPr>
        <p:spPr>
          <a:xfrm>
            <a:off x="844245" y="3647774"/>
            <a:ext cx="343364" cy="369332"/>
          </a:xfrm>
          <a:prstGeom prst="rect">
            <a:avLst/>
          </a:prstGeom>
        </p:spPr>
        <p:txBody>
          <a:bodyPr wrap="none">
            <a:spAutoFit/>
          </a:bodyPr>
          <a:lstStyle/>
          <a:p>
            <a:r>
              <a:rPr lang="en-US" b="1" dirty="0">
                <a:solidFill>
                  <a:prstClr val="black"/>
                </a:solidFill>
              </a:rPr>
              <a:t>D</a:t>
            </a:r>
          </a:p>
        </p:txBody>
      </p:sp>
      <p:sp>
        <p:nvSpPr>
          <p:cNvPr id="28" name="Rectangle 27"/>
          <p:cNvSpPr/>
          <p:nvPr/>
        </p:nvSpPr>
        <p:spPr>
          <a:xfrm>
            <a:off x="4076007" y="4647465"/>
            <a:ext cx="304892" cy="369332"/>
          </a:xfrm>
          <a:prstGeom prst="rect">
            <a:avLst/>
          </a:prstGeom>
        </p:spPr>
        <p:txBody>
          <a:bodyPr wrap="none">
            <a:spAutoFit/>
          </a:bodyPr>
          <a:lstStyle/>
          <a:p>
            <a:r>
              <a:rPr lang="en-US" b="1" dirty="0">
                <a:solidFill>
                  <a:prstClr val="black"/>
                </a:solidFill>
              </a:rPr>
              <a:t>F</a:t>
            </a:r>
          </a:p>
        </p:txBody>
      </p:sp>
      <p:sp>
        <p:nvSpPr>
          <p:cNvPr id="29" name="Rectangle 28"/>
          <p:cNvSpPr/>
          <p:nvPr/>
        </p:nvSpPr>
        <p:spPr>
          <a:xfrm>
            <a:off x="5798967" y="3195677"/>
            <a:ext cx="340158" cy="369332"/>
          </a:xfrm>
          <a:prstGeom prst="rect">
            <a:avLst/>
          </a:prstGeom>
        </p:spPr>
        <p:txBody>
          <a:bodyPr wrap="none">
            <a:spAutoFit/>
          </a:bodyPr>
          <a:lstStyle/>
          <a:p>
            <a:r>
              <a:rPr lang="en-US" b="1" dirty="0">
                <a:solidFill>
                  <a:prstClr val="black"/>
                </a:solidFill>
              </a:rPr>
              <a:t>G</a:t>
            </a:r>
          </a:p>
        </p:txBody>
      </p:sp>
      <p:sp>
        <p:nvSpPr>
          <p:cNvPr id="34" name="Rectangle 33"/>
          <p:cNvSpPr/>
          <p:nvPr/>
        </p:nvSpPr>
        <p:spPr>
          <a:xfrm>
            <a:off x="3291957" y="4628920"/>
            <a:ext cx="316112" cy="369332"/>
          </a:xfrm>
          <a:prstGeom prst="rect">
            <a:avLst/>
          </a:prstGeom>
        </p:spPr>
        <p:txBody>
          <a:bodyPr wrap="none">
            <a:spAutoFit/>
          </a:bodyPr>
          <a:lstStyle/>
          <a:p>
            <a:r>
              <a:rPr lang="en-US" b="1" dirty="0">
                <a:solidFill>
                  <a:prstClr val="black"/>
                </a:solidFill>
              </a:rPr>
              <a:t>E</a:t>
            </a:r>
          </a:p>
        </p:txBody>
      </p:sp>
      <p:graphicFrame>
        <p:nvGraphicFramePr>
          <p:cNvPr id="40" name="Table 39"/>
          <p:cNvGraphicFramePr>
            <a:graphicFrameLocks noGrp="1"/>
          </p:cNvGraphicFramePr>
          <p:nvPr>
            <p:extLst>
              <p:ext uri="{D42A27DB-BD31-4B8C-83A1-F6EECF244321}">
                <p14:modId xmlns:p14="http://schemas.microsoft.com/office/powerpoint/2010/main" val="3525338641"/>
              </p:ext>
            </p:extLst>
          </p:nvPr>
        </p:nvGraphicFramePr>
        <p:xfrm>
          <a:off x="7771306" y="2531586"/>
          <a:ext cx="3911787" cy="2966720"/>
        </p:xfrm>
        <a:graphic>
          <a:graphicData uri="http://schemas.openxmlformats.org/drawingml/2006/table">
            <a:tbl>
              <a:tblPr firstRow="1" bandRow="1">
                <a:tableStyleId>{5C22544A-7EE6-4342-B048-85BDC9FD1C3A}</a:tableStyleId>
              </a:tblPr>
              <a:tblGrid>
                <a:gridCol w="1005804">
                  <a:extLst>
                    <a:ext uri="{9D8B030D-6E8A-4147-A177-3AD203B41FA5}">
                      <a16:colId xmlns:a16="http://schemas.microsoft.com/office/drawing/2014/main" val="2989644895"/>
                    </a:ext>
                  </a:extLst>
                </a:gridCol>
                <a:gridCol w="1800527">
                  <a:extLst>
                    <a:ext uri="{9D8B030D-6E8A-4147-A177-3AD203B41FA5}">
                      <a16:colId xmlns:a16="http://schemas.microsoft.com/office/drawing/2014/main" val="4244960412"/>
                    </a:ext>
                  </a:extLst>
                </a:gridCol>
                <a:gridCol w="1105456">
                  <a:extLst>
                    <a:ext uri="{9D8B030D-6E8A-4147-A177-3AD203B41FA5}">
                      <a16:colId xmlns:a16="http://schemas.microsoft.com/office/drawing/2014/main" val="2572560869"/>
                    </a:ext>
                  </a:extLst>
                </a:gridCol>
              </a:tblGrid>
              <a:tr h="370840">
                <a:tc>
                  <a:txBody>
                    <a:bodyPr/>
                    <a:lstStyle/>
                    <a:p>
                      <a:pPr algn="ctr"/>
                      <a:r>
                        <a:rPr lang="en-US" dirty="0"/>
                        <a:t>NODE</a:t>
                      </a:r>
                    </a:p>
                  </a:txBody>
                  <a:tcPr/>
                </a:tc>
                <a:tc>
                  <a:txBody>
                    <a:bodyPr/>
                    <a:lstStyle/>
                    <a:p>
                      <a:pPr algn="ctr"/>
                      <a:r>
                        <a:rPr lang="en-US" dirty="0"/>
                        <a:t>NEIGHBORS</a:t>
                      </a:r>
                    </a:p>
                  </a:txBody>
                  <a:tcPr/>
                </a:tc>
                <a:tc>
                  <a:txBody>
                    <a:bodyPr/>
                    <a:lstStyle/>
                    <a:p>
                      <a:pPr algn="ctr"/>
                      <a:r>
                        <a:rPr lang="en-US" dirty="0"/>
                        <a:t>LABEL</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E,F,G</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F</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205733479"/>
                  </a:ext>
                </a:extLst>
              </a:tr>
            </a:tbl>
          </a:graphicData>
        </a:graphic>
      </p:graphicFrame>
      <p:cxnSp>
        <p:nvCxnSpPr>
          <p:cNvPr id="42" name="Straight Arrow Connector 41"/>
          <p:cNvCxnSpPr/>
          <p:nvPr/>
        </p:nvCxnSpPr>
        <p:spPr>
          <a:xfrm>
            <a:off x="1948920" y="2586178"/>
            <a:ext cx="119848" cy="4163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aphicFrame>
        <p:nvGraphicFramePr>
          <p:cNvPr id="30" name="Table 29"/>
          <p:cNvGraphicFramePr>
            <a:graphicFrameLocks noGrp="1"/>
          </p:cNvGraphicFramePr>
          <p:nvPr>
            <p:extLst>
              <p:ext uri="{D42A27DB-BD31-4B8C-83A1-F6EECF244321}">
                <p14:modId xmlns:p14="http://schemas.microsoft.com/office/powerpoint/2010/main" val="234303535"/>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G</a:t>
                      </a: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extLst>
                  <a:ext uri="{0D108BD9-81ED-4DB2-BD59-A6C34878D82A}">
                    <a16:rowId xmlns:a16="http://schemas.microsoft.com/office/drawing/2014/main" val="660647860"/>
                  </a:ext>
                </a:extLst>
              </a:tr>
            </a:tbl>
          </a:graphicData>
        </a:graphic>
      </p:graphicFrame>
      <p:sp>
        <p:nvSpPr>
          <p:cNvPr id="31" name="TextBox 30"/>
          <p:cNvSpPr txBox="1"/>
          <p:nvPr/>
        </p:nvSpPr>
        <p:spPr>
          <a:xfrm>
            <a:off x="965262" y="5554545"/>
            <a:ext cx="362600" cy="461665"/>
          </a:xfrm>
          <a:prstGeom prst="rect">
            <a:avLst/>
          </a:prstGeom>
          <a:noFill/>
        </p:spPr>
        <p:txBody>
          <a:bodyPr wrap="none" rtlCol="0">
            <a:spAutoFit/>
          </a:bodyPr>
          <a:lstStyle/>
          <a:p>
            <a:r>
              <a:rPr lang="en-US" sz="2400" b="1">
                <a:effectLst>
                  <a:outerShdw blurRad="38100" dist="38100" dir="2700000" algn="tl">
                    <a:srgbClr val="000000">
                      <a:alpha val="43137"/>
                    </a:srgbClr>
                  </a:outerShdw>
                </a:effectLst>
              </a:rPr>
              <a:t>S</a:t>
            </a:r>
          </a:p>
        </p:txBody>
      </p:sp>
      <p:cxnSp>
        <p:nvCxnSpPr>
          <p:cNvPr id="32" name="Straight Connector 31"/>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3" name="Table 32"/>
          <p:cNvGraphicFramePr>
            <a:graphicFrameLocks noGrp="1"/>
          </p:cNvGraphicFramePr>
          <p:nvPr/>
        </p:nvGraphicFramePr>
        <p:xfrm>
          <a:off x="1437550" y="6006356"/>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B</a:t>
                      </a:r>
                    </a:p>
                  </a:txBody>
                  <a:tcPr>
                    <a:noFill/>
                  </a:tcPr>
                </a:tc>
                <a:tc>
                  <a:txBody>
                    <a:bodyPr/>
                    <a:lstStyle/>
                    <a:p>
                      <a:pPr algn="ctr"/>
                      <a:r>
                        <a:rPr lang="en-US" dirty="0">
                          <a:solidFill>
                            <a:schemeClr val="tx1"/>
                          </a:solidFill>
                        </a:rPr>
                        <a:t>D</a:t>
                      </a:r>
                    </a:p>
                  </a:txBody>
                  <a:tcPr>
                    <a:noFill/>
                  </a:tcPr>
                </a:tc>
                <a:tc>
                  <a:txBody>
                    <a:bodyPr/>
                    <a:lstStyle/>
                    <a:p>
                      <a:pPr algn="ctr"/>
                      <a:r>
                        <a:rPr lang="en-US" dirty="0">
                          <a:solidFill>
                            <a:schemeClr val="tx1"/>
                          </a:solidFill>
                        </a:rPr>
                        <a:t>E</a:t>
                      </a:r>
                      <a:endParaRPr lang="en-US" dirty="0"/>
                    </a:p>
                  </a:txBody>
                  <a:tcPr>
                    <a:noFill/>
                  </a:tcPr>
                </a:tc>
                <a:tc>
                  <a:txBody>
                    <a:bodyPr/>
                    <a:lstStyle/>
                    <a:p>
                      <a:pPr algn="ctr"/>
                      <a:r>
                        <a:rPr lang="en-US" dirty="0">
                          <a:solidFill>
                            <a:schemeClr val="tx1"/>
                          </a:solidFill>
                        </a:rPr>
                        <a:t>C</a:t>
                      </a:r>
                    </a:p>
                  </a:txBody>
                  <a:tcPr>
                    <a:noFill/>
                  </a:tcPr>
                </a:tc>
                <a:tc>
                  <a:txBody>
                    <a:bodyPr/>
                    <a:lstStyle/>
                    <a:p>
                      <a:pPr algn="ctr"/>
                      <a:r>
                        <a:rPr lang="en-US" dirty="0">
                          <a:solidFill>
                            <a:schemeClr val="tx1"/>
                          </a:solidFill>
                        </a:rPr>
                        <a:t>F</a:t>
                      </a:r>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dirty="0"/>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sp>
        <p:nvSpPr>
          <p:cNvPr id="35" name="Rectangle 34"/>
          <p:cNvSpPr/>
          <p:nvPr/>
        </p:nvSpPr>
        <p:spPr>
          <a:xfrm>
            <a:off x="10854323" y="2833056"/>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6" name="Rectangle 35"/>
          <p:cNvSpPr/>
          <p:nvPr/>
        </p:nvSpPr>
        <p:spPr>
          <a:xfrm>
            <a:off x="10849966" y="3233653"/>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7" name="Rectangle 36"/>
          <p:cNvSpPr/>
          <p:nvPr/>
        </p:nvSpPr>
        <p:spPr>
          <a:xfrm>
            <a:off x="10845610" y="3581998"/>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8" name="Rectangle 37"/>
          <p:cNvSpPr/>
          <p:nvPr/>
        </p:nvSpPr>
        <p:spPr>
          <a:xfrm>
            <a:off x="10845614" y="3973882"/>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9" name="Rectangle 38"/>
          <p:cNvSpPr/>
          <p:nvPr/>
        </p:nvSpPr>
        <p:spPr>
          <a:xfrm>
            <a:off x="10841258" y="4322227"/>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41" name="Rectangle 40"/>
          <p:cNvSpPr/>
          <p:nvPr/>
        </p:nvSpPr>
        <p:spPr>
          <a:xfrm>
            <a:off x="10841259" y="4714113"/>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43" name="Rectangle 42"/>
          <p:cNvSpPr/>
          <p:nvPr/>
        </p:nvSpPr>
        <p:spPr>
          <a:xfrm>
            <a:off x="10836903" y="5062458"/>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Tree>
    <p:custDataLst>
      <p:tags r:id="rId1"/>
    </p:custDataLst>
    <p:extLst>
      <p:ext uri="{BB962C8B-B14F-4D97-AF65-F5344CB8AC3E}">
        <p14:creationId xmlns:p14="http://schemas.microsoft.com/office/powerpoint/2010/main" val="3094608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Depth-First Search</a:t>
            </a:r>
          </a:p>
        </p:txBody>
      </p:sp>
      <p:sp>
        <p:nvSpPr>
          <p:cNvPr id="13" name="Slide Number Placeholder 12">
            <a:extLst>
              <a:ext uri="{FF2B5EF4-FFF2-40B4-BE49-F238E27FC236}">
                <a16:creationId xmlns:a16="http://schemas.microsoft.com/office/drawing/2014/main" id="{A6730619-B2D3-41A7-92E8-014C3306080F}"/>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32/110</a:t>
            </a:r>
          </a:p>
        </p:txBody>
      </p:sp>
      <p:cxnSp>
        <p:nvCxnSpPr>
          <p:cNvPr id="3" name="Straight Connector 2"/>
          <p:cNvCxnSpPr>
            <a:stCxn id="12" idx="1"/>
          </p:cNvCxnSpPr>
          <p:nvPr/>
        </p:nvCxnSpPr>
        <p:spPr>
          <a:xfrm flipH="1" flipV="1">
            <a:off x="1097669" y="3734594"/>
            <a:ext cx="2198288" cy="93317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 name="Straight Connector 3"/>
          <p:cNvCxnSpPr>
            <a:stCxn id="7" idx="5"/>
          </p:cNvCxnSpPr>
          <p:nvPr/>
        </p:nvCxnSpPr>
        <p:spPr>
          <a:xfrm>
            <a:off x="2328832" y="3462270"/>
            <a:ext cx="1158049" cy="13377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flipV="1">
            <a:off x="2174848" y="3377774"/>
            <a:ext cx="1856048" cy="24517"/>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1948920" y="3481714"/>
            <a:ext cx="175670" cy="1109474"/>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 name="Oval 16"/>
          <p:cNvSpPr>
            <a:spLocks noChangeArrowheads="1"/>
          </p:cNvSpPr>
          <p:nvPr/>
        </p:nvSpPr>
        <p:spPr bwMode="auto">
          <a:xfrm>
            <a:off x="1957083" y="309052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8" name="Straight Connector 7"/>
          <p:cNvCxnSpPr/>
          <p:nvPr/>
        </p:nvCxnSpPr>
        <p:spPr>
          <a:xfrm flipH="1">
            <a:off x="2120774" y="4800035"/>
            <a:ext cx="1119177" cy="684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a:endCxn id="25" idx="1"/>
          </p:cNvCxnSpPr>
          <p:nvPr/>
        </p:nvCxnSpPr>
        <p:spPr>
          <a:xfrm>
            <a:off x="1167927" y="3936170"/>
            <a:ext cx="563889" cy="8638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686531" y="458227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1" name="Oval 16"/>
          <p:cNvSpPr>
            <a:spLocks noChangeArrowheads="1"/>
          </p:cNvSpPr>
          <p:nvPr/>
        </p:nvSpPr>
        <p:spPr bwMode="auto">
          <a:xfrm>
            <a:off x="796178" y="3610102"/>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2" name="Oval 16"/>
          <p:cNvSpPr>
            <a:spLocks noChangeArrowheads="1"/>
          </p:cNvSpPr>
          <p:nvPr/>
        </p:nvSpPr>
        <p:spPr bwMode="auto">
          <a:xfrm>
            <a:off x="3232175" y="460398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5" name="Straight Connector 14"/>
          <p:cNvCxnSpPr>
            <a:stCxn id="12" idx="7"/>
          </p:cNvCxnSpPr>
          <p:nvPr/>
        </p:nvCxnSpPr>
        <p:spPr>
          <a:xfrm flipV="1">
            <a:off x="3603924" y="3429291"/>
            <a:ext cx="650011" cy="123847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20" idx="6"/>
          </p:cNvCxnSpPr>
          <p:nvPr/>
        </p:nvCxnSpPr>
        <p:spPr>
          <a:xfrm flipV="1">
            <a:off x="4464552" y="3565009"/>
            <a:ext cx="1367969" cy="125700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flipV="1">
            <a:off x="4408532" y="3371173"/>
            <a:ext cx="1353035" cy="6601"/>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4246786" y="3646429"/>
            <a:ext cx="45505" cy="95755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4029021" y="319567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0" name="Oval 16"/>
          <p:cNvSpPr>
            <a:spLocks noChangeArrowheads="1"/>
          </p:cNvSpPr>
          <p:nvPr/>
        </p:nvSpPr>
        <p:spPr bwMode="auto">
          <a:xfrm>
            <a:off x="4029021" y="46042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1" name="Oval 16"/>
          <p:cNvSpPr>
            <a:spLocks noChangeArrowheads="1"/>
          </p:cNvSpPr>
          <p:nvPr/>
        </p:nvSpPr>
        <p:spPr bwMode="auto">
          <a:xfrm>
            <a:off x="5747996" y="318047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TextBox 23"/>
          <p:cNvSpPr txBox="1"/>
          <p:nvPr/>
        </p:nvSpPr>
        <p:spPr>
          <a:xfrm>
            <a:off x="2006372" y="3112381"/>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25" name="TextBox 24"/>
          <p:cNvSpPr txBox="1"/>
          <p:nvPr/>
        </p:nvSpPr>
        <p:spPr>
          <a:xfrm>
            <a:off x="1731816" y="4615369"/>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26" name="TextBox 25"/>
          <p:cNvSpPr txBox="1"/>
          <p:nvPr/>
        </p:nvSpPr>
        <p:spPr>
          <a:xfrm>
            <a:off x="4096606" y="3217625"/>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27" name="Rectangle 26"/>
          <p:cNvSpPr/>
          <p:nvPr/>
        </p:nvSpPr>
        <p:spPr>
          <a:xfrm>
            <a:off x="844245" y="3647774"/>
            <a:ext cx="343364" cy="369332"/>
          </a:xfrm>
          <a:prstGeom prst="rect">
            <a:avLst/>
          </a:prstGeom>
        </p:spPr>
        <p:txBody>
          <a:bodyPr wrap="none">
            <a:spAutoFit/>
          </a:bodyPr>
          <a:lstStyle/>
          <a:p>
            <a:r>
              <a:rPr lang="en-US" b="1" dirty="0">
                <a:solidFill>
                  <a:prstClr val="black"/>
                </a:solidFill>
              </a:rPr>
              <a:t>D</a:t>
            </a:r>
          </a:p>
        </p:txBody>
      </p:sp>
      <p:sp>
        <p:nvSpPr>
          <p:cNvPr id="28" name="Rectangle 27"/>
          <p:cNvSpPr/>
          <p:nvPr/>
        </p:nvSpPr>
        <p:spPr>
          <a:xfrm>
            <a:off x="4076007" y="4647465"/>
            <a:ext cx="304892" cy="369332"/>
          </a:xfrm>
          <a:prstGeom prst="rect">
            <a:avLst/>
          </a:prstGeom>
        </p:spPr>
        <p:txBody>
          <a:bodyPr wrap="none">
            <a:spAutoFit/>
          </a:bodyPr>
          <a:lstStyle/>
          <a:p>
            <a:r>
              <a:rPr lang="en-US" b="1" dirty="0">
                <a:solidFill>
                  <a:prstClr val="black"/>
                </a:solidFill>
              </a:rPr>
              <a:t>F</a:t>
            </a:r>
          </a:p>
        </p:txBody>
      </p:sp>
      <p:sp>
        <p:nvSpPr>
          <p:cNvPr id="29" name="Rectangle 28"/>
          <p:cNvSpPr/>
          <p:nvPr/>
        </p:nvSpPr>
        <p:spPr>
          <a:xfrm>
            <a:off x="5798967" y="3195677"/>
            <a:ext cx="340158" cy="369332"/>
          </a:xfrm>
          <a:prstGeom prst="rect">
            <a:avLst/>
          </a:prstGeom>
        </p:spPr>
        <p:txBody>
          <a:bodyPr wrap="none">
            <a:spAutoFit/>
          </a:bodyPr>
          <a:lstStyle/>
          <a:p>
            <a:r>
              <a:rPr lang="en-US" b="1" dirty="0">
                <a:solidFill>
                  <a:prstClr val="black"/>
                </a:solidFill>
              </a:rPr>
              <a:t>G</a:t>
            </a:r>
          </a:p>
        </p:txBody>
      </p:sp>
      <p:sp>
        <p:nvSpPr>
          <p:cNvPr id="34" name="Rectangle 33"/>
          <p:cNvSpPr/>
          <p:nvPr/>
        </p:nvSpPr>
        <p:spPr>
          <a:xfrm>
            <a:off x="3291957" y="4628920"/>
            <a:ext cx="316112" cy="369332"/>
          </a:xfrm>
          <a:prstGeom prst="rect">
            <a:avLst/>
          </a:prstGeom>
        </p:spPr>
        <p:txBody>
          <a:bodyPr wrap="none">
            <a:spAutoFit/>
          </a:bodyPr>
          <a:lstStyle/>
          <a:p>
            <a:r>
              <a:rPr lang="en-US" b="1" dirty="0">
                <a:solidFill>
                  <a:prstClr val="black"/>
                </a:solidFill>
              </a:rPr>
              <a:t>E</a:t>
            </a:r>
          </a:p>
        </p:txBody>
      </p:sp>
      <p:graphicFrame>
        <p:nvGraphicFramePr>
          <p:cNvPr id="40" name="Table 39"/>
          <p:cNvGraphicFramePr>
            <a:graphicFrameLocks noGrp="1"/>
          </p:cNvGraphicFramePr>
          <p:nvPr>
            <p:extLst>
              <p:ext uri="{D42A27DB-BD31-4B8C-83A1-F6EECF244321}">
                <p14:modId xmlns:p14="http://schemas.microsoft.com/office/powerpoint/2010/main" val="1651476817"/>
              </p:ext>
            </p:extLst>
          </p:nvPr>
        </p:nvGraphicFramePr>
        <p:xfrm>
          <a:off x="7771306" y="2531586"/>
          <a:ext cx="3960773" cy="2966720"/>
        </p:xfrm>
        <a:graphic>
          <a:graphicData uri="http://schemas.openxmlformats.org/drawingml/2006/table">
            <a:tbl>
              <a:tblPr firstRow="1" bandRow="1">
                <a:tableStyleId>{5C22544A-7EE6-4342-B048-85BDC9FD1C3A}</a:tableStyleId>
              </a:tblPr>
              <a:tblGrid>
                <a:gridCol w="1018400">
                  <a:extLst>
                    <a:ext uri="{9D8B030D-6E8A-4147-A177-3AD203B41FA5}">
                      <a16:colId xmlns:a16="http://schemas.microsoft.com/office/drawing/2014/main" val="2989644895"/>
                    </a:ext>
                  </a:extLst>
                </a:gridCol>
                <a:gridCol w="1823074">
                  <a:extLst>
                    <a:ext uri="{9D8B030D-6E8A-4147-A177-3AD203B41FA5}">
                      <a16:colId xmlns:a16="http://schemas.microsoft.com/office/drawing/2014/main" val="4244960412"/>
                    </a:ext>
                  </a:extLst>
                </a:gridCol>
                <a:gridCol w="1119299">
                  <a:extLst>
                    <a:ext uri="{9D8B030D-6E8A-4147-A177-3AD203B41FA5}">
                      <a16:colId xmlns:a16="http://schemas.microsoft.com/office/drawing/2014/main" val="2572560869"/>
                    </a:ext>
                  </a:extLst>
                </a:gridCol>
              </a:tblGrid>
              <a:tr h="370840">
                <a:tc>
                  <a:txBody>
                    <a:bodyPr/>
                    <a:lstStyle/>
                    <a:p>
                      <a:pPr algn="ctr"/>
                      <a:r>
                        <a:rPr lang="en-US" dirty="0"/>
                        <a:t>NODE</a:t>
                      </a:r>
                    </a:p>
                  </a:txBody>
                  <a:tcPr/>
                </a:tc>
                <a:tc>
                  <a:txBody>
                    <a:bodyPr/>
                    <a:lstStyle/>
                    <a:p>
                      <a:pPr algn="ctr"/>
                      <a:r>
                        <a:rPr lang="en-US" dirty="0"/>
                        <a:t>NEIGHBORS</a:t>
                      </a:r>
                    </a:p>
                  </a:txBody>
                  <a:tcPr/>
                </a:tc>
                <a:tc>
                  <a:txBody>
                    <a:bodyPr/>
                    <a:lstStyle/>
                    <a:p>
                      <a:pPr algn="ctr"/>
                      <a:r>
                        <a:rPr lang="en-US" dirty="0"/>
                        <a:t>LABEL</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E,F,G</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F</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205733479"/>
                  </a:ext>
                </a:extLst>
              </a:tr>
            </a:tbl>
          </a:graphicData>
        </a:graphic>
      </p:graphicFrame>
      <p:cxnSp>
        <p:nvCxnSpPr>
          <p:cNvPr id="42" name="Straight Arrow Connector 41"/>
          <p:cNvCxnSpPr/>
          <p:nvPr/>
        </p:nvCxnSpPr>
        <p:spPr>
          <a:xfrm>
            <a:off x="1948920" y="2586178"/>
            <a:ext cx="119848" cy="4163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aphicFrame>
        <p:nvGraphicFramePr>
          <p:cNvPr id="30" name="Table 29"/>
          <p:cNvGraphicFramePr>
            <a:graphicFrameLocks noGrp="1"/>
          </p:cNvGraphicFramePr>
          <p:nvPr>
            <p:extLst>
              <p:ext uri="{D42A27DB-BD31-4B8C-83A1-F6EECF244321}">
                <p14:modId xmlns:p14="http://schemas.microsoft.com/office/powerpoint/2010/main" val="3756193108"/>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endParaRPr lang="en-US" dirty="0">
                        <a:solidFill>
                          <a:schemeClr val="tx1"/>
                        </a:solidFill>
                      </a:endParaRP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extLst>
                  <a:ext uri="{0D108BD9-81ED-4DB2-BD59-A6C34878D82A}">
                    <a16:rowId xmlns:a16="http://schemas.microsoft.com/office/drawing/2014/main" val="660647860"/>
                  </a:ext>
                </a:extLst>
              </a:tr>
            </a:tbl>
          </a:graphicData>
        </a:graphic>
      </p:graphicFrame>
      <p:sp>
        <p:nvSpPr>
          <p:cNvPr id="31" name="TextBox 30"/>
          <p:cNvSpPr txBox="1"/>
          <p:nvPr/>
        </p:nvSpPr>
        <p:spPr>
          <a:xfrm>
            <a:off x="965262" y="5554545"/>
            <a:ext cx="362600" cy="461665"/>
          </a:xfrm>
          <a:prstGeom prst="rect">
            <a:avLst/>
          </a:prstGeom>
          <a:noFill/>
        </p:spPr>
        <p:txBody>
          <a:bodyPr wrap="none" rtlCol="0">
            <a:spAutoFit/>
          </a:bodyPr>
          <a:lstStyle/>
          <a:p>
            <a:r>
              <a:rPr lang="en-US" sz="2400" b="1">
                <a:effectLst>
                  <a:outerShdw blurRad="38100" dist="38100" dir="2700000" algn="tl">
                    <a:srgbClr val="000000">
                      <a:alpha val="43137"/>
                    </a:srgbClr>
                  </a:outerShdw>
                </a:effectLst>
              </a:rPr>
              <a:t>S</a:t>
            </a:r>
          </a:p>
        </p:txBody>
      </p:sp>
      <p:cxnSp>
        <p:nvCxnSpPr>
          <p:cNvPr id="32" name="Straight Connector 31"/>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3" name="Table 32"/>
          <p:cNvGraphicFramePr>
            <a:graphicFrameLocks noGrp="1"/>
          </p:cNvGraphicFramePr>
          <p:nvPr/>
        </p:nvGraphicFramePr>
        <p:xfrm>
          <a:off x="1437550" y="6006356"/>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B</a:t>
                      </a:r>
                    </a:p>
                  </a:txBody>
                  <a:tcPr>
                    <a:noFill/>
                  </a:tcPr>
                </a:tc>
                <a:tc>
                  <a:txBody>
                    <a:bodyPr/>
                    <a:lstStyle/>
                    <a:p>
                      <a:pPr algn="ctr"/>
                      <a:r>
                        <a:rPr lang="en-US" dirty="0">
                          <a:solidFill>
                            <a:schemeClr val="tx1"/>
                          </a:solidFill>
                        </a:rPr>
                        <a:t>D</a:t>
                      </a:r>
                    </a:p>
                  </a:txBody>
                  <a:tcPr>
                    <a:noFill/>
                  </a:tcPr>
                </a:tc>
                <a:tc>
                  <a:txBody>
                    <a:bodyPr/>
                    <a:lstStyle/>
                    <a:p>
                      <a:pPr algn="ctr"/>
                      <a:r>
                        <a:rPr lang="en-US" dirty="0">
                          <a:solidFill>
                            <a:schemeClr val="tx1"/>
                          </a:solidFill>
                        </a:rPr>
                        <a:t>E</a:t>
                      </a:r>
                      <a:endParaRPr lang="en-US" dirty="0"/>
                    </a:p>
                  </a:txBody>
                  <a:tcPr>
                    <a:noFill/>
                  </a:tcPr>
                </a:tc>
                <a:tc>
                  <a:txBody>
                    <a:bodyPr/>
                    <a:lstStyle/>
                    <a:p>
                      <a:pPr algn="ctr"/>
                      <a:r>
                        <a:rPr lang="en-US" dirty="0">
                          <a:solidFill>
                            <a:schemeClr val="tx1"/>
                          </a:solidFill>
                        </a:rPr>
                        <a:t>C</a:t>
                      </a:r>
                    </a:p>
                  </a:txBody>
                  <a:tcPr>
                    <a:noFill/>
                  </a:tcPr>
                </a:tc>
                <a:tc>
                  <a:txBody>
                    <a:bodyPr/>
                    <a:lstStyle/>
                    <a:p>
                      <a:pPr algn="ctr"/>
                      <a:r>
                        <a:rPr lang="en-US" dirty="0">
                          <a:solidFill>
                            <a:schemeClr val="tx1"/>
                          </a:solidFill>
                        </a:rPr>
                        <a:t>F</a:t>
                      </a:r>
                    </a:p>
                  </a:txBody>
                  <a:tcPr>
                    <a:noFill/>
                  </a:tcPr>
                </a:tc>
                <a:tc>
                  <a:txBody>
                    <a:bodyPr/>
                    <a:lstStyle/>
                    <a:p>
                      <a:pPr algn="ctr"/>
                      <a:r>
                        <a:rPr lang="en-US" dirty="0">
                          <a:solidFill>
                            <a:schemeClr val="tx1"/>
                          </a:solidFill>
                        </a:rPr>
                        <a:t>G</a:t>
                      </a:r>
                    </a:p>
                  </a:txBody>
                  <a:tcPr>
                    <a:noFill/>
                  </a:tcPr>
                </a:tc>
                <a:tc>
                  <a:txBody>
                    <a:bodyPr/>
                    <a:lstStyle/>
                    <a:p>
                      <a:endParaRPr lang="en-US" dirty="0"/>
                    </a:p>
                  </a:txBody>
                  <a:tcPr>
                    <a:noFill/>
                  </a:tcPr>
                </a:tc>
                <a:tc>
                  <a:txBody>
                    <a:bodyPr/>
                    <a:lstStyle/>
                    <a:p>
                      <a:endParaRPr lang="en-US"/>
                    </a:p>
                  </a:txBody>
                  <a:tcPr>
                    <a:noFill/>
                  </a:tcPr>
                </a:tc>
                <a:tc>
                  <a:txBody>
                    <a:bodyPr/>
                    <a:lstStyle/>
                    <a:p>
                      <a:endParaRPr lang="en-US" dirty="0"/>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sp>
        <p:nvSpPr>
          <p:cNvPr id="35" name="Rectangle 34"/>
          <p:cNvSpPr/>
          <p:nvPr/>
        </p:nvSpPr>
        <p:spPr>
          <a:xfrm>
            <a:off x="10919639" y="2784071"/>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6" name="Rectangle 35"/>
          <p:cNvSpPr/>
          <p:nvPr/>
        </p:nvSpPr>
        <p:spPr>
          <a:xfrm>
            <a:off x="10915282" y="3184668"/>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7" name="Rectangle 36"/>
          <p:cNvSpPr/>
          <p:nvPr/>
        </p:nvSpPr>
        <p:spPr>
          <a:xfrm>
            <a:off x="10910926" y="3533013"/>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8" name="Rectangle 37"/>
          <p:cNvSpPr/>
          <p:nvPr/>
        </p:nvSpPr>
        <p:spPr>
          <a:xfrm>
            <a:off x="10910930" y="3924897"/>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9" name="Rectangle 38"/>
          <p:cNvSpPr/>
          <p:nvPr/>
        </p:nvSpPr>
        <p:spPr>
          <a:xfrm>
            <a:off x="10906574" y="4273242"/>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41" name="Rectangle 40"/>
          <p:cNvSpPr/>
          <p:nvPr/>
        </p:nvSpPr>
        <p:spPr>
          <a:xfrm>
            <a:off x="10906575" y="4665128"/>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43" name="Rectangle 42"/>
          <p:cNvSpPr/>
          <p:nvPr/>
        </p:nvSpPr>
        <p:spPr>
          <a:xfrm>
            <a:off x="10902219" y="5013473"/>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Tree>
    <p:custDataLst>
      <p:tags r:id="rId1"/>
    </p:custDataLst>
    <p:extLst>
      <p:ext uri="{BB962C8B-B14F-4D97-AF65-F5344CB8AC3E}">
        <p14:creationId xmlns:p14="http://schemas.microsoft.com/office/powerpoint/2010/main" val="27489577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DFS: Algorithm and Time Complexity</a:t>
            </a:r>
          </a:p>
        </p:txBody>
      </p:sp>
      <p:sp>
        <p:nvSpPr>
          <p:cNvPr id="4" name="Slide Number Placeholder 3">
            <a:extLst>
              <a:ext uri="{FF2B5EF4-FFF2-40B4-BE49-F238E27FC236}">
                <a16:creationId xmlns:a16="http://schemas.microsoft.com/office/drawing/2014/main" id="{022A3188-678C-4741-9221-4EFC49F465A9}"/>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33/110</a:t>
            </a:r>
          </a:p>
        </p:txBody>
      </p:sp>
      <p:sp>
        <p:nvSpPr>
          <p:cNvPr id="3" name="TextBox 2"/>
          <p:cNvSpPr txBox="1"/>
          <p:nvPr/>
        </p:nvSpPr>
        <p:spPr>
          <a:xfrm>
            <a:off x="557348" y="2139043"/>
            <a:ext cx="4455523" cy="3539430"/>
          </a:xfrm>
          <a:prstGeom prst="rect">
            <a:avLst/>
          </a:prstGeom>
          <a:noFill/>
          <a:ln w="38100" cmpd="thickThin">
            <a:solidFill>
              <a:srgbClr val="F6B000"/>
            </a:solidFill>
          </a:ln>
        </p:spPr>
        <p:txBody>
          <a:bodyPr wrap="square" rtlCol="0">
            <a:spAutoFit/>
          </a:bodyPr>
          <a:lstStyle/>
          <a:p>
            <a:r>
              <a:rPr lang="en-US" sz="1600" dirty="0">
                <a:latin typeface="Consolas" panose="020B0609020204030204" pitchFamily="49" charset="0"/>
              </a:rPr>
              <a:t>DFS(START)</a:t>
            </a:r>
          </a:p>
          <a:p>
            <a:r>
              <a:rPr lang="en-US" sz="1600" dirty="0">
                <a:latin typeface="Consolas" panose="020B0609020204030204" pitchFamily="49" charset="0"/>
              </a:rPr>
              <a:t>    Stack S</a:t>
            </a:r>
          </a:p>
          <a:p>
            <a:r>
              <a:rPr lang="en-US" sz="1600" dirty="0">
                <a:latin typeface="Consolas" panose="020B0609020204030204" pitchFamily="49" charset="0"/>
              </a:rPr>
              <a:t>    Mark all nodes as unchecked</a:t>
            </a:r>
          </a:p>
          <a:p>
            <a:r>
              <a:rPr lang="en-US" sz="1600" dirty="0">
                <a:latin typeface="Consolas" panose="020B0609020204030204" pitchFamily="49" charset="0"/>
              </a:rPr>
              <a:t>    </a:t>
            </a:r>
            <a:r>
              <a:rPr lang="en-US" sz="1600" dirty="0" err="1">
                <a:latin typeface="Consolas" panose="020B0609020204030204" pitchFamily="49" charset="0"/>
              </a:rPr>
              <a:t>S.push</a:t>
            </a:r>
            <a:r>
              <a:rPr lang="en-US" sz="1600" dirty="0">
                <a:latin typeface="Consolas" panose="020B0609020204030204" pitchFamily="49" charset="0"/>
              </a:rPr>
              <a:t>(START)</a:t>
            </a:r>
          </a:p>
          <a:p>
            <a:r>
              <a:rPr lang="en-US" sz="1600" dirty="0">
                <a:latin typeface="Consolas" panose="020B0609020204030204" pitchFamily="49" charset="0"/>
              </a:rPr>
              <a:t>    Mark START as checked</a:t>
            </a:r>
          </a:p>
          <a:p>
            <a:endParaRPr lang="en-US" sz="1600" dirty="0">
              <a:latin typeface="Consolas" panose="020B0609020204030204" pitchFamily="49" charset="0"/>
            </a:endParaRPr>
          </a:p>
          <a:p>
            <a:r>
              <a:rPr lang="en-US" sz="1600" dirty="0">
                <a:latin typeface="Consolas" panose="020B0609020204030204" pitchFamily="49" charset="0"/>
              </a:rPr>
              <a:t>    while S is not empty do</a:t>
            </a:r>
          </a:p>
          <a:p>
            <a:r>
              <a:rPr lang="en-US" sz="1600" dirty="0">
                <a:latin typeface="Consolas" panose="020B0609020204030204" pitchFamily="49" charset="0"/>
              </a:rPr>
              <a:t>        v ← </a:t>
            </a:r>
            <a:r>
              <a:rPr lang="en-US" sz="1600" dirty="0" err="1">
                <a:latin typeface="Consolas" panose="020B0609020204030204" pitchFamily="49" charset="0"/>
              </a:rPr>
              <a:t>S.pop</a:t>
            </a:r>
            <a:r>
              <a:rPr lang="en-US" sz="1600" dirty="0">
                <a:latin typeface="Consolas" panose="020B0609020204030204" pitchFamily="49" charset="0"/>
              </a:rPr>
              <a:t>()</a:t>
            </a:r>
          </a:p>
          <a:p>
            <a:r>
              <a:rPr lang="en-US" sz="1600" dirty="0">
                <a:latin typeface="Consolas" panose="020B0609020204030204" pitchFamily="49" charset="0"/>
              </a:rPr>
              <a:t>        Print v</a:t>
            </a:r>
          </a:p>
          <a:p>
            <a:endParaRPr lang="en-US" sz="1600" dirty="0">
              <a:latin typeface="Consolas" panose="020B0609020204030204" pitchFamily="49" charset="0"/>
            </a:endParaRPr>
          </a:p>
          <a:p>
            <a:r>
              <a:rPr lang="en-US" sz="1600" dirty="0">
                <a:latin typeface="Consolas" panose="020B0609020204030204" pitchFamily="49" charset="0"/>
              </a:rPr>
              <a:t>        for each neighbor w of v do</a:t>
            </a:r>
          </a:p>
          <a:p>
            <a:r>
              <a:rPr lang="en-US" sz="1600" dirty="0">
                <a:latin typeface="Consolas" panose="020B0609020204030204" pitchFamily="49" charset="0"/>
              </a:rPr>
              <a:t>            if w is unchecked then</a:t>
            </a:r>
          </a:p>
          <a:p>
            <a:r>
              <a:rPr lang="en-US" sz="1600" dirty="0">
                <a:latin typeface="Consolas" panose="020B0609020204030204" pitchFamily="49" charset="0"/>
              </a:rPr>
              <a:t>                </a:t>
            </a:r>
            <a:r>
              <a:rPr lang="en-US" sz="1600" dirty="0" err="1">
                <a:latin typeface="Consolas" panose="020B0609020204030204" pitchFamily="49" charset="0"/>
              </a:rPr>
              <a:t>S.push</a:t>
            </a:r>
            <a:r>
              <a:rPr lang="en-US" sz="1600" dirty="0">
                <a:latin typeface="Consolas" panose="020B0609020204030204" pitchFamily="49" charset="0"/>
              </a:rPr>
              <a:t>(w)</a:t>
            </a:r>
          </a:p>
          <a:p>
            <a:r>
              <a:rPr lang="en-US" sz="1600" dirty="0">
                <a:latin typeface="Consolas" panose="020B0609020204030204" pitchFamily="49" charset="0"/>
              </a:rPr>
              <a:t>                Mark w as checked</a:t>
            </a:r>
          </a:p>
        </p:txBody>
      </p:sp>
      <p:sp>
        <p:nvSpPr>
          <p:cNvPr id="5" name="Rectangle 4">
            <a:extLst>
              <a:ext uri="{FF2B5EF4-FFF2-40B4-BE49-F238E27FC236}">
                <a16:creationId xmlns:a16="http://schemas.microsoft.com/office/drawing/2014/main" id="{4D6E654E-6778-45FE-AAE5-42EEF2D39D27}"/>
              </a:ext>
            </a:extLst>
          </p:cNvPr>
          <p:cNvSpPr/>
          <p:nvPr/>
        </p:nvSpPr>
        <p:spPr>
          <a:xfrm>
            <a:off x="1290919" y="4527176"/>
            <a:ext cx="3532094" cy="385482"/>
          </a:xfrm>
          <a:prstGeom prst="rect">
            <a:avLst/>
          </a:prstGeom>
          <a:noFill/>
          <a:ln>
            <a:solidFill>
              <a:srgbClr val="D012C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70D02FBE-F99D-4FD2-9578-61106157E6A7}"/>
              </a:ext>
            </a:extLst>
          </p:cNvPr>
          <p:cNvCxnSpPr/>
          <p:nvPr/>
        </p:nvCxnSpPr>
        <p:spPr>
          <a:xfrm>
            <a:off x="4823013" y="4733365"/>
            <a:ext cx="833716" cy="0"/>
          </a:xfrm>
          <a:prstGeom prst="straightConnector1">
            <a:avLst/>
          </a:prstGeom>
          <a:ln w="28575">
            <a:solidFill>
              <a:srgbClr val="D012C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07F0B35-64FA-486C-BA1C-B4C9DF1ED449}"/>
                  </a:ext>
                </a:extLst>
              </p:cNvPr>
              <p:cNvSpPr txBox="1"/>
              <p:nvPr/>
            </p:nvSpPr>
            <p:spPr>
              <a:xfrm>
                <a:off x="5656729" y="4557559"/>
                <a:ext cx="147643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D012C2"/>
                          </a:solidFill>
                          <a:latin typeface="Cambria Math" panose="02040503050406030204" pitchFamily="18" charset="0"/>
                        </a:rPr>
                        <m:t>𝑂</m:t>
                      </m:r>
                      <m:r>
                        <a:rPr lang="en-US" i="1" dirty="0" smtClean="0">
                          <a:solidFill>
                            <a:srgbClr val="D012C2"/>
                          </a:solidFill>
                          <a:latin typeface="Cambria Math" panose="02040503050406030204" pitchFamily="18" charset="0"/>
                        </a:rPr>
                        <m:t>(</m:t>
                      </m:r>
                      <m:d>
                        <m:dPr>
                          <m:begChr m:val="|"/>
                          <m:endChr m:val="|"/>
                          <m:ctrlPr>
                            <a:rPr lang="en-US" i="1" dirty="0" smtClean="0">
                              <a:solidFill>
                                <a:srgbClr val="D012C2"/>
                              </a:solidFill>
                              <a:latin typeface="Cambria Math" panose="02040503050406030204" pitchFamily="18" charset="0"/>
                            </a:rPr>
                          </m:ctrlPr>
                        </m:dPr>
                        <m:e>
                          <m:r>
                            <a:rPr lang="en-US" i="1" dirty="0" smtClean="0">
                              <a:solidFill>
                                <a:srgbClr val="D012C2"/>
                              </a:solidFill>
                              <a:latin typeface="Cambria Math" panose="02040503050406030204" pitchFamily="18" charset="0"/>
                            </a:rPr>
                            <m:t>𝐸</m:t>
                          </m:r>
                        </m:e>
                      </m:d>
                      <m:r>
                        <a:rPr lang="en-US" b="0" i="1" dirty="0" smtClean="0">
                          <a:solidFill>
                            <a:srgbClr val="D012C2"/>
                          </a:solidFill>
                          <a:latin typeface="Cambria Math" panose="02040503050406030204" pitchFamily="18" charset="0"/>
                        </a:rPr>
                        <m:t>+|</m:t>
                      </m:r>
                      <m:r>
                        <a:rPr lang="en-US" b="0" i="1" dirty="0" smtClean="0">
                          <a:solidFill>
                            <a:srgbClr val="D012C2"/>
                          </a:solidFill>
                          <a:latin typeface="Cambria Math" panose="02040503050406030204" pitchFamily="18" charset="0"/>
                        </a:rPr>
                        <m:t>𝑉</m:t>
                      </m:r>
                      <m:r>
                        <a:rPr lang="en-US" b="0" i="1" dirty="0" smtClean="0">
                          <a:solidFill>
                            <a:srgbClr val="D012C2"/>
                          </a:solidFill>
                          <a:latin typeface="Cambria Math" panose="02040503050406030204" pitchFamily="18" charset="0"/>
                        </a:rPr>
                        <m:t>|)</m:t>
                      </m:r>
                    </m:oMath>
                  </m:oMathPara>
                </a14:m>
                <a:endParaRPr lang="en-US" dirty="0">
                  <a:solidFill>
                    <a:srgbClr val="D012C2"/>
                  </a:solidFill>
                </a:endParaRPr>
              </a:p>
            </p:txBody>
          </p:sp>
        </mc:Choice>
        <mc:Fallback xmlns="">
          <p:sp>
            <p:nvSpPr>
              <p:cNvPr id="8" name="TextBox 7">
                <a:extLst>
                  <a:ext uri="{FF2B5EF4-FFF2-40B4-BE49-F238E27FC236}">
                    <a16:creationId xmlns:a16="http://schemas.microsoft.com/office/drawing/2014/main" id="{807F0B35-64FA-486C-BA1C-B4C9DF1ED449}"/>
                  </a:ext>
                </a:extLst>
              </p:cNvPr>
              <p:cNvSpPr txBox="1">
                <a:spLocks noRot="1" noChangeAspect="1" noMove="1" noResize="1" noEditPoints="1" noAdjustHandles="1" noChangeArrowheads="1" noChangeShapeType="1" noTextEdit="1"/>
              </p:cNvSpPr>
              <p:nvPr/>
            </p:nvSpPr>
            <p:spPr>
              <a:xfrm>
                <a:off x="5656729" y="4557559"/>
                <a:ext cx="1476430" cy="369332"/>
              </a:xfrm>
              <a:prstGeom prst="rect">
                <a:avLst/>
              </a:prstGeom>
              <a:blipFill>
                <a:blip r:embed="rId4"/>
                <a:stretch>
                  <a:fillRect b="-15000"/>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975952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Breadth-First Search</a:t>
            </a:r>
          </a:p>
        </p:txBody>
      </p:sp>
      <p:sp>
        <p:nvSpPr>
          <p:cNvPr id="13" name="Slide Number Placeholder 12">
            <a:extLst>
              <a:ext uri="{FF2B5EF4-FFF2-40B4-BE49-F238E27FC236}">
                <a16:creationId xmlns:a16="http://schemas.microsoft.com/office/drawing/2014/main" id="{2039A689-F520-433A-811F-917C133C2179}"/>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34/110</a:t>
            </a:r>
          </a:p>
        </p:txBody>
      </p:sp>
      <p:cxnSp>
        <p:nvCxnSpPr>
          <p:cNvPr id="3" name="Straight Connector 2"/>
          <p:cNvCxnSpPr>
            <a:stCxn id="12" idx="1"/>
          </p:cNvCxnSpPr>
          <p:nvPr/>
        </p:nvCxnSpPr>
        <p:spPr>
          <a:xfrm flipH="1" flipV="1">
            <a:off x="1097669" y="3734594"/>
            <a:ext cx="2198288" cy="93317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 name="Straight Connector 3"/>
          <p:cNvCxnSpPr>
            <a:stCxn id="7" idx="5"/>
          </p:cNvCxnSpPr>
          <p:nvPr/>
        </p:nvCxnSpPr>
        <p:spPr>
          <a:xfrm>
            <a:off x="2328832" y="3462270"/>
            <a:ext cx="1158049" cy="13377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flipV="1">
            <a:off x="2174848" y="3377774"/>
            <a:ext cx="1856048" cy="24517"/>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1948920" y="3481714"/>
            <a:ext cx="175670" cy="1109474"/>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 name="Oval 16"/>
          <p:cNvSpPr>
            <a:spLocks noChangeArrowheads="1"/>
          </p:cNvSpPr>
          <p:nvPr/>
        </p:nvSpPr>
        <p:spPr bwMode="auto">
          <a:xfrm>
            <a:off x="1957083" y="309052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8" name="Straight Connector 7"/>
          <p:cNvCxnSpPr/>
          <p:nvPr/>
        </p:nvCxnSpPr>
        <p:spPr>
          <a:xfrm flipH="1">
            <a:off x="2120774" y="4800035"/>
            <a:ext cx="1119177" cy="684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a:endCxn id="25" idx="1"/>
          </p:cNvCxnSpPr>
          <p:nvPr/>
        </p:nvCxnSpPr>
        <p:spPr>
          <a:xfrm>
            <a:off x="1167927" y="3936170"/>
            <a:ext cx="563889" cy="8638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686531" y="458227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1" name="Oval 16"/>
          <p:cNvSpPr>
            <a:spLocks noChangeArrowheads="1"/>
          </p:cNvSpPr>
          <p:nvPr/>
        </p:nvSpPr>
        <p:spPr bwMode="auto">
          <a:xfrm>
            <a:off x="796178" y="3610102"/>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2" name="Oval 16"/>
          <p:cNvSpPr>
            <a:spLocks noChangeArrowheads="1"/>
          </p:cNvSpPr>
          <p:nvPr/>
        </p:nvSpPr>
        <p:spPr bwMode="auto">
          <a:xfrm>
            <a:off x="3232175" y="460398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5" name="Straight Connector 14"/>
          <p:cNvCxnSpPr>
            <a:stCxn id="12" idx="7"/>
          </p:cNvCxnSpPr>
          <p:nvPr/>
        </p:nvCxnSpPr>
        <p:spPr>
          <a:xfrm flipV="1">
            <a:off x="3603924" y="3429291"/>
            <a:ext cx="650011" cy="123847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20" idx="6"/>
          </p:cNvCxnSpPr>
          <p:nvPr/>
        </p:nvCxnSpPr>
        <p:spPr>
          <a:xfrm flipV="1">
            <a:off x="4464552" y="3565009"/>
            <a:ext cx="1367969" cy="125700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flipV="1">
            <a:off x="4408532" y="3371173"/>
            <a:ext cx="1353035" cy="6601"/>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4246786" y="3646429"/>
            <a:ext cx="45505" cy="95755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4029021" y="319567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0" name="Oval 16"/>
          <p:cNvSpPr>
            <a:spLocks noChangeArrowheads="1"/>
          </p:cNvSpPr>
          <p:nvPr/>
        </p:nvSpPr>
        <p:spPr bwMode="auto">
          <a:xfrm>
            <a:off x="4029021" y="46042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1" name="Oval 16"/>
          <p:cNvSpPr>
            <a:spLocks noChangeArrowheads="1"/>
          </p:cNvSpPr>
          <p:nvPr/>
        </p:nvSpPr>
        <p:spPr bwMode="auto">
          <a:xfrm>
            <a:off x="5747996" y="318047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TextBox 23"/>
          <p:cNvSpPr txBox="1"/>
          <p:nvPr/>
        </p:nvSpPr>
        <p:spPr>
          <a:xfrm>
            <a:off x="2006372" y="3112381"/>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25" name="TextBox 24"/>
          <p:cNvSpPr txBox="1"/>
          <p:nvPr/>
        </p:nvSpPr>
        <p:spPr>
          <a:xfrm>
            <a:off x="1731816" y="4615369"/>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26" name="TextBox 25"/>
          <p:cNvSpPr txBox="1"/>
          <p:nvPr/>
        </p:nvSpPr>
        <p:spPr>
          <a:xfrm>
            <a:off x="4096606" y="3217625"/>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27" name="Rectangle 26"/>
          <p:cNvSpPr/>
          <p:nvPr/>
        </p:nvSpPr>
        <p:spPr>
          <a:xfrm>
            <a:off x="844245" y="3647774"/>
            <a:ext cx="343364" cy="369332"/>
          </a:xfrm>
          <a:prstGeom prst="rect">
            <a:avLst/>
          </a:prstGeom>
        </p:spPr>
        <p:txBody>
          <a:bodyPr wrap="none">
            <a:spAutoFit/>
          </a:bodyPr>
          <a:lstStyle/>
          <a:p>
            <a:r>
              <a:rPr lang="en-US" b="1" dirty="0">
                <a:solidFill>
                  <a:prstClr val="black"/>
                </a:solidFill>
              </a:rPr>
              <a:t>D</a:t>
            </a:r>
          </a:p>
        </p:txBody>
      </p:sp>
      <p:sp>
        <p:nvSpPr>
          <p:cNvPr id="28" name="Rectangle 27"/>
          <p:cNvSpPr/>
          <p:nvPr/>
        </p:nvSpPr>
        <p:spPr>
          <a:xfrm>
            <a:off x="4076007" y="4647465"/>
            <a:ext cx="304892" cy="369332"/>
          </a:xfrm>
          <a:prstGeom prst="rect">
            <a:avLst/>
          </a:prstGeom>
        </p:spPr>
        <p:txBody>
          <a:bodyPr wrap="none">
            <a:spAutoFit/>
          </a:bodyPr>
          <a:lstStyle/>
          <a:p>
            <a:r>
              <a:rPr lang="en-US" b="1" dirty="0">
                <a:solidFill>
                  <a:prstClr val="black"/>
                </a:solidFill>
              </a:rPr>
              <a:t>F</a:t>
            </a:r>
          </a:p>
        </p:txBody>
      </p:sp>
      <p:sp>
        <p:nvSpPr>
          <p:cNvPr id="29" name="Rectangle 28"/>
          <p:cNvSpPr/>
          <p:nvPr/>
        </p:nvSpPr>
        <p:spPr>
          <a:xfrm>
            <a:off x="5798967" y="3195677"/>
            <a:ext cx="340158" cy="369332"/>
          </a:xfrm>
          <a:prstGeom prst="rect">
            <a:avLst/>
          </a:prstGeom>
        </p:spPr>
        <p:txBody>
          <a:bodyPr wrap="none">
            <a:spAutoFit/>
          </a:bodyPr>
          <a:lstStyle/>
          <a:p>
            <a:r>
              <a:rPr lang="en-US" b="1" dirty="0">
                <a:solidFill>
                  <a:prstClr val="black"/>
                </a:solidFill>
              </a:rPr>
              <a:t>G</a:t>
            </a:r>
          </a:p>
        </p:txBody>
      </p:sp>
      <p:sp>
        <p:nvSpPr>
          <p:cNvPr id="34" name="Rectangle 33"/>
          <p:cNvSpPr/>
          <p:nvPr/>
        </p:nvSpPr>
        <p:spPr>
          <a:xfrm>
            <a:off x="3291957" y="4628920"/>
            <a:ext cx="316112" cy="369332"/>
          </a:xfrm>
          <a:prstGeom prst="rect">
            <a:avLst/>
          </a:prstGeom>
        </p:spPr>
        <p:txBody>
          <a:bodyPr wrap="none">
            <a:spAutoFit/>
          </a:bodyPr>
          <a:lstStyle/>
          <a:p>
            <a:r>
              <a:rPr lang="en-US" b="1" dirty="0">
                <a:solidFill>
                  <a:prstClr val="black"/>
                </a:solidFill>
              </a:rPr>
              <a:t>E</a:t>
            </a:r>
          </a:p>
        </p:txBody>
      </p:sp>
      <p:graphicFrame>
        <p:nvGraphicFramePr>
          <p:cNvPr id="40" name="Table 39"/>
          <p:cNvGraphicFramePr>
            <a:graphicFrameLocks noGrp="1"/>
          </p:cNvGraphicFramePr>
          <p:nvPr>
            <p:extLst>
              <p:ext uri="{D42A27DB-BD31-4B8C-83A1-F6EECF244321}">
                <p14:modId xmlns:p14="http://schemas.microsoft.com/office/powerpoint/2010/main" val="3910933795"/>
              </p:ext>
            </p:extLst>
          </p:nvPr>
        </p:nvGraphicFramePr>
        <p:xfrm>
          <a:off x="7771306" y="2531586"/>
          <a:ext cx="3968937" cy="2966720"/>
        </p:xfrm>
        <a:graphic>
          <a:graphicData uri="http://schemas.openxmlformats.org/drawingml/2006/table">
            <a:tbl>
              <a:tblPr firstRow="1" bandRow="1">
                <a:tableStyleId>{5C22544A-7EE6-4342-B048-85BDC9FD1C3A}</a:tableStyleId>
              </a:tblPr>
              <a:tblGrid>
                <a:gridCol w="1020499">
                  <a:extLst>
                    <a:ext uri="{9D8B030D-6E8A-4147-A177-3AD203B41FA5}">
                      <a16:colId xmlns:a16="http://schemas.microsoft.com/office/drawing/2014/main" val="2989644895"/>
                    </a:ext>
                  </a:extLst>
                </a:gridCol>
                <a:gridCol w="1826832">
                  <a:extLst>
                    <a:ext uri="{9D8B030D-6E8A-4147-A177-3AD203B41FA5}">
                      <a16:colId xmlns:a16="http://schemas.microsoft.com/office/drawing/2014/main" val="4244960412"/>
                    </a:ext>
                  </a:extLst>
                </a:gridCol>
                <a:gridCol w="1121606">
                  <a:extLst>
                    <a:ext uri="{9D8B030D-6E8A-4147-A177-3AD203B41FA5}">
                      <a16:colId xmlns:a16="http://schemas.microsoft.com/office/drawing/2014/main" val="2572560869"/>
                    </a:ext>
                  </a:extLst>
                </a:gridCol>
              </a:tblGrid>
              <a:tr h="370840">
                <a:tc>
                  <a:txBody>
                    <a:bodyPr/>
                    <a:lstStyle/>
                    <a:p>
                      <a:pPr algn="ctr"/>
                      <a:r>
                        <a:rPr lang="en-US" dirty="0"/>
                        <a:t>NODE</a:t>
                      </a:r>
                    </a:p>
                  </a:txBody>
                  <a:tcPr/>
                </a:tc>
                <a:tc>
                  <a:txBody>
                    <a:bodyPr/>
                    <a:lstStyle/>
                    <a:p>
                      <a:pPr algn="ctr"/>
                      <a:r>
                        <a:rPr lang="en-US" dirty="0"/>
                        <a:t>NEIGHBORS</a:t>
                      </a:r>
                    </a:p>
                  </a:txBody>
                  <a:tcPr/>
                </a:tc>
                <a:tc>
                  <a:txBody>
                    <a:bodyPr/>
                    <a:lstStyle/>
                    <a:p>
                      <a:pPr algn="ctr"/>
                      <a:r>
                        <a:rPr lang="en-US" dirty="0"/>
                        <a:t>LABEL</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E,F,G</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F</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205733479"/>
                  </a:ext>
                </a:extLst>
              </a:tr>
            </a:tbl>
          </a:graphicData>
        </a:graphic>
      </p:graphicFrame>
      <p:cxnSp>
        <p:nvCxnSpPr>
          <p:cNvPr id="42" name="Straight Arrow Connector 41"/>
          <p:cNvCxnSpPr/>
          <p:nvPr/>
        </p:nvCxnSpPr>
        <p:spPr>
          <a:xfrm>
            <a:off x="1948920" y="2586178"/>
            <a:ext cx="119848" cy="4163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aphicFrame>
        <p:nvGraphicFramePr>
          <p:cNvPr id="30" name="Table 29"/>
          <p:cNvGraphicFramePr>
            <a:graphicFrameLocks noGrp="1"/>
          </p:cNvGraphicFramePr>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dirty="0"/>
                    </a:p>
                  </a:txBody>
                  <a:tcPr>
                    <a:solidFill>
                      <a:schemeClr val="accent6">
                        <a:lumMod val="60000"/>
                        <a:lumOff val="40000"/>
                      </a:schemeClr>
                    </a:solidFill>
                  </a:tcPr>
                </a:tc>
                <a:tc>
                  <a:txBody>
                    <a:bodyPr/>
                    <a:lstStyle/>
                    <a:p>
                      <a:endParaRPr lang="en-US" dirty="0"/>
                    </a:p>
                  </a:txBody>
                  <a:tcPr>
                    <a:solidFill>
                      <a:schemeClr val="accent6">
                        <a:lumMod val="60000"/>
                        <a:lumOff val="40000"/>
                      </a:schemeClr>
                    </a:solidFill>
                  </a:tcPr>
                </a:tc>
                <a:extLst>
                  <a:ext uri="{0D108BD9-81ED-4DB2-BD59-A6C34878D82A}">
                    <a16:rowId xmlns:a16="http://schemas.microsoft.com/office/drawing/2014/main" val="660647860"/>
                  </a:ext>
                </a:extLst>
              </a:tr>
            </a:tbl>
          </a:graphicData>
        </a:graphic>
      </p:graphicFrame>
      <p:sp>
        <p:nvSpPr>
          <p:cNvPr id="31" name="TextBox 30"/>
          <p:cNvSpPr txBox="1"/>
          <p:nvPr/>
        </p:nvSpPr>
        <p:spPr>
          <a:xfrm>
            <a:off x="965262" y="5554545"/>
            <a:ext cx="418704" cy="461665"/>
          </a:xfrm>
          <a:prstGeom prst="rect">
            <a:avLst/>
          </a:prstGeom>
          <a:noFill/>
        </p:spPr>
        <p:txBody>
          <a:bodyPr wrap="none" rtlCol="0">
            <a:spAutoFit/>
          </a:bodyPr>
          <a:lstStyle/>
          <a:p>
            <a:r>
              <a:rPr lang="en-US" sz="2400" b="1" dirty="0">
                <a:effectLst>
                  <a:outerShdw blurRad="38100" dist="38100" dir="2700000" algn="tl">
                    <a:srgbClr val="000000">
                      <a:alpha val="43137"/>
                    </a:srgbClr>
                  </a:outerShdw>
                </a:effectLst>
              </a:rPr>
              <a:t>Q</a:t>
            </a:r>
          </a:p>
        </p:txBody>
      </p:sp>
      <p:cxnSp>
        <p:nvCxnSpPr>
          <p:cNvPr id="32" name="Straight Connector 31"/>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3" name="Table 32"/>
          <p:cNvGraphicFramePr>
            <a:graphicFrameLocks noGrp="1"/>
          </p:cNvGraphicFramePr>
          <p:nvPr/>
        </p:nvGraphicFramePr>
        <p:xfrm>
          <a:off x="1437550" y="6006356"/>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endParaRPr lang="en-US"/>
                    </a:p>
                  </a:txBody>
                  <a:tcPr>
                    <a:noFill/>
                  </a:tcPr>
                </a:tc>
                <a:tc>
                  <a:txBody>
                    <a:bodyPr/>
                    <a:lstStyle/>
                    <a:p>
                      <a:endParaRPr lang="en-US" dirty="0"/>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dirty="0"/>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spTree>
    <p:custDataLst>
      <p:tags r:id="rId1"/>
    </p:custDataLst>
    <p:extLst>
      <p:ext uri="{BB962C8B-B14F-4D97-AF65-F5344CB8AC3E}">
        <p14:creationId xmlns:p14="http://schemas.microsoft.com/office/powerpoint/2010/main" val="13354288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Breadth-First Search</a:t>
            </a:r>
          </a:p>
        </p:txBody>
      </p:sp>
      <p:sp>
        <p:nvSpPr>
          <p:cNvPr id="13" name="Slide Number Placeholder 12">
            <a:extLst>
              <a:ext uri="{FF2B5EF4-FFF2-40B4-BE49-F238E27FC236}">
                <a16:creationId xmlns:a16="http://schemas.microsoft.com/office/drawing/2014/main" id="{9B08F0A3-F7EC-49EC-9B38-746FE393263F}"/>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35/110</a:t>
            </a:r>
          </a:p>
        </p:txBody>
      </p:sp>
      <p:cxnSp>
        <p:nvCxnSpPr>
          <p:cNvPr id="3" name="Straight Connector 2"/>
          <p:cNvCxnSpPr>
            <a:stCxn id="12" idx="1"/>
          </p:cNvCxnSpPr>
          <p:nvPr/>
        </p:nvCxnSpPr>
        <p:spPr>
          <a:xfrm flipH="1" flipV="1">
            <a:off x="1097669" y="3734594"/>
            <a:ext cx="2198288" cy="93317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 name="Straight Connector 3"/>
          <p:cNvCxnSpPr>
            <a:stCxn id="7" idx="5"/>
          </p:cNvCxnSpPr>
          <p:nvPr/>
        </p:nvCxnSpPr>
        <p:spPr>
          <a:xfrm>
            <a:off x="2328832" y="3462270"/>
            <a:ext cx="1158049" cy="13377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flipV="1">
            <a:off x="2174848" y="3377774"/>
            <a:ext cx="1856048" cy="24517"/>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1948920" y="3481714"/>
            <a:ext cx="175670" cy="1109474"/>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 name="Oval 16"/>
          <p:cNvSpPr>
            <a:spLocks noChangeArrowheads="1"/>
          </p:cNvSpPr>
          <p:nvPr/>
        </p:nvSpPr>
        <p:spPr bwMode="auto">
          <a:xfrm>
            <a:off x="1957083" y="309052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8" name="Straight Connector 7"/>
          <p:cNvCxnSpPr/>
          <p:nvPr/>
        </p:nvCxnSpPr>
        <p:spPr>
          <a:xfrm flipH="1">
            <a:off x="2120774" y="4800035"/>
            <a:ext cx="1119177" cy="684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a:endCxn id="25" idx="1"/>
          </p:cNvCxnSpPr>
          <p:nvPr/>
        </p:nvCxnSpPr>
        <p:spPr>
          <a:xfrm>
            <a:off x="1167927" y="3936170"/>
            <a:ext cx="563889" cy="8638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686531" y="458227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1" name="Oval 16"/>
          <p:cNvSpPr>
            <a:spLocks noChangeArrowheads="1"/>
          </p:cNvSpPr>
          <p:nvPr/>
        </p:nvSpPr>
        <p:spPr bwMode="auto">
          <a:xfrm>
            <a:off x="796178" y="3610102"/>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2" name="Oval 16"/>
          <p:cNvSpPr>
            <a:spLocks noChangeArrowheads="1"/>
          </p:cNvSpPr>
          <p:nvPr/>
        </p:nvSpPr>
        <p:spPr bwMode="auto">
          <a:xfrm>
            <a:off x="3232175" y="460398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5" name="Straight Connector 14"/>
          <p:cNvCxnSpPr>
            <a:stCxn id="12" idx="7"/>
          </p:cNvCxnSpPr>
          <p:nvPr/>
        </p:nvCxnSpPr>
        <p:spPr>
          <a:xfrm flipV="1">
            <a:off x="3603924" y="3429291"/>
            <a:ext cx="650011" cy="123847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20" idx="6"/>
          </p:cNvCxnSpPr>
          <p:nvPr/>
        </p:nvCxnSpPr>
        <p:spPr>
          <a:xfrm flipV="1">
            <a:off x="4464552" y="3565009"/>
            <a:ext cx="1367969" cy="125700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flipV="1">
            <a:off x="4408532" y="3371173"/>
            <a:ext cx="1353035" cy="6601"/>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4246786" y="3646429"/>
            <a:ext cx="45505" cy="95755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4029021" y="319567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0" name="Oval 16"/>
          <p:cNvSpPr>
            <a:spLocks noChangeArrowheads="1"/>
          </p:cNvSpPr>
          <p:nvPr/>
        </p:nvSpPr>
        <p:spPr bwMode="auto">
          <a:xfrm>
            <a:off x="4029021" y="46042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1" name="Oval 16"/>
          <p:cNvSpPr>
            <a:spLocks noChangeArrowheads="1"/>
          </p:cNvSpPr>
          <p:nvPr/>
        </p:nvSpPr>
        <p:spPr bwMode="auto">
          <a:xfrm>
            <a:off x="5747996" y="318047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TextBox 23"/>
          <p:cNvSpPr txBox="1"/>
          <p:nvPr/>
        </p:nvSpPr>
        <p:spPr>
          <a:xfrm>
            <a:off x="2006372" y="3112381"/>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25" name="TextBox 24"/>
          <p:cNvSpPr txBox="1"/>
          <p:nvPr/>
        </p:nvSpPr>
        <p:spPr>
          <a:xfrm>
            <a:off x="1731816" y="4615369"/>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26" name="TextBox 25"/>
          <p:cNvSpPr txBox="1"/>
          <p:nvPr/>
        </p:nvSpPr>
        <p:spPr>
          <a:xfrm>
            <a:off x="4096606" y="3217625"/>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27" name="Rectangle 26"/>
          <p:cNvSpPr/>
          <p:nvPr/>
        </p:nvSpPr>
        <p:spPr>
          <a:xfrm>
            <a:off x="844245" y="3647774"/>
            <a:ext cx="343364" cy="369332"/>
          </a:xfrm>
          <a:prstGeom prst="rect">
            <a:avLst/>
          </a:prstGeom>
        </p:spPr>
        <p:txBody>
          <a:bodyPr wrap="none">
            <a:spAutoFit/>
          </a:bodyPr>
          <a:lstStyle/>
          <a:p>
            <a:r>
              <a:rPr lang="en-US" b="1" dirty="0">
                <a:solidFill>
                  <a:prstClr val="black"/>
                </a:solidFill>
              </a:rPr>
              <a:t>D</a:t>
            </a:r>
          </a:p>
        </p:txBody>
      </p:sp>
      <p:sp>
        <p:nvSpPr>
          <p:cNvPr id="28" name="Rectangle 27"/>
          <p:cNvSpPr/>
          <p:nvPr/>
        </p:nvSpPr>
        <p:spPr>
          <a:xfrm>
            <a:off x="4076007" y="4647465"/>
            <a:ext cx="304892" cy="369332"/>
          </a:xfrm>
          <a:prstGeom prst="rect">
            <a:avLst/>
          </a:prstGeom>
        </p:spPr>
        <p:txBody>
          <a:bodyPr wrap="none">
            <a:spAutoFit/>
          </a:bodyPr>
          <a:lstStyle/>
          <a:p>
            <a:r>
              <a:rPr lang="en-US" b="1" dirty="0">
                <a:solidFill>
                  <a:prstClr val="black"/>
                </a:solidFill>
              </a:rPr>
              <a:t>F</a:t>
            </a:r>
          </a:p>
        </p:txBody>
      </p:sp>
      <p:sp>
        <p:nvSpPr>
          <p:cNvPr id="29" name="Rectangle 28"/>
          <p:cNvSpPr/>
          <p:nvPr/>
        </p:nvSpPr>
        <p:spPr>
          <a:xfrm>
            <a:off x="5798967" y="3195677"/>
            <a:ext cx="340158" cy="369332"/>
          </a:xfrm>
          <a:prstGeom prst="rect">
            <a:avLst/>
          </a:prstGeom>
        </p:spPr>
        <p:txBody>
          <a:bodyPr wrap="none">
            <a:spAutoFit/>
          </a:bodyPr>
          <a:lstStyle/>
          <a:p>
            <a:r>
              <a:rPr lang="en-US" b="1" dirty="0">
                <a:solidFill>
                  <a:prstClr val="black"/>
                </a:solidFill>
              </a:rPr>
              <a:t>G</a:t>
            </a:r>
          </a:p>
        </p:txBody>
      </p:sp>
      <p:sp>
        <p:nvSpPr>
          <p:cNvPr id="34" name="Rectangle 33"/>
          <p:cNvSpPr/>
          <p:nvPr/>
        </p:nvSpPr>
        <p:spPr>
          <a:xfrm>
            <a:off x="3291957" y="4628920"/>
            <a:ext cx="316112" cy="369332"/>
          </a:xfrm>
          <a:prstGeom prst="rect">
            <a:avLst/>
          </a:prstGeom>
        </p:spPr>
        <p:txBody>
          <a:bodyPr wrap="none">
            <a:spAutoFit/>
          </a:bodyPr>
          <a:lstStyle/>
          <a:p>
            <a:r>
              <a:rPr lang="en-US" b="1" dirty="0">
                <a:solidFill>
                  <a:prstClr val="black"/>
                </a:solidFill>
              </a:rPr>
              <a:t>E</a:t>
            </a:r>
          </a:p>
        </p:txBody>
      </p:sp>
      <p:graphicFrame>
        <p:nvGraphicFramePr>
          <p:cNvPr id="40" name="Table 39"/>
          <p:cNvGraphicFramePr>
            <a:graphicFrameLocks noGrp="1"/>
          </p:cNvGraphicFramePr>
          <p:nvPr>
            <p:extLst>
              <p:ext uri="{D42A27DB-BD31-4B8C-83A1-F6EECF244321}">
                <p14:modId xmlns:p14="http://schemas.microsoft.com/office/powerpoint/2010/main" val="2471776268"/>
              </p:ext>
            </p:extLst>
          </p:nvPr>
        </p:nvGraphicFramePr>
        <p:xfrm>
          <a:off x="7771306" y="2531586"/>
          <a:ext cx="3911787" cy="2966720"/>
        </p:xfrm>
        <a:graphic>
          <a:graphicData uri="http://schemas.openxmlformats.org/drawingml/2006/table">
            <a:tbl>
              <a:tblPr firstRow="1" bandRow="1">
                <a:tableStyleId>{5C22544A-7EE6-4342-B048-85BDC9FD1C3A}</a:tableStyleId>
              </a:tblPr>
              <a:tblGrid>
                <a:gridCol w="1005804">
                  <a:extLst>
                    <a:ext uri="{9D8B030D-6E8A-4147-A177-3AD203B41FA5}">
                      <a16:colId xmlns:a16="http://schemas.microsoft.com/office/drawing/2014/main" val="2989644895"/>
                    </a:ext>
                  </a:extLst>
                </a:gridCol>
                <a:gridCol w="1800527">
                  <a:extLst>
                    <a:ext uri="{9D8B030D-6E8A-4147-A177-3AD203B41FA5}">
                      <a16:colId xmlns:a16="http://schemas.microsoft.com/office/drawing/2014/main" val="4244960412"/>
                    </a:ext>
                  </a:extLst>
                </a:gridCol>
                <a:gridCol w="1105456">
                  <a:extLst>
                    <a:ext uri="{9D8B030D-6E8A-4147-A177-3AD203B41FA5}">
                      <a16:colId xmlns:a16="http://schemas.microsoft.com/office/drawing/2014/main" val="2572560869"/>
                    </a:ext>
                  </a:extLst>
                </a:gridCol>
              </a:tblGrid>
              <a:tr h="370840">
                <a:tc>
                  <a:txBody>
                    <a:bodyPr/>
                    <a:lstStyle/>
                    <a:p>
                      <a:pPr algn="ctr"/>
                      <a:r>
                        <a:rPr lang="en-US" dirty="0"/>
                        <a:t>NODE</a:t>
                      </a:r>
                    </a:p>
                  </a:txBody>
                  <a:tcPr/>
                </a:tc>
                <a:tc>
                  <a:txBody>
                    <a:bodyPr/>
                    <a:lstStyle/>
                    <a:p>
                      <a:pPr algn="ctr"/>
                      <a:r>
                        <a:rPr lang="en-US" dirty="0"/>
                        <a:t>NEIGHBORS</a:t>
                      </a:r>
                    </a:p>
                  </a:txBody>
                  <a:tcPr/>
                </a:tc>
                <a:tc>
                  <a:txBody>
                    <a:bodyPr/>
                    <a:lstStyle/>
                    <a:p>
                      <a:pPr algn="ctr"/>
                      <a:r>
                        <a:rPr lang="en-US" dirty="0"/>
                        <a:t>LABEL</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E,F,G</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F</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205733479"/>
                  </a:ext>
                </a:extLst>
              </a:tr>
            </a:tbl>
          </a:graphicData>
        </a:graphic>
      </p:graphicFrame>
      <p:cxnSp>
        <p:nvCxnSpPr>
          <p:cNvPr id="42" name="Straight Arrow Connector 41"/>
          <p:cNvCxnSpPr/>
          <p:nvPr/>
        </p:nvCxnSpPr>
        <p:spPr>
          <a:xfrm>
            <a:off x="1948920" y="2586178"/>
            <a:ext cx="119848" cy="4163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aphicFrame>
        <p:nvGraphicFramePr>
          <p:cNvPr id="30" name="Table 29"/>
          <p:cNvGraphicFramePr>
            <a:graphicFrameLocks noGrp="1"/>
          </p:cNvGraphicFramePr>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dirty="0"/>
                    </a:p>
                  </a:txBody>
                  <a:tcPr>
                    <a:solidFill>
                      <a:schemeClr val="accent6">
                        <a:lumMod val="60000"/>
                        <a:lumOff val="40000"/>
                      </a:schemeClr>
                    </a:solidFill>
                  </a:tcPr>
                </a:tc>
                <a:tc>
                  <a:txBody>
                    <a:bodyPr/>
                    <a:lstStyle/>
                    <a:p>
                      <a:endParaRPr lang="en-US" dirty="0"/>
                    </a:p>
                  </a:txBody>
                  <a:tcPr>
                    <a:solidFill>
                      <a:schemeClr val="accent6">
                        <a:lumMod val="60000"/>
                        <a:lumOff val="40000"/>
                      </a:schemeClr>
                    </a:solidFill>
                  </a:tcPr>
                </a:tc>
                <a:extLst>
                  <a:ext uri="{0D108BD9-81ED-4DB2-BD59-A6C34878D82A}">
                    <a16:rowId xmlns:a16="http://schemas.microsoft.com/office/drawing/2014/main" val="660647860"/>
                  </a:ext>
                </a:extLst>
              </a:tr>
            </a:tbl>
          </a:graphicData>
        </a:graphic>
      </p:graphicFrame>
      <p:sp>
        <p:nvSpPr>
          <p:cNvPr id="31" name="TextBox 30"/>
          <p:cNvSpPr txBox="1"/>
          <p:nvPr/>
        </p:nvSpPr>
        <p:spPr>
          <a:xfrm>
            <a:off x="965262" y="5554545"/>
            <a:ext cx="418704" cy="461665"/>
          </a:xfrm>
          <a:prstGeom prst="rect">
            <a:avLst/>
          </a:prstGeom>
          <a:noFill/>
        </p:spPr>
        <p:txBody>
          <a:bodyPr wrap="none" rtlCol="0">
            <a:spAutoFit/>
          </a:bodyPr>
          <a:lstStyle/>
          <a:p>
            <a:r>
              <a:rPr lang="en-US" sz="2400" b="1" dirty="0">
                <a:effectLst>
                  <a:outerShdw blurRad="38100" dist="38100" dir="2700000" algn="tl">
                    <a:srgbClr val="000000">
                      <a:alpha val="43137"/>
                    </a:srgbClr>
                  </a:outerShdw>
                </a:effectLst>
              </a:rPr>
              <a:t>Q</a:t>
            </a:r>
          </a:p>
        </p:txBody>
      </p:sp>
      <p:cxnSp>
        <p:nvCxnSpPr>
          <p:cNvPr id="32" name="Straight Connector 31"/>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3" name="Table 32"/>
          <p:cNvGraphicFramePr>
            <a:graphicFrameLocks noGrp="1"/>
          </p:cNvGraphicFramePr>
          <p:nvPr/>
        </p:nvGraphicFramePr>
        <p:xfrm>
          <a:off x="1437550" y="6006356"/>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endParaRPr lang="en-US"/>
                    </a:p>
                  </a:txBody>
                  <a:tcPr>
                    <a:noFill/>
                  </a:tcPr>
                </a:tc>
                <a:tc>
                  <a:txBody>
                    <a:bodyPr/>
                    <a:lstStyle/>
                    <a:p>
                      <a:endParaRPr lang="en-US" dirty="0"/>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dirty="0"/>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sp>
        <p:nvSpPr>
          <p:cNvPr id="35" name="Rectangle 34"/>
          <p:cNvSpPr/>
          <p:nvPr/>
        </p:nvSpPr>
        <p:spPr>
          <a:xfrm>
            <a:off x="10935969" y="2833056"/>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Tree>
    <p:custDataLst>
      <p:tags r:id="rId1"/>
    </p:custDataLst>
    <p:extLst>
      <p:ext uri="{BB962C8B-B14F-4D97-AF65-F5344CB8AC3E}">
        <p14:creationId xmlns:p14="http://schemas.microsoft.com/office/powerpoint/2010/main" val="26835036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Breadth-First Search</a:t>
            </a:r>
          </a:p>
        </p:txBody>
      </p:sp>
      <p:sp>
        <p:nvSpPr>
          <p:cNvPr id="13" name="Slide Number Placeholder 12">
            <a:extLst>
              <a:ext uri="{FF2B5EF4-FFF2-40B4-BE49-F238E27FC236}">
                <a16:creationId xmlns:a16="http://schemas.microsoft.com/office/drawing/2014/main" id="{4E50A171-BC38-44ED-9E76-6F60DA8BD7FE}"/>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36/110</a:t>
            </a:r>
          </a:p>
        </p:txBody>
      </p:sp>
      <p:cxnSp>
        <p:nvCxnSpPr>
          <p:cNvPr id="3" name="Straight Connector 2"/>
          <p:cNvCxnSpPr>
            <a:stCxn id="12" idx="1"/>
          </p:cNvCxnSpPr>
          <p:nvPr/>
        </p:nvCxnSpPr>
        <p:spPr>
          <a:xfrm flipH="1" flipV="1">
            <a:off x="1097669" y="3734594"/>
            <a:ext cx="2198288" cy="93317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 name="Straight Connector 3"/>
          <p:cNvCxnSpPr>
            <a:stCxn id="7" idx="5"/>
          </p:cNvCxnSpPr>
          <p:nvPr/>
        </p:nvCxnSpPr>
        <p:spPr>
          <a:xfrm>
            <a:off x="2328832" y="3462270"/>
            <a:ext cx="1158049" cy="13377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flipV="1">
            <a:off x="2174848" y="3377774"/>
            <a:ext cx="1856048" cy="24517"/>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1948920" y="3481714"/>
            <a:ext cx="175670" cy="1109474"/>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 name="Oval 16"/>
          <p:cNvSpPr>
            <a:spLocks noChangeArrowheads="1"/>
          </p:cNvSpPr>
          <p:nvPr/>
        </p:nvSpPr>
        <p:spPr bwMode="auto">
          <a:xfrm>
            <a:off x="1957083" y="309052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8" name="Straight Connector 7"/>
          <p:cNvCxnSpPr/>
          <p:nvPr/>
        </p:nvCxnSpPr>
        <p:spPr>
          <a:xfrm flipH="1">
            <a:off x="2120774" y="4800035"/>
            <a:ext cx="1119177" cy="684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a:endCxn id="25" idx="1"/>
          </p:cNvCxnSpPr>
          <p:nvPr/>
        </p:nvCxnSpPr>
        <p:spPr>
          <a:xfrm>
            <a:off x="1167927" y="3936170"/>
            <a:ext cx="563889" cy="8638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686531" y="458227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1" name="Oval 16"/>
          <p:cNvSpPr>
            <a:spLocks noChangeArrowheads="1"/>
          </p:cNvSpPr>
          <p:nvPr/>
        </p:nvSpPr>
        <p:spPr bwMode="auto">
          <a:xfrm>
            <a:off x="796178" y="3610102"/>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2" name="Oval 16"/>
          <p:cNvSpPr>
            <a:spLocks noChangeArrowheads="1"/>
          </p:cNvSpPr>
          <p:nvPr/>
        </p:nvSpPr>
        <p:spPr bwMode="auto">
          <a:xfrm>
            <a:off x="3232175" y="460398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5" name="Straight Connector 14"/>
          <p:cNvCxnSpPr>
            <a:stCxn id="12" idx="7"/>
          </p:cNvCxnSpPr>
          <p:nvPr/>
        </p:nvCxnSpPr>
        <p:spPr>
          <a:xfrm flipV="1">
            <a:off x="3603924" y="3429291"/>
            <a:ext cx="650011" cy="123847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20" idx="6"/>
          </p:cNvCxnSpPr>
          <p:nvPr/>
        </p:nvCxnSpPr>
        <p:spPr>
          <a:xfrm flipV="1">
            <a:off x="4464552" y="3565009"/>
            <a:ext cx="1367969" cy="125700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flipV="1">
            <a:off x="4408532" y="3371173"/>
            <a:ext cx="1353035" cy="6601"/>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4246786" y="3646429"/>
            <a:ext cx="45505" cy="95755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4029021" y="319567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0" name="Oval 16"/>
          <p:cNvSpPr>
            <a:spLocks noChangeArrowheads="1"/>
          </p:cNvSpPr>
          <p:nvPr/>
        </p:nvSpPr>
        <p:spPr bwMode="auto">
          <a:xfrm>
            <a:off x="4029021" y="46042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1" name="Oval 16"/>
          <p:cNvSpPr>
            <a:spLocks noChangeArrowheads="1"/>
          </p:cNvSpPr>
          <p:nvPr/>
        </p:nvSpPr>
        <p:spPr bwMode="auto">
          <a:xfrm>
            <a:off x="5747996" y="318047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TextBox 23"/>
          <p:cNvSpPr txBox="1"/>
          <p:nvPr/>
        </p:nvSpPr>
        <p:spPr>
          <a:xfrm>
            <a:off x="2006372" y="3112381"/>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25" name="TextBox 24"/>
          <p:cNvSpPr txBox="1"/>
          <p:nvPr/>
        </p:nvSpPr>
        <p:spPr>
          <a:xfrm>
            <a:off x="1731816" y="4615369"/>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26" name="TextBox 25"/>
          <p:cNvSpPr txBox="1"/>
          <p:nvPr/>
        </p:nvSpPr>
        <p:spPr>
          <a:xfrm>
            <a:off x="4096606" y="3217625"/>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27" name="Rectangle 26"/>
          <p:cNvSpPr/>
          <p:nvPr/>
        </p:nvSpPr>
        <p:spPr>
          <a:xfrm>
            <a:off x="844245" y="3647774"/>
            <a:ext cx="343364" cy="369332"/>
          </a:xfrm>
          <a:prstGeom prst="rect">
            <a:avLst/>
          </a:prstGeom>
        </p:spPr>
        <p:txBody>
          <a:bodyPr wrap="none">
            <a:spAutoFit/>
          </a:bodyPr>
          <a:lstStyle/>
          <a:p>
            <a:r>
              <a:rPr lang="en-US" b="1" dirty="0">
                <a:solidFill>
                  <a:prstClr val="black"/>
                </a:solidFill>
              </a:rPr>
              <a:t>D</a:t>
            </a:r>
          </a:p>
        </p:txBody>
      </p:sp>
      <p:sp>
        <p:nvSpPr>
          <p:cNvPr id="28" name="Rectangle 27"/>
          <p:cNvSpPr/>
          <p:nvPr/>
        </p:nvSpPr>
        <p:spPr>
          <a:xfrm>
            <a:off x="4076007" y="4647465"/>
            <a:ext cx="304892" cy="369332"/>
          </a:xfrm>
          <a:prstGeom prst="rect">
            <a:avLst/>
          </a:prstGeom>
        </p:spPr>
        <p:txBody>
          <a:bodyPr wrap="none">
            <a:spAutoFit/>
          </a:bodyPr>
          <a:lstStyle/>
          <a:p>
            <a:r>
              <a:rPr lang="en-US" b="1" dirty="0">
                <a:solidFill>
                  <a:prstClr val="black"/>
                </a:solidFill>
              </a:rPr>
              <a:t>F</a:t>
            </a:r>
          </a:p>
        </p:txBody>
      </p:sp>
      <p:sp>
        <p:nvSpPr>
          <p:cNvPr id="29" name="Rectangle 28"/>
          <p:cNvSpPr/>
          <p:nvPr/>
        </p:nvSpPr>
        <p:spPr>
          <a:xfrm>
            <a:off x="5798967" y="3195677"/>
            <a:ext cx="340158" cy="369332"/>
          </a:xfrm>
          <a:prstGeom prst="rect">
            <a:avLst/>
          </a:prstGeom>
        </p:spPr>
        <p:txBody>
          <a:bodyPr wrap="none">
            <a:spAutoFit/>
          </a:bodyPr>
          <a:lstStyle/>
          <a:p>
            <a:r>
              <a:rPr lang="en-US" b="1" dirty="0">
                <a:solidFill>
                  <a:prstClr val="black"/>
                </a:solidFill>
              </a:rPr>
              <a:t>G</a:t>
            </a:r>
          </a:p>
        </p:txBody>
      </p:sp>
      <p:sp>
        <p:nvSpPr>
          <p:cNvPr id="34" name="Rectangle 33"/>
          <p:cNvSpPr/>
          <p:nvPr/>
        </p:nvSpPr>
        <p:spPr>
          <a:xfrm>
            <a:off x="3291957" y="4628920"/>
            <a:ext cx="316112" cy="369332"/>
          </a:xfrm>
          <a:prstGeom prst="rect">
            <a:avLst/>
          </a:prstGeom>
        </p:spPr>
        <p:txBody>
          <a:bodyPr wrap="none">
            <a:spAutoFit/>
          </a:bodyPr>
          <a:lstStyle/>
          <a:p>
            <a:r>
              <a:rPr lang="en-US" b="1" dirty="0">
                <a:solidFill>
                  <a:prstClr val="black"/>
                </a:solidFill>
              </a:rPr>
              <a:t>E</a:t>
            </a:r>
          </a:p>
        </p:txBody>
      </p:sp>
      <p:graphicFrame>
        <p:nvGraphicFramePr>
          <p:cNvPr id="40" name="Table 39"/>
          <p:cNvGraphicFramePr>
            <a:graphicFrameLocks noGrp="1"/>
          </p:cNvGraphicFramePr>
          <p:nvPr>
            <p:extLst>
              <p:ext uri="{D42A27DB-BD31-4B8C-83A1-F6EECF244321}">
                <p14:modId xmlns:p14="http://schemas.microsoft.com/office/powerpoint/2010/main" val="2233118447"/>
              </p:ext>
            </p:extLst>
          </p:nvPr>
        </p:nvGraphicFramePr>
        <p:xfrm>
          <a:off x="7771306" y="2531586"/>
          <a:ext cx="3928115" cy="2966720"/>
        </p:xfrm>
        <a:graphic>
          <a:graphicData uri="http://schemas.openxmlformats.org/drawingml/2006/table">
            <a:tbl>
              <a:tblPr firstRow="1" bandRow="1">
                <a:tableStyleId>{5C22544A-7EE6-4342-B048-85BDC9FD1C3A}</a:tableStyleId>
              </a:tblPr>
              <a:tblGrid>
                <a:gridCol w="1010003">
                  <a:extLst>
                    <a:ext uri="{9D8B030D-6E8A-4147-A177-3AD203B41FA5}">
                      <a16:colId xmlns:a16="http://schemas.microsoft.com/office/drawing/2014/main" val="2989644895"/>
                    </a:ext>
                  </a:extLst>
                </a:gridCol>
                <a:gridCol w="1808042">
                  <a:extLst>
                    <a:ext uri="{9D8B030D-6E8A-4147-A177-3AD203B41FA5}">
                      <a16:colId xmlns:a16="http://schemas.microsoft.com/office/drawing/2014/main" val="4244960412"/>
                    </a:ext>
                  </a:extLst>
                </a:gridCol>
                <a:gridCol w="1110070">
                  <a:extLst>
                    <a:ext uri="{9D8B030D-6E8A-4147-A177-3AD203B41FA5}">
                      <a16:colId xmlns:a16="http://schemas.microsoft.com/office/drawing/2014/main" val="2572560869"/>
                    </a:ext>
                  </a:extLst>
                </a:gridCol>
              </a:tblGrid>
              <a:tr h="370840">
                <a:tc>
                  <a:txBody>
                    <a:bodyPr/>
                    <a:lstStyle/>
                    <a:p>
                      <a:pPr algn="ctr"/>
                      <a:r>
                        <a:rPr lang="en-US" dirty="0"/>
                        <a:t>NODE</a:t>
                      </a:r>
                    </a:p>
                  </a:txBody>
                  <a:tcPr/>
                </a:tc>
                <a:tc>
                  <a:txBody>
                    <a:bodyPr/>
                    <a:lstStyle/>
                    <a:p>
                      <a:pPr algn="ctr"/>
                      <a:r>
                        <a:rPr lang="en-US" dirty="0"/>
                        <a:t>NEIGHBORS</a:t>
                      </a:r>
                    </a:p>
                  </a:txBody>
                  <a:tcPr/>
                </a:tc>
                <a:tc>
                  <a:txBody>
                    <a:bodyPr/>
                    <a:lstStyle/>
                    <a:p>
                      <a:pPr algn="ctr"/>
                      <a:r>
                        <a:rPr lang="en-US" dirty="0"/>
                        <a:t>LABEL</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E,F,G</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F</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205733479"/>
                  </a:ext>
                </a:extLst>
              </a:tr>
            </a:tbl>
          </a:graphicData>
        </a:graphic>
      </p:graphicFrame>
      <p:cxnSp>
        <p:nvCxnSpPr>
          <p:cNvPr id="42" name="Straight Arrow Connector 41"/>
          <p:cNvCxnSpPr/>
          <p:nvPr/>
        </p:nvCxnSpPr>
        <p:spPr>
          <a:xfrm>
            <a:off x="1948920" y="2586178"/>
            <a:ext cx="119848" cy="4163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aphicFrame>
        <p:nvGraphicFramePr>
          <p:cNvPr id="30" name="Table 29"/>
          <p:cNvGraphicFramePr>
            <a:graphicFrameLocks noGrp="1"/>
          </p:cNvGraphicFramePr>
          <p:nvPr>
            <p:extLst>
              <p:ext uri="{D42A27DB-BD31-4B8C-83A1-F6EECF244321}">
                <p14:modId xmlns:p14="http://schemas.microsoft.com/office/powerpoint/2010/main" val="4251088941"/>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dirty="0"/>
                    </a:p>
                  </a:txBody>
                  <a:tcPr>
                    <a:solidFill>
                      <a:schemeClr val="accent6">
                        <a:lumMod val="60000"/>
                        <a:lumOff val="40000"/>
                      </a:schemeClr>
                    </a:solidFill>
                  </a:tcPr>
                </a:tc>
                <a:tc>
                  <a:txBody>
                    <a:bodyPr/>
                    <a:lstStyle/>
                    <a:p>
                      <a:endParaRPr lang="en-US" dirty="0"/>
                    </a:p>
                  </a:txBody>
                  <a:tcPr>
                    <a:solidFill>
                      <a:schemeClr val="accent6">
                        <a:lumMod val="60000"/>
                        <a:lumOff val="40000"/>
                      </a:schemeClr>
                    </a:solidFill>
                  </a:tcPr>
                </a:tc>
                <a:extLst>
                  <a:ext uri="{0D108BD9-81ED-4DB2-BD59-A6C34878D82A}">
                    <a16:rowId xmlns:a16="http://schemas.microsoft.com/office/drawing/2014/main" val="660647860"/>
                  </a:ext>
                </a:extLst>
              </a:tr>
            </a:tbl>
          </a:graphicData>
        </a:graphic>
      </p:graphicFrame>
      <p:sp>
        <p:nvSpPr>
          <p:cNvPr id="31" name="TextBox 30"/>
          <p:cNvSpPr txBox="1"/>
          <p:nvPr/>
        </p:nvSpPr>
        <p:spPr>
          <a:xfrm>
            <a:off x="965262" y="5554545"/>
            <a:ext cx="418704" cy="461665"/>
          </a:xfrm>
          <a:prstGeom prst="rect">
            <a:avLst/>
          </a:prstGeom>
          <a:noFill/>
        </p:spPr>
        <p:txBody>
          <a:bodyPr wrap="none" rtlCol="0">
            <a:spAutoFit/>
          </a:bodyPr>
          <a:lstStyle/>
          <a:p>
            <a:r>
              <a:rPr lang="en-US" sz="2400" b="1" dirty="0">
                <a:effectLst>
                  <a:outerShdw blurRad="38100" dist="38100" dir="2700000" algn="tl">
                    <a:srgbClr val="000000">
                      <a:alpha val="43137"/>
                    </a:srgbClr>
                  </a:outerShdw>
                </a:effectLst>
              </a:rPr>
              <a:t>Q</a:t>
            </a:r>
          </a:p>
        </p:txBody>
      </p:sp>
      <p:cxnSp>
        <p:nvCxnSpPr>
          <p:cNvPr id="32" name="Straight Connector 31"/>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3" name="Table 32"/>
          <p:cNvGraphicFramePr>
            <a:graphicFrameLocks noGrp="1"/>
          </p:cNvGraphicFramePr>
          <p:nvPr/>
        </p:nvGraphicFramePr>
        <p:xfrm>
          <a:off x="1437550" y="6006356"/>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endParaRPr lang="en-US" dirty="0">
                        <a:solidFill>
                          <a:schemeClr val="tx1"/>
                        </a:solidFill>
                      </a:endParaRPr>
                    </a:p>
                  </a:txBody>
                  <a:tcPr>
                    <a:noFill/>
                  </a:tcPr>
                </a:tc>
                <a:tc>
                  <a:txBody>
                    <a:bodyPr/>
                    <a:lstStyle/>
                    <a:p>
                      <a:endParaRPr lang="en-US"/>
                    </a:p>
                  </a:txBody>
                  <a:tcPr>
                    <a:noFill/>
                  </a:tcPr>
                </a:tc>
                <a:tc>
                  <a:txBody>
                    <a:bodyPr/>
                    <a:lstStyle/>
                    <a:p>
                      <a:endParaRPr lang="en-US" dirty="0"/>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dirty="0"/>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sp>
        <p:nvSpPr>
          <p:cNvPr id="35" name="Rectangle 34"/>
          <p:cNvSpPr/>
          <p:nvPr/>
        </p:nvSpPr>
        <p:spPr>
          <a:xfrm>
            <a:off x="10872276" y="2844225"/>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grpSp>
        <p:nvGrpSpPr>
          <p:cNvPr id="37" name="Group 36">
            <a:extLst>
              <a:ext uri="{FF2B5EF4-FFF2-40B4-BE49-F238E27FC236}">
                <a16:creationId xmlns:a16="http://schemas.microsoft.com/office/drawing/2014/main" id="{54F5E455-566C-46B1-B588-541A60BE8680}"/>
              </a:ext>
            </a:extLst>
          </p:cNvPr>
          <p:cNvGrpSpPr/>
          <p:nvPr/>
        </p:nvGrpSpPr>
        <p:grpSpPr>
          <a:xfrm>
            <a:off x="1437550" y="5599958"/>
            <a:ext cx="511370" cy="356179"/>
            <a:chOff x="1437550" y="5599958"/>
            <a:chExt cx="511370" cy="356179"/>
          </a:xfrm>
        </p:grpSpPr>
        <p:cxnSp>
          <p:nvCxnSpPr>
            <p:cNvPr id="22" name="Straight Connector 21">
              <a:extLst>
                <a:ext uri="{FF2B5EF4-FFF2-40B4-BE49-F238E27FC236}">
                  <a16:creationId xmlns:a16="http://schemas.microsoft.com/office/drawing/2014/main" id="{73276262-A16B-4169-B299-31ED6836B7E1}"/>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0DB38B8-E73D-409D-A148-32E5EC93040F}"/>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13083583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Breadth-First Search</a:t>
            </a:r>
          </a:p>
        </p:txBody>
      </p:sp>
      <p:sp>
        <p:nvSpPr>
          <p:cNvPr id="13" name="Slide Number Placeholder 12">
            <a:extLst>
              <a:ext uri="{FF2B5EF4-FFF2-40B4-BE49-F238E27FC236}">
                <a16:creationId xmlns:a16="http://schemas.microsoft.com/office/drawing/2014/main" id="{DDE0EE1F-BC3C-4A04-85C0-51662AA4C3F4}"/>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37/110</a:t>
            </a:r>
          </a:p>
        </p:txBody>
      </p:sp>
      <p:cxnSp>
        <p:nvCxnSpPr>
          <p:cNvPr id="3" name="Straight Connector 2"/>
          <p:cNvCxnSpPr>
            <a:stCxn id="12" idx="1"/>
          </p:cNvCxnSpPr>
          <p:nvPr/>
        </p:nvCxnSpPr>
        <p:spPr>
          <a:xfrm flipH="1" flipV="1">
            <a:off x="1097669" y="3734594"/>
            <a:ext cx="2198288" cy="93317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 name="Straight Connector 3"/>
          <p:cNvCxnSpPr>
            <a:stCxn id="7" idx="5"/>
          </p:cNvCxnSpPr>
          <p:nvPr/>
        </p:nvCxnSpPr>
        <p:spPr>
          <a:xfrm>
            <a:off x="2328832" y="3462270"/>
            <a:ext cx="1158049" cy="13377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flipV="1">
            <a:off x="2174848" y="3377774"/>
            <a:ext cx="1856048" cy="24517"/>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1948920" y="3481714"/>
            <a:ext cx="175670" cy="1109474"/>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 name="Oval 16"/>
          <p:cNvSpPr>
            <a:spLocks noChangeArrowheads="1"/>
          </p:cNvSpPr>
          <p:nvPr/>
        </p:nvSpPr>
        <p:spPr bwMode="auto">
          <a:xfrm>
            <a:off x="1957083" y="309052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8" name="Straight Connector 7"/>
          <p:cNvCxnSpPr/>
          <p:nvPr/>
        </p:nvCxnSpPr>
        <p:spPr>
          <a:xfrm flipH="1">
            <a:off x="2120774" y="4800035"/>
            <a:ext cx="1119177" cy="684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a:endCxn id="25" idx="1"/>
          </p:cNvCxnSpPr>
          <p:nvPr/>
        </p:nvCxnSpPr>
        <p:spPr>
          <a:xfrm>
            <a:off x="1167927" y="3936170"/>
            <a:ext cx="563889" cy="8638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686531" y="458227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1" name="Oval 16"/>
          <p:cNvSpPr>
            <a:spLocks noChangeArrowheads="1"/>
          </p:cNvSpPr>
          <p:nvPr/>
        </p:nvSpPr>
        <p:spPr bwMode="auto">
          <a:xfrm>
            <a:off x="796178" y="3610102"/>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2" name="Oval 16"/>
          <p:cNvSpPr>
            <a:spLocks noChangeArrowheads="1"/>
          </p:cNvSpPr>
          <p:nvPr/>
        </p:nvSpPr>
        <p:spPr bwMode="auto">
          <a:xfrm>
            <a:off x="3232175" y="460398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5" name="Straight Connector 14"/>
          <p:cNvCxnSpPr>
            <a:stCxn id="12" idx="7"/>
          </p:cNvCxnSpPr>
          <p:nvPr/>
        </p:nvCxnSpPr>
        <p:spPr>
          <a:xfrm flipV="1">
            <a:off x="3603924" y="3429291"/>
            <a:ext cx="650011" cy="123847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20" idx="6"/>
          </p:cNvCxnSpPr>
          <p:nvPr/>
        </p:nvCxnSpPr>
        <p:spPr>
          <a:xfrm flipV="1">
            <a:off x="4464552" y="3565009"/>
            <a:ext cx="1367969" cy="125700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flipV="1">
            <a:off x="4408532" y="3371173"/>
            <a:ext cx="1353035" cy="6601"/>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4246786" y="3646429"/>
            <a:ext cx="45505" cy="95755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4029021" y="319567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0" name="Oval 16"/>
          <p:cNvSpPr>
            <a:spLocks noChangeArrowheads="1"/>
          </p:cNvSpPr>
          <p:nvPr/>
        </p:nvSpPr>
        <p:spPr bwMode="auto">
          <a:xfrm>
            <a:off x="4029021" y="46042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1" name="Oval 16"/>
          <p:cNvSpPr>
            <a:spLocks noChangeArrowheads="1"/>
          </p:cNvSpPr>
          <p:nvPr/>
        </p:nvSpPr>
        <p:spPr bwMode="auto">
          <a:xfrm>
            <a:off x="5747996" y="318047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TextBox 23"/>
          <p:cNvSpPr txBox="1"/>
          <p:nvPr/>
        </p:nvSpPr>
        <p:spPr>
          <a:xfrm>
            <a:off x="2006372" y="3112381"/>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25" name="TextBox 24"/>
          <p:cNvSpPr txBox="1"/>
          <p:nvPr/>
        </p:nvSpPr>
        <p:spPr>
          <a:xfrm>
            <a:off x="1731816" y="4615369"/>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26" name="TextBox 25"/>
          <p:cNvSpPr txBox="1"/>
          <p:nvPr/>
        </p:nvSpPr>
        <p:spPr>
          <a:xfrm>
            <a:off x="4096606" y="3217625"/>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27" name="Rectangle 26"/>
          <p:cNvSpPr/>
          <p:nvPr/>
        </p:nvSpPr>
        <p:spPr>
          <a:xfrm>
            <a:off x="844245" y="3647774"/>
            <a:ext cx="343364" cy="369332"/>
          </a:xfrm>
          <a:prstGeom prst="rect">
            <a:avLst/>
          </a:prstGeom>
        </p:spPr>
        <p:txBody>
          <a:bodyPr wrap="none">
            <a:spAutoFit/>
          </a:bodyPr>
          <a:lstStyle/>
          <a:p>
            <a:r>
              <a:rPr lang="en-US" b="1" dirty="0">
                <a:solidFill>
                  <a:prstClr val="black"/>
                </a:solidFill>
              </a:rPr>
              <a:t>D</a:t>
            </a:r>
          </a:p>
        </p:txBody>
      </p:sp>
      <p:sp>
        <p:nvSpPr>
          <p:cNvPr id="28" name="Rectangle 27"/>
          <p:cNvSpPr/>
          <p:nvPr/>
        </p:nvSpPr>
        <p:spPr>
          <a:xfrm>
            <a:off x="4076007" y="4647465"/>
            <a:ext cx="304892" cy="369332"/>
          </a:xfrm>
          <a:prstGeom prst="rect">
            <a:avLst/>
          </a:prstGeom>
        </p:spPr>
        <p:txBody>
          <a:bodyPr wrap="none">
            <a:spAutoFit/>
          </a:bodyPr>
          <a:lstStyle/>
          <a:p>
            <a:r>
              <a:rPr lang="en-US" b="1" dirty="0">
                <a:solidFill>
                  <a:prstClr val="black"/>
                </a:solidFill>
              </a:rPr>
              <a:t>F</a:t>
            </a:r>
          </a:p>
        </p:txBody>
      </p:sp>
      <p:sp>
        <p:nvSpPr>
          <p:cNvPr id="29" name="Rectangle 28"/>
          <p:cNvSpPr/>
          <p:nvPr/>
        </p:nvSpPr>
        <p:spPr>
          <a:xfrm>
            <a:off x="5798967" y="3195677"/>
            <a:ext cx="340158" cy="369332"/>
          </a:xfrm>
          <a:prstGeom prst="rect">
            <a:avLst/>
          </a:prstGeom>
        </p:spPr>
        <p:txBody>
          <a:bodyPr wrap="none">
            <a:spAutoFit/>
          </a:bodyPr>
          <a:lstStyle/>
          <a:p>
            <a:r>
              <a:rPr lang="en-US" b="1" dirty="0">
                <a:solidFill>
                  <a:prstClr val="black"/>
                </a:solidFill>
              </a:rPr>
              <a:t>G</a:t>
            </a:r>
          </a:p>
        </p:txBody>
      </p:sp>
      <p:sp>
        <p:nvSpPr>
          <p:cNvPr id="34" name="Rectangle 33"/>
          <p:cNvSpPr/>
          <p:nvPr/>
        </p:nvSpPr>
        <p:spPr>
          <a:xfrm>
            <a:off x="3291957" y="4628920"/>
            <a:ext cx="316112" cy="369332"/>
          </a:xfrm>
          <a:prstGeom prst="rect">
            <a:avLst/>
          </a:prstGeom>
        </p:spPr>
        <p:txBody>
          <a:bodyPr wrap="none">
            <a:spAutoFit/>
          </a:bodyPr>
          <a:lstStyle/>
          <a:p>
            <a:r>
              <a:rPr lang="en-US" b="1" dirty="0">
                <a:solidFill>
                  <a:prstClr val="black"/>
                </a:solidFill>
              </a:rPr>
              <a:t>E</a:t>
            </a:r>
          </a:p>
        </p:txBody>
      </p:sp>
      <p:graphicFrame>
        <p:nvGraphicFramePr>
          <p:cNvPr id="40" name="Table 39"/>
          <p:cNvGraphicFramePr>
            <a:graphicFrameLocks noGrp="1"/>
          </p:cNvGraphicFramePr>
          <p:nvPr>
            <p:extLst>
              <p:ext uri="{D42A27DB-BD31-4B8C-83A1-F6EECF244321}">
                <p14:modId xmlns:p14="http://schemas.microsoft.com/office/powerpoint/2010/main" val="1221210957"/>
              </p:ext>
            </p:extLst>
          </p:nvPr>
        </p:nvGraphicFramePr>
        <p:xfrm>
          <a:off x="7771306" y="2531586"/>
          <a:ext cx="3952608" cy="2966720"/>
        </p:xfrm>
        <a:graphic>
          <a:graphicData uri="http://schemas.openxmlformats.org/drawingml/2006/table">
            <a:tbl>
              <a:tblPr firstRow="1" bandRow="1">
                <a:tableStyleId>{5C22544A-7EE6-4342-B048-85BDC9FD1C3A}</a:tableStyleId>
              </a:tblPr>
              <a:tblGrid>
                <a:gridCol w="1016300">
                  <a:extLst>
                    <a:ext uri="{9D8B030D-6E8A-4147-A177-3AD203B41FA5}">
                      <a16:colId xmlns:a16="http://schemas.microsoft.com/office/drawing/2014/main" val="2989644895"/>
                    </a:ext>
                  </a:extLst>
                </a:gridCol>
                <a:gridCol w="1819316">
                  <a:extLst>
                    <a:ext uri="{9D8B030D-6E8A-4147-A177-3AD203B41FA5}">
                      <a16:colId xmlns:a16="http://schemas.microsoft.com/office/drawing/2014/main" val="4244960412"/>
                    </a:ext>
                  </a:extLst>
                </a:gridCol>
                <a:gridCol w="1116992">
                  <a:extLst>
                    <a:ext uri="{9D8B030D-6E8A-4147-A177-3AD203B41FA5}">
                      <a16:colId xmlns:a16="http://schemas.microsoft.com/office/drawing/2014/main" val="2572560869"/>
                    </a:ext>
                  </a:extLst>
                </a:gridCol>
              </a:tblGrid>
              <a:tr h="370840">
                <a:tc>
                  <a:txBody>
                    <a:bodyPr/>
                    <a:lstStyle/>
                    <a:p>
                      <a:pPr algn="ctr"/>
                      <a:r>
                        <a:rPr lang="en-US" dirty="0"/>
                        <a:t>NODE</a:t>
                      </a:r>
                    </a:p>
                  </a:txBody>
                  <a:tcPr/>
                </a:tc>
                <a:tc>
                  <a:txBody>
                    <a:bodyPr/>
                    <a:lstStyle/>
                    <a:p>
                      <a:pPr algn="ctr"/>
                      <a:r>
                        <a:rPr lang="en-US" dirty="0"/>
                        <a:t>NEIGHBORS</a:t>
                      </a:r>
                    </a:p>
                  </a:txBody>
                  <a:tcPr/>
                </a:tc>
                <a:tc>
                  <a:txBody>
                    <a:bodyPr/>
                    <a:lstStyle/>
                    <a:p>
                      <a:pPr algn="ctr"/>
                      <a:r>
                        <a:rPr lang="en-US" dirty="0"/>
                        <a:t>LABEL</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E,F,G</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F</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205733479"/>
                  </a:ext>
                </a:extLst>
              </a:tr>
            </a:tbl>
          </a:graphicData>
        </a:graphic>
      </p:graphicFrame>
      <p:cxnSp>
        <p:nvCxnSpPr>
          <p:cNvPr id="42" name="Straight Arrow Connector 41"/>
          <p:cNvCxnSpPr/>
          <p:nvPr/>
        </p:nvCxnSpPr>
        <p:spPr>
          <a:xfrm>
            <a:off x="1948920" y="2586178"/>
            <a:ext cx="119848" cy="4163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aphicFrame>
        <p:nvGraphicFramePr>
          <p:cNvPr id="30" name="Table 29"/>
          <p:cNvGraphicFramePr>
            <a:graphicFrameLocks noGrp="1"/>
          </p:cNvGraphicFramePr>
          <p:nvPr>
            <p:extLst>
              <p:ext uri="{D42A27DB-BD31-4B8C-83A1-F6EECF244321}">
                <p14:modId xmlns:p14="http://schemas.microsoft.com/office/powerpoint/2010/main" val="1982507749"/>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r>
                        <a:rPr lang="en-US" dirty="0">
                          <a:solidFill>
                            <a:schemeClr val="tx1"/>
                          </a:solidFill>
                        </a:rPr>
                        <a:t>C</a:t>
                      </a:r>
                    </a:p>
                  </a:txBody>
                  <a:tcPr>
                    <a:solidFill>
                      <a:schemeClr val="accent6">
                        <a:lumMod val="60000"/>
                        <a:lumOff val="40000"/>
                      </a:schemeClr>
                    </a:solidFill>
                  </a:tcPr>
                </a:tc>
                <a:tc>
                  <a:txBody>
                    <a:bodyPr/>
                    <a:lstStyle/>
                    <a:p>
                      <a:pPr algn="ctr"/>
                      <a:r>
                        <a:rPr lang="en-US" dirty="0">
                          <a:solidFill>
                            <a:schemeClr val="tx1"/>
                          </a:solidFill>
                        </a:rPr>
                        <a:t>B</a:t>
                      </a:r>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dirty="0"/>
                    </a:p>
                  </a:txBody>
                  <a:tcPr>
                    <a:solidFill>
                      <a:schemeClr val="accent6">
                        <a:lumMod val="60000"/>
                        <a:lumOff val="40000"/>
                      </a:schemeClr>
                    </a:solidFill>
                  </a:tcPr>
                </a:tc>
                <a:tc>
                  <a:txBody>
                    <a:bodyPr/>
                    <a:lstStyle/>
                    <a:p>
                      <a:endParaRPr lang="en-US" dirty="0"/>
                    </a:p>
                  </a:txBody>
                  <a:tcPr>
                    <a:solidFill>
                      <a:schemeClr val="accent6">
                        <a:lumMod val="60000"/>
                        <a:lumOff val="40000"/>
                      </a:schemeClr>
                    </a:solidFill>
                  </a:tcPr>
                </a:tc>
                <a:extLst>
                  <a:ext uri="{0D108BD9-81ED-4DB2-BD59-A6C34878D82A}">
                    <a16:rowId xmlns:a16="http://schemas.microsoft.com/office/drawing/2014/main" val="660647860"/>
                  </a:ext>
                </a:extLst>
              </a:tr>
            </a:tbl>
          </a:graphicData>
        </a:graphic>
      </p:graphicFrame>
      <p:sp>
        <p:nvSpPr>
          <p:cNvPr id="31" name="TextBox 30"/>
          <p:cNvSpPr txBox="1"/>
          <p:nvPr/>
        </p:nvSpPr>
        <p:spPr>
          <a:xfrm>
            <a:off x="965262" y="5554545"/>
            <a:ext cx="418704" cy="461665"/>
          </a:xfrm>
          <a:prstGeom prst="rect">
            <a:avLst/>
          </a:prstGeom>
          <a:noFill/>
        </p:spPr>
        <p:txBody>
          <a:bodyPr wrap="none" rtlCol="0">
            <a:spAutoFit/>
          </a:bodyPr>
          <a:lstStyle/>
          <a:p>
            <a:r>
              <a:rPr lang="en-US" sz="2400" b="1" dirty="0">
                <a:effectLst>
                  <a:outerShdw blurRad="38100" dist="38100" dir="2700000" algn="tl">
                    <a:srgbClr val="000000">
                      <a:alpha val="43137"/>
                    </a:srgbClr>
                  </a:outerShdw>
                </a:effectLst>
              </a:rPr>
              <a:t>Q</a:t>
            </a:r>
          </a:p>
        </p:txBody>
      </p:sp>
      <p:cxnSp>
        <p:nvCxnSpPr>
          <p:cNvPr id="32" name="Straight Connector 31"/>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3" name="Table 32"/>
          <p:cNvGraphicFramePr>
            <a:graphicFrameLocks noGrp="1"/>
          </p:cNvGraphicFramePr>
          <p:nvPr/>
        </p:nvGraphicFramePr>
        <p:xfrm>
          <a:off x="1437550" y="6006356"/>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endParaRPr lang="en-US" dirty="0">
                        <a:solidFill>
                          <a:schemeClr val="tx1"/>
                        </a:solidFill>
                      </a:endParaRPr>
                    </a:p>
                  </a:txBody>
                  <a:tcPr>
                    <a:noFill/>
                  </a:tcPr>
                </a:tc>
                <a:tc>
                  <a:txBody>
                    <a:bodyPr/>
                    <a:lstStyle/>
                    <a:p>
                      <a:endParaRPr lang="en-US"/>
                    </a:p>
                  </a:txBody>
                  <a:tcPr>
                    <a:noFill/>
                  </a:tcPr>
                </a:tc>
                <a:tc>
                  <a:txBody>
                    <a:bodyPr/>
                    <a:lstStyle/>
                    <a:p>
                      <a:endParaRPr lang="en-US" dirty="0"/>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dirty="0"/>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sp>
        <p:nvSpPr>
          <p:cNvPr id="35" name="Rectangle 34"/>
          <p:cNvSpPr/>
          <p:nvPr/>
        </p:nvSpPr>
        <p:spPr>
          <a:xfrm>
            <a:off x="10944132" y="2833056"/>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6" name="Rectangle 35"/>
          <p:cNvSpPr/>
          <p:nvPr/>
        </p:nvSpPr>
        <p:spPr>
          <a:xfrm>
            <a:off x="10939775" y="3233653"/>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7" name="Rectangle 36"/>
          <p:cNvSpPr/>
          <p:nvPr/>
        </p:nvSpPr>
        <p:spPr>
          <a:xfrm>
            <a:off x="10935419" y="3581998"/>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grpSp>
        <p:nvGrpSpPr>
          <p:cNvPr id="38" name="Group 37">
            <a:extLst>
              <a:ext uri="{FF2B5EF4-FFF2-40B4-BE49-F238E27FC236}">
                <a16:creationId xmlns:a16="http://schemas.microsoft.com/office/drawing/2014/main" id="{47680E8B-01D7-4C72-9FA3-C91DB83D34C0}"/>
              </a:ext>
            </a:extLst>
          </p:cNvPr>
          <p:cNvGrpSpPr/>
          <p:nvPr/>
        </p:nvGrpSpPr>
        <p:grpSpPr>
          <a:xfrm>
            <a:off x="1437550" y="5599958"/>
            <a:ext cx="511370" cy="356179"/>
            <a:chOff x="1437550" y="5599958"/>
            <a:chExt cx="511370" cy="356179"/>
          </a:xfrm>
        </p:grpSpPr>
        <p:cxnSp>
          <p:nvCxnSpPr>
            <p:cNvPr id="39" name="Straight Connector 38">
              <a:extLst>
                <a:ext uri="{FF2B5EF4-FFF2-40B4-BE49-F238E27FC236}">
                  <a16:creationId xmlns:a16="http://schemas.microsoft.com/office/drawing/2014/main" id="{AB5E8B1B-9CAB-4674-B453-A52C477D1831}"/>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EAA8F71-DD34-4902-B2A2-F7A630C0B6A6}"/>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15378048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Breadth-First Search</a:t>
            </a:r>
          </a:p>
        </p:txBody>
      </p:sp>
      <p:sp>
        <p:nvSpPr>
          <p:cNvPr id="13" name="Slide Number Placeholder 12">
            <a:extLst>
              <a:ext uri="{FF2B5EF4-FFF2-40B4-BE49-F238E27FC236}">
                <a16:creationId xmlns:a16="http://schemas.microsoft.com/office/drawing/2014/main" id="{B329B0EC-33FC-4491-99FA-A50F08B67F01}"/>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38/110</a:t>
            </a:r>
          </a:p>
        </p:txBody>
      </p:sp>
      <p:cxnSp>
        <p:nvCxnSpPr>
          <p:cNvPr id="3" name="Straight Connector 2"/>
          <p:cNvCxnSpPr>
            <a:stCxn id="12" idx="1"/>
          </p:cNvCxnSpPr>
          <p:nvPr/>
        </p:nvCxnSpPr>
        <p:spPr>
          <a:xfrm flipH="1" flipV="1">
            <a:off x="1097669" y="3734594"/>
            <a:ext cx="2198288" cy="93317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 name="Straight Connector 3"/>
          <p:cNvCxnSpPr>
            <a:stCxn id="7" idx="5"/>
          </p:cNvCxnSpPr>
          <p:nvPr/>
        </p:nvCxnSpPr>
        <p:spPr>
          <a:xfrm>
            <a:off x="2328832" y="3462270"/>
            <a:ext cx="1158049" cy="13377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flipV="1">
            <a:off x="2174848" y="3377774"/>
            <a:ext cx="1856048" cy="24517"/>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1948920" y="3481714"/>
            <a:ext cx="175670" cy="1109474"/>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 name="Oval 16"/>
          <p:cNvSpPr>
            <a:spLocks noChangeArrowheads="1"/>
          </p:cNvSpPr>
          <p:nvPr/>
        </p:nvSpPr>
        <p:spPr bwMode="auto">
          <a:xfrm>
            <a:off x="1957083" y="309052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8" name="Straight Connector 7"/>
          <p:cNvCxnSpPr/>
          <p:nvPr/>
        </p:nvCxnSpPr>
        <p:spPr>
          <a:xfrm flipH="1">
            <a:off x="2120774" y="4800035"/>
            <a:ext cx="1119177" cy="684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a:endCxn id="25" idx="1"/>
          </p:cNvCxnSpPr>
          <p:nvPr/>
        </p:nvCxnSpPr>
        <p:spPr>
          <a:xfrm>
            <a:off x="1167927" y="3936170"/>
            <a:ext cx="563889" cy="8638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686531" y="458227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1" name="Oval 16"/>
          <p:cNvSpPr>
            <a:spLocks noChangeArrowheads="1"/>
          </p:cNvSpPr>
          <p:nvPr/>
        </p:nvSpPr>
        <p:spPr bwMode="auto">
          <a:xfrm>
            <a:off x="796178" y="3610102"/>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2" name="Oval 16"/>
          <p:cNvSpPr>
            <a:spLocks noChangeArrowheads="1"/>
          </p:cNvSpPr>
          <p:nvPr/>
        </p:nvSpPr>
        <p:spPr bwMode="auto">
          <a:xfrm>
            <a:off x="3232175" y="460398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5" name="Straight Connector 14"/>
          <p:cNvCxnSpPr>
            <a:stCxn id="12" idx="7"/>
          </p:cNvCxnSpPr>
          <p:nvPr/>
        </p:nvCxnSpPr>
        <p:spPr>
          <a:xfrm flipV="1">
            <a:off x="3603924" y="3429291"/>
            <a:ext cx="650011" cy="123847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20" idx="6"/>
          </p:cNvCxnSpPr>
          <p:nvPr/>
        </p:nvCxnSpPr>
        <p:spPr>
          <a:xfrm flipV="1">
            <a:off x="4464552" y="3565009"/>
            <a:ext cx="1367969" cy="125700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flipV="1">
            <a:off x="4408532" y="3371173"/>
            <a:ext cx="1353035" cy="6601"/>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4246786" y="3646429"/>
            <a:ext cx="45505" cy="95755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4029021" y="319567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0" name="Oval 16"/>
          <p:cNvSpPr>
            <a:spLocks noChangeArrowheads="1"/>
          </p:cNvSpPr>
          <p:nvPr/>
        </p:nvSpPr>
        <p:spPr bwMode="auto">
          <a:xfrm>
            <a:off x="4029021" y="46042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1" name="Oval 16"/>
          <p:cNvSpPr>
            <a:spLocks noChangeArrowheads="1"/>
          </p:cNvSpPr>
          <p:nvPr/>
        </p:nvSpPr>
        <p:spPr bwMode="auto">
          <a:xfrm>
            <a:off x="5747996" y="318047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TextBox 23"/>
          <p:cNvSpPr txBox="1"/>
          <p:nvPr/>
        </p:nvSpPr>
        <p:spPr>
          <a:xfrm>
            <a:off x="2006372" y="3112381"/>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25" name="TextBox 24"/>
          <p:cNvSpPr txBox="1"/>
          <p:nvPr/>
        </p:nvSpPr>
        <p:spPr>
          <a:xfrm>
            <a:off x="1731816" y="4615369"/>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26" name="TextBox 25"/>
          <p:cNvSpPr txBox="1"/>
          <p:nvPr/>
        </p:nvSpPr>
        <p:spPr>
          <a:xfrm>
            <a:off x="4096606" y="3217625"/>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27" name="Rectangle 26"/>
          <p:cNvSpPr/>
          <p:nvPr/>
        </p:nvSpPr>
        <p:spPr>
          <a:xfrm>
            <a:off x="844245" y="3647774"/>
            <a:ext cx="343364" cy="369332"/>
          </a:xfrm>
          <a:prstGeom prst="rect">
            <a:avLst/>
          </a:prstGeom>
        </p:spPr>
        <p:txBody>
          <a:bodyPr wrap="none">
            <a:spAutoFit/>
          </a:bodyPr>
          <a:lstStyle/>
          <a:p>
            <a:r>
              <a:rPr lang="en-US" b="1" dirty="0">
                <a:solidFill>
                  <a:prstClr val="black"/>
                </a:solidFill>
              </a:rPr>
              <a:t>D</a:t>
            </a:r>
          </a:p>
        </p:txBody>
      </p:sp>
      <p:sp>
        <p:nvSpPr>
          <p:cNvPr id="28" name="Rectangle 27"/>
          <p:cNvSpPr/>
          <p:nvPr/>
        </p:nvSpPr>
        <p:spPr>
          <a:xfrm>
            <a:off x="4076007" y="4647465"/>
            <a:ext cx="304892" cy="369332"/>
          </a:xfrm>
          <a:prstGeom prst="rect">
            <a:avLst/>
          </a:prstGeom>
        </p:spPr>
        <p:txBody>
          <a:bodyPr wrap="none">
            <a:spAutoFit/>
          </a:bodyPr>
          <a:lstStyle/>
          <a:p>
            <a:r>
              <a:rPr lang="en-US" b="1" dirty="0">
                <a:solidFill>
                  <a:prstClr val="black"/>
                </a:solidFill>
              </a:rPr>
              <a:t>F</a:t>
            </a:r>
          </a:p>
        </p:txBody>
      </p:sp>
      <p:sp>
        <p:nvSpPr>
          <p:cNvPr id="29" name="Rectangle 28"/>
          <p:cNvSpPr/>
          <p:nvPr/>
        </p:nvSpPr>
        <p:spPr>
          <a:xfrm>
            <a:off x="5798967" y="3195677"/>
            <a:ext cx="340158" cy="369332"/>
          </a:xfrm>
          <a:prstGeom prst="rect">
            <a:avLst/>
          </a:prstGeom>
        </p:spPr>
        <p:txBody>
          <a:bodyPr wrap="none">
            <a:spAutoFit/>
          </a:bodyPr>
          <a:lstStyle/>
          <a:p>
            <a:r>
              <a:rPr lang="en-US" b="1" dirty="0">
                <a:solidFill>
                  <a:prstClr val="black"/>
                </a:solidFill>
              </a:rPr>
              <a:t>G</a:t>
            </a:r>
          </a:p>
        </p:txBody>
      </p:sp>
      <p:sp>
        <p:nvSpPr>
          <p:cNvPr id="34" name="Rectangle 33"/>
          <p:cNvSpPr/>
          <p:nvPr/>
        </p:nvSpPr>
        <p:spPr>
          <a:xfrm>
            <a:off x="3291957" y="4628920"/>
            <a:ext cx="316112" cy="369332"/>
          </a:xfrm>
          <a:prstGeom prst="rect">
            <a:avLst/>
          </a:prstGeom>
        </p:spPr>
        <p:txBody>
          <a:bodyPr wrap="none">
            <a:spAutoFit/>
          </a:bodyPr>
          <a:lstStyle/>
          <a:p>
            <a:r>
              <a:rPr lang="en-US" b="1" dirty="0">
                <a:solidFill>
                  <a:prstClr val="black"/>
                </a:solidFill>
              </a:rPr>
              <a:t>E</a:t>
            </a:r>
          </a:p>
        </p:txBody>
      </p:sp>
      <p:graphicFrame>
        <p:nvGraphicFramePr>
          <p:cNvPr id="40" name="Table 39"/>
          <p:cNvGraphicFramePr>
            <a:graphicFrameLocks noGrp="1"/>
          </p:cNvGraphicFramePr>
          <p:nvPr>
            <p:extLst>
              <p:ext uri="{D42A27DB-BD31-4B8C-83A1-F6EECF244321}">
                <p14:modId xmlns:p14="http://schemas.microsoft.com/office/powerpoint/2010/main" val="2129659587"/>
              </p:ext>
            </p:extLst>
          </p:nvPr>
        </p:nvGraphicFramePr>
        <p:xfrm>
          <a:off x="7771306" y="2531586"/>
          <a:ext cx="3952608" cy="2966720"/>
        </p:xfrm>
        <a:graphic>
          <a:graphicData uri="http://schemas.openxmlformats.org/drawingml/2006/table">
            <a:tbl>
              <a:tblPr firstRow="1" bandRow="1">
                <a:tableStyleId>{5C22544A-7EE6-4342-B048-85BDC9FD1C3A}</a:tableStyleId>
              </a:tblPr>
              <a:tblGrid>
                <a:gridCol w="1016300">
                  <a:extLst>
                    <a:ext uri="{9D8B030D-6E8A-4147-A177-3AD203B41FA5}">
                      <a16:colId xmlns:a16="http://schemas.microsoft.com/office/drawing/2014/main" val="2989644895"/>
                    </a:ext>
                  </a:extLst>
                </a:gridCol>
                <a:gridCol w="1819316">
                  <a:extLst>
                    <a:ext uri="{9D8B030D-6E8A-4147-A177-3AD203B41FA5}">
                      <a16:colId xmlns:a16="http://schemas.microsoft.com/office/drawing/2014/main" val="4244960412"/>
                    </a:ext>
                  </a:extLst>
                </a:gridCol>
                <a:gridCol w="1116992">
                  <a:extLst>
                    <a:ext uri="{9D8B030D-6E8A-4147-A177-3AD203B41FA5}">
                      <a16:colId xmlns:a16="http://schemas.microsoft.com/office/drawing/2014/main" val="2572560869"/>
                    </a:ext>
                  </a:extLst>
                </a:gridCol>
              </a:tblGrid>
              <a:tr h="370840">
                <a:tc>
                  <a:txBody>
                    <a:bodyPr/>
                    <a:lstStyle/>
                    <a:p>
                      <a:pPr algn="ctr"/>
                      <a:r>
                        <a:rPr lang="en-US" dirty="0"/>
                        <a:t>NODE</a:t>
                      </a:r>
                    </a:p>
                  </a:txBody>
                  <a:tcPr/>
                </a:tc>
                <a:tc>
                  <a:txBody>
                    <a:bodyPr/>
                    <a:lstStyle/>
                    <a:p>
                      <a:pPr algn="ctr"/>
                      <a:r>
                        <a:rPr lang="en-US" dirty="0"/>
                        <a:t>NEIGHBORS</a:t>
                      </a:r>
                    </a:p>
                  </a:txBody>
                  <a:tcPr/>
                </a:tc>
                <a:tc>
                  <a:txBody>
                    <a:bodyPr/>
                    <a:lstStyle/>
                    <a:p>
                      <a:pPr algn="ctr"/>
                      <a:r>
                        <a:rPr lang="en-US" dirty="0"/>
                        <a:t>LABEL</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E,F,G</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F</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orbel"/>
                          <a:ea typeface="+mn-ea"/>
                          <a:cs typeface="+mn-cs"/>
                        </a:rPr>
                        <a:t>X</a:t>
                      </a:r>
                    </a:p>
                  </a:txBody>
                  <a:tcPr/>
                </a:tc>
                <a:extLst>
                  <a:ext uri="{0D108BD9-81ED-4DB2-BD59-A6C34878D82A}">
                    <a16:rowId xmlns:a16="http://schemas.microsoft.com/office/drawing/2014/main" val="1205733479"/>
                  </a:ext>
                </a:extLst>
              </a:tr>
            </a:tbl>
          </a:graphicData>
        </a:graphic>
      </p:graphicFrame>
      <p:cxnSp>
        <p:nvCxnSpPr>
          <p:cNvPr id="42" name="Straight Arrow Connector 41"/>
          <p:cNvCxnSpPr/>
          <p:nvPr/>
        </p:nvCxnSpPr>
        <p:spPr>
          <a:xfrm>
            <a:off x="1948920" y="2586178"/>
            <a:ext cx="119848" cy="4163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aphicFrame>
        <p:nvGraphicFramePr>
          <p:cNvPr id="30" name="Table 29"/>
          <p:cNvGraphicFramePr>
            <a:graphicFrameLocks noGrp="1"/>
          </p:cNvGraphicFramePr>
          <p:nvPr>
            <p:extLst>
              <p:ext uri="{D42A27DB-BD31-4B8C-83A1-F6EECF244321}">
                <p14:modId xmlns:p14="http://schemas.microsoft.com/office/powerpoint/2010/main" val="1884167551"/>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r>
                        <a:rPr lang="en-US" dirty="0">
                          <a:solidFill>
                            <a:schemeClr val="tx1"/>
                          </a:solidFill>
                        </a:rPr>
                        <a:t>B</a:t>
                      </a:r>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dirty="0"/>
                    </a:p>
                  </a:txBody>
                  <a:tcPr>
                    <a:solidFill>
                      <a:schemeClr val="accent6">
                        <a:lumMod val="60000"/>
                        <a:lumOff val="40000"/>
                      </a:schemeClr>
                    </a:solidFill>
                  </a:tcPr>
                </a:tc>
                <a:tc>
                  <a:txBody>
                    <a:bodyPr/>
                    <a:lstStyle/>
                    <a:p>
                      <a:endParaRPr lang="en-US" dirty="0"/>
                    </a:p>
                  </a:txBody>
                  <a:tcPr>
                    <a:solidFill>
                      <a:schemeClr val="accent6">
                        <a:lumMod val="60000"/>
                        <a:lumOff val="40000"/>
                      </a:schemeClr>
                    </a:solidFill>
                  </a:tcPr>
                </a:tc>
                <a:extLst>
                  <a:ext uri="{0D108BD9-81ED-4DB2-BD59-A6C34878D82A}">
                    <a16:rowId xmlns:a16="http://schemas.microsoft.com/office/drawing/2014/main" val="660647860"/>
                  </a:ext>
                </a:extLst>
              </a:tr>
            </a:tbl>
          </a:graphicData>
        </a:graphic>
      </p:graphicFrame>
      <p:sp>
        <p:nvSpPr>
          <p:cNvPr id="31" name="TextBox 30"/>
          <p:cNvSpPr txBox="1"/>
          <p:nvPr/>
        </p:nvSpPr>
        <p:spPr>
          <a:xfrm>
            <a:off x="965262" y="5554545"/>
            <a:ext cx="418704" cy="461665"/>
          </a:xfrm>
          <a:prstGeom prst="rect">
            <a:avLst/>
          </a:prstGeom>
          <a:noFill/>
        </p:spPr>
        <p:txBody>
          <a:bodyPr wrap="none" rtlCol="0">
            <a:spAutoFit/>
          </a:bodyPr>
          <a:lstStyle/>
          <a:p>
            <a:r>
              <a:rPr lang="en-US" sz="2400" b="1" dirty="0">
                <a:effectLst>
                  <a:outerShdw blurRad="38100" dist="38100" dir="2700000" algn="tl">
                    <a:srgbClr val="000000">
                      <a:alpha val="43137"/>
                    </a:srgbClr>
                  </a:outerShdw>
                </a:effectLst>
              </a:rPr>
              <a:t>Q</a:t>
            </a:r>
          </a:p>
        </p:txBody>
      </p:sp>
      <p:cxnSp>
        <p:nvCxnSpPr>
          <p:cNvPr id="32" name="Straight Connector 31"/>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3" name="Table 32"/>
          <p:cNvGraphicFramePr>
            <a:graphicFrameLocks noGrp="1"/>
          </p:cNvGraphicFramePr>
          <p:nvPr/>
        </p:nvGraphicFramePr>
        <p:xfrm>
          <a:off x="1437550" y="6006356"/>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C</a:t>
                      </a:r>
                    </a:p>
                  </a:txBody>
                  <a:tcPr>
                    <a:noFill/>
                  </a:tcPr>
                </a:tc>
                <a:tc>
                  <a:txBody>
                    <a:bodyPr/>
                    <a:lstStyle/>
                    <a:p>
                      <a:endParaRPr lang="en-US"/>
                    </a:p>
                  </a:txBody>
                  <a:tcPr>
                    <a:noFill/>
                  </a:tcPr>
                </a:tc>
                <a:tc>
                  <a:txBody>
                    <a:bodyPr/>
                    <a:lstStyle/>
                    <a:p>
                      <a:endParaRPr lang="en-US" dirty="0"/>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dirty="0"/>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sp>
        <p:nvSpPr>
          <p:cNvPr id="35" name="Rectangle 34"/>
          <p:cNvSpPr/>
          <p:nvPr/>
        </p:nvSpPr>
        <p:spPr>
          <a:xfrm>
            <a:off x="10976789" y="2833056"/>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6" name="Rectangle 35"/>
          <p:cNvSpPr/>
          <p:nvPr/>
        </p:nvSpPr>
        <p:spPr>
          <a:xfrm>
            <a:off x="10972432" y="3233653"/>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7" name="Rectangle 36"/>
          <p:cNvSpPr/>
          <p:nvPr/>
        </p:nvSpPr>
        <p:spPr>
          <a:xfrm>
            <a:off x="10968076" y="3581998"/>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grpSp>
        <p:nvGrpSpPr>
          <p:cNvPr id="38" name="Group 37">
            <a:extLst>
              <a:ext uri="{FF2B5EF4-FFF2-40B4-BE49-F238E27FC236}">
                <a16:creationId xmlns:a16="http://schemas.microsoft.com/office/drawing/2014/main" id="{4DFBDD38-CD57-40C0-9E3A-DEA9B5FFA43D}"/>
              </a:ext>
            </a:extLst>
          </p:cNvPr>
          <p:cNvGrpSpPr/>
          <p:nvPr/>
        </p:nvGrpSpPr>
        <p:grpSpPr>
          <a:xfrm>
            <a:off x="1437550" y="5599958"/>
            <a:ext cx="511370" cy="356179"/>
            <a:chOff x="1437550" y="5599958"/>
            <a:chExt cx="511370" cy="356179"/>
          </a:xfrm>
        </p:grpSpPr>
        <p:cxnSp>
          <p:nvCxnSpPr>
            <p:cNvPr id="39" name="Straight Connector 38">
              <a:extLst>
                <a:ext uri="{FF2B5EF4-FFF2-40B4-BE49-F238E27FC236}">
                  <a16:creationId xmlns:a16="http://schemas.microsoft.com/office/drawing/2014/main" id="{3A586080-596E-49F4-B402-FBEBA2320C6F}"/>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A4929787-9186-4DAF-8163-A38646489D8F}"/>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E3CC90EB-93EC-4188-BF57-3916EAB3FABC}"/>
              </a:ext>
            </a:extLst>
          </p:cNvPr>
          <p:cNvGrpSpPr/>
          <p:nvPr/>
        </p:nvGrpSpPr>
        <p:grpSpPr>
          <a:xfrm>
            <a:off x="1971132" y="5589178"/>
            <a:ext cx="511370" cy="356179"/>
            <a:chOff x="1437550" y="5599958"/>
            <a:chExt cx="511370" cy="356179"/>
          </a:xfrm>
        </p:grpSpPr>
        <p:cxnSp>
          <p:nvCxnSpPr>
            <p:cNvPr id="44" name="Straight Connector 43">
              <a:extLst>
                <a:ext uri="{FF2B5EF4-FFF2-40B4-BE49-F238E27FC236}">
                  <a16:creationId xmlns:a16="http://schemas.microsoft.com/office/drawing/2014/main" id="{3E740226-9116-4E9B-AD6B-0698CCAA511A}"/>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5B37225A-BA64-4DE0-985F-C061681D6121}"/>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40200007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Breadth-First Search</a:t>
            </a:r>
          </a:p>
        </p:txBody>
      </p:sp>
      <p:sp>
        <p:nvSpPr>
          <p:cNvPr id="13" name="Slide Number Placeholder 12">
            <a:extLst>
              <a:ext uri="{FF2B5EF4-FFF2-40B4-BE49-F238E27FC236}">
                <a16:creationId xmlns:a16="http://schemas.microsoft.com/office/drawing/2014/main" id="{EF5236D6-3826-4216-8171-56FE9197289C}"/>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39/110</a:t>
            </a:r>
          </a:p>
        </p:txBody>
      </p:sp>
      <p:cxnSp>
        <p:nvCxnSpPr>
          <p:cNvPr id="3" name="Straight Connector 2"/>
          <p:cNvCxnSpPr>
            <a:stCxn id="12" idx="1"/>
          </p:cNvCxnSpPr>
          <p:nvPr/>
        </p:nvCxnSpPr>
        <p:spPr>
          <a:xfrm flipH="1" flipV="1">
            <a:off x="1097669" y="3734594"/>
            <a:ext cx="2198288" cy="93317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 name="Straight Connector 3"/>
          <p:cNvCxnSpPr>
            <a:stCxn id="7" idx="5"/>
          </p:cNvCxnSpPr>
          <p:nvPr/>
        </p:nvCxnSpPr>
        <p:spPr>
          <a:xfrm>
            <a:off x="2328832" y="3462270"/>
            <a:ext cx="1158049" cy="13377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flipV="1">
            <a:off x="2174848" y="3377774"/>
            <a:ext cx="1856048" cy="24517"/>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1948920" y="3481714"/>
            <a:ext cx="175670" cy="1109474"/>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 name="Oval 16"/>
          <p:cNvSpPr>
            <a:spLocks noChangeArrowheads="1"/>
          </p:cNvSpPr>
          <p:nvPr/>
        </p:nvSpPr>
        <p:spPr bwMode="auto">
          <a:xfrm>
            <a:off x="1957083" y="309052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8" name="Straight Connector 7"/>
          <p:cNvCxnSpPr/>
          <p:nvPr/>
        </p:nvCxnSpPr>
        <p:spPr>
          <a:xfrm flipH="1">
            <a:off x="2120774" y="4800035"/>
            <a:ext cx="1119177" cy="684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a:endCxn id="25" idx="1"/>
          </p:cNvCxnSpPr>
          <p:nvPr/>
        </p:nvCxnSpPr>
        <p:spPr>
          <a:xfrm>
            <a:off x="1167927" y="3936170"/>
            <a:ext cx="563889" cy="8638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686531" y="458227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1" name="Oval 16"/>
          <p:cNvSpPr>
            <a:spLocks noChangeArrowheads="1"/>
          </p:cNvSpPr>
          <p:nvPr/>
        </p:nvSpPr>
        <p:spPr bwMode="auto">
          <a:xfrm>
            <a:off x="796178" y="3610102"/>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2" name="Oval 16"/>
          <p:cNvSpPr>
            <a:spLocks noChangeArrowheads="1"/>
          </p:cNvSpPr>
          <p:nvPr/>
        </p:nvSpPr>
        <p:spPr bwMode="auto">
          <a:xfrm>
            <a:off x="3232175" y="460398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5" name="Straight Connector 14"/>
          <p:cNvCxnSpPr>
            <a:stCxn id="12" idx="7"/>
          </p:cNvCxnSpPr>
          <p:nvPr/>
        </p:nvCxnSpPr>
        <p:spPr>
          <a:xfrm flipV="1">
            <a:off x="3603924" y="3429291"/>
            <a:ext cx="650011" cy="123847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20" idx="6"/>
          </p:cNvCxnSpPr>
          <p:nvPr/>
        </p:nvCxnSpPr>
        <p:spPr>
          <a:xfrm flipV="1">
            <a:off x="4464552" y="3565009"/>
            <a:ext cx="1367969" cy="125700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flipV="1">
            <a:off x="4408532" y="3371173"/>
            <a:ext cx="1353035" cy="6601"/>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4246786" y="3646429"/>
            <a:ext cx="45505" cy="95755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4029021" y="319567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0" name="Oval 16"/>
          <p:cNvSpPr>
            <a:spLocks noChangeArrowheads="1"/>
          </p:cNvSpPr>
          <p:nvPr/>
        </p:nvSpPr>
        <p:spPr bwMode="auto">
          <a:xfrm>
            <a:off x="4029021" y="46042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1" name="Oval 16"/>
          <p:cNvSpPr>
            <a:spLocks noChangeArrowheads="1"/>
          </p:cNvSpPr>
          <p:nvPr/>
        </p:nvSpPr>
        <p:spPr bwMode="auto">
          <a:xfrm>
            <a:off x="5747996" y="318047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TextBox 23"/>
          <p:cNvSpPr txBox="1"/>
          <p:nvPr/>
        </p:nvSpPr>
        <p:spPr>
          <a:xfrm>
            <a:off x="2006372" y="3112381"/>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25" name="TextBox 24"/>
          <p:cNvSpPr txBox="1"/>
          <p:nvPr/>
        </p:nvSpPr>
        <p:spPr>
          <a:xfrm>
            <a:off x="1731816" y="4615369"/>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26" name="TextBox 25"/>
          <p:cNvSpPr txBox="1"/>
          <p:nvPr/>
        </p:nvSpPr>
        <p:spPr>
          <a:xfrm>
            <a:off x="4096606" y="3217625"/>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27" name="Rectangle 26"/>
          <p:cNvSpPr/>
          <p:nvPr/>
        </p:nvSpPr>
        <p:spPr>
          <a:xfrm>
            <a:off x="844245" y="3647774"/>
            <a:ext cx="343364" cy="369332"/>
          </a:xfrm>
          <a:prstGeom prst="rect">
            <a:avLst/>
          </a:prstGeom>
        </p:spPr>
        <p:txBody>
          <a:bodyPr wrap="none">
            <a:spAutoFit/>
          </a:bodyPr>
          <a:lstStyle/>
          <a:p>
            <a:r>
              <a:rPr lang="en-US" b="1" dirty="0">
                <a:solidFill>
                  <a:prstClr val="black"/>
                </a:solidFill>
              </a:rPr>
              <a:t>D</a:t>
            </a:r>
          </a:p>
        </p:txBody>
      </p:sp>
      <p:sp>
        <p:nvSpPr>
          <p:cNvPr id="28" name="Rectangle 27"/>
          <p:cNvSpPr/>
          <p:nvPr/>
        </p:nvSpPr>
        <p:spPr>
          <a:xfrm>
            <a:off x="4076007" y="4647465"/>
            <a:ext cx="304892" cy="369332"/>
          </a:xfrm>
          <a:prstGeom prst="rect">
            <a:avLst/>
          </a:prstGeom>
        </p:spPr>
        <p:txBody>
          <a:bodyPr wrap="none">
            <a:spAutoFit/>
          </a:bodyPr>
          <a:lstStyle/>
          <a:p>
            <a:r>
              <a:rPr lang="en-US" b="1" dirty="0">
                <a:solidFill>
                  <a:prstClr val="black"/>
                </a:solidFill>
              </a:rPr>
              <a:t>F</a:t>
            </a:r>
          </a:p>
        </p:txBody>
      </p:sp>
      <p:sp>
        <p:nvSpPr>
          <p:cNvPr id="29" name="Rectangle 28"/>
          <p:cNvSpPr/>
          <p:nvPr/>
        </p:nvSpPr>
        <p:spPr>
          <a:xfrm>
            <a:off x="5798967" y="3195677"/>
            <a:ext cx="340158" cy="369332"/>
          </a:xfrm>
          <a:prstGeom prst="rect">
            <a:avLst/>
          </a:prstGeom>
        </p:spPr>
        <p:txBody>
          <a:bodyPr wrap="none">
            <a:spAutoFit/>
          </a:bodyPr>
          <a:lstStyle/>
          <a:p>
            <a:r>
              <a:rPr lang="en-US" b="1" dirty="0">
                <a:solidFill>
                  <a:prstClr val="black"/>
                </a:solidFill>
              </a:rPr>
              <a:t>G</a:t>
            </a:r>
          </a:p>
        </p:txBody>
      </p:sp>
      <p:sp>
        <p:nvSpPr>
          <p:cNvPr id="34" name="Rectangle 33"/>
          <p:cNvSpPr/>
          <p:nvPr/>
        </p:nvSpPr>
        <p:spPr>
          <a:xfrm>
            <a:off x="3291957" y="4628920"/>
            <a:ext cx="316112" cy="369332"/>
          </a:xfrm>
          <a:prstGeom prst="rect">
            <a:avLst/>
          </a:prstGeom>
        </p:spPr>
        <p:txBody>
          <a:bodyPr wrap="none">
            <a:spAutoFit/>
          </a:bodyPr>
          <a:lstStyle/>
          <a:p>
            <a:r>
              <a:rPr lang="en-US" b="1" dirty="0">
                <a:solidFill>
                  <a:prstClr val="black"/>
                </a:solidFill>
              </a:rPr>
              <a:t>E</a:t>
            </a:r>
          </a:p>
        </p:txBody>
      </p:sp>
      <p:graphicFrame>
        <p:nvGraphicFramePr>
          <p:cNvPr id="40" name="Table 39"/>
          <p:cNvGraphicFramePr>
            <a:graphicFrameLocks noGrp="1"/>
          </p:cNvGraphicFramePr>
          <p:nvPr>
            <p:extLst>
              <p:ext uri="{D42A27DB-BD31-4B8C-83A1-F6EECF244321}">
                <p14:modId xmlns:p14="http://schemas.microsoft.com/office/powerpoint/2010/main" val="2491461039"/>
              </p:ext>
            </p:extLst>
          </p:nvPr>
        </p:nvGraphicFramePr>
        <p:xfrm>
          <a:off x="7771306" y="2531586"/>
          <a:ext cx="3944444" cy="2966720"/>
        </p:xfrm>
        <a:graphic>
          <a:graphicData uri="http://schemas.openxmlformats.org/drawingml/2006/table">
            <a:tbl>
              <a:tblPr firstRow="1" bandRow="1">
                <a:tableStyleId>{5C22544A-7EE6-4342-B048-85BDC9FD1C3A}</a:tableStyleId>
              </a:tblPr>
              <a:tblGrid>
                <a:gridCol w="1014201">
                  <a:extLst>
                    <a:ext uri="{9D8B030D-6E8A-4147-A177-3AD203B41FA5}">
                      <a16:colId xmlns:a16="http://schemas.microsoft.com/office/drawing/2014/main" val="2989644895"/>
                    </a:ext>
                  </a:extLst>
                </a:gridCol>
                <a:gridCol w="1815558">
                  <a:extLst>
                    <a:ext uri="{9D8B030D-6E8A-4147-A177-3AD203B41FA5}">
                      <a16:colId xmlns:a16="http://schemas.microsoft.com/office/drawing/2014/main" val="4244960412"/>
                    </a:ext>
                  </a:extLst>
                </a:gridCol>
                <a:gridCol w="1114685">
                  <a:extLst>
                    <a:ext uri="{9D8B030D-6E8A-4147-A177-3AD203B41FA5}">
                      <a16:colId xmlns:a16="http://schemas.microsoft.com/office/drawing/2014/main" val="2572560869"/>
                    </a:ext>
                  </a:extLst>
                </a:gridCol>
              </a:tblGrid>
              <a:tr h="370840">
                <a:tc>
                  <a:txBody>
                    <a:bodyPr/>
                    <a:lstStyle/>
                    <a:p>
                      <a:pPr algn="ctr"/>
                      <a:r>
                        <a:rPr lang="en-US" dirty="0"/>
                        <a:t>NODE</a:t>
                      </a:r>
                    </a:p>
                  </a:txBody>
                  <a:tcPr/>
                </a:tc>
                <a:tc>
                  <a:txBody>
                    <a:bodyPr/>
                    <a:lstStyle/>
                    <a:p>
                      <a:pPr algn="ctr"/>
                      <a:r>
                        <a:rPr lang="en-US" dirty="0"/>
                        <a:t>NEIGHBORS</a:t>
                      </a:r>
                    </a:p>
                  </a:txBody>
                  <a:tcPr/>
                </a:tc>
                <a:tc>
                  <a:txBody>
                    <a:bodyPr/>
                    <a:lstStyle/>
                    <a:p>
                      <a:pPr algn="ctr"/>
                      <a:r>
                        <a:rPr lang="en-US" dirty="0"/>
                        <a:t>LABEL</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E,F,G</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mn-lt"/>
                          <a:ea typeface="+mn-ea"/>
                          <a:cs typeface="+mn-cs"/>
                        </a:rPr>
                        <a:t>X</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F</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205733479"/>
                  </a:ext>
                </a:extLst>
              </a:tr>
            </a:tbl>
          </a:graphicData>
        </a:graphic>
      </p:graphicFrame>
      <p:cxnSp>
        <p:nvCxnSpPr>
          <p:cNvPr id="42" name="Straight Arrow Connector 41"/>
          <p:cNvCxnSpPr/>
          <p:nvPr/>
        </p:nvCxnSpPr>
        <p:spPr>
          <a:xfrm>
            <a:off x="1948920" y="2586178"/>
            <a:ext cx="119848" cy="4163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aphicFrame>
        <p:nvGraphicFramePr>
          <p:cNvPr id="30" name="Table 29"/>
          <p:cNvGraphicFramePr>
            <a:graphicFrameLocks noGrp="1"/>
          </p:cNvGraphicFramePr>
          <p:nvPr>
            <p:extLst>
              <p:ext uri="{D42A27DB-BD31-4B8C-83A1-F6EECF244321}">
                <p14:modId xmlns:p14="http://schemas.microsoft.com/office/powerpoint/2010/main" val="1857766100"/>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r>
                        <a:rPr lang="en-US" dirty="0">
                          <a:solidFill>
                            <a:schemeClr val="tx1"/>
                          </a:solidFill>
                        </a:rPr>
                        <a:t>B</a:t>
                      </a:r>
                    </a:p>
                  </a:txBody>
                  <a:tcPr>
                    <a:solidFill>
                      <a:schemeClr val="accent6">
                        <a:lumMod val="60000"/>
                        <a:lumOff val="40000"/>
                      </a:schemeClr>
                    </a:solidFill>
                  </a:tcPr>
                </a:tc>
                <a:tc>
                  <a:txBody>
                    <a:bodyPr/>
                    <a:lstStyle/>
                    <a:p>
                      <a:pPr algn="ctr"/>
                      <a:r>
                        <a:rPr lang="en-US" dirty="0">
                          <a:solidFill>
                            <a:schemeClr val="tx1"/>
                          </a:solidFill>
                        </a:rPr>
                        <a:t>G</a:t>
                      </a:r>
                    </a:p>
                  </a:txBody>
                  <a:tcPr>
                    <a:solidFill>
                      <a:schemeClr val="accent6">
                        <a:lumMod val="60000"/>
                        <a:lumOff val="40000"/>
                      </a:schemeClr>
                    </a:solidFill>
                  </a:tcPr>
                </a:tc>
                <a:tc>
                  <a:txBody>
                    <a:bodyPr/>
                    <a:lstStyle/>
                    <a:p>
                      <a:pPr algn="ctr"/>
                      <a:r>
                        <a:rPr lang="en-US" dirty="0">
                          <a:solidFill>
                            <a:schemeClr val="tx1"/>
                          </a:solidFill>
                        </a:rPr>
                        <a:t>F</a:t>
                      </a:r>
                    </a:p>
                  </a:txBody>
                  <a:tcPr>
                    <a:solidFill>
                      <a:schemeClr val="accent6">
                        <a:lumMod val="60000"/>
                        <a:lumOff val="40000"/>
                      </a:schemeClr>
                    </a:solidFill>
                  </a:tcPr>
                </a:tc>
                <a:tc>
                  <a:txBody>
                    <a:bodyPr/>
                    <a:lstStyle/>
                    <a:p>
                      <a:pPr algn="ctr"/>
                      <a:r>
                        <a:rPr lang="en-US" dirty="0">
                          <a:solidFill>
                            <a:schemeClr val="tx1"/>
                          </a:solidFill>
                        </a:rPr>
                        <a:t>E</a:t>
                      </a: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dirty="0"/>
                    </a:p>
                  </a:txBody>
                  <a:tcPr>
                    <a:solidFill>
                      <a:schemeClr val="accent6">
                        <a:lumMod val="60000"/>
                        <a:lumOff val="40000"/>
                      </a:schemeClr>
                    </a:solidFill>
                  </a:tcPr>
                </a:tc>
                <a:tc>
                  <a:txBody>
                    <a:bodyPr/>
                    <a:lstStyle/>
                    <a:p>
                      <a:endParaRPr lang="en-US" dirty="0"/>
                    </a:p>
                  </a:txBody>
                  <a:tcPr>
                    <a:solidFill>
                      <a:schemeClr val="accent6">
                        <a:lumMod val="60000"/>
                        <a:lumOff val="40000"/>
                      </a:schemeClr>
                    </a:solidFill>
                  </a:tcPr>
                </a:tc>
                <a:tc>
                  <a:txBody>
                    <a:bodyPr/>
                    <a:lstStyle/>
                    <a:p>
                      <a:endParaRPr lang="en-US" dirty="0"/>
                    </a:p>
                  </a:txBody>
                  <a:tcPr>
                    <a:solidFill>
                      <a:schemeClr val="accent6">
                        <a:lumMod val="60000"/>
                        <a:lumOff val="40000"/>
                      </a:schemeClr>
                    </a:solidFill>
                  </a:tcPr>
                </a:tc>
                <a:extLst>
                  <a:ext uri="{0D108BD9-81ED-4DB2-BD59-A6C34878D82A}">
                    <a16:rowId xmlns:a16="http://schemas.microsoft.com/office/drawing/2014/main" val="660647860"/>
                  </a:ext>
                </a:extLst>
              </a:tr>
            </a:tbl>
          </a:graphicData>
        </a:graphic>
      </p:graphicFrame>
      <p:sp>
        <p:nvSpPr>
          <p:cNvPr id="31" name="TextBox 30"/>
          <p:cNvSpPr txBox="1"/>
          <p:nvPr/>
        </p:nvSpPr>
        <p:spPr>
          <a:xfrm>
            <a:off x="965262" y="5554545"/>
            <a:ext cx="418704" cy="461665"/>
          </a:xfrm>
          <a:prstGeom prst="rect">
            <a:avLst/>
          </a:prstGeom>
          <a:noFill/>
        </p:spPr>
        <p:txBody>
          <a:bodyPr wrap="none" rtlCol="0">
            <a:spAutoFit/>
          </a:bodyPr>
          <a:lstStyle/>
          <a:p>
            <a:r>
              <a:rPr lang="en-US" sz="2400" b="1" dirty="0">
                <a:effectLst>
                  <a:outerShdw blurRad="38100" dist="38100" dir="2700000" algn="tl">
                    <a:srgbClr val="000000">
                      <a:alpha val="43137"/>
                    </a:srgbClr>
                  </a:outerShdw>
                </a:effectLst>
              </a:rPr>
              <a:t>Q</a:t>
            </a:r>
          </a:p>
        </p:txBody>
      </p:sp>
      <p:cxnSp>
        <p:nvCxnSpPr>
          <p:cNvPr id="32" name="Straight Connector 31"/>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3" name="Table 32"/>
          <p:cNvGraphicFramePr>
            <a:graphicFrameLocks noGrp="1"/>
          </p:cNvGraphicFramePr>
          <p:nvPr/>
        </p:nvGraphicFramePr>
        <p:xfrm>
          <a:off x="1437550" y="6006356"/>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C</a:t>
                      </a:r>
                    </a:p>
                  </a:txBody>
                  <a:tcPr>
                    <a:noFill/>
                  </a:tcPr>
                </a:tc>
                <a:tc>
                  <a:txBody>
                    <a:bodyPr/>
                    <a:lstStyle/>
                    <a:p>
                      <a:endParaRPr lang="en-US"/>
                    </a:p>
                  </a:txBody>
                  <a:tcPr>
                    <a:noFill/>
                  </a:tcPr>
                </a:tc>
                <a:tc>
                  <a:txBody>
                    <a:bodyPr/>
                    <a:lstStyle/>
                    <a:p>
                      <a:endParaRPr lang="en-US" dirty="0"/>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dirty="0"/>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sp>
        <p:nvSpPr>
          <p:cNvPr id="35" name="Rectangle 34"/>
          <p:cNvSpPr/>
          <p:nvPr/>
        </p:nvSpPr>
        <p:spPr>
          <a:xfrm>
            <a:off x="10911473" y="2833056"/>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6" name="Rectangle 35"/>
          <p:cNvSpPr/>
          <p:nvPr/>
        </p:nvSpPr>
        <p:spPr>
          <a:xfrm>
            <a:off x="10907116" y="3233653"/>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7" name="Rectangle 36"/>
          <p:cNvSpPr/>
          <p:nvPr/>
        </p:nvSpPr>
        <p:spPr>
          <a:xfrm>
            <a:off x="10902760" y="3581998"/>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8" name="Rectangle 37"/>
          <p:cNvSpPr/>
          <p:nvPr/>
        </p:nvSpPr>
        <p:spPr>
          <a:xfrm>
            <a:off x="10902764" y="4679279"/>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9" name="Rectangle 38"/>
          <p:cNvSpPr/>
          <p:nvPr/>
        </p:nvSpPr>
        <p:spPr>
          <a:xfrm>
            <a:off x="10898408" y="4322227"/>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41" name="Rectangle 40"/>
          <p:cNvSpPr/>
          <p:nvPr/>
        </p:nvSpPr>
        <p:spPr>
          <a:xfrm>
            <a:off x="10898408" y="5079876"/>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grpSp>
        <p:nvGrpSpPr>
          <p:cNvPr id="43" name="Group 42">
            <a:extLst>
              <a:ext uri="{FF2B5EF4-FFF2-40B4-BE49-F238E27FC236}">
                <a16:creationId xmlns:a16="http://schemas.microsoft.com/office/drawing/2014/main" id="{797D5902-A25F-45A9-B6F6-56446745F72D}"/>
              </a:ext>
            </a:extLst>
          </p:cNvPr>
          <p:cNvGrpSpPr/>
          <p:nvPr/>
        </p:nvGrpSpPr>
        <p:grpSpPr>
          <a:xfrm>
            <a:off x="1437550" y="5599958"/>
            <a:ext cx="511370" cy="356179"/>
            <a:chOff x="1437550" y="5599958"/>
            <a:chExt cx="511370" cy="356179"/>
          </a:xfrm>
        </p:grpSpPr>
        <p:cxnSp>
          <p:nvCxnSpPr>
            <p:cNvPr id="44" name="Straight Connector 43">
              <a:extLst>
                <a:ext uri="{FF2B5EF4-FFF2-40B4-BE49-F238E27FC236}">
                  <a16:creationId xmlns:a16="http://schemas.microsoft.com/office/drawing/2014/main" id="{B9E6AF5E-6157-4B27-A7AA-77379261F997}"/>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26BCD7DD-2BBC-4F82-839A-49DD4978B125}"/>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2EDB51C1-91C5-495B-B964-D72C78908FB4}"/>
              </a:ext>
            </a:extLst>
          </p:cNvPr>
          <p:cNvGrpSpPr/>
          <p:nvPr/>
        </p:nvGrpSpPr>
        <p:grpSpPr>
          <a:xfrm>
            <a:off x="1971132" y="5589178"/>
            <a:ext cx="511370" cy="356179"/>
            <a:chOff x="1437550" y="5599958"/>
            <a:chExt cx="511370" cy="356179"/>
          </a:xfrm>
        </p:grpSpPr>
        <p:cxnSp>
          <p:nvCxnSpPr>
            <p:cNvPr id="47" name="Straight Connector 46">
              <a:extLst>
                <a:ext uri="{FF2B5EF4-FFF2-40B4-BE49-F238E27FC236}">
                  <a16:creationId xmlns:a16="http://schemas.microsoft.com/office/drawing/2014/main" id="{79383B31-1A04-4950-8C31-861B256D239A}"/>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1FB632E8-C6FC-4F1A-B674-BA306C456CCC}"/>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24261455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Breadth-First Search</a:t>
            </a:r>
          </a:p>
        </p:txBody>
      </p:sp>
      <p:sp>
        <p:nvSpPr>
          <p:cNvPr id="13" name="Slide Number Placeholder 12">
            <a:extLst>
              <a:ext uri="{FF2B5EF4-FFF2-40B4-BE49-F238E27FC236}">
                <a16:creationId xmlns:a16="http://schemas.microsoft.com/office/drawing/2014/main" id="{07A9ABAD-3E72-441D-8BBB-28F2AEBDEB01}"/>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40/110</a:t>
            </a:r>
          </a:p>
        </p:txBody>
      </p:sp>
      <p:cxnSp>
        <p:nvCxnSpPr>
          <p:cNvPr id="3" name="Straight Connector 2"/>
          <p:cNvCxnSpPr>
            <a:stCxn id="12" idx="1"/>
          </p:cNvCxnSpPr>
          <p:nvPr/>
        </p:nvCxnSpPr>
        <p:spPr>
          <a:xfrm flipH="1" flipV="1">
            <a:off x="1097669" y="3734594"/>
            <a:ext cx="2198288" cy="93317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 name="Straight Connector 3"/>
          <p:cNvCxnSpPr>
            <a:stCxn id="7" idx="5"/>
          </p:cNvCxnSpPr>
          <p:nvPr/>
        </p:nvCxnSpPr>
        <p:spPr>
          <a:xfrm>
            <a:off x="2328832" y="3462270"/>
            <a:ext cx="1158049" cy="13377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flipV="1">
            <a:off x="2174848" y="3377774"/>
            <a:ext cx="1856048" cy="24517"/>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1948920" y="3481714"/>
            <a:ext cx="175670" cy="1109474"/>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 name="Oval 16"/>
          <p:cNvSpPr>
            <a:spLocks noChangeArrowheads="1"/>
          </p:cNvSpPr>
          <p:nvPr/>
        </p:nvSpPr>
        <p:spPr bwMode="auto">
          <a:xfrm>
            <a:off x="1957083" y="309052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8" name="Straight Connector 7"/>
          <p:cNvCxnSpPr/>
          <p:nvPr/>
        </p:nvCxnSpPr>
        <p:spPr>
          <a:xfrm flipH="1">
            <a:off x="2120774" y="4800035"/>
            <a:ext cx="1119177" cy="684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a:endCxn id="25" idx="1"/>
          </p:cNvCxnSpPr>
          <p:nvPr/>
        </p:nvCxnSpPr>
        <p:spPr>
          <a:xfrm>
            <a:off x="1167927" y="3936170"/>
            <a:ext cx="563889" cy="8638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686531" y="458227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1" name="Oval 16"/>
          <p:cNvSpPr>
            <a:spLocks noChangeArrowheads="1"/>
          </p:cNvSpPr>
          <p:nvPr/>
        </p:nvSpPr>
        <p:spPr bwMode="auto">
          <a:xfrm>
            <a:off x="796178" y="3610102"/>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2" name="Oval 16"/>
          <p:cNvSpPr>
            <a:spLocks noChangeArrowheads="1"/>
          </p:cNvSpPr>
          <p:nvPr/>
        </p:nvSpPr>
        <p:spPr bwMode="auto">
          <a:xfrm>
            <a:off x="3232175" y="460398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5" name="Straight Connector 14"/>
          <p:cNvCxnSpPr>
            <a:stCxn id="12" idx="7"/>
          </p:cNvCxnSpPr>
          <p:nvPr/>
        </p:nvCxnSpPr>
        <p:spPr>
          <a:xfrm flipV="1">
            <a:off x="3603924" y="3429291"/>
            <a:ext cx="650011" cy="123847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20" idx="6"/>
          </p:cNvCxnSpPr>
          <p:nvPr/>
        </p:nvCxnSpPr>
        <p:spPr>
          <a:xfrm flipV="1">
            <a:off x="4464552" y="3565009"/>
            <a:ext cx="1367969" cy="125700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flipV="1">
            <a:off x="4408532" y="3371173"/>
            <a:ext cx="1353035" cy="6601"/>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4246786" y="3646429"/>
            <a:ext cx="45505" cy="95755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4029021" y="319567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0" name="Oval 16"/>
          <p:cNvSpPr>
            <a:spLocks noChangeArrowheads="1"/>
          </p:cNvSpPr>
          <p:nvPr/>
        </p:nvSpPr>
        <p:spPr bwMode="auto">
          <a:xfrm>
            <a:off x="4029021" y="46042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1" name="Oval 16"/>
          <p:cNvSpPr>
            <a:spLocks noChangeArrowheads="1"/>
          </p:cNvSpPr>
          <p:nvPr/>
        </p:nvSpPr>
        <p:spPr bwMode="auto">
          <a:xfrm>
            <a:off x="5747996" y="318047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TextBox 23"/>
          <p:cNvSpPr txBox="1"/>
          <p:nvPr/>
        </p:nvSpPr>
        <p:spPr>
          <a:xfrm>
            <a:off x="2006372" y="3112381"/>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25" name="TextBox 24"/>
          <p:cNvSpPr txBox="1"/>
          <p:nvPr/>
        </p:nvSpPr>
        <p:spPr>
          <a:xfrm>
            <a:off x="1731816" y="4615369"/>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26" name="TextBox 25"/>
          <p:cNvSpPr txBox="1"/>
          <p:nvPr/>
        </p:nvSpPr>
        <p:spPr>
          <a:xfrm>
            <a:off x="4096606" y="3217625"/>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27" name="Rectangle 26"/>
          <p:cNvSpPr/>
          <p:nvPr/>
        </p:nvSpPr>
        <p:spPr>
          <a:xfrm>
            <a:off x="844245" y="3647774"/>
            <a:ext cx="343364" cy="369332"/>
          </a:xfrm>
          <a:prstGeom prst="rect">
            <a:avLst/>
          </a:prstGeom>
        </p:spPr>
        <p:txBody>
          <a:bodyPr wrap="none">
            <a:spAutoFit/>
          </a:bodyPr>
          <a:lstStyle/>
          <a:p>
            <a:r>
              <a:rPr lang="en-US" b="1" dirty="0">
                <a:solidFill>
                  <a:prstClr val="black"/>
                </a:solidFill>
              </a:rPr>
              <a:t>D</a:t>
            </a:r>
          </a:p>
        </p:txBody>
      </p:sp>
      <p:sp>
        <p:nvSpPr>
          <p:cNvPr id="28" name="Rectangle 27"/>
          <p:cNvSpPr/>
          <p:nvPr/>
        </p:nvSpPr>
        <p:spPr>
          <a:xfrm>
            <a:off x="4076007" y="4647465"/>
            <a:ext cx="304892" cy="369332"/>
          </a:xfrm>
          <a:prstGeom prst="rect">
            <a:avLst/>
          </a:prstGeom>
        </p:spPr>
        <p:txBody>
          <a:bodyPr wrap="none">
            <a:spAutoFit/>
          </a:bodyPr>
          <a:lstStyle/>
          <a:p>
            <a:r>
              <a:rPr lang="en-US" b="1" dirty="0">
                <a:solidFill>
                  <a:prstClr val="black"/>
                </a:solidFill>
              </a:rPr>
              <a:t>F</a:t>
            </a:r>
          </a:p>
        </p:txBody>
      </p:sp>
      <p:sp>
        <p:nvSpPr>
          <p:cNvPr id="29" name="Rectangle 28"/>
          <p:cNvSpPr/>
          <p:nvPr/>
        </p:nvSpPr>
        <p:spPr>
          <a:xfrm>
            <a:off x="5798967" y="3195677"/>
            <a:ext cx="340158" cy="369332"/>
          </a:xfrm>
          <a:prstGeom prst="rect">
            <a:avLst/>
          </a:prstGeom>
        </p:spPr>
        <p:txBody>
          <a:bodyPr wrap="none">
            <a:spAutoFit/>
          </a:bodyPr>
          <a:lstStyle/>
          <a:p>
            <a:r>
              <a:rPr lang="en-US" b="1" dirty="0">
                <a:solidFill>
                  <a:prstClr val="black"/>
                </a:solidFill>
              </a:rPr>
              <a:t>G</a:t>
            </a:r>
          </a:p>
        </p:txBody>
      </p:sp>
      <p:sp>
        <p:nvSpPr>
          <p:cNvPr id="34" name="Rectangle 33"/>
          <p:cNvSpPr/>
          <p:nvPr/>
        </p:nvSpPr>
        <p:spPr>
          <a:xfrm>
            <a:off x="3291957" y="4628920"/>
            <a:ext cx="316112" cy="369332"/>
          </a:xfrm>
          <a:prstGeom prst="rect">
            <a:avLst/>
          </a:prstGeom>
        </p:spPr>
        <p:txBody>
          <a:bodyPr wrap="none">
            <a:spAutoFit/>
          </a:bodyPr>
          <a:lstStyle/>
          <a:p>
            <a:r>
              <a:rPr lang="en-US" b="1" dirty="0">
                <a:solidFill>
                  <a:prstClr val="black"/>
                </a:solidFill>
              </a:rPr>
              <a:t>E</a:t>
            </a:r>
          </a:p>
        </p:txBody>
      </p:sp>
      <p:graphicFrame>
        <p:nvGraphicFramePr>
          <p:cNvPr id="40" name="Table 39"/>
          <p:cNvGraphicFramePr>
            <a:graphicFrameLocks noGrp="1"/>
          </p:cNvGraphicFramePr>
          <p:nvPr>
            <p:extLst>
              <p:ext uri="{D42A27DB-BD31-4B8C-83A1-F6EECF244321}">
                <p14:modId xmlns:p14="http://schemas.microsoft.com/office/powerpoint/2010/main" val="1784151306"/>
              </p:ext>
            </p:extLst>
          </p:nvPr>
        </p:nvGraphicFramePr>
        <p:xfrm>
          <a:off x="7771306" y="2531586"/>
          <a:ext cx="3968937" cy="2966720"/>
        </p:xfrm>
        <a:graphic>
          <a:graphicData uri="http://schemas.openxmlformats.org/drawingml/2006/table">
            <a:tbl>
              <a:tblPr firstRow="1" bandRow="1">
                <a:tableStyleId>{5C22544A-7EE6-4342-B048-85BDC9FD1C3A}</a:tableStyleId>
              </a:tblPr>
              <a:tblGrid>
                <a:gridCol w="1020499">
                  <a:extLst>
                    <a:ext uri="{9D8B030D-6E8A-4147-A177-3AD203B41FA5}">
                      <a16:colId xmlns:a16="http://schemas.microsoft.com/office/drawing/2014/main" val="2989644895"/>
                    </a:ext>
                  </a:extLst>
                </a:gridCol>
                <a:gridCol w="1826832">
                  <a:extLst>
                    <a:ext uri="{9D8B030D-6E8A-4147-A177-3AD203B41FA5}">
                      <a16:colId xmlns:a16="http://schemas.microsoft.com/office/drawing/2014/main" val="4244960412"/>
                    </a:ext>
                  </a:extLst>
                </a:gridCol>
                <a:gridCol w="1121606">
                  <a:extLst>
                    <a:ext uri="{9D8B030D-6E8A-4147-A177-3AD203B41FA5}">
                      <a16:colId xmlns:a16="http://schemas.microsoft.com/office/drawing/2014/main" val="2572560869"/>
                    </a:ext>
                  </a:extLst>
                </a:gridCol>
              </a:tblGrid>
              <a:tr h="370840">
                <a:tc>
                  <a:txBody>
                    <a:bodyPr/>
                    <a:lstStyle/>
                    <a:p>
                      <a:pPr algn="ctr"/>
                      <a:r>
                        <a:rPr lang="en-US" dirty="0"/>
                        <a:t>NODE</a:t>
                      </a:r>
                    </a:p>
                  </a:txBody>
                  <a:tcPr/>
                </a:tc>
                <a:tc>
                  <a:txBody>
                    <a:bodyPr/>
                    <a:lstStyle/>
                    <a:p>
                      <a:pPr algn="ctr"/>
                      <a:r>
                        <a:rPr lang="en-US" dirty="0"/>
                        <a:t>NEIGHBORS</a:t>
                      </a:r>
                    </a:p>
                  </a:txBody>
                  <a:tcPr/>
                </a:tc>
                <a:tc>
                  <a:txBody>
                    <a:bodyPr/>
                    <a:lstStyle/>
                    <a:p>
                      <a:pPr algn="ctr"/>
                      <a:r>
                        <a:rPr lang="en-US" dirty="0"/>
                        <a:t>LABEL</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E,F,G</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mn-lt"/>
                          <a:ea typeface="+mn-ea"/>
                          <a:cs typeface="+mn-cs"/>
                        </a:rPr>
                        <a:t>X</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F</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205733479"/>
                  </a:ext>
                </a:extLst>
              </a:tr>
            </a:tbl>
          </a:graphicData>
        </a:graphic>
      </p:graphicFrame>
      <p:cxnSp>
        <p:nvCxnSpPr>
          <p:cNvPr id="42" name="Straight Arrow Connector 41"/>
          <p:cNvCxnSpPr/>
          <p:nvPr/>
        </p:nvCxnSpPr>
        <p:spPr>
          <a:xfrm>
            <a:off x="1948920" y="2586178"/>
            <a:ext cx="119848" cy="4163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aphicFrame>
        <p:nvGraphicFramePr>
          <p:cNvPr id="30" name="Table 29"/>
          <p:cNvGraphicFramePr>
            <a:graphicFrameLocks noGrp="1"/>
          </p:cNvGraphicFramePr>
          <p:nvPr>
            <p:extLst>
              <p:ext uri="{D42A27DB-BD31-4B8C-83A1-F6EECF244321}">
                <p14:modId xmlns:p14="http://schemas.microsoft.com/office/powerpoint/2010/main" val="1364780071"/>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r>
                        <a:rPr lang="en-US" dirty="0">
                          <a:solidFill>
                            <a:schemeClr val="tx1"/>
                          </a:solidFill>
                        </a:rPr>
                        <a:t>G</a:t>
                      </a:r>
                    </a:p>
                  </a:txBody>
                  <a:tcPr>
                    <a:solidFill>
                      <a:schemeClr val="accent6">
                        <a:lumMod val="60000"/>
                        <a:lumOff val="40000"/>
                      </a:schemeClr>
                    </a:solidFill>
                  </a:tcPr>
                </a:tc>
                <a:tc>
                  <a:txBody>
                    <a:bodyPr/>
                    <a:lstStyle/>
                    <a:p>
                      <a:pPr algn="ctr"/>
                      <a:r>
                        <a:rPr lang="en-US" dirty="0">
                          <a:solidFill>
                            <a:schemeClr val="tx1"/>
                          </a:solidFill>
                        </a:rPr>
                        <a:t>F</a:t>
                      </a:r>
                    </a:p>
                  </a:txBody>
                  <a:tcPr>
                    <a:solidFill>
                      <a:schemeClr val="accent6">
                        <a:lumMod val="60000"/>
                        <a:lumOff val="40000"/>
                      </a:schemeClr>
                    </a:solidFill>
                  </a:tcPr>
                </a:tc>
                <a:tc>
                  <a:txBody>
                    <a:bodyPr/>
                    <a:lstStyle/>
                    <a:p>
                      <a:pPr algn="ctr"/>
                      <a:r>
                        <a:rPr lang="en-US" dirty="0">
                          <a:solidFill>
                            <a:schemeClr val="tx1"/>
                          </a:solidFill>
                        </a:rPr>
                        <a:t>E</a:t>
                      </a:r>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dirty="0"/>
                    </a:p>
                  </a:txBody>
                  <a:tcPr>
                    <a:solidFill>
                      <a:schemeClr val="accent6">
                        <a:lumMod val="60000"/>
                        <a:lumOff val="40000"/>
                      </a:schemeClr>
                    </a:solidFill>
                  </a:tcPr>
                </a:tc>
                <a:tc>
                  <a:txBody>
                    <a:bodyPr/>
                    <a:lstStyle/>
                    <a:p>
                      <a:endParaRPr lang="en-US" dirty="0"/>
                    </a:p>
                  </a:txBody>
                  <a:tcPr>
                    <a:solidFill>
                      <a:schemeClr val="accent6">
                        <a:lumMod val="60000"/>
                        <a:lumOff val="40000"/>
                      </a:schemeClr>
                    </a:solidFill>
                  </a:tcPr>
                </a:tc>
                <a:extLst>
                  <a:ext uri="{0D108BD9-81ED-4DB2-BD59-A6C34878D82A}">
                    <a16:rowId xmlns:a16="http://schemas.microsoft.com/office/drawing/2014/main" val="660647860"/>
                  </a:ext>
                </a:extLst>
              </a:tr>
            </a:tbl>
          </a:graphicData>
        </a:graphic>
      </p:graphicFrame>
      <p:sp>
        <p:nvSpPr>
          <p:cNvPr id="31" name="TextBox 30"/>
          <p:cNvSpPr txBox="1"/>
          <p:nvPr/>
        </p:nvSpPr>
        <p:spPr>
          <a:xfrm>
            <a:off x="965262" y="5554545"/>
            <a:ext cx="418704" cy="461665"/>
          </a:xfrm>
          <a:prstGeom prst="rect">
            <a:avLst/>
          </a:prstGeom>
          <a:noFill/>
        </p:spPr>
        <p:txBody>
          <a:bodyPr wrap="none" rtlCol="0">
            <a:spAutoFit/>
          </a:bodyPr>
          <a:lstStyle/>
          <a:p>
            <a:r>
              <a:rPr lang="en-US" sz="2400" b="1" dirty="0">
                <a:effectLst>
                  <a:outerShdw blurRad="38100" dist="38100" dir="2700000" algn="tl">
                    <a:srgbClr val="000000">
                      <a:alpha val="43137"/>
                    </a:srgbClr>
                  </a:outerShdw>
                </a:effectLst>
              </a:rPr>
              <a:t>Q</a:t>
            </a:r>
          </a:p>
        </p:txBody>
      </p:sp>
      <p:cxnSp>
        <p:nvCxnSpPr>
          <p:cNvPr id="32" name="Straight Connector 31"/>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3" name="Table 32"/>
          <p:cNvGraphicFramePr>
            <a:graphicFrameLocks noGrp="1"/>
          </p:cNvGraphicFramePr>
          <p:nvPr/>
        </p:nvGraphicFramePr>
        <p:xfrm>
          <a:off x="1437550" y="6006356"/>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C</a:t>
                      </a:r>
                    </a:p>
                  </a:txBody>
                  <a:tcPr>
                    <a:noFill/>
                  </a:tcPr>
                </a:tc>
                <a:tc>
                  <a:txBody>
                    <a:bodyPr/>
                    <a:lstStyle/>
                    <a:p>
                      <a:pPr algn="ctr"/>
                      <a:r>
                        <a:rPr lang="en-US" dirty="0">
                          <a:solidFill>
                            <a:schemeClr val="tx1"/>
                          </a:solidFill>
                        </a:rPr>
                        <a:t>B</a:t>
                      </a:r>
                    </a:p>
                  </a:txBody>
                  <a:tcPr>
                    <a:noFill/>
                  </a:tcPr>
                </a:tc>
                <a:tc>
                  <a:txBody>
                    <a:bodyPr/>
                    <a:lstStyle/>
                    <a:p>
                      <a:endParaRPr lang="en-US" dirty="0"/>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dirty="0"/>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sp>
        <p:nvSpPr>
          <p:cNvPr id="35" name="Rectangle 34"/>
          <p:cNvSpPr/>
          <p:nvPr/>
        </p:nvSpPr>
        <p:spPr>
          <a:xfrm>
            <a:off x="10903308" y="2833056"/>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6" name="Rectangle 35"/>
          <p:cNvSpPr/>
          <p:nvPr/>
        </p:nvSpPr>
        <p:spPr>
          <a:xfrm>
            <a:off x="10898951" y="3233653"/>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7" name="Rectangle 36"/>
          <p:cNvSpPr/>
          <p:nvPr/>
        </p:nvSpPr>
        <p:spPr>
          <a:xfrm>
            <a:off x="10894595" y="3581998"/>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8" name="Rectangle 37"/>
          <p:cNvSpPr/>
          <p:nvPr/>
        </p:nvSpPr>
        <p:spPr>
          <a:xfrm>
            <a:off x="10894599" y="4718464"/>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9" name="Rectangle 38"/>
          <p:cNvSpPr/>
          <p:nvPr/>
        </p:nvSpPr>
        <p:spPr>
          <a:xfrm>
            <a:off x="10890243" y="4322227"/>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41" name="Rectangle 40"/>
          <p:cNvSpPr/>
          <p:nvPr/>
        </p:nvSpPr>
        <p:spPr>
          <a:xfrm>
            <a:off x="10903306" y="5066809"/>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grpSp>
        <p:nvGrpSpPr>
          <p:cNvPr id="43" name="Group 42">
            <a:extLst>
              <a:ext uri="{FF2B5EF4-FFF2-40B4-BE49-F238E27FC236}">
                <a16:creationId xmlns:a16="http://schemas.microsoft.com/office/drawing/2014/main" id="{3AB81D0B-573D-4951-82C2-48F3267991A2}"/>
              </a:ext>
            </a:extLst>
          </p:cNvPr>
          <p:cNvGrpSpPr/>
          <p:nvPr/>
        </p:nvGrpSpPr>
        <p:grpSpPr>
          <a:xfrm>
            <a:off x="1437550" y="5599958"/>
            <a:ext cx="511370" cy="356179"/>
            <a:chOff x="1437550" y="5599958"/>
            <a:chExt cx="511370" cy="356179"/>
          </a:xfrm>
        </p:grpSpPr>
        <p:cxnSp>
          <p:nvCxnSpPr>
            <p:cNvPr id="44" name="Straight Connector 43">
              <a:extLst>
                <a:ext uri="{FF2B5EF4-FFF2-40B4-BE49-F238E27FC236}">
                  <a16:creationId xmlns:a16="http://schemas.microsoft.com/office/drawing/2014/main" id="{1E20F894-FA13-4B86-9458-097436C54F54}"/>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3DA773FA-56F7-46A0-AC4E-8791D69111BF}"/>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F67ED092-A31D-420A-AFD3-6A1357C99764}"/>
              </a:ext>
            </a:extLst>
          </p:cNvPr>
          <p:cNvGrpSpPr/>
          <p:nvPr/>
        </p:nvGrpSpPr>
        <p:grpSpPr>
          <a:xfrm>
            <a:off x="1971132" y="5589178"/>
            <a:ext cx="511370" cy="356179"/>
            <a:chOff x="1437550" y="5599958"/>
            <a:chExt cx="511370" cy="356179"/>
          </a:xfrm>
        </p:grpSpPr>
        <p:cxnSp>
          <p:nvCxnSpPr>
            <p:cNvPr id="47" name="Straight Connector 46">
              <a:extLst>
                <a:ext uri="{FF2B5EF4-FFF2-40B4-BE49-F238E27FC236}">
                  <a16:creationId xmlns:a16="http://schemas.microsoft.com/office/drawing/2014/main" id="{72CF9537-A020-44E4-976B-766EC86A3401}"/>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6EE07A87-B2F6-4BD1-AC89-7425F18CF48A}"/>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a:extLst>
              <a:ext uri="{FF2B5EF4-FFF2-40B4-BE49-F238E27FC236}">
                <a16:creationId xmlns:a16="http://schemas.microsoft.com/office/drawing/2014/main" id="{2654FA0D-6001-4D9E-AB19-094797D83ED2}"/>
              </a:ext>
            </a:extLst>
          </p:cNvPr>
          <p:cNvGrpSpPr/>
          <p:nvPr/>
        </p:nvGrpSpPr>
        <p:grpSpPr>
          <a:xfrm>
            <a:off x="2499469" y="5589178"/>
            <a:ext cx="511370" cy="356179"/>
            <a:chOff x="1437550" y="5599958"/>
            <a:chExt cx="511370" cy="356179"/>
          </a:xfrm>
        </p:grpSpPr>
        <p:cxnSp>
          <p:nvCxnSpPr>
            <p:cNvPr id="50" name="Straight Connector 49">
              <a:extLst>
                <a:ext uri="{FF2B5EF4-FFF2-40B4-BE49-F238E27FC236}">
                  <a16:creationId xmlns:a16="http://schemas.microsoft.com/office/drawing/2014/main" id="{42DD98A9-1518-4163-B873-E43EA5B255DA}"/>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7EF12C10-D007-41D7-96AE-4492260F64F9}"/>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33779892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Breadth-First Search</a:t>
            </a:r>
          </a:p>
        </p:txBody>
      </p:sp>
      <p:sp>
        <p:nvSpPr>
          <p:cNvPr id="13" name="Slide Number Placeholder 12">
            <a:extLst>
              <a:ext uri="{FF2B5EF4-FFF2-40B4-BE49-F238E27FC236}">
                <a16:creationId xmlns:a16="http://schemas.microsoft.com/office/drawing/2014/main" id="{38E1A2F0-1DFF-45D8-8B28-EBD3F50EAB4B}"/>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41/110</a:t>
            </a:r>
          </a:p>
        </p:txBody>
      </p:sp>
      <p:cxnSp>
        <p:nvCxnSpPr>
          <p:cNvPr id="3" name="Straight Connector 2"/>
          <p:cNvCxnSpPr>
            <a:stCxn id="12" idx="1"/>
          </p:cNvCxnSpPr>
          <p:nvPr/>
        </p:nvCxnSpPr>
        <p:spPr>
          <a:xfrm flipH="1" flipV="1">
            <a:off x="1097669" y="3734594"/>
            <a:ext cx="2198288" cy="93317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 name="Straight Connector 3"/>
          <p:cNvCxnSpPr>
            <a:stCxn id="7" idx="5"/>
          </p:cNvCxnSpPr>
          <p:nvPr/>
        </p:nvCxnSpPr>
        <p:spPr>
          <a:xfrm>
            <a:off x="2328832" y="3462270"/>
            <a:ext cx="1158049" cy="13377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flipV="1">
            <a:off x="2174848" y="3377774"/>
            <a:ext cx="1856048" cy="24517"/>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1948920" y="3481714"/>
            <a:ext cx="175670" cy="1109474"/>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 name="Oval 16"/>
          <p:cNvSpPr>
            <a:spLocks noChangeArrowheads="1"/>
          </p:cNvSpPr>
          <p:nvPr/>
        </p:nvSpPr>
        <p:spPr bwMode="auto">
          <a:xfrm>
            <a:off x="1957083" y="309052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8" name="Straight Connector 7"/>
          <p:cNvCxnSpPr/>
          <p:nvPr/>
        </p:nvCxnSpPr>
        <p:spPr>
          <a:xfrm flipH="1">
            <a:off x="2120774" y="4800035"/>
            <a:ext cx="1119177" cy="684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a:endCxn id="25" idx="1"/>
          </p:cNvCxnSpPr>
          <p:nvPr/>
        </p:nvCxnSpPr>
        <p:spPr>
          <a:xfrm>
            <a:off x="1167927" y="3936170"/>
            <a:ext cx="563889" cy="8638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686531" y="458227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1" name="Oval 16"/>
          <p:cNvSpPr>
            <a:spLocks noChangeArrowheads="1"/>
          </p:cNvSpPr>
          <p:nvPr/>
        </p:nvSpPr>
        <p:spPr bwMode="auto">
          <a:xfrm>
            <a:off x="796178" y="3610102"/>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2" name="Oval 16"/>
          <p:cNvSpPr>
            <a:spLocks noChangeArrowheads="1"/>
          </p:cNvSpPr>
          <p:nvPr/>
        </p:nvSpPr>
        <p:spPr bwMode="auto">
          <a:xfrm>
            <a:off x="3232175" y="460398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5" name="Straight Connector 14"/>
          <p:cNvCxnSpPr>
            <a:stCxn id="12" idx="7"/>
          </p:cNvCxnSpPr>
          <p:nvPr/>
        </p:nvCxnSpPr>
        <p:spPr>
          <a:xfrm flipV="1">
            <a:off x="3603924" y="3429291"/>
            <a:ext cx="650011" cy="123847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20" idx="6"/>
          </p:cNvCxnSpPr>
          <p:nvPr/>
        </p:nvCxnSpPr>
        <p:spPr>
          <a:xfrm flipV="1">
            <a:off x="4464552" y="3565009"/>
            <a:ext cx="1367969" cy="125700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flipV="1">
            <a:off x="4408532" y="3371173"/>
            <a:ext cx="1353035" cy="6601"/>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4246786" y="3646429"/>
            <a:ext cx="45505" cy="95755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4029021" y="319567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0" name="Oval 16"/>
          <p:cNvSpPr>
            <a:spLocks noChangeArrowheads="1"/>
          </p:cNvSpPr>
          <p:nvPr/>
        </p:nvSpPr>
        <p:spPr bwMode="auto">
          <a:xfrm>
            <a:off x="4029021" y="46042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1" name="Oval 16"/>
          <p:cNvSpPr>
            <a:spLocks noChangeArrowheads="1"/>
          </p:cNvSpPr>
          <p:nvPr/>
        </p:nvSpPr>
        <p:spPr bwMode="auto">
          <a:xfrm>
            <a:off x="5747996" y="318047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TextBox 23"/>
          <p:cNvSpPr txBox="1"/>
          <p:nvPr/>
        </p:nvSpPr>
        <p:spPr>
          <a:xfrm>
            <a:off x="2006372" y="3112381"/>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25" name="TextBox 24"/>
          <p:cNvSpPr txBox="1"/>
          <p:nvPr/>
        </p:nvSpPr>
        <p:spPr>
          <a:xfrm>
            <a:off x="1731816" y="4615369"/>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26" name="TextBox 25"/>
          <p:cNvSpPr txBox="1"/>
          <p:nvPr/>
        </p:nvSpPr>
        <p:spPr>
          <a:xfrm>
            <a:off x="4096606" y="3217625"/>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27" name="Rectangle 26"/>
          <p:cNvSpPr/>
          <p:nvPr/>
        </p:nvSpPr>
        <p:spPr>
          <a:xfrm>
            <a:off x="844245" y="3647774"/>
            <a:ext cx="343364" cy="369332"/>
          </a:xfrm>
          <a:prstGeom prst="rect">
            <a:avLst/>
          </a:prstGeom>
        </p:spPr>
        <p:txBody>
          <a:bodyPr wrap="none">
            <a:spAutoFit/>
          </a:bodyPr>
          <a:lstStyle/>
          <a:p>
            <a:r>
              <a:rPr lang="en-US" b="1" dirty="0">
                <a:solidFill>
                  <a:prstClr val="black"/>
                </a:solidFill>
              </a:rPr>
              <a:t>D</a:t>
            </a:r>
          </a:p>
        </p:txBody>
      </p:sp>
      <p:sp>
        <p:nvSpPr>
          <p:cNvPr id="28" name="Rectangle 27"/>
          <p:cNvSpPr/>
          <p:nvPr/>
        </p:nvSpPr>
        <p:spPr>
          <a:xfrm>
            <a:off x="4076007" y="4647465"/>
            <a:ext cx="304892" cy="369332"/>
          </a:xfrm>
          <a:prstGeom prst="rect">
            <a:avLst/>
          </a:prstGeom>
        </p:spPr>
        <p:txBody>
          <a:bodyPr wrap="none">
            <a:spAutoFit/>
          </a:bodyPr>
          <a:lstStyle/>
          <a:p>
            <a:r>
              <a:rPr lang="en-US" b="1" dirty="0">
                <a:solidFill>
                  <a:prstClr val="black"/>
                </a:solidFill>
              </a:rPr>
              <a:t>F</a:t>
            </a:r>
          </a:p>
        </p:txBody>
      </p:sp>
      <p:sp>
        <p:nvSpPr>
          <p:cNvPr id="29" name="Rectangle 28"/>
          <p:cNvSpPr/>
          <p:nvPr/>
        </p:nvSpPr>
        <p:spPr>
          <a:xfrm>
            <a:off x="5798967" y="3195677"/>
            <a:ext cx="340158" cy="369332"/>
          </a:xfrm>
          <a:prstGeom prst="rect">
            <a:avLst/>
          </a:prstGeom>
        </p:spPr>
        <p:txBody>
          <a:bodyPr wrap="none">
            <a:spAutoFit/>
          </a:bodyPr>
          <a:lstStyle/>
          <a:p>
            <a:r>
              <a:rPr lang="en-US" b="1" dirty="0">
                <a:solidFill>
                  <a:prstClr val="black"/>
                </a:solidFill>
              </a:rPr>
              <a:t>G</a:t>
            </a:r>
          </a:p>
        </p:txBody>
      </p:sp>
      <p:sp>
        <p:nvSpPr>
          <p:cNvPr id="34" name="Rectangle 33"/>
          <p:cNvSpPr/>
          <p:nvPr/>
        </p:nvSpPr>
        <p:spPr>
          <a:xfrm>
            <a:off x="3291957" y="4628920"/>
            <a:ext cx="316112" cy="369332"/>
          </a:xfrm>
          <a:prstGeom prst="rect">
            <a:avLst/>
          </a:prstGeom>
        </p:spPr>
        <p:txBody>
          <a:bodyPr wrap="none">
            <a:spAutoFit/>
          </a:bodyPr>
          <a:lstStyle/>
          <a:p>
            <a:r>
              <a:rPr lang="en-US" b="1" dirty="0">
                <a:solidFill>
                  <a:prstClr val="black"/>
                </a:solidFill>
              </a:rPr>
              <a:t>E</a:t>
            </a:r>
          </a:p>
        </p:txBody>
      </p:sp>
      <p:graphicFrame>
        <p:nvGraphicFramePr>
          <p:cNvPr id="40" name="Table 39"/>
          <p:cNvGraphicFramePr>
            <a:graphicFrameLocks noGrp="1"/>
          </p:cNvGraphicFramePr>
          <p:nvPr>
            <p:extLst>
              <p:ext uri="{D42A27DB-BD31-4B8C-83A1-F6EECF244321}">
                <p14:modId xmlns:p14="http://schemas.microsoft.com/office/powerpoint/2010/main" val="715936502"/>
              </p:ext>
            </p:extLst>
          </p:nvPr>
        </p:nvGraphicFramePr>
        <p:xfrm>
          <a:off x="7771306" y="2531586"/>
          <a:ext cx="3911787" cy="2966720"/>
        </p:xfrm>
        <a:graphic>
          <a:graphicData uri="http://schemas.openxmlformats.org/drawingml/2006/table">
            <a:tbl>
              <a:tblPr firstRow="1" bandRow="1">
                <a:tableStyleId>{5C22544A-7EE6-4342-B048-85BDC9FD1C3A}</a:tableStyleId>
              </a:tblPr>
              <a:tblGrid>
                <a:gridCol w="1005804">
                  <a:extLst>
                    <a:ext uri="{9D8B030D-6E8A-4147-A177-3AD203B41FA5}">
                      <a16:colId xmlns:a16="http://schemas.microsoft.com/office/drawing/2014/main" val="2989644895"/>
                    </a:ext>
                  </a:extLst>
                </a:gridCol>
                <a:gridCol w="1800527">
                  <a:extLst>
                    <a:ext uri="{9D8B030D-6E8A-4147-A177-3AD203B41FA5}">
                      <a16:colId xmlns:a16="http://schemas.microsoft.com/office/drawing/2014/main" val="4244960412"/>
                    </a:ext>
                  </a:extLst>
                </a:gridCol>
                <a:gridCol w="1105456">
                  <a:extLst>
                    <a:ext uri="{9D8B030D-6E8A-4147-A177-3AD203B41FA5}">
                      <a16:colId xmlns:a16="http://schemas.microsoft.com/office/drawing/2014/main" val="2572560869"/>
                    </a:ext>
                  </a:extLst>
                </a:gridCol>
              </a:tblGrid>
              <a:tr h="370840">
                <a:tc>
                  <a:txBody>
                    <a:bodyPr/>
                    <a:lstStyle/>
                    <a:p>
                      <a:pPr algn="ctr"/>
                      <a:r>
                        <a:rPr lang="en-US" dirty="0"/>
                        <a:t>NODE</a:t>
                      </a:r>
                    </a:p>
                  </a:txBody>
                  <a:tcPr/>
                </a:tc>
                <a:tc>
                  <a:txBody>
                    <a:bodyPr/>
                    <a:lstStyle/>
                    <a:p>
                      <a:pPr algn="ctr"/>
                      <a:r>
                        <a:rPr lang="en-US" dirty="0"/>
                        <a:t>NEIGHBORS</a:t>
                      </a:r>
                    </a:p>
                  </a:txBody>
                  <a:tcPr/>
                </a:tc>
                <a:tc>
                  <a:txBody>
                    <a:bodyPr/>
                    <a:lstStyle/>
                    <a:p>
                      <a:pPr algn="ctr"/>
                      <a:r>
                        <a:rPr lang="en-US" dirty="0"/>
                        <a:t>LABEL</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E,F,G</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mn-lt"/>
                        <a:ea typeface="+mn-ea"/>
                        <a:cs typeface="+mn-cs"/>
                      </a:endParaRP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F</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205733479"/>
                  </a:ext>
                </a:extLst>
              </a:tr>
            </a:tbl>
          </a:graphicData>
        </a:graphic>
      </p:graphicFrame>
      <p:cxnSp>
        <p:nvCxnSpPr>
          <p:cNvPr id="42" name="Straight Arrow Connector 41"/>
          <p:cNvCxnSpPr/>
          <p:nvPr/>
        </p:nvCxnSpPr>
        <p:spPr>
          <a:xfrm>
            <a:off x="1948920" y="2586178"/>
            <a:ext cx="119848" cy="4163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aphicFrame>
        <p:nvGraphicFramePr>
          <p:cNvPr id="30" name="Table 29"/>
          <p:cNvGraphicFramePr>
            <a:graphicFrameLocks noGrp="1"/>
          </p:cNvGraphicFramePr>
          <p:nvPr>
            <p:extLst>
              <p:ext uri="{D42A27DB-BD31-4B8C-83A1-F6EECF244321}">
                <p14:modId xmlns:p14="http://schemas.microsoft.com/office/powerpoint/2010/main" val="2238858834"/>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r>
                        <a:rPr lang="en-US" dirty="0">
                          <a:solidFill>
                            <a:schemeClr val="tx1"/>
                          </a:solidFill>
                        </a:rPr>
                        <a:t>G</a:t>
                      </a:r>
                    </a:p>
                  </a:txBody>
                  <a:tcPr>
                    <a:solidFill>
                      <a:schemeClr val="accent6">
                        <a:lumMod val="60000"/>
                        <a:lumOff val="40000"/>
                      </a:schemeClr>
                    </a:solidFill>
                  </a:tcPr>
                </a:tc>
                <a:tc>
                  <a:txBody>
                    <a:bodyPr/>
                    <a:lstStyle/>
                    <a:p>
                      <a:pPr algn="ctr"/>
                      <a:r>
                        <a:rPr lang="en-US" dirty="0">
                          <a:solidFill>
                            <a:schemeClr val="tx1"/>
                          </a:solidFill>
                        </a:rPr>
                        <a:t>F</a:t>
                      </a:r>
                    </a:p>
                  </a:txBody>
                  <a:tcPr>
                    <a:solidFill>
                      <a:schemeClr val="accent6">
                        <a:lumMod val="60000"/>
                        <a:lumOff val="40000"/>
                      </a:schemeClr>
                    </a:solidFill>
                  </a:tcPr>
                </a:tc>
                <a:tc>
                  <a:txBody>
                    <a:bodyPr/>
                    <a:lstStyle/>
                    <a:p>
                      <a:pPr algn="ctr"/>
                      <a:r>
                        <a:rPr lang="en-US" dirty="0">
                          <a:solidFill>
                            <a:schemeClr val="tx1"/>
                          </a:solidFill>
                        </a:rPr>
                        <a:t>E</a:t>
                      </a:r>
                    </a:p>
                  </a:txBody>
                  <a:tcPr>
                    <a:solidFill>
                      <a:schemeClr val="accent6">
                        <a:lumMod val="60000"/>
                        <a:lumOff val="40000"/>
                      </a:schemeClr>
                    </a:solidFill>
                  </a:tcPr>
                </a:tc>
                <a:tc>
                  <a:txBody>
                    <a:bodyPr/>
                    <a:lstStyle/>
                    <a:p>
                      <a:pPr algn="ctr"/>
                      <a:r>
                        <a:rPr lang="en-US" dirty="0">
                          <a:solidFill>
                            <a:schemeClr val="tx1"/>
                          </a:solidFill>
                        </a:rPr>
                        <a:t>D</a:t>
                      </a:r>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dirty="0"/>
                    </a:p>
                  </a:txBody>
                  <a:tcPr>
                    <a:solidFill>
                      <a:schemeClr val="accent6">
                        <a:lumMod val="60000"/>
                        <a:lumOff val="40000"/>
                      </a:schemeClr>
                    </a:solidFill>
                  </a:tcPr>
                </a:tc>
                <a:tc>
                  <a:txBody>
                    <a:bodyPr/>
                    <a:lstStyle/>
                    <a:p>
                      <a:endParaRPr lang="en-US" dirty="0"/>
                    </a:p>
                  </a:txBody>
                  <a:tcPr>
                    <a:solidFill>
                      <a:schemeClr val="accent6">
                        <a:lumMod val="60000"/>
                        <a:lumOff val="40000"/>
                      </a:schemeClr>
                    </a:solidFill>
                  </a:tcPr>
                </a:tc>
                <a:extLst>
                  <a:ext uri="{0D108BD9-81ED-4DB2-BD59-A6C34878D82A}">
                    <a16:rowId xmlns:a16="http://schemas.microsoft.com/office/drawing/2014/main" val="660647860"/>
                  </a:ext>
                </a:extLst>
              </a:tr>
            </a:tbl>
          </a:graphicData>
        </a:graphic>
      </p:graphicFrame>
      <p:sp>
        <p:nvSpPr>
          <p:cNvPr id="31" name="TextBox 30"/>
          <p:cNvSpPr txBox="1"/>
          <p:nvPr/>
        </p:nvSpPr>
        <p:spPr>
          <a:xfrm>
            <a:off x="965262" y="5554545"/>
            <a:ext cx="418704" cy="461665"/>
          </a:xfrm>
          <a:prstGeom prst="rect">
            <a:avLst/>
          </a:prstGeom>
          <a:noFill/>
        </p:spPr>
        <p:txBody>
          <a:bodyPr wrap="none" rtlCol="0">
            <a:spAutoFit/>
          </a:bodyPr>
          <a:lstStyle/>
          <a:p>
            <a:r>
              <a:rPr lang="en-US" sz="2400" b="1" dirty="0">
                <a:effectLst>
                  <a:outerShdw blurRad="38100" dist="38100" dir="2700000" algn="tl">
                    <a:srgbClr val="000000">
                      <a:alpha val="43137"/>
                    </a:srgbClr>
                  </a:outerShdw>
                </a:effectLst>
              </a:rPr>
              <a:t>Q</a:t>
            </a:r>
          </a:p>
        </p:txBody>
      </p:sp>
      <p:cxnSp>
        <p:nvCxnSpPr>
          <p:cNvPr id="32" name="Straight Connector 31"/>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3" name="Table 32"/>
          <p:cNvGraphicFramePr>
            <a:graphicFrameLocks noGrp="1"/>
          </p:cNvGraphicFramePr>
          <p:nvPr/>
        </p:nvGraphicFramePr>
        <p:xfrm>
          <a:off x="1437550" y="6006356"/>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C</a:t>
                      </a:r>
                    </a:p>
                  </a:txBody>
                  <a:tcPr>
                    <a:noFill/>
                  </a:tcPr>
                </a:tc>
                <a:tc>
                  <a:txBody>
                    <a:bodyPr/>
                    <a:lstStyle/>
                    <a:p>
                      <a:pPr algn="ctr"/>
                      <a:r>
                        <a:rPr lang="en-US" dirty="0">
                          <a:solidFill>
                            <a:schemeClr val="tx1"/>
                          </a:solidFill>
                        </a:rPr>
                        <a:t>B</a:t>
                      </a:r>
                    </a:p>
                  </a:txBody>
                  <a:tcPr>
                    <a:noFill/>
                  </a:tcPr>
                </a:tc>
                <a:tc>
                  <a:txBody>
                    <a:bodyPr/>
                    <a:lstStyle/>
                    <a:p>
                      <a:endParaRPr lang="en-US" dirty="0"/>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dirty="0"/>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sp>
        <p:nvSpPr>
          <p:cNvPr id="35" name="Rectangle 34"/>
          <p:cNvSpPr/>
          <p:nvPr/>
        </p:nvSpPr>
        <p:spPr>
          <a:xfrm>
            <a:off x="10789009" y="2833056"/>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6" name="Rectangle 35"/>
          <p:cNvSpPr/>
          <p:nvPr/>
        </p:nvSpPr>
        <p:spPr>
          <a:xfrm>
            <a:off x="10784652" y="3233653"/>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7" name="Rectangle 36"/>
          <p:cNvSpPr/>
          <p:nvPr/>
        </p:nvSpPr>
        <p:spPr>
          <a:xfrm>
            <a:off x="10780296" y="3581998"/>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8" name="Rectangle 37"/>
          <p:cNvSpPr/>
          <p:nvPr/>
        </p:nvSpPr>
        <p:spPr>
          <a:xfrm>
            <a:off x="10780300" y="4718464"/>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9" name="Rectangle 38"/>
          <p:cNvSpPr/>
          <p:nvPr/>
        </p:nvSpPr>
        <p:spPr>
          <a:xfrm>
            <a:off x="10775944" y="4322227"/>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41" name="Rectangle 40"/>
          <p:cNvSpPr/>
          <p:nvPr/>
        </p:nvSpPr>
        <p:spPr>
          <a:xfrm>
            <a:off x="10789007" y="5066809"/>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43" name="Rectangle 42"/>
          <p:cNvSpPr/>
          <p:nvPr/>
        </p:nvSpPr>
        <p:spPr>
          <a:xfrm>
            <a:off x="10775940" y="3956469"/>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grpSp>
        <p:nvGrpSpPr>
          <p:cNvPr id="44" name="Group 43">
            <a:extLst>
              <a:ext uri="{FF2B5EF4-FFF2-40B4-BE49-F238E27FC236}">
                <a16:creationId xmlns:a16="http://schemas.microsoft.com/office/drawing/2014/main" id="{58038A68-D040-4D00-ADA1-B8E688133E4D}"/>
              </a:ext>
            </a:extLst>
          </p:cNvPr>
          <p:cNvGrpSpPr/>
          <p:nvPr/>
        </p:nvGrpSpPr>
        <p:grpSpPr>
          <a:xfrm>
            <a:off x="1437550" y="5599958"/>
            <a:ext cx="511370" cy="356179"/>
            <a:chOff x="1437550" y="5599958"/>
            <a:chExt cx="511370" cy="356179"/>
          </a:xfrm>
        </p:grpSpPr>
        <p:cxnSp>
          <p:nvCxnSpPr>
            <p:cNvPr id="45" name="Straight Connector 44">
              <a:extLst>
                <a:ext uri="{FF2B5EF4-FFF2-40B4-BE49-F238E27FC236}">
                  <a16:creationId xmlns:a16="http://schemas.microsoft.com/office/drawing/2014/main" id="{1959C545-0B6C-4A65-ABDB-3CA86AA2C6B6}"/>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D2BE5EA7-9C13-4AA8-9480-4EA04498A34A}"/>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47" name="Group 46">
            <a:extLst>
              <a:ext uri="{FF2B5EF4-FFF2-40B4-BE49-F238E27FC236}">
                <a16:creationId xmlns:a16="http://schemas.microsoft.com/office/drawing/2014/main" id="{04D78FBC-45C4-488D-8E82-28E025350286}"/>
              </a:ext>
            </a:extLst>
          </p:cNvPr>
          <p:cNvGrpSpPr/>
          <p:nvPr/>
        </p:nvGrpSpPr>
        <p:grpSpPr>
          <a:xfrm>
            <a:off x="1971132" y="5589178"/>
            <a:ext cx="511370" cy="356179"/>
            <a:chOff x="1437550" y="5599958"/>
            <a:chExt cx="511370" cy="356179"/>
          </a:xfrm>
        </p:grpSpPr>
        <p:cxnSp>
          <p:nvCxnSpPr>
            <p:cNvPr id="48" name="Straight Connector 47">
              <a:extLst>
                <a:ext uri="{FF2B5EF4-FFF2-40B4-BE49-F238E27FC236}">
                  <a16:creationId xmlns:a16="http://schemas.microsoft.com/office/drawing/2014/main" id="{3CBFE5EA-4A11-4082-9234-B81126EBEF90}"/>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64BD94-9D9D-4837-99DE-1FF0FF0ABA0B}"/>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50" name="Group 49">
            <a:extLst>
              <a:ext uri="{FF2B5EF4-FFF2-40B4-BE49-F238E27FC236}">
                <a16:creationId xmlns:a16="http://schemas.microsoft.com/office/drawing/2014/main" id="{7C15026D-2300-4A8F-A6DF-CD08A719413C}"/>
              </a:ext>
            </a:extLst>
          </p:cNvPr>
          <p:cNvGrpSpPr/>
          <p:nvPr/>
        </p:nvGrpSpPr>
        <p:grpSpPr>
          <a:xfrm>
            <a:off x="2499469" y="5589178"/>
            <a:ext cx="511370" cy="356179"/>
            <a:chOff x="1437550" y="5599958"/>
            <a:chExt cx="511370" cy="356179"/>
          </a:xfrm>
        </p:grpSpPr>
        <p:cxnSp>
          <p:nvCxnSpPr>
            <p:cNvPr id="51" name="Straight Connector 50">
              <a:extLst>
                <a:ext uri="{FF2B5EF4-FFF2-40B4-BE49-F238E27FC236}">
                  <a16:creationId xmlns:a16="http://schemas.microsoft.com/office/drawing/2014/main" id="{417E60B4-6DED-4A56-BF0B-B521F6C8617D}"/>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EBC4656F-8D90-4E11-AA1D-8BA82C12E32E}"/>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16152838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Breadth-First Search</a:t>
            </a:r>
          </a:p>
        </p:txBody>
      </p:sp>
      <p:sp>
        <p:nvSpPr>
          <p:cNvPr id="13" name="Slide Number Placeholder 12">
            <a:extLst>
              <a:ext uri="{FF2B5EF4-FFF2-40B4-BE49-F238E27FC236}">
                <a16:creationId xmlns:a16="http://schemas.microsoft.com/office/drawing/2014/main" id="{84CB13F6-A29D-43E0-A25D-82FB12148693}"/>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42/110</a:t>
            </a:r>
          </a:p>
        </p:txBody>
      </p:sp>
      <p:cxnSp>
        <p:nvCxnSpPr>
          <p:cNvPr id="3" name="Straight Connector 2"/>
          <p:cNvCxnSpPr>
            <a:stCxn id="12" idx="1"/>
          </p:cNvCxnSpPr>
          <p:nvPr/>
        </p:nvCxnSpPr>
        <p:spPr>
          <a:xfrm flipH="1" flipV="1">
            <a:off x="1097669" y="3734594"/>
            <a:ext cx="2198288" cy="93317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 name="Straight Connector 3"/>
          <p:cNvCxnSpPr>
            <a:stCxn id="7" idx="5"/>
          </p:cNvCxnSpPr>
          <p:nvPr/>
        </p:nvCxnSpPr>
        <p:spPr>
          <a:xfrm>
            <a:off x="2328832" y="3462270"/>
            <a:ext cx="1158049" cy="13377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flipV="1">
            <a:off x="2174848" y="3377774"/>
            <a:ext cx="1856048" cy="24517"/>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1948920" y="3481714"/>
            <a:ext cx="175670" cy="1109474"/>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 name="Oval 16"/>
          <p:cNvSpPr>
            <a:spLocks noChangeArrowheads="1"/>
          </p:cNvSpPr>
          <p:nvPr/>
        </p:nvSpPr>
        <p:spPr bwMode="auto">
          <a:xfrm>
            <a:off x="1957083" y="309052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8" name="Straight Connector 7"/>
          <p:cNvCxnSpPr/>
          <p:nvPr/>
        </p:nvCxnSpPr>
        <p:spPr>
          <a:xfrm flipH="1">
            <a:off x="2120774" y="4800035"/>
            <a:ext cx="1119177" cy="684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a:endCxn id="25" idx="1"/>
          </p:cNvCxnSpPr>
          <p:nvPr/>
        </p:nvCxnSpPr>
        <p:spPr>
          <a:xfrm>
            <a:off x="1167927" y="3936170"/>
            <a:ext cx="563889" cy="8638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686531" y="458227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1" name="Oval 16"/>
          <p:cNvSpPr>
            <a:spLocks noChangeArrowheads="1"/>
          </p:cNvSpPr>
          <p:nvPr/>
        </p:nvSpPr>
        <p:spPr bwMode="auto">
          <a:xfrm>
            <a:off x="796178" y="3610102"/>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2" name="Oval 16"/>
          <p:cNvSpPr>
            <a:spLocks noChangeArrowheads="1"/>
          </p:cNvSpPr>
          <p:nvPr/>
        </p:nvSpPr>
        <p:spPr bwMode="auto">
          <a:xfrm>
            <a:off x="3232175" y="460398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5" name="Straight Connector 14"/>
          <p:cNvCxnSpPr>
            <a:stCxn id="12" idx="7"/>
          </p:cNvCxnSpPr>
          <p:nvPr/>
        </p:nvCxnSpPr>
        <p:spPr>
          <a:xfrm flipV="1">
            <a:off x="3603924" y="3429291"/>
            <a:ext cx="650011" cy="123847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20" idx="6"/>
          </p:cNvCxnSpPr>
          <p:nvPr/>
        </p:nvCxnSpPr>
        <p:spPr>
          <a:xfrm flipV="1">
            <a:off x="4464552" y="3565009"/>
            <a:ext cx="1367969" cy="125700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flipV="1">
            <a:off x="4408532" y="3371173"/>
            <a:ext cx="1353035" cy="6601"/>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4246786" y="3646429"/>
            <a:ext cx="45505" cy="95755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4029021" y="319567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0" name="Oval 16"/>
          <p:cNvSpPr>
            <a:spLocks noChangeArrowheads="1"/>
          </p:cNvSpPr>
          <p:nvPr/>
        </p:nvSpPr>
        <p:spPr bwMode="auto">
          <a:xfrm>
            <a:off x="4029021" y="46042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1" name="Oval 16"/>
          <p:cNvSpPr>
            <a:spLocks noChangeArrowheads="1"/>
          </p:cNvSpPr>
          <p:nvPr/>
        </p:nvSpPr>
        <p:spPr bwMode="auto">
          <a:xfrm>
            <a:off x="5747996" y="318047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TextBox 23"/>
          <p:cNvSpPr txBox="1"/>
          <p:nvPr/>
        </p:nvSpPr>
        <p:spPr>
          <a:xfrm>
            <a:off x="2006372" y="3112381"/>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25" name="TextBox 24"/>
          <p:cNvSpPr txBox="1"/>
          <p:nvPr/>
        </p:nvSpPr>
        <p:spPr>
          <a:xfrm>
            <a:off x="1731816" y="4615369"/>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26" name="TextBox 25"/>
          <p:cNvSpPr txBox="1"/>
          <p:nvPr/>
        </p:nvSpPr>
        <p:spPr>
          <a:xfrm>
            <a:off x="4096606" y="3217625"/>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27" name="Rectangle 26"/>
          <p:cNvSpPr/>
          <p:nvPr/>
        </p:nvSpPr>
        <p:spPr>
          <a:xfrm>
            <a:off x="844245" y="3647774"/>
            <a:ext cx="343364" cy="369332"/>
          </a:xfrm>
          <a:prstGeom prst="rect">
            <a:avLst/>
          </a:prstGeom>
        </p:spPr>
        <p:txBody>
          <a:bodyPr wrap="none">
            <a:spAutoFit/>
          </a:bodyPr>
          <a:lstStyle/>
          <a:p>
            <a:r>
              <a:rPr lang="en-US" b="1" dirty="0">
                <a:solidFill>
                  <a:prstClr val="black"/>
                </a:solidFill>
              </a:rPr>
              <a:t>D</a:t>
            </a:r>
          </a:p>
        </p:txBody>
      </p:sp>
      <p:sp>
        <p:nvSpPr>
          <p:cNvPr id="28" name="Rectangle 27"/>
          <p:cNvSpPr/>
          <p:nvPr/>
        </p:nvSpPr>
        <p:spPr>
          <a:xfrm>
            <a:off x="4076007" y="4647465"/>
            <a:ext cx="304892" cy="369332"/>
          </a:xfrm>
          <a:prstGeom prst="rect">
            <a:avLst/>
          </a:prstGeom>
        </p:spPr>
        <p:txBody>
          <a:bodyPr wrap="none">
            <a:spAutoFit/>
          </a:bodyPr>
          <a:lstStyle/>
          <a:p>
            <a:r>
              <a:rPr lang="en-US" b="1" dirty="0">
                <a:solidFill>
                  <a:prstClr val="black"/>
                </a:solidFill>
              </a:rPr>
              <a:t>F</a:t>
            </a:r>
          </a:p>
        </p:txBody>
      </p:sp>
      <p:sp>
        <p:nvSpPr>
          <p:cNvPr id="29" name="Rectangle 28"/>
          <p:cNvSpPr/>
          <p:nvPr/>
        </p:nvSpPr>
        <p:spPr>
          <a:xfrm>
            <a:off x="5798967" y="3195677"/>
            <a:ext cx="340158" cy="369332"/>
          </a:xfrm>
          <a:prstGeom prst="rect">
            <a:avLst/>
          </a:prstGeom>
        </p:spPr>
        <p:txBody>
          <a:bodyPr wrap="none">
            <a:spAutoFit/>
          </a:bodyPr>
          <a:lstStyle/>
          <a:p>
            <a:r>
              <a:rPr lang="en-US" b="1" dirty="0">
                <a:solidFill>
                  <a:prstClr val="black"/>
                </a:solidFill>
              </a:rPr>
              <a:t>G</a:t>
            </a:r>
          </a:p>
        </p:txBody>
      </p:sp>
      <p:sp>
        <p:nvSpPr>
          <p:cNvPr id="34" name="Rectangle 33"/>
          <p:cNvSpPr/>
          <p:nvPr/>
        </p:nvSpPr>
        <p:spPr>
          <a:xfrm>
            <a:off x="3291957" y="4628920"/>
            <a:ext cx="316112" cy="369332"/>
          </a:xfrm>
          <a:prstGeom prst="rect">
            <a:avLst/>
          </a:prstGeom>
        </p:spPr>
        <p:txBody>
          <a:bodyPr wrap="none">
            <a:spAutoFit/>
          </a:bodyPr>
          <a:lstStyle/>
          <a:p>
            <a:r>
              <a:rPr lang="en-US" b="1" dirty="0">
                <a:solidFill>
                  <a:prstClr val="black"/>
                </a:solidFill>
              </a:rPr>
              <a:t>E</a:t>
            </a:r>
          </a:p>
        </p:txBody>
      </p:sp>
      <p:graphicFrame>
        <p:nvGraphicFramePr>
          <p:cNvPr id="40" name="Table 39"/>
          <p:cNvGraphicFramePr>
            <a:graphicFrameLocks noGrp="1"/>
          </p:cNvGraphicFramePr>
          <p:nvPr>
            <p:extLst>
              <p:ext uri="{D42A27DB-BD31-4B8C-83A1-F6EECF244321}">
                <p14:modId xmlns:p14="http://schemas.microsoft.com/office/powerpoint/2010/main" val="2418537141"/>
              </p:ext>
            </p:extLst>
          </p:nvPr>
        </p:nvGraphicFramePr>
        <p:xfrm>
          <a:off x="7771306" y="2531586"/>
          <a:ext cx="3928115" cy="2966720"/>
        </p:xfrm>
        <a:graphic>
          <a:graphicData uri="http://schemas.openxmlformats.org/drawingml/2006/table">
            <a:tbl>
              <a:tblPr firstRow="1" bandRow="1">
                <a:tableStyleId>{5C22544A-7EE6-4342-B048-85BDC9FD1C3A}</a:tableStyleId>
              </a:tblPr>
              <a:tblGrid>
                <a:gridCol w="1010003">
                  <a:extLst>
                    <a:ext uri="{9D8B030D-6E8A-4147-A177-3AD203B41FA5}">
                      <a16:colId xmlns:a16="http://schemas.microsoft.com/office/drawing/2014/main" val="2989644895"/>
                    </a:ext>
                  </a:extLst>
                </a:gridCol>
                <a:gridCol w="1808042">
                  <a:extLst>
                    <a:ext uri="{9D8B030D-6E8A-4147-A177-3AD203B41FA5}">
                      <a16:colId xmlns:a16="http://schemas.microsoft.com/office/drawing/2014/main" val="4244960412"/>
                    </a:ext>
                  </a:extLst>
                </a:gridCol>
                <a:gridCol w="1110070">
                  <a:extLst>
                    <a:ext uri="{9D8B030D-6E8A-4147-A177-3AD203B41FA5}">
                      <a16:colId xmlns:a16="http://schemas.microsoft.com/office/drawing/2014/main" val="2572560869"/>
                    </a:ext>
                  </a:extLst>
                </a:gridCol>
              </a:tblGrid>
              <a:tr h="370840">
                <a:tc>
                  <a:txBody>
                    <a:bodyPr/>
                    <a:lstStyle/>
                    <a:p>
                      <a:pPr algn="ctr"/>
                      <a:r>
                        <a:rPr lang="en-US" dirty="0"/>
                        <a:t>NODE</a:t>
                      </a:r>
                    </a:p>
                  </a:txBody>
                  <a:tcPr/>
                </a:tc>
                <a:tc>
                  <a:txBody>
                    <a:bodyPr/>
                    <a:lstStyle/>
                    <a:p>
                      <a:pPr algn="ctr"/>
                      <a:r>
                        <a:rPr lang="en-US" dirty="0"/>
                        <a:t>NEIGHBORS</a:t>
                      </a:r>
                    </a:p>
                  </a:txBody>
                  <a:tcPr/>
                </a:tc>
                <a:tc>
                  <a:txBody>
                    <a:bodyPr/>
                    <a:lstStyle/>
                    <a:p>
                      <a:pPr algn="ctr"/>
                      <a:r>
                        <a:rPr lang="en-US" dirty="0"/>
                        <a:t>LABEL</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E,F,G</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mn-lt"/>
                        <a:ea typeface="+mn-ea"/>
                        <a:cs typeface="+mn-cs"/>
                      </a:endParaRP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F</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205733479"/>
                  </a:ext>
                </a:extLst>
              </a:tr>
            </a:tbl>
          </a:graphicData>
        </a:graphic>
      </p:graphicFrame>
      <p:cxnSp>
        <p:nvCxnSpPr>
          <p:cNvPr id="42" name="Straight Arrow Connector 41"/>
          <p:cNvCxnSpPr/>
          <p:nvPr/>
        </p:nvCxnSpPr>
        <p:spPr>
          <a:xfrm>
            <a:off x="1948920" y="2586178"/>
            <a:ext cx="119848" cy="4163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aphicFrame>
        <p:nvGraphicFramePr>
          <p:cNvPr id="30" name="Table 29"/>
          <p:cNvGraphicFramePr>
            <a:graphicFrameLocks noGrp="1"/>
          </p:cNvGraphicFramePr>
          <p:nvPr>
            <p:extLst>
              <p:ext uri="{D42A27DB-BD31-4B8C-83A1-F6EECF244321}">
                <p14:modId xmlns:p14="http://schemas.microsoft.com/office/powerpoint/2010/main" val="294516813"/>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r>
                        <a:rPr lang="en-US" dirty="0">
                          <a:solidFill>
                            <a:schemeClr val="tx1"/>
                          </a:solidFill>
                        </a:rPr>
                        <a:t>F</a:t>
                      </a:r>
                    </a:p>
                  </a:txBody>
                  <a:tcPr>
                    <a:solidFill>
                      <a:schemeClr val="accent6">
                        <a:lumMod val="60000"/>
                        <a:lumOff val="40000"/>
                      </a:schemeClr>
                    </a:solidFill>
                  </a:tcPr>
                </a:tc>
                <a:tc>
                  <a:txBody>
                    <a:bodyPr/>
                    <a:lstStyle/>
                    <a:p>
                      <a:pPr algn="ctr"/>
                      <a:r>
                        <a:rPr lang="en-US" dirty="0">
                          <a:solidFill>
                            <a:schemeClr val="tx1"/>
                          </a:solidFill>
                        </a:rPr>
                        <a:t>E</a:t>
                      </a:r>
                    </a:p>
                  </a:txBody>
                  <a:tcPr>
                    <a:solidFill>
                      <a:schemeClr val="accent6">
                        <a:lumMod val="60000"/>
                        <a:lumOff val="40000"/>
                      </a:schemeClr>
                    </a:solidFill>
                  </a:tcPr>
                </a:tc>
                <a:tc>
                  <a:txBody>
                    <a:bodyPr/>
                    <a:lstStyle/>
                    <a:p>
                      <a:pPr algn="ctr"/>
                      <a:r>
                        <a:rPr lang="en-US" dirty="0">
                          <a:solidFill>
                            <a:schemeClr val="tx1"/>
                          </a:solidFill>
                        </a:rPr>
                        <a:t>D</a:t>
                      </a:r>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dirty="0"/>
                    </a:p>
                  </a:txBody>
                  <a:tcPr>
                    <a:solidFill>
                      <a:schemeClr val="accent6">
                        <a:lumMod val="60000"/>
                        <a:lumOff val="40000"/>
                      </a:schemeClr>
                    </a:solidFill>
                  </a:tcPr>
                </a:tc>
                <a:tc>
                  <a:txBody>
                    <a:bodyPr/>
                    <a:lstStyle/>
                    <a:p>
                      <a:endParaRPr lang="en-US" dirty="0"/>
                    </a:p>
                  </a:txBody>
                  <a:tcPr>
                    <a:solidFill>
                      <a:schemeClr val="accent6">
                        <a:lumMod val="60000"/>
                        <a:lumOff val="40000"/>
                      </a:schemeClr>
                    </a:solidFill>
                  </a:tcPr>
                </a:tc>
                <a:extLst>
                  <a:ext uri="{0D108BD9-81ED-4DB2-BD59-A6C34878D82A}">
                    <a16:rowId xmlns:a16="http://schemas.microsoft.com/office/drawing/2014/main" val="660647860"/>
                  </a:ext>
                </a:extLst>
              </a:tr>
            </a:tbl>
          </a:graphicData>
        </a:graphic>
      </p:graphicFrame>
      <p:sp>
        <p:nvSpPr>
          <p:cNvPr id="31" name="TextBox 30"/>
          <p:cNvSpPr txBox="1"/>
          <p:nvPr/>
        </p:nvSpPr>
        <p:spPr>
          <a:xfrm>
            <a:off x="965262" y="5554545"/>
            <a:ext cx="418704" cy="461665"/>
          </a:xfrm>
          <a:prstGeom prst="rect">
            <a:avLst/>
          </a:prstGeom>
          <a:noFill/>
        </p:spPr>
        <p:txBody>
          <a:bodyPr wrap="none" rtlCol="0">
            <a:spAutoFit/>
          </a:bodyPr>
          <a:lstStyle/>
          <a:p>
            <a:r>
              <a:rPr lang="en-US" sz="2400" b="1" dirty="0">
                <a:effectLst>
                  <a:outerShdw blurRad="38100" dist="38100" dir="2700000" algn="tl">
                    <a:srgbClr val="000000">
                      <a:alpha val="43137"/>
                    </a:srgbClr>
                  </a:outerShdw>
                </a:effectLst>
              </a:rPr>
              <a:t>Q</a:t>
            </a:r>
          </a:p>
        </p:txBody>
      </p:sp>
      <p:cxnSp>
        <p:nvCxnSpPr>
          <p:cNvPr id="32" name="Straight Connector 31"/>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3" name="Table 32"/>
          <p:cNvGraphicFramePr>
            <a:graphicFrameLocks noGrp="1"/>
          </p:cNvGraphicFramePr>
          <p:nvPr/>
        </p:nvGraphicFramePr>
        <p:xfrm>
          <a:off x="1437550" y="6006356"/>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C</a:t>
                      </a:r>
                    </a:p>
                  </a:txBody>
                  <a:tcPr>
                    <a:noFill/>
                  </a:tcPr>
                </a:tc>
                <a:tc>
                  <a:txBody>
                    <a:bodyPr/>
                    <a:lstStyle/>
                    <a:p>
                      <a:pPr algn="ctr"/>
                      <a:r>
                        <a:rPr lang="en-US" dirty="0">
                          <a:solidFill>
                            <a:schemeClr val="tx1"/>
                          </a:solidFill>
                        </a:rPr>
                        <a:t>B</a:t>
                      </a:r>
                    </a:p>
                  </a:txBody>
                  <a:tcPr>
                    <a:noFill/>
                  </a:tcPr>
                </a:tc>
                <a:tc>
                  <a:txBody>
                    <a:bodyPr/>
                    <a:lstStyle/>
                    <a:p>
                      <a:pPr algn="ctr"/>
                      <a:r>
                        <a:rPr lang="en-US" dirty="0">
                          <a:solidFill>
                            <a:schemeClr val="tx1"/>
                          </a:solidFill>
                        </a:rPr>
                        <a:t>G</a:t>
                      </a: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extLst>
                  <a:ext uri="{0D108BD9-81ED-4DB2-BD59-A6C34878D82A}">
                    <a16:rowId xmlns:a16="http://schemas.microsoft.com/office/drawing/2014/main" val="660647860"/>
                  </a:ext>
                </a:extLst>
              </a:tr>
            </a:tbl>
          </a:graphicData>
        </a:graphic>
      </p:graphicFrame>
      <p:sp>
        <p:nvSpPr>
          <p:cNvPr id="35" name="Rectangle 34"/>
          <p:cNvSpPr/>
          <p:nvPr/>
        </p:nvSpPr>
        <p:spPr>
          <a:xfrm>
            <a:off x="10862489" y="2833056"/>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6" name="Rectangle 35"/>
          <p:cNvSpPr/>
          <p:nvPr/>
        </p:nvSpPr>
        <p:spPr>
          <a:xfrm>
            <a:off x="10858132" y="3233653"/>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7" name="Rectangle 36"/>
          <p:cNvSpPr/>
          <p:nvPr/>
        </p:nvSpPr>
        <p:spPr>
          <a:xfrm>
            <a:off x="10853776" y="3581998"/>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8" name="Rectangle 37"/>
          <p:cNvSpPr/>
          <p:nvPr/>
        </p:nvSpPr>
        <p:spPr>
          <a:xfrm>
            <a:off x="10853780" y="4718464"/>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39" name="Rectangle 38"/>
          <p:cNvSpPr/>
          <p:nvPr/>
        </p:nvSpPr>
        <p:spPr>
          <a:xfrm>
            <a:off x="10849424" y="4322227"/>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41" name="Rectangle 40"/>
          <p:cNvSpPr/>
          <p:nvPr/>
        </p:nvSpPr>
        <p:spPr>
          <a:xfrm>
            <a:off x="10862487" y="5066809"/>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43" name="Rectangle 42"/>
          <p:cNvSpPr/>
          <p:nvPr/>
        </p:nvSpPr>
        <p:spPr>
          <a:xfrm>
            <a:off x="10849420" y="3956469"/>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grpSp>
        <p:nvGrpSpPr>
          <p:cNvPr id="44" name="Group 43">
            <a:extLst>
              <a:ext uri="{FF2B5EF4-FFF2-40B4-BE49-F238E27FC236}">
                <a16:creationId xmlns:a16="http://schemas.microsoft.com/office/drawing/2014/main" id="{741A042E-CED2-4726-A87D-8E5C9FE4983B}"/>
              </a:ext>
            </a:extLst>
          </p:cNvPr>
          <p:cNvGrpSpPr/>
          <p:nvPr/>
        </p:nvGrpSpPr>
        <p:grpSpPr>
          <a:xfrm>
            <a:off x="1437550" y="5599958"/>
            <a:ext cx="511370" cy="356179"/>
            <a:chOff x="1437550" y="5599958"/>
            <a:chExt cx="511370" cy="356179"/>
          </a:xfrm>
        </p:grpSpPr>
        <p:cxnSp>
          <p:nvCxnSpPr>
            <p:cNvPr id="45" name="Straight Connector 44">
              <a:extLst>
                <a:ext uri="{FF2B5EF4-FFF2-40B4-BE49-F238E27FC236}">
                  <a16:creationId xmlns:a16="http://schemas.microsoft.com/office/drawing/2014/main" id="{49CA8FA9-DFDE-4F3E-95A9-6B537A800D00}"/>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08DA12BD-2794-4854-8581-B3976ADDA75E}"/>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47" name="Group 46">
            <a:extLst>
              <a:ext uri="{FF2B5EF4-FFF2-40B4-BE49-F238E27FC236}">
                <a16:creationId xmlns:a16="http://schemas.microsoft.com/office/drawing/2014/main" id="{F27DC1D0-4998-4AE4-9B86-830A44475195}"/>
              </a:ext>
            </a:extLst>
          </p:cNvPr>
          <p:cNvGrpSpPr/>
          <p:nvPr/>
        </p:nvGrpSpPr>
        <p:grpSpPr>
          <a:xfrm>
            <a:off x="1971132" y="5589178"/>
            <a:ext cx="511370" cy="356179"/>
            <a:chOff x="1437550" y="5599958"/>
            <a:chExt cx="511370" cy="356179"/>
          </a:xfrm>
        </p:grpSpPr>
        <p:cxnSp>
          <p:nvCxnSpPr>
            <p:cNvPr id="48" name="Straight Connector 47">
              <a:extLst>
                <a:ext uri="{FF2B5EF4-FFF2-40B4-BE49-F238E27FC236}">
                  <a16:creationId xmlns:a16="http://schemas.microsoft.com/office/drawing/2014/main" id="{D5E33B6F-B1EF-4285-A7F4-52ABA57C1E0B}"/>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3FDA779F-BC00-486C-8098-200D69DD55BA}"/>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50" name="Group 49">
            <a:extLst>
              <a:ext uri="{FF2B5EF4-FFF2-40B4-BE49-F238E27FC236}">
                <a16:creationId xmlns:a16="http://schemas.microsoft.com/office/drawing/2014/main" id="{179E9A59-C01A-4F35-9284-7E657645F0BB}"/>
              </a:ext>
            </a:extLst>
          </p:cNvPr>
          <p:cNvGrpSpPr/>
          <p:nvPr/>
        </p:nvGrpSpPr>
        <p:grpSpPr>
          <a:xfrm>
            <a:off x="2499469" y="5589178"/>
            <a:ext cx="511370" cy="356179"/>
            <a:chOff x="1437550" y="5599958"/>
            <a:chExt cx="511370" cy="356179"/>
          </a:xfrm>
        </p:grpSpPr>
        <p:cxnSp>
          <p:nvCxnSpPr>
            <p:cNvPr id="51" name="Straight Connector 50">
              <a:extLst>
                <a:ext uri="{FF2B5EF4-FFF2-40B4-BE49-F238E27FC236}">
                  <a16:creationId xmlns:a16="http://schemas.microsoft.com/office/drawing/2014/main" id="{4416310E-6915-4080-89FE-D65F911DC35D}"/>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7836EDB9-E74E-4E72-BDAD-536D29E8C1E3}"/>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74A26953-2C28-47E0-8855-80B563618E5C}"/>
              </a:ext>
            </a:extLst>
          </p:cNvPr>
          <p:cNvGrpSpPr/>
          <p:nvPr/>
        </p:nvGrpSpPr>
        <p:grpSpPr>
          <a:xfrm>
            <a:off x="3027806" y="5589177"/>
            <a:ext cx="511370" cy="356179"/>
            <a:chOff x="1437550" y="5599958"/>
            <a:chExt cx="511370" cy="356179"/>
          </a:xfrm>
        </p:grpSpPr>
        <p:cxnSp>
          <p:nvCxnSpPr>
            <p:cNvPr id="54" name="Straight Connector 53">
              <a:extLst>
                <a:ext uri="{FF2B5EF4-FFF2-40B4-BE49-F238E27FC236}">
                  <a16:creationId xmlns:a16="http://schemas.microsoft.com/office/drawing/2014/main" id="{A16AD7FE-CB94-4A14-85EF-F86FCE4BB2DF}"/>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47A49B57-4DA6-4AA3-B0E6-0FD3C3781E34}"/>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29294615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Breadth-First Search</a:t>
            </a:r>
          </a:p>
        </p:txBody>
      </p:sp>
      <p:sp>
        <p:nvSpPr>
          <p:cNvPr id="13" name="Slide Number Placeholder 12">
            <a:extLst>
              <a:ext uri="{FF2B5EF4-FFF2-40B4-BE49-F238E27FC236}">
                <a16:creationId xmlns:a16="http://schemas.microsoft.com/office/drawing/2014/main" id="{FD08A161-6B5E-4A3D-BA86-C7F6C618A39E}"/>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43/110</a:t>
            </a:r>
          </a:p>
        </p:txBody>
      </p:sp>
      <p:cxnSp>
        <p:nvCxnSpPr>
          <p:cNvPr id="3" name="Straight Connector 2"/>
          <p:cNvCxnSpPr>
            <a:stCxn id="12" idx="1"/>
          </p:cNvCxnSpPr>
          <p:nvPr/>
        </p:nvCxnSpPr>
        <p:spPr>
          <a:xfrm flipH="1" flipV="1">
            <a:off x="1097669" y="3734594"/>
            <a:ext cx="2198288" cy="93317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 name="Straight Connector 3"/>
          <p:cNvCxnSpPr>
            <a:stCxn id="7" idx="5"/>
          </p:cNvCxnSpPr>
          <p:nvPr/>
        </p:nvCxnSpPr>
        <p:spPr>
          <a:xfrm>
            <a:off x="2328832" y="3462270"/>
            <a:ext cx="1158049" cy="13377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flipV="1">
            <a:off x="2174848" y="3377774"/>
            <a:ext cx="1856048" cy="24517"/>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1948920" y="3481714"/>
            <a:ext cx="175670" cy="1109474"/>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 name="Oval 16"/>
          <p:cNvSpPr>
            <a:spLocks noChangeArrowheads="1"/>
          </p:cNvSpPr>
          <p:nvPr/>
        </p:nvSpPr>
        <p:spPr bwMode="auto">
          <a:xfrm>
            <a:off x="1957083" y="309052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8" name="Straight Connector 7"/>
          <p:cNvCxnSpPr/>
          <p:nvPr/>
        </p:nvCxnSpPr>
        <p:spPr>
          <a:xfrm flipH="1">
            <a:off x="2120774" y="4800035"/>
            <a:ext cx="1119177" cy="684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a:endCxn id="25" idx="1"/>
          </p:cNvCxnSpPr>
          <p:nvPr/>
        </p:nvCxnSpPr>
        <p:spPr>
          <a:xfrm>
            <a:off x="1167927" y="3936170"/>
            <a:ext cx="563889" cy="8638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686531" y="458227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1" name="Oval 16"/>
          <p:cNvSpPr>
            <a:spLocks noChangeArrowheads="1"/>
          </p:cNvSpPr>
          <p:nvPr/>
        </p:nvSpPr>
        <p:spPr bwMode="auto">
          <a:xfrm>
            <a:off x="796178" y="3610102"/>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2" name="Oval 16"/>
          <p:cNvSpPr>
            <a:spLocks noChangeArrowheads="1"/>
          </p:cNvSpPr>
          <p:nvPr/>
        </p:nvSpPr>
        <p:spPr bwMode="auto">
          <a:xfrm>
            <a:off x="3232175" y="460398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5" name="Straight Connector 14"/>
          <p:cNvCxnSpPr>
            <a:stCxn id="12" idx="7"/>
          </p:cNvCxnSpPr>
          <p:nvPr/>
        </p:nvCxnSpPr>
        <p:spPr>
          <a:xfrm flipV="1">
            <a:off x="3603924" y="3429291"/>
            <a:ext cx="650011" cy="123847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20" idx="6"/>
          </p:cNvCxnSpPr>
          <p:nvPr/>
        </p:nvCxnSpPr>
        <p:spPr>
          <a:xfrm flipV="1">
            <a:off x="4464552" y="3565009"/>
            <a:ext cx="1367969" cy="125700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flipV="1">
            <a:off x="4408532" y="3371173"/>
            <a:ext cx="1353035" cy="6601"/>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4246786" y="3646429"/>
            <a:ext cx="45505" cy="95755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4029021" y="319567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0" name="Oval 16"/>
          <p:cNvSpPr>
            <a:spLocks noChangeArrowheads="1"/>
          </p:cNvSpPr>
          <p:nvPr/>
        </p:nvSpPr>
        <p:spPr bwMode="auto">
          <a:xfrm>
            <a:off x="4029021" y="46042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1" name="Oval 16"/>
          <p:cNvSpPr>
            <a:spLocks noChangeArrowheads="1"/>
          </p:cNvSpPr>
          <p:nvPr/>
        </p:nvSpPr>
        <p:spPr bwMode="auto">
          <a:xfrm>
            <a:off x="5747996" y="318047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TextBox 23"/>
          <p:cNvSpPr txBox="1"/>
          <p:nvPr/>
        </p:nvSpPr>
        <p:spPr>
          <a:xfrm>
            <a:off x="2006372" y="3112381"/>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25" name="TextBox 24"/>
          <p:cNvSpPr txBox="1"/>
          <p:nvPr/>
        </p:nvSpPr>
        <p:spPr>
          <a:xfrm>
            <a:off x="1731816" y="4615369"/>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26" name="TextBox 25"/>
          <p:cNvSpPr txBox="1"/>
          <p:nvPr/>
        </p:nvSpPr>
        <p:spPr>
          <a:xfrm>
            <a:off x="4096606" y="3217625"/>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27" name="Rectangle 26"/>
          <p:cNvSpPr/>
          <p:nvPr/>
        </p:nvSpPr>
        <p:spPr>
          <a:xfrm>
            <a:off x="844245" y="3647774"/>
            <a:ext cx="343364" cy="369332"/>
          </a:xfrm>
          <a:prstGeom prst="rect">
            <a:avLst/>
          </a:prstGeom>
        </p:spPr>
        <p:txBody>
          <a:bodyPr wrap="none">
            <a:spAutoFit/>
          </a:bodyPr>
          <a:lstStyle/>
          <a:p>
            <a:r>
              <a:rPr lang="en-US" b="1" dirty="0">
                <a:solidFill>
                  <a:prstClr val="black"/>
                </a:solidFill>
              </a:rPr>
              <a:t>D</a:t>
            </a:r>
          </a:p>
        </p:txBody>
      </p:sp>
      <p:sp>
        <p:nvSpPr>
          <p:cNvPr id="28" name="Rectangle 27"/>
          <p:cNvSpPr/>
          <p:nvPr/>
        </p:nvSpPr>
        <p:spPr>
          <a:xfrm>
            <a:off x="4076007" y="4647465"/>
            <a:ext cx="304892" cy="369332"/>
          </a:xfrm>
          <a:prstGeom prst="rect">
            <a:avLst/>
          </a:prstGeom>
        </p:spPr>
        <p:txBody>
          <a:bodyPr wrap="none">
            <a:spAutoFit/>
          </a:bodyPr>
          <a:lstStyle/>
          <a:p>
            <a:r>
              <a:rPr lang="en-US" b="1" dirty="0">
                <a:solidFill>
                  <a:prstClr val="black"/>
                </a:solidFill>
              </a:rPr>
              <a:t>F</a:t>
            </a:r>
          </a:p>
        </p:txBody>
      </p:sp>
      <p:sp>
        <p:nvSpPr>
          <p:cNvPr id="29" name="Rectangle 28"/>
          <p:cNvSpPr/>
          <p:nvPr/>
        </p:nvSpPr>
        <p:spPr>
          <a:xfrm>
            <a:off x="5798967" y="3195677"/>
            <a:ext cx="340158" cy="369332"/>
          </a:xfrm>
          <a:prstGeom prst="rect">
            <a:avLst/>
          </a:prstGeom>
        </p:spPr>
        <p:txBody>
          <a:bodyPr wrap="none">
            <a:spAutoFit/>
          </a:bodyPr>
          <a:lstStyle/>
          <a:p>
            <a:r>
              <a:rPr lang="en-US" b="1" dirty="0">
                <a:solidFill>
                  <a:prstClr val="black"/>
                </a:solidFill>
              </a:rPr>
              <a:t>G</a:t>
            </a:r>
          </a:p>
        </p:txBody>
      </p:sp>
      <p:sp>
        <p:nvSpPr>
          <p:cNvPr id="34" name="Rectangle 33"/>
          <p:cNvSpPr/>
          <p:nvPr/>
        </p:nvSpPr>
        <p:spPr>
          <a:xfrm>
            <a:off x="3291957" y="4628920"/>
            <a:ext cx="316112" cy="369332"/>
          </a:xfrm>
          <a:prstGeom prst="rect">
            <a:avLst/>
          </a:prstGeom>
        </p:spPr>
        <p:txBody>
          <a:bodyPr wrap="none">
            <a:spAutoFit/>
          </a:bodyPr>
          <a:lstStyle/>
          <a:p>
            <a:r>
              <a:rPr lang="en-US" b="1" dirty="0">
                <a:solidFill>
                  <a:prstClr val="black"/>
                </a:solidFill>
              </a:rPr>
              <a:t>E</a:t>
            </a:r>
          </a:p>
        </p:txBody>
      </p:sp>
      <p:cxnSp>
        <p:nvCxnSpPr>
          <p:cNvPr id="42" name="Straight Arrow Connector 41"/>
          <p:cNvCxnSpPr/>
          <p:nvPr/>
        </p:nvCxnSpPr>
        <p:spPr>
          <a:xfrm>
            <a:off x="1948920" y="2586178"/>
            <a:ext cx="119848" cy="4163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aphicFrame>
        <p:nvGraphicFramePr>
          <p:cNvPr id="30" name="Table 29"/>
          <p:cNvGraphicFramePr>
            <a:graphicFrameLocks noGrp="1"/>
          </p:cNvGraphicFramePr>
          <p:nvPr>
            <p:extLst>
              <p:ext uri="{D42A27DB-BD31-4B8C-83A1-F6EECF244321}">
                <p14:modId xmlns:p14="http://schemas.microsoft.com/office/powerpoint/2010/main" val="3369894918"/>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r>
                        <a:rPr lang="en-US" dirty="0">
                          <a:solidFill>
                            <a:schemeClr val="tx1"/>
                          </a:solidFill>
                        </a:rPr>
                        <a:t>E</a:t>
                      </a:r>
                    </a:p>
                  </a:txBody>
                  <a:tcPr>
                    <a:solidFill>
                      <a:schemeClr val="accent6">
                        <a:lumMod val="60000"/>
                        <a:lumOff val="40000"/>
                      </a:schemeClr>
                    </a:solidFill>
                  </a:tcPr>
                </a:tc>
                <a:tc>
                  <a:txBody>
                    <a:bodyPr/>
                    <a:lstStyle/>
                    <a:p>
                      <a:pPr algn="ctr"/>
                      <a:r>
                        <a:rPr lang="en-US" dirty="0">
                          <a:solidFill>
                            <a:schemeClr val="tx1"/>
                          </a:solidFill>
                        </a:rPr>
                        <a:t>D</a:t>
                      </a:r>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dirty="0"/>
                    </a:p>
                  </a:txBody>
                  <a:tcPr>
                    <a:solidFill>
                      <a:schemeClr val="accent6">
                        <a:lumMod val="60000"/>
                        <a:lumOff val="40000"/>
                      </a:schemeClr>
                    </a:solidFill>
                  </a:tcPr>
                </a:tc>
                <a:tc>
                  <a:txBody>
                    <a:bodyPr/>
                    <a:lstStyle/>
                    <a:p>
                      <a:endParaRPr lang="en-US" dirty="0"/>
                    </a:p>
                  </a:txBody>
                  <a:tcPr>
                    <a:solidFill>
                      <a:schemeClr val="accent6">
                        <a:lumMod val="60000"/>
                        <a:lumOff val="40000"/>
                      </a:schemeClr>
                    </a:solidFill>
                  </a:tcPr>
                </a:tc>
                <a:extLst>
                  <a:ext uri="{0D108BD9-81ED-4DB2-BD59-A6C34878D82A}">
                    <a16:rowId xmlns:a16="http://schemas.microsoft.com/office/drawing/2014/main" val="660647860"/>
                  </a:ext>
                </a:extLst>
              </a:tr>
            </a:tbl>
          </a:graphicData>
        </a:graphic>
      </p:graphicFrame>
      <p:sp>
        <p:nvSpPr>
          <p:cNvPr id="31" name="TextBox 30"/>
          <p:cNvSpPr txBox="1"/>
          <p:nvPr/>
        </p:nvSpPr>
        <p:spPr>
          <a:xfrm>
            <a:off x="965262" y="5554545"/>
            <a:ext cx="418704" cy="461665"/>
          </a:xfrm>
          <a:prstGeom prst="rect">
            <a:avLst/>
          </a:prstGeom>
          <a:noFill/>
        </p:spPr>
        <p:txBody>
          <a:bodyPr wrap="none" rtlCol="0">
            <a:spAutoFit/>
          </a:bodyPr>
          <a:lstStyle/>
          <a:p>
            <a:r>
              <a:rPr lang="en-US" sz="2400" b="1" dirty="0">
                <a:effectLst>
                  <a:outerShdw blurRad="38100" dist="38100" dir="2700000" algn="tl">
                    <a:srgbClr val="000000">
                      <a:alpha val="43137"/>
                    </a:srgbClr>
                  </a:outerShdw>
                </a:effectLst>
              </a:rPr>
              <a:t>Q</a:t>
            </a:r>
          </a:p>
        </p:txBody>
      </p:sp>
      <p:cxnSp>
        <p:nvCxnSpPr>
          <p:cNvPr id="32" name="Straight Connector 31"/>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3" name="Table 32"/>
          <p:cNvGraphicFramePr>
            <a:graphicFrameLocks noGrp="1"/>
          </p:cNvGraphicFramePr>
          <p:nvPr/>
        </p:nvGraphicFramePr>
        <p:xfrm>
          <a:off x="1437550" y="6006356"/>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C</a:t>
                      </a:r>
                    </a:p>
                  </a:txBody>
                  <a:tcPr>
                    <a:noFill/>
                  </a:tcPr>
                </a:tc>
                <a:tc>
                  <a:txBody>
                    <a:bodyPr/>
                    <a:lstStyle/>
                    <a:p>
                      <a:pPr algn="ctr"/>
                      <a:r>
                        <a:rPr lang="en-US" dirty="0">
                          <a:solidFill>
                            <a:schemeClr val="tx1"/>
                          </a:solidFill>
                        </a:rPr>
                        <a:t>B</a:t>
                      </a:r>
                    </a:p>
                  </a:txBody>
                  <a:tcPr>
                    <a:noFill/>
                  </a:tcPr>
                </a:tc>
                <a:tc>
                  <a:txBody>
                    <a:bodyPr/>
                    <a:lstStyle/>
                    <a:p>
                      <a:pPr algn="ctr"/>
                      <a:r>
                        <a:rPr lang="en-US" dirty="0">
                          <a:solidFill>
                            <a:schemeClr val="tx1"/>
                          </a:solidFill>
                        </a:rPr>
                        <a:t>G</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F</a:t>
                      </a: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extLst>
                  <a:ext uri="{0D108BD9-81ED-4DB2-BD59-A6C34878D82A}">
                    <a16:rowId xmlns:a16="http://schemas.microsoft.com/office/drawing/2014/main" val="660647860"/>
                  </a:ext>
                </a:extLst>
              </a:tr>
            </a:tbl>
          </a:graphicData>
        </a:graphic>
      </p:graphicFrame>
      <p:graphicFrame>
        <p:nvGraphicFramePr>
          <p:cNvPr id="44" name="Table 43">
            <a:extLst>
              <a:ext uri="{FF2B5EF4-FFF2-40B4-BE49-F238E27FC236}">
                <a16:creationId xmlns:a16="http://schemas.microsoft.com/office/drawing/2014/main" id="{3F70A537-EB0B-4F46-AD71-40312CD7B15F}"/>
              </a:ext>
            </a:extLst>
          </p:cNvPr>
          <p:cNvGraphicFramePr>
            <a:graphicFrameLocks noGrp="1"/>
          </p:cNvGraphicFramePr>
          <p:nvPr>
            <p:extLst>
              <p:ext uri="{D42A27DB-BD31-4B8C-83A1-F6EECF244321}">
                <p14:modId xmlns:p14="http://schemas.microsoft.com/office/powerpoint/2010/main" val="3143837000"/>
              </p:ext>
            </p:extLst>
          </p:nvPr>
        </p:nvGraphicFramePr>
        <p:xfrm>
          <a:off x="7771306" y="2531586"/>
          <a:ext cx="3928115" cy="2966720"/>
        </p:xfrm>
        <a:graphic>
          <a:graphicData uri="http://schemas.openxmlformats.org/drawingml/2006/table">
            <a:tbl>
              <a:tblPr firstRow="1" bandRow="1">
                <a:tableStyleId>{5C22544A-7EE6-4342-B048-85BDC9FD1C3A}</a:tableStyleId>
              </a:tblPr>
              <a:tblGrid>
                <a:gridCol w="1010003">
                  <a:extLst>
                    <a:ext uri="{9D8B030D-6E8A-4147-A177-3AD203B41FA5}">
                      <a16:colId xmlns:a16="http://schemas.microsoft.com/office/drawing/2014/main" val="2989644895"/>
                    </a:ext>
                  </a:extLst>
                </a:gridCol>
                <a:gridCol w="1808042">
                  <a:extLst>
                    <a:ext uri="{9D8B030D-6E8A-4147-A177-3AD203B41FA5}">
                      <a16:colId xmlns:a16="http://schemas.microsoft.com/office/drawing/2014/main" val="4244960412"/>
                    </a:ext>
                  </a:extLst>
                </a:gridCol>
                <a:gridCol w="1110070">
                  <a:extLst>
                    <a:ext uri="{9D8B030D-6E8A-4147-A177-3AD203B41FA5}">
                      <a16:colId xmlns:a16="http://schemas.microsoft.com/office/drawing/2014/main" val="2572560869"/>
                    </a:ext>
                  </a:extLst>
                </a:gridCol>
              </a:tblGrid>
              <a:tr h="370840">
                <a:tc>
                  <a:txBody>
                    <a:bodyPr/>
                    <a:lstStyle/>
                    <a:p>
                      <a:pPr algn="ctr"/>
                      <a:r>
                        <a:rPr lang="en-US" dirty="0"/>
                        <a:t>NODE</a:t>
                      </a:r>
                    </a:p>
                  </a:txBody>
                  <a:tcPr/>
                </a:tc>
                <a:tc>
                  <a:txBody>
                    <a:bodyPr/>
                    <a:lstStyle/>
                    <a:p>
                      <a:pPr algn="ctr"/>
                      <a:r>
                        <a:rPr lang="en-US" dirty="0"/>
                        <a:t>NEIGHBORS</a:t>
                      </a:r>
                    </a:p>
                  </a:txBody>
                  <a:tcPr/>
                </a:tc>
                <a:tc>
                  <a:txBody>
                    <a:bodyPr/>
                    <a:lstStyle/>
                    <a:p>
                      <a:pPr algn="ctr"/>
                      <a:r>
                        <a:rPr lang="en-US" dirty="0"/>
                        <a:t>LABEL</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E,F,G</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mn-lt"/>
                        <a:ea typeface="+mn-ea"/>
                        <a:cs typeface="+mn-cs"/>
                      </a:endParaRP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F</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205733479"/>
                  </a:ext>
                </a:extLst>
              </a:tr>
            </a:tbl>
          </a:graphicData>
        </a:graphic>
      </p:graphicFrame>
      <p:sp>
        <p:nvSpPr>
          <p:cNvPr id="45" name="Rectangle 44">
            <a:extLst>
              <a:ext uri="{FF2B5EF4-FFF2-40B4-BE49-F238E27FC236}">
                <a16:creationId xmlns:a16="http://schemas.microsoft.com/office/drawing/2014/main" id="{39C538B2-18FC-44B4-94EC-0F488737E24E}"/>
              </a:ext>
            </a:extLst>
          </p:cNvPr>
          <p:cNvSpPr/>
          <p:nvPr/>
        </p:nvSpPr>
        <p:spPr>
          <a:xfrm>
            <a:off x="10862489" y="2833056"/>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46" name="Rectangle 45">
            <a:extLst>
              <a:ext uri="{FF2B5EF4-FFF2-40B4-BE49-F238E27FC236}">
                <a16:creationId xmlns:a16="http://schemas.microsoft.com/office/drawing/2014/main" id="{6FDB8AC5-9C4D-4C76-83F6-0CA633371B48}"/>
              </a:ext>
            </a:extLst>
          </p:cNvPr>
          <p:cNvSpPr/>
          <p:nvPr/>
        </p:nvSpPr>
        <p:spPr>
          <a:xfrm>
            <a:off x="10858132" y="3233653"/>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47" name="Rectangle 46">
            <a:extLst>
              <a:ext uri="{FF2B5EF4-FFF2-40B4-BE49-F238E27FC236}">
                <a16:creationId xmlns:a16="http://schemas.microsoft.com/office/drawing/2014/main" id="{326F5D11-B52D-4E3B-85D3-431D201D9105}"/>
              </a:ext>
            </a:extLst>
          </p:cNvPr>
          <p:cNvSpPr/>
          <p:nvPr/>
        </p:nvSpPr>
        <p:spPr>
          <a:xfrm>
            <a:off x="10853776" y="3581998"/>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48" name="Rectangle 47">
            <a:extLst>
              <a:ext uri="{FF2B5EF4-FFF2-40B4-BE49-F238E27FC236}">
                <a16:creationId xmlns:a16="http://schemas.microsoft.com/office/drawing/2014/main" id="{FBF1A897-B7FE-48FC-8105-9A3CF69CABF8}"/>
              </a:ext>
            </a:extLst>
          </p:cNvPr>
          <p:cNvSpPr/>
          <p:nvPr/>
        </p:nvSpPr>
        <p:spPr>
          <a:xfrm>
            <a:off x="10853780" y="4718464"/>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49" name="Rectangle 48">
            <a:extLst>
              <a:ext uri="{FF2B5EF4-FFF2-40B4-BE49-F238E27FC236}">
                <a16:creationId xmlns:a16="http://schemas.microsoft.com/office/drawing/2014/main" id="{23897A00-E48A-470F-913E-70FF1063C565}"/>
              </a:ext>
            </a:extLst>
          </p:cNvPr>
          <p:cNvSpPr/>
          <p:nvPr/>
        </p:nvSpPr>
        <p:spPr>
          <a:xfrm>
            <a:off x="10849424" y="4322227"/>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50" name="Rectangle 49">
            <a:extLst>
              <a:ext uri="{FF2B5EF4-FFF2-40B4-BE49-F238E27FC236}">
                <a16:creationId xmlns:a16="http://schemas.microsoft.com/office/drawing/2014/main" id="{995F1444-ABEE-42BF-A92F-86691097ABED}"/>
              </a:ext>
            </a:extLst>
          </p:cNvPr>
          <p:cNvSpPr/>
          <p:nvPr/>
        </p:nvSpPr>
        <p:spPr>
          <a:xfrm>
            <a:off x="10862487" y="5066809"/>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51" name="Rectangle 50">
            <a:extLst>
              <a:ext uri="{FF2B5EF4-FFF2-40B4-BE49-F238E27FC236}">
                <a16:creationId xmlns:a16="http://schemas.microsoft.com/office/drawing/2014/main" id="{B823A7EB-2620-4284-97C1-A8E8864E7B1B}"/>
              </a:ext>
            </a:extLst>
          </p:cNvPr>
          <p:cNvSpPr/>
          <p:nvPr/>
        </p:nvSpPr>
        <p:spPr>
          <a:xfrm>
            <a:off x="10849420" y="3956469"/>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grpSp>
        <p:nvGrpSpPr>
          <p:cNvPr id="41" name="Group 40">
            <a:extLst>
              <a:ext uri="{FF2B5EF4-FFF2-40B4-BE49-F238E27FC236}">
                <a16:creationId xmlns:a16="http://schemas.microsoft.com/office/drawing/2014/main" id="{324891CF-9ED8-47F7-B4FE-F4214371A5A7}"/>
              </a:ext>
            </a:extLst>
          </p:cNvPr>
          <p:cNvGrpSpPr/>
          <p:nvPr/>
        </p:nvGrpSpPr>
        <p:grpSpPr>
          <a:xfrm>
            <a:off x="1437550" y="5599958"/>
            <a:ext cx="511370" cy="356179"/>
            <a:chOff x="1437550" y="5599958"/>
            <a:chExt cx="511370" cy="356179"/>
          </a:xfrm>
        </p:grpSpPr>
        <p:cxnSp>
          <p:nvCxnSpPr>
            <p:cNvPr id="43" name="Straight Connector 42">
              <a:extLst>
                <a:ext uri="{FF2B5EF4-FFF2-40B4-BE49-F238E27FC236}">
                  <a16:creationId xmlns:a16="http://schemas.microsoft.com/office/drawing/2014/main" id="{609C35C9-E528-4B20-B220-C08FA877E758}"/>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49EA72D-71AE-425B-AADA-F6D33ED22B6C}"/>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0512B51F-04CA-4A9D-B328-4504EE675F09}"/>
              </a:ext>
            </a:extLst>
          </p:cNvPr>
          <p:cNvGrpSpPr/>
          <p:nvPr/>
        </p:nvGrpSpPr>
        <p:grpSpPr>
          <a:xfrm>
            <a:off x="1971132" y="5589178"/>
            <a:ext cx="511370" cy="356179"/>
            <a:chOff x="1437550" y="5599958"/>
            <a:chExt cx="511370" cy="356179"/>
          </a:xfrm>
        </p:grpSpPr>
        <p:cxnSp>
          <p:nvCxnSpPr>
            <p:cNvPr id="54" name="Straight Connector 53">
              <a:extLst>
                <a:ext uri="{FF2B5EF4-FFF2-40B4-BE49-F238E27FC236}">
                  <a16:creationId xmlns:a16="http://schemas.microsoft.com/office/drawing/2014/main" id="{A7A8A078-9A0E-42DF-86A5-F11C845E5FDE}"/>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CB181531-38DB-4A44-BF6F-FBD0174A887C}"/>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56" name="Group 55">
            <a:extLst>
              <a:ext uri="{FF2B5EF4-FFF2-40B4-BE49-F238E27FC236}">
                <a16:creationId xmlns:a16="http://schemas.microsoft.com/office/drawing/2014/main" id="{1A5E744C-F1B8-47F4-8020-80FACB62774D}"/>
              </a:ext>
            </a:extLst>
          </p:cNvPr>
          <p:cNvGrpSpPr/>
          <p:nvPr/>
        </p:nvGrpSpPr>
        <p:grpSpPr>
          <a:xfrm>
            <a:off x="2499469" y="5589178"/>
            <a:ext cx="511370" cy="356179"/>
            <a:chOff x="1437550" y="5599958"/>
            <a:chExt cx="511370" cy="356179"/>
          </a:xfrm>
        </p:grpSpPr>
        <p:cxnSp>
          <p:nvCxnSpPr>
            <p:cNvPr id="57" name="Straight Connector 56">
              <a:extLst>
                <a:ext uri="{FF2B5EF4-FFF2-40B4-BE49-F238E27FC236}">
                  <a16:creationId xmlns:a16="http://schemas.microsoft.com/office/drawing/2014/main" id="{FAF23741-D0D0-47FE-A266-D33355868BE8}"/>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329A303A-00EF-4B81-92F5-DA143B4DFB39}"/>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59" name="Group 58">
            <a:extLst>
              <a:ext uri="{FF2B5EF4-FFF2-40B4-BE49-F238E27FC236}">
                <a16:creationId xmlns:a16="http://schemas.microsoft.com/office/drawing/2014/main" id="{AA27C470-BDA9-4D5E-B2B8-DA9A61237A93}"/>
              </a:ext>
            </a:extLst>
          </p:cNvPr>
          <p:cNvGrpSpPr/>
          <p:nvPr/>
        </p:nvGrpSpPr>
        <p:grpSpPr>
          <a:xfrm>
            <a:off x="3027806" y="5589177"/>
            <a:ext cx="511370" cy="356179"/>
            <a:chOff x="1437550" y="5599958"/>
            <a:chExt cx="511370" cy="356179"/>
          </a:xfrm>
        </p:grpSpPr>
        <p:cxnSp>
          <p:nvCxnSpPr>
            <p:cNvPr id="60" name="Straight Connector 59">
              <a:extLst>
                <a:ext uri="{FF2B5EF4-FFF2-40B4-BE49-F238E27FC236}">
                  <a16:creationId xmlns:a16="http://schemas.microsoft.com/office/drawing/2014/main" id="{ABF8C707-FBAA-49ED-974F-3155DF167EBB}"/>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4BE300DA-3FC0-4C0B-8C0D-759C6ABF5302}"/>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33465106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Breadth-First Search</a:t>
            </a:r>
          </a:p>
        </p:txBody>
      </p:sp>
      <p:sp>
        <p:nvSpPr>
          <p:cNvPr id="13" name="Slide Number Placeholder 12">
            <a:extLst>
              <a:ext uri="{FF2B5EF4-FFF2-40B4-BE49-F238E27FC236}">
                <a16:creationId xmlns:a16="http://schemas.microsoft.com/office/drawing/2014/main" id="{F5561C41-4DD4-4B34-A815-82A77F62F6B8}"/>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44/110</a:t>
            </a:r>
          </a:p>
        </p:txBody>
      </p:sp>
      <p:cxnSp>
        <p:nvCxnSpPr>
          <p:cNvPr id="3" name="Straight Connector 2"/>
          <p:cNvCxnSpPr>
            <a:stCxn id="12" idx="1"/>
          </p:cNvCxnSpPr>
          <p:nvPr/>
        </p:nvCxnSpPr>
        <p:spPr>
          <a:xfrm flipH="1" flipV="1">
            <a:off x="1097669" y="3734594"/>
            <a:ext cx="2198288" cy="93317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 name="Straight Connector 3"/>
          <p:cNvCxnSpPr>
            <a:stCxn id="7" idx="5"/>
          </p:cNvCxnSpPr>
          <p:nvPr/>
        </p:nvCxnSpPr>
        <p:spPr>
          <a:xfrm>
            <a:off x="2328832" y="3462270"/>
            <a:ext cx="1158049" cy="13377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flipV="1">
            <a:off x="2174848" y="3377774"/>
            <a:ext cx="1856048" cy="24517"/>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1948920" y="3481714"/>
            <a:ext cx="175670" cy="1109474"/>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 name="Oval 16"/>
          <p:cNvSpPr>
            <a:spLocks noChangeArrowheads="1"/>
          </p:cNvSpPr>
          <p:nvPr/>
        </p:nvSpPr>
        <p:spPr bwMode="auto">
          <a:xfrm>
            <a:off x="1957083" y="309052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8" name="Straight Connector 7"/>
          <p:cNvCxnSpPr/>
          <p:nvPr/>
        </p:nvCxnSpPr>
        <p:spPr>
          <a:xfrm flipH="1">
            <a:off x="2120774" y="4800035"/>
            <a:ext cx="1119177" cy="684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a:endCxn id="25" idx="1"/>
          </p:cNvCxnSpPr>
          <p:nvPr/>
        </p:nvCxnSpPr>
        <p:spPr>
          <a:xfrm>
            <a:off x="1167927" y="3936170"/>
            <a:ext cx="563889" cy="8638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686531" y="458227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1" name="Oval 16"/>
          <p:cNvSpPr>
            <a:spLocks noChangeArrowheads="1"/>
          </p:cNvSpPr>
          <p:nvPr/>
        </p:nvSpPr>
        <p:spPr bwMode="auto">
          <a:xfrm>
            <a:off x="796178" y="3610102"/>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2" name="Oval 16"/>
          <p:cNvSpPr>
            <a:spLocks noChangeArrowheads="1"/>
          </p:cNvSpPr>
          <p:nvPr/>
        </p:nvSpPr>
        <p:spPr bwMode="auto">
          <a:xfrm>
            <a:off x="3232175" y="460398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5" name="Straight Connector 14"/>
          <p:cNvCxnSpPr>
            <a:stCxn id="12" idx="7"/>
          </p:cNvCxnSpPr>
          <p:nvPr/>
        </p:nvCxnSpPr>
        <p:spPr>
          <a:xfrm flipV="1">
            <a:off x="3603924" y="3429291"/>
            <a:ext cx="650011" cy="123847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20" idx="6"/>
          </p:cNvCxnSpPr>
          <p:nvPr/>
        </p:nvCxnSpPr>
        <p:spPr>
          <a:xfrm flipV="1">
            <a:off x="4464552" y="3565009"/>
            <a:ext cx="1367969" cy="125700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flipV="1">
            <a:off x="4408532" y="3371173"/>
            <a:ext cx="1353035" cy="6601"/>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4246786" y="3646429"/>
            <a:ext cx="45505" cy="95755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4029021" y="319567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0" name="Oval 16"/>
          <p:cNvSpPr>
            <a:spLocks noChangeArrowheads="1"/>
          </p:cNvSpPr>
          <p:nvPr/>
        </p:nvSpPr>
        <p:spPr bwMode="auto">
          <a:xfrm>
            <a:off x="4029021" y="46042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1" name="Oval 16"/>
          <p:cNvSpPr>
            <a:spLocks noChangeArrowheads="1"/>
          </p:cNvSpPr>
          <p:nvPr/>
        </p:nvSpPr>
        <p:spPr bwMode="auto">
          <a:xfrm>
            <a:off x="5747996" y="318047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TextBox 23"/>
          <p:cNvSpPr txBox="1"/>
          <p:nvPr/>
        </p:nvSpPr>
        <p:spPr>
          <a:xfrm>
            <a:off x="2006372" y="3112381"/>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25" name="TextBox 24"/>
          <p:cNvSpPr txBox="1"/>
          <p:nvPr/>
        </p:nvSpPr>
        <p:spPr>
          <a:xfrm>
            <a:off x="1731816" y="4615369"/>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26" name="TextBox 25"/>
          <p:cNvSpPr txBox="1"/>
          <p:nvPr/>
        </p:nvSpPr>
        <p:spPr>
          <a:xfrm>
            <a:off x="4096606" y="3217625"/>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27" name="Rectangle 26"/>
          <p:cNvSpPr/>
          <p:nvPr/>
        </p:nvSpPr>
        <p:spPr>
          <a:xfrm>
            <a:off x="844245" y="3647774"/>
            <a:ext cx="343364" cy="369332"/>
          </a:xfrm>
          <a:prstGeom prst="rect">
            <a:avLst/>
          </a:prstGeom>
        </p:spPr>
        <p:txBody>
          <a:bodyPr wrap="none">
            <a:spAutoFit/>
          </a:bodyPr>
          <a:lstStyle/>
          <a:p>
            <a:r>
              <a:rPr lang="en-US" b="1" dirty="0">
                <a:solidFill>
                  <a:prstClr val="black"/>
                </a:solidFill>
              </a:rPr>
              <a:t>D</a:t>
            </a:r>
          </a:p>
        </p:txBody>
      </p:sp>
      <p:sp>
        <p:nvSpPr>
          <p:cNvPr id="28" name="Rectangle 27"/>
          <p:cNvSpPr/>
          <p:nvPr/>
        </p:nvSpPr>
        <p:spPr>
          <a:xfrm>
            <a:off x="4076007" y="4647465"/>
            <a:ext cx="304892" cy="369332"/>
          </a:xfrm>
          <a:prstGeom prst="rect">
            <a:avLst/>
          </a:prstGeom>
        </p:spPr>
        <p:txBody>
          <a:bodyPr wrap="none">
            <a:spAutoFit/>
          </a:bodyPr>
          <a:lstStyle/>
          <a:p>
            <a:r>
              <a:rPr lang="en-US" b="1" dirty="0">
                <a:solidFill>
                  <a:prstClr val="black"/>
                </a:solidFill>
              </a:rPr>
              <a:t>F</a:t>
            </a:r>
          </a:p>
        </p:txBody>
      </p:sp>
      <p:sp>
        <p:nvSpPr>
          <p:cNvPr id="29" name="Rectangle 28"/>
          <p:cNvSpPr/>
          <p:nvPr/>
        </p:nvSpPr>
        <p:spPr>
          <a:xfrm>
            <a:off x="5798967" y="3195677"/>
            <a:ext cx="340158" cy="369332"/>
          </a:xfrm>
          <a:prstGeom prst="rect">
            <a:avLst/>
          </a:prstGeom>
        </p:spPr>
        <p:txBody>
          <a:bodyPr wrap="none">
            <a:spAutoFit/>
          </a:bodyPr>
          <a:lstStyle/>
          <a:p>
            <a:r>
              <a:rPr lang="en-US" b="1" dirty="0">
                <a:solidFill>
                  <a:prstClr val="black"/>
                </a:solidFill>
              </a:rPr>
              <a:t>G</a:t>
            </a:r>
          </a:p>
        </p:txBody>
      </p:sp>
      <p:sp>
        <p:nvSpPr>
          <p:cNvPr id="34" name="Rectangle 33"/>
          <p:cNvSpPr/>
          <p:nvPr/>
        </p:nvSpPr>
        <p:spPr>
          <a:xfrm>
            <a:off x="3291957" y="4628920"/>
            <a:ext cx="316112" cy="369332"/>
          </a:xfrm>
          <a:prstGeom prst="rect">
            <a:avLst/>
          </a:prstGeom>
        </p:spPr>
        <p:txBody>
          <a:bodyPr wrap="none">
            <a:spAutoFit/>
          </a:bodyPr>
          <a:lstStyle/>
          <a:p>
            <a:r>
              <a:rPr lang="en-US" b="1" dirty="0">
                <a:solidFill>
                  <a:prstClr val="black"/>
                </a:solidFill>
              </a:rPr>
              <a:t>E</a:t>
            </a:r>
          </a:p>
        </p:txBody>
      </p:sp>
      <p:cxnSp>
        <p:nvCxnSpPr>
          <p:cNvPr id="42" name="Straight Arrow Connector 41"/>
          <p:cNvCxnSpPr/>
          <p:nvPr/>
        </p:nvCxnSpPr>
        <p:spPr>
          <a:xfrm>
            <a:off x="1948920" y="2586178"/>
            <a:ext cx="119848" cy="4163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aphicFrame>
        <p:nvGraphicFramePr>
          <p:cNvPr id="30" name="Table 29"/>
          <p:cNvGraphicFramePr>
            <a:graphicFrameLocks noGrp="1"/>
          </p:cNvGraphicFramePr>
          <p:nvPr>
            <p:extLst>
              <p:ext uri="{D42A27DB-BD31-4B8C-83A1-F6EECF244321}">
                <p14:modId xmlns:p14="http://schemas.microsoft.com/office/powerpoint/2010/main" val="3273642118"/>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endParaRPr lang="en-US" dirty="0"/>
                    </a:p>
                  </a:txBody>
                  <a:tcPr>
                    <a:solidFill>
                      <a:schemeClr val="accent6">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solidFill>
                            <a:schemeClr val="tx1"/>
                          </a:solidFill>
                        </a:rPr>
                        <a:t>D</a:t>
                      </a:r>
                    </a:p>
                  </a:txBody>
                  <a:tcPr>
                    <a:solidFill>
                      <a:schemeClr val="accent6">
                        <a:lumMod val="60000"/>
                        <a:lumOff val="40000"/>
                      </a:schemeClr>
                    </a:solidFill>
                  </a:tcPr>
                </a:tc>
                <a:tc>
                  <a:txBody>
                    <a:bodyPr/>
                    <a:lstStyle/>
                    <a:p>
                      <a:endParaRPr lang="en-US" dirty="0"/>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dirty="0"/>
                    </a:p>
                  </a:txBody>
                  <a:tcPr>
                    <a:solidFill>
                      <a:schemeClr val="accent6">
                        <a:lumMod val="60000"/>
                        <a:lumOff val="40000"/>
                      </a:schemeClr>
                    </a:solidFill>
                  </a:tcPr>
                </a:tc>
                <a:tc>
                  <a:txBody>
                    <a:bodyPr/>
                    <a:lstStyle/>
                    <a:p>
                      <a:endParaRPr lang="en-US" dirty="0"/>
                    </a:p>
                  </a:txBody>
                  <a:tcPr>
                    <a:solidFill>
                      <a:schemeClr val="accent6">
                        <a:lumMod val="60000"/>
                        <a:lumOff val="40000"/>
                      </a:schemeClr>
                    </a:solidFill>
                  </a:tcPr>
                </a:tc>
                <a:extLst>
                  <a:ext uri="{0D108BD9-81ED-4DB2-BD59-A6C34878D82A}">
                    <a16:rowId xmlns:a16="http://schemas.microsoft.com/office/drawing/2014/main" val="660647860"/>
                  </a:ext>
                </a:extLst>
              </a:tr>
            </a:tbl>
          </a:graphicData>
        </a:graphic>
      </p:graphicFrame>
      <p:sp>
        <p:nvSpPr>
          <p:cNvPr id="31" name="TextBox 30"/>
          <p:cNvSpPr txBox="1"/>
          <p:nvPr/>
        </p:nvSpPr>
        <p:spPr>
          <a:xfrm>
            <a:off x="965262" y="5554545"/>
            <a:ext cx="418704" cy="461665"/>
          </a:xfrm>
          <a:prstGeom prst="rect">
            <a:avLst/>
          </a:prstGeom>
          <a:noFill/>
        </p:spPr>
        <p:txBody>
          <a:bodyPr wrap="none" rtlCol="0">
            <a:spAutoFit/>
          </a:bodyPr>
          <a:lstStyle/>
          <a:p>
            <a:r>
              <a:rPr lang="en-US" sz="2400" b="1" dirty="0">
                <a:effectLst>
                  <a:outerShdw blurRad="38100" dist="38100" dir="2700000" algn="tl">
                    <a:srgbClr val="000000">
                      <a:alpha val="43137"/>
                    </a:srgbClr>
                  </a:outerShdw>
                </a:effectLst>
              </a:rPr>
              <a:t>Q</a:t>
            </a:r>
          </a:p>
        </p:txBody>
      </p:sp>
      <p:cxnSp>
        <p:nvCxnSpPr>
          <p:cNvPr id="32" name="Straight Connector 31"/>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3" name="Table 32"/>
          <p:cNvGraphicFramePr>
            <a:graphicFrameLocks noGrp="1"/>
          </p:cNvGraphicFramePr>
          <p:nvPr/>
        </p:nvGraphicFramePr>
        <p:xfrm>
          <a:off x="1437550" y="6006356"/>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C</a:t>
                      </a:r>
                    </a:p>
                  </a:txBody>
                  <a:tcPr>
                    <a:noFill/>
                  </a:tcPr>
                </a:tc>
                <a:tc>
                  <a:txBody>
                    <a:bodyPr/>
                    <a:lstStyle/>
                    <a:p>
                      <a:pPr algn="ctr"/>
                      <a:r>
                        <a:rPr lang="en-US" dirty="0">
                          <a:solidFill>
                            <a:schemeClr val="tx1"/>
                          </a:solidFill>
                        </a:rPr>
                        <a:t>B</a:t>
                      </a:r>
                    </a:p>
                  </a:txBody>
                  <a:tcPr>
                    <a:noFill/>
                  </a:tcPr>
                </a:tc>
                <a:tc>
                  <a:txBody>
                    <a:bodyPr/>
                    <a:lstStyle/>
                    <a:p>
                      <a:pPr algn="ctr"/>
                      <a:r>
                        <a:rPr lang="en-US" dirty="0">
                          <a:solidFill>
                            <a:schemeClr val="tx1"/>
                          </a:solidFill>
                        </a:rPr>
                        <a:t>G</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F</a:t>
                      </a:r>
                    </a:p>
                  </a:txBody>
                  <a:tcPr>
                    <a:noFill/>
                  </a:tcPr>
                </a:tc>
                <a:tc>
                  <a:txBody>
                    <a:bodyPr/>
                    <a:lstStyle/>
                    <a:p>
                      <a:pPr algn="ctr"/>
                      <a:r>
                        <a:rPr lang="en-US" dirty="0">
                          <a:solidFill>
                            <a:schemeClr val="tx1"/>
                          </a:solidFill>
                        </a:rPr>
                        <a:t>E</a:t>
                      </a: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extLst>
                  <a:ext uri="{0D108BD9-81ED-4DB2-BD59-A6C34878D82A}">
                    <a16:rowId xmlns:a16="http://schemas.microsoft.com/office/drawing/2014/main" val="660647860"/>
                  </a:ext>
                </a:extLst>
              </a:tr>
            </a:tbl>
          </a:graphicData>
        </a:graphic>
      </p:graphicFrame>
      <p:graphicFrame>
        <p:nvGraphicFramePr>
          <p:cNvPr id="44" name="Table 43">
            <a:extLst>
              <a:ext uri="{FF2B5EF4-FFF2-40B4-BE49-F238E27FC236}">
                <a16:creationId xmlns:a16="http://schemas.microsoft.com/office/drawing/2014/main" id="{D804996A-67D1-49F4-A513-2BB6C8AAF61A}"/>
              </a:ext>
            </a:extLst>
          </p:cNvPr>
          <p:cNvGraphicFramePr>
            <a:graphicFrameLocks noGrp="1"/>
          </p:cNvGraphicFramePr>
          <p:nvPr>
            <p:extLst>
              <p:ext uri="{D42A27DB-BD31-4B8C-83A1-F6EECF244321}">
                <p14:modId xmlns:p14="http://schemas.microsoft.com/office/powerpoint/2010/main" val="3143837000"/>
              </p:ext>
            </p:extLst>
          </p:nvPr>
        </p:nvGraphicFramePr>
        <p:xfrm>
          <a:off x="7771306" y="2531586"/>
          <a:ext cx="3928115" cy="2966720"/>
        </p:xfrm>
        <a:graphic>
          <a:graphicData uri="http://schemas.openxmlformats.org/drawingml/2006/table">
            <a:tbl>
              <a:tblPr firstRow="1" bandRow="1">
                <a:tableStyleId>{5C22544A-7EE6-4342-B048-85BDC9FD1C3A}</a:tableStyleId>
              </a:tblPr>
              <a:tblGrid>
                <a:gridCol w="1010003">
                  <a:extLst>
                    <a:ext uri="{9D8B030D-6E8A-4147-A177-3AD203B41FA5}">
                      <a16:colId xmlns:a16="http://schemas.microsoft.com/office/drawing/2014/main" val="2989644895"/>
                    </a:ext>
                  </a:extLst>
                </a:gridCol>
                <a:gridCol w="1808042">
                  <a:extLst>
                    <a:ext uri="{9D8B030D-6E8A-4147-A177-3AD203B41FA5}">
                      <a16:colId xmlns:a16="http://schemas.microsoft.com/office/drawing/2014/main" val="4244960412"/>
                    </a:ext>
                  </a:extLst>
                </a:gridCol>
                <a:gridCol w="1110070">
                  <a:extLst>
                    <a:ext uri="{9D8B030D-6E8A-4147-A177-3AD203B41FA5}">
                      <a16:colId xmlns:a16="http://schemas.microsoft.com/office/drawing/2014/main" val="2572560869"/>
                    </a:ext>
                  </a:extLst>
                </a:gridCol>
              </a:tblGrid>
              <a:tr h="370840">
                <a:tc>
                  <a:txBody>
                    <a:bodyPr/>
                    <a:lstStyle/>
                    <a:p>
                      <a:pPr algn="ctr"/>
                      <a:r>
                        <a:rPr lang="en-US" dirty="0"/>
                        <a:t>NODE</a:t>
                      </a:r>
                    </a:p>
                  </a:txBody>
                  <a:tcPr/>
                </a:tc>
                <a:tc>
                  <a:txBody>
                    <a:bodyPr/>
                    <a:lstStyle/>
                    <a:p>
                      <a:pPr algn="ctr"/>
                      <a:r>
                        <a:rPr lang="en-US" dirty="0"/>
                        <a:t>NEIGHBORS</a:t>
                      </a:r>
                    </a:p>
                  </a:txBody>
                  <a:tcPr/>
                </a:tc>
                <a:tc>
                  <a:txBody>
                    <a:bodyPr/>
                    <a:lstStyle/>
                    <a:p>
                      <a:pPr algn="ctr"/>
                      <a:r>
                        <a:rPr lang="en-US" dirty="0"/>
                        <a:t>LABEL</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E,F,G</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mn-lt"/>
                        <a:ea typeface="+mn-ea"/>
                        <a:cs typeface="+mn-cs"/>
                      </a:endParaRP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F</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205733479"/>
                  </a:ext>
                </a:extLst>
              </a:tr>
            </a:tbl>
          </a:graphicData>
        </a:graphic>
      </p:graphicFrame>
      <p:sp>
        <p:nvSpPr>
          <p:cNvPr id="45" name="Rectangle 44">
            <a:extLst>
              <a:ext uri="{FF2B5EF4-FFF2-40B4-BE49-F238E27FC236}">
                <a16:creationId xmlns:a16="http://schemas.microsoft.com/office/drawing/2014/main" id="{16638870-21CF-4048-B72F-3F0E9C0B3386}"/>
              </a:ext>
            </a:extLst>
          </p:cNvPr>
          <p:cNvSpPr/>
          <p:nvPr/>
        </p:nvSpPr>
        <p:spPr>
          <a:xfrm>
            <a:off x="10862489" y="2833056"/>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46" name="Rectangle 45">
            <a:extLst>
              <a:ext uri="{FF2B5EF4-FFF2-40B4-BE49-F238E27FC236}">
                <a16:creationId xmlns:a16="http://schemas.microsoft.com/office/drawing/2014/main" id="{2BF8D582-7B46-4B40-A837-29F83181423E}"/>
              </a:ext>
            </a:extLst>
          </p:cNvPr>
          <p:cNvSpPr/>
          <p:nvPr/>
        </p:nvSpPr>
        <p:spPr>
          <a:xfrm>
            <a:off x="10858132" y="3233653"/>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47" name="Rectangle 46">
            <a:extLst>
              <a:ext uri="{FF2B5EF4-FFF2-40B4-BE49-F238E27FC236}">
                <a16:creationId xmlns:a16="http://schemas.microsoft.com/office/drawing/2014/main" id="{DA5F2296-A437-4FEE-A364-1E67B7402595}"/>
              </a:ext>
            </a:extLst>
          </p:cNvPr>
          <p:cNvSpPr/>
          <p:nvPr/>
        </p:nvSpPr>
        <p:spPr>
          <a:xfrm>
            <a:off x="10853776" y="3581998"/>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48" name="Rectangle 47">
            <a:extLst>
              <a:ext uri="{FF2B5EF4-FFF2-40B4-BE49-F238E27FC236}">
                <a16:creationId xmlns:a16="http://schemas.microsoft.com/office/drawing/2014/main" id="{B047CB4A-4306-4FB1-B2D0-C91AACD5DF20}"/>
              </a:ext>
            </a:extLst>
          </p:cNvPr>
          <p:cNvSpPr/>
          <p:nvPr/>
        </p:nvSpPr>
        <p:spPr>
          <a:xfrm>
            <a:off x="10853780" y="4718464"/>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49" name="Rectangle 48">
            <a:extLst>
              <a:ext uri="{FF2B5EF4-FFF2-40B4-BE49-F238E27FC236}">
                <a16:creationId xmlns:a16="http://schemas.microsoft.com/office/drawing/2014/main" id="{C28F902E-CBB4-4438-A413-AD4D327BB9B7}"/>
              </a:ext>
            </a:extLst>
          </p:cNvPr>
          <p:cNvSpPr/>
          <p:nvPr/>
        </p:nvSpPr>
        <p:spPr>
          <a:xfrm>
            <a:off x="10849424" y="4322227"/>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50" name="Rectangle 49">
            <a:extLst>
              <a:ext uri="{FF2B5EF4-FFF2-40B4-BE49-F238E27FC236}">
                <a16:creationId xmlns:a16="http://schemas.microsoft.com/office/drawing/2014/main" id="{0DD00D08-5904-4D0F-AFFF-572DFB57B7C2}"/>
              </a:ext>
            </a:extLst>
          </p:cNvPr>
          <p:cNvSpPr/>
          <p:nvPr/>
        </p:nvSpPr>
        <p:spPr>
          <a:xfrm>
            <a:off x="10862487" y="5066809"/>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51" name="Rectangle 50">
            <a:extLst>
              <a:ext uri="{FF2B5EF4-FFF2-40B4-BE49-F238E27FC236}">
                <a16:creationId xmlns:a16="http://schemas.microsoft.com/office/drawing/2014/main" id="{C2D8550B-10ED-488A-A78E-347F641A2DB2}"/>
              </a:ext>
            </a:extLst>
          </p:cNvPr>
          <p:cNvSpPr/>
          <p:nvPr/>
        </p:nvSpPr>
        <p:spPr>
          <a:xfrm>
            <a:off x="10849420" y="3956469"/>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grpSp>
        <p:nvGrpSpPr>
          <p:cNvPr id="41" name="Group 40">
            <a:extLst>
              <a:ext uri="{FF2B5EF4-FFF2-40B4-BE49-F238E27FC236}">
                <a16:creationId xmlns:a16="http://schemas.microsoft.com/office/drawing/2014/main" id="{F8B79BF2-F323-4FE9-A411-3E7CD0A1CBF0}"/>
              </a:ext>
            </a:extLst>
          </p:cNvPr>
          <p:cNvGrpSpPr/>
          <p:nvPr/>
        </p:nvGrpSpPr>
        <p:grpSpPr>
          <a:xfrm>
            <a:off x="1437550" y="5599958"/>
            <a:ext cx="511370" cy="356179"/>
            <a:chOff x="1437550" y="5599958"/>
            <a:chExt cx="511370" cy="356179"/>
          </a:xfrm>
        </p:grpSpPr>
        <p:cxnSp>
          <p:nvCxnSpPr>
            <p:cNvPr id="43" name="Straight Connector 42">
              <a:extLst>
                <a:ext uri="{FF2B5EF4-FFF2-40B4-BE49-F238E27FC236}">
                  <a16:creationId xmlns:a16="http://schemas.microsoft.com/office/drawing/2014/main" id="{A3932316-F0F1-4F0A-9B49-6A9E92BCA462}"/>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B7262C71-5B0A-4CD3-B6A5-4877E8BE0470}"/>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B5C274B4-01FE-4126-8E9C-9C467D5F376C}"/>
              </a:ext>
            </a:extLst>
          </p:cNvPr>
          <p:cNvGrpSpPr/>
          <p:nvPr/>
        </p:nvGrpSpPr>
        <p:grpSpPr>
          <a:xfrm>
            <a:off x="1971132" y="5589178"/>
            <a:ext cx="511370" cy="356179"/>
            <a:chOff x="1437550" y="5599958"/>
            <a:chExt cx="511370" cy="356179"/>
          </a:xfrm>
        </p:grpSpPr>
        <p:cxnSp>
          <p:nvCxnSpPr>
            <p:cNvPr id="54" name="Straight Connector 53">
              <a:extLst>
                <a:ext uri="{FF2B5EF4-FFF2-40B4-BE49-F238E27FC236}">
                  <a16:creationId xmlns:a16="http://schemas.microsoft.com/office/drawing/2014/main" id="{1273730C-CABE-452A-945F-CC29BFE85A8D}"/>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968383BD-3D81-4C32-A514-DC07E3FEFDF2}"/>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56" name="Group 55">
            <a:extLst>
              <a:ext uri="{FF2B5EF4-FFF2-40B4-BE49-F238E27FC236}">
                <a16:creationId xmlns:a16="http://schemas.microsoft.com/office/drawing/2014/main" id="{2B702C83-428A-4266-AFB2-42B4AB2F68BB}"/>
              </a:ext>
            </a:extLst>
          </p:cNvPr>
          <p:cNvGrpSpPr/>
          <p:nvPr/>
        </p:nvGrpSpPr>
        <p:grpSpPr>
          <a:xfrm>
            <a:off x="2499469" y="5589178"/>
            <a:ext cx="511370" cy="356179"/>
            <a:chOff x="1437550" y="5599958"/>
            <a:chExt cx="511370" cy="356179"/>
          </a:xfrm>
        </p:grpSpPr>
        <p:cxnSp>
          <p:nvCxnSpPr>
            <p:cNvPr id="57" name="Straight Connector 56">
              <a:extLst>
                <a:ext uri="{FF2B5EF4-FFF2-40B4-BE49-F238E27FC236}">
                  <a16:creationId xmlns:a16="http://schemas.microsoft.com/office/drawing/2014/main" id="{1B33E525-B29A-4B62-A64E-14FAC90B4B5B}"/>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F9EE698-CB9C-4962-A35B-FEBB64EDF915}"/>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59" name="Group 58">
            <a:extLst>
              <a:ext uri="{FF2B5EF4-FFF2-40B4-BE49-F238E27FC236}">
                <a16:creationId xmlns:a16="http://schemas.microsoft.com/office/drawing/2014/main" id="{FAEC1804-D74F-4117-8EAA-1446D9921F74}"/>
              </a:ext>
            </a:extLst>
          </p:cNvPr>
          <p:cNvGrpSpPr/>
          <p:nvPr/>
        </p:nvGrpSpPr>
        <p:grpSpPr>
          <a:xfrm>
            <a:off x="3027806" y="5589177"/>
            <a:ext cx="511370" cy="356179"/>
            <a:chOff x="1437550" y="5599958"/>
            <a:chExt cx="511370" cy="356179"/>
          </a:xfrm>
        </p:grpSpPr>
        <p:cxnSp>
          <p:nvCxnSpPr>
            <p:cNvPr id="60" name="Straight Connector 59">
              <a:extLst>
                <a:ext uri="{FF2B5EF4-FFF2-40B4-BE49-F238E27FC236}">
                  <a16:creationId xmlns:a16="http://schemas.microsoft.com/office/drawing/2014/main" id="{157CEB2B-5D02-4F56-8ADA-1BA7AE0BFAFE}"/>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828C8D92-775A-4C6C-B970-7BBAE9526146}"/>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62" name="Group 61">
            <a:extLst>
              <a:ext uri="{FF2B5EF4-FFF2-40B4-BE49-F238E27FC236}">
                <a16:creationId xmlns:a16="http://schemas.microsoft.com/office/drawing/2014/main" id="{A220A08E-EE55-42CA-A6E1-5A85D07A0A1F}"/>
              </a:ext>
            </a:extLst>
          </p:cNvPr>
          <p:cNvGrpSpPr/>
          <p:nvPr/>
        </p:nvGrpSpPr>
        <p:grpSpPr>
          <a:xfrm>
            <a:off x="3582177" y="5589177"/>
            <a:ext cx="511370" cy="356179"/>
            <a:chOff x="1437550" y="5599958"/>
            <a:chExt cx="511370" cy="356179"/>
          </a:xfrm>
        </p:grpSpPr>
        <p:cxnSp>
          <p:nvCxnSpPr>
            <p:cNvPr id="63" name="Straight Connector 62">
              <a:extLst>
                <a:ext uri="{FF2B5EF4-FFF2-40B4-BE49-F238E27FC236}">
                  <a16:creationId xmlns:a16="http://schemas.microsoft.com/office/drawing/2014/main" id="{D331473C-F96C-4AF5-9DC0-D5986032FAF9}"/>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5B38ADC4-9305-4F6A-8535-F159866CA24C}"/>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8903974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Breadth-First Search</a:t>
            </a:r>
          </a:p>
        </p:txBody>
      </p:sp>
      <p:sp>
        <p:nvSpPr>
          <p:cNvPr id="13" name="Slide Number Placeholder 12">
            <a:extLst>
              <a:ext uri="{FF2B5EF4-FFF2-40B4-BE49-F238E27FC236}">
                <a16:creationId xmlns:a16="http://schemas.microsoft.com/office/drawing/2014/main" id="{EE52BF51-05DB-4F37-A0FA-E976F1E46A7A}"/>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45/110</a:t>
            </a:r>
          </a:p>
        </p:txBody>
      </p:sp>
      <p:cxnSp>
        <p:nvCxnSpPr>
          <p:cNvPr id="3" name="Straight Connector 2"/>
          <p:cNvCxnSpPr>
            <a:stCxn id="12" idx="1"/>
          </p:cNvCxnSpPr>
          <p:nvPr/>
        </p:nvCxnSpPr>
        <p:spPr>
          <a:xfrm flipH="1" flipV="1">
            <a:off x="1097669" y="3734594"/>
            <a:ext cx="2198288" cy="93317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 name="Straight Connector 3"/>
          <p:cNvCxnSpPr>
            <a:stCxn id="7" idx="5"/>
          </p:cNvCxnSpPr>
          <p:nvPr/>
        </p:nvCxnSpPr>
        <p:spPr>
          <a:xfrm>
            <a:off x="2328832" y="3462270"/>
            <a:ext cx="1158049" cy="13377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flipV="1">
            <a:off x="2174848" y="3377774"/>
            <a:ext cx="1856048" cy="24517"/>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1948920" y="3481714"/>
            <a:ext cx="175670" cy="1109474"/>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 name="Oval 16"/>
          <p:cNvSpPr>
            <a:spLocks noChangeArrowheads="1"/>
          </p:cNvSpPr>
          <p:nvPr/>
        </p:nvSpPr>
        <p:spPr bwMode="auto">
          <a:xfrm>
            <a:off x="1957083" y="309052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8" name="Straight Connector 7"/>
          <p:cNvCxnSpPr/>
          <p:nvPr/>
        </p:nvCxnSpPr>
        <p:spPr>
          <a:xfrm flipH="1">
            <a:off x="2120774" y="4800035"/>
            <a:ext cx="1119177" cy="684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a:endCxn id="25" idx="1"/>
          </p:cNvCxnSpPr>
          <p:nvPr/>
        </p:nvCxnSpPr>
        <p:spPr>
          <a:xfrm>
            <a:off x="1167927" y="3936170"/>
            <a:ext cx="563889" cy="863865"/>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686531" y="458227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1" name="Oval 16"/>
          <p:cNvSpPr>
            <a:spLocks noChangeArrowheads="1"/>
          </p:cNvSpPr>
          <p:nvPr/>
        </p:nvSpPr>
        <p:spPr bwMode="auto">
          <a:xfrm>
            <a:off x="796178" y="3610102"/>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12" name="Oval 16"/>
          <p:cNvSpPr>
            <a:spLocks noChangeArrowheads="1"/>
          </p:cNvSpPr>
          <p:nvPr/>
        </p:nvSpPr>
        <p:spPr bwMode="auto">
          <a:xfrm>
            <a:off x="3232175" y="460398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5" name="Straight Connector 14"/>
          <p:cNvCxnSpPr>
            <a:stCxn id="12" idx="7"/>
          </p:cNvCxnSpPr>
          <p:nvPr/>
        </p:nvCxnSpPr>
        <p:spPr>
          <a:xfrm flipV="1">
            <a:off x="3603924" y="3429291"/>
            <a:ext cx="650011" cy="123847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20" idx="6"/>
          </p:cNvCxnSpPr>
          <p:nvPr/>
        </p:nvCxnSpPr>
        <p:spPr>
          <a:xfrm flipV="1">
            <a:off x="4464552" y="3565009"/>
            <a:ext cx="1367969" cy="1257006"/>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flipV="1">
            <a:off x="4408532" y="3371173"/>
            <a:ext cx="1353035" cy="6601"/>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4246786" y="3646429"/>
            <a:ext cx="45505" cy="957558"/>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9" name="Oval 16"/>
          <p:cNvSpPr>
            <a:spLocks noChangeArrowheads="1"/>
          </p:cNvSpPr>
          <p:nvPr/>
        </p:nvSpPr>
        <p:spPr bwMode="auto">
          <a:xfrm>
            <a:off x="4029021" y="3195677"/>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0" name="Oval 16"/>
          <p:cNvSpPr>
            <a:spLocks noChangeArrowheads="1"/>
          </p:cNvSpPr>
          <p:nvPr/>
        </p:nvSpPr>
        <p:spPr bwMode="auto">
          <a:xfrm>
            <a:off x="4029021" y="46042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1" name="Oval 16"/>
          <p:cNvSpPr>
            <a:spLocks noChangeArrowheads="1"/>
          </p:cNvSpPr>
          <p:nvPr/>
        </p:nvSpPr>
        <p:spPr bwMode="auto">
          <a:xfrm>
            <a:off x="5747996" y="318047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TextBox 23"/>
          <p:cNvSpPr txBox="1"/>
          <p:nvPr/>
        </p:nvSpPr>
        <p:spPr>
          <a:xfrm>
            <a:off x="2006372" y="3112381"/>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25" name="TextBox 24"/>
          <p:cNvSpPr txBox="1"/>
          <p:nvPr/>
        </p:nvSpPr>
        <p:spPr>
          <a:xfrm>
            <a:off x="1731816" y="4615369"/>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26" name="TextBox 25"/>
          <p:cNvSpPr txBox="1"/>
          <p:nvPr/>
        </p:nvSpPr>
        <p:spPr>
          <a:xfrm>
            <a:off x="4096606" y="3217625"/>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27" name="Rectangle 26"/>
          <p:cNvSpPr/>
          <p:nvPr/>
        </p:nvSpPr>
        <p:spPr>
          <a:xfrm>
            <a:off x="844245" y="3647774"/>
            <a:ext cx="343364" cy="369332"/>
          </a:xfrm>
          <a:prstGeom prst="rect">
            <a:avLst/>
          </a:prstGeom>
        </p:spPr>
        <p:txBody>
          <a:bodyPr wrap="none">
            <a:spAutoFit/>
          </a:bodyPr>
          <a:lstStyle/>
          <a:p>
            <a:r>
              <a:rPr lang="en-US" b="1" dirty="0">
                <a:solidFill>
                  <a:prstClr val="black"/>
                </a:solidFill>
              </a:rPr>
              <a:t>D</a:t>
            </a:r>
          </a:p>
        </p:txBody>
      </p:sp>
      <p:sp>
        <p:nvSpPr>
          <p:cNvPr id="28" name="Rectangle 27"/>
          <p:cNvSpPr/>
          <p:nvPr/>
        </p:nvSpPr>
        <p:spPr>
          <a:xfrm>
            <a:off x="4076007" y="4647465"/>
            <a:ext cx="304892" cy="369332"/>
          </a:xfrm>
          <a:prstGeom prst="rect">
            <a:avLst/>
          </a:prstGeom>
        </p:spPr>
        <p:txBody>
          <a:bodyPr wrap="none">
            <a:spAutoFit/>
          </a:bodyPr>
          <a:lstStyle/>
          <a:p>
            <a:r>
              <a:rPr lang="en-US" b="1" dirty="0">
                <a:solidFill>
                  <a:prstClr val="black"/>
                </a:solidFill>
              </a:rPr>
              <a:t>F</a:t>
            </a:r>
          </a:p>
        </p:txBody>
      </p:sp>
      <p:sp>
        <p:nvSpPr>
          <p:cNvPr id="29" name="Rectangle 28"/>
          <p:cNvSpPr/>
          <p:nvPr/>
        </p:nvSpPr>
        <p:spPr>
          <a:xfrm>
            <a:off x="5798967" y="3195677"/>
            <a:ext cx="340158" cy="369332"/>
          </a:xfrm>
          <a:prstGeom prst="rect">
            <a:avLst/>
          </a:prstGeom>
        </p:spPr>
        <p:txBody>
          <a:bodyPr wrap="none">
            <a:spAutoFit/>
          </a:bodyPr>
          <a:lstStyle/>
          <a:p>
            <a:r>
              <a:rPr lang="en-US" b="1" dirty="0">
                <a:solidFill>
                  <a:prstClr val="black"/>
                </a:solidFill>
              </a:rPr>
              <a:t>G</a:t>
            </a:r>
          </a:p>
        </p:txBody>
      </p:sp>
      <p:sp>
        <p:nvSpPr>
          <p:cNvPr id="34" name="Rectangle 33"/>
          <p:cNvSpPr/>
          <p:nvPr/>
        </p:nvSpPr>
        <p:spPr>
          <a:xfrm>
            <a:off x="3291957" y="4628920"/>
            <a:ext cx="316112" cy="369332"/>
          </a:xfrm>
          <a:prstGeom prst="rect">
            <a:avLst/>
          </a:prstGeom>
        </p:spPr>
        <p:txBody>
          <a:bodyPr wrap="none">
            <a:spAutoFit/>
          </a:bodyPr>
          <a:lstStyle/>
          <a:p>
            <a:r>
              <a:rPr lang="en-US" b="1" dirty="0">
                <a:solidFill>
                  <a:prstClr val="black"/>
                </a:solidFill>
              </a:rPr>
              <a:t>E</a:t>
            </a:r>
          </a:p>
        </p:txBody>
      </p:sp>
      <p:cxnSp>
        <p:nvCxnSpPr>
          <p:cNvPr id="42" name="Straight Arrow Connector 41"/>
          <p:cNvCxnSpPr/>
          <p:nvPr/>
        </p:nvCxnSpPr>
        <p:spPr>
          <a:xfrm>
            <a:off x="1948920" y="2586178"/>
            <a:ext cx="119848" cy="4163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aphicFrame>
        <p:nvGraphicFramePr>
          <p:cNvPr id="30" name="Table 29"/>
          <p:cNvGraphicFramePr>
            <a:graphicFrameLocks noGrp="1"/>
          </p:cNvGraphicFramePr>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endParaRPr lang="en-US" dirty="0"/>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dirty="0"/>
                    </a:p>
                  </a:txBody>
                  <a:tcPr>
                    <a:solidFill>
                      <a:schemeClr val="accent6">
                        <a:lumMod val="60000"/>
                        <a:lumOff val="40000"/>
                      </a:schemeClr>
                    </a:solidFill>
                  </a:tcPr>
                </a:tc>
                <a:tc>
                  <a:txBody>
                    <a:bodyPr/>
                    <a:lstStyle/>
                    <a:p>
                      <a:endParaRPr lang="en-US" dirty="0"/>
                    </a:p>
                  </a:txBody>
                  <a:tcPr>
                    <a:solidFill>
                      <a:schemeClr val="accent6">
                        <a:lumMod val="60000"/>
                        <a:lumOff val="40000"/>
                      </a:schemeClr>
                    </a:solidFill>
                  </a:tcPr>
                </a:tc>
                <a:extLst>
                  <a:ext uri="{0D108BD9-81ED-4DB2-BD59-A6C34878D82A}">
                    <a16:rowId xmlns:a16="http://schemas.microsoft.com/office/drawing/2014/main" val="660647860"/>
                  </a:ext>
                </a:extLst>
              </a:tr>
            </a:tbl>
          </a:graphicData>
        </a:graphic>
      </p:graphicFrame>
      <p:sp>
        <p:nvSpPr>
          <p:cNvPr id="31" name="TextBox 30"/>
          <p:cNvSpPr txBox="1"/>
          <p:nvPr/>
        </p:nvSpPr>
        <p:spPr>
          <a:xfrm>
            <a:off x="965262" y="5554545"/>
            <a:ext cx="418704" cy="461665"/>
          </a:xfrm>
          <a:prstGeom prst="rect">
            <a:avLst/>
          </a:prstGeom>
          <a:noFill/>
        </p:spPr>
        <p:txBody>
          <a:bodyPr wrap="none" rtlCol="0">
            <a:spAutoFit/>
          </a:bodyPr>
          <a:lstStyle/>
          <a:p>
            <a:r>
              <a:rPr lang="en-US" sz="2400" b="1" dirty="0">
                <a:effectLst>
                  <a:outerShdw blurRad="38100" dist="38100" dir="2700000" algn="tl">
                    <a:srgbClr val="000000">
                      <a:alpha val="43137"/>
                    </a:srgbClr>
                  </a:outerShdw>
                </a:effectLst>
              </a:rPr>
              <a:t>Q</a:t>
            </a:r>
          </a:p>
        </p:txBody>
      </p:sp>
      <p:cxnSp>
        <p:nvCxnSpPr>
          <p:cNvPr id="32" name="Straight Connector 31"/>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3" name="Table 32"/>
          <p:cNvGraphicFramePr>
            <a:graphicFrameLocks noGrp="1"/>
          </p:cNvGraphicFramePr>
          <p:nvPr/>
        </p:nvGraphicFramePr>
        <p:xfrm>
          <a:off x="1437550" y="6006356"/>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C</a:t>
                      </a:r>
                    </a:p>
                  </a:txBody>
                  <a:tcPr>
                    <a:noFill/>
                  </a:tcPr>
                </a:tc>
                <a:tc>
                  <a:txBody>
                    <a:bodyPr/>
                    <a:lstStyle/>
                    <a:p>
                      <a:pPr algn="ctr"/>
                      <a:r>
                        <a:rPr lang="en-US" dirty="0">
                          <a:solidFill>
                            <a:schemeClr val="tx1"/>
                          </a:solidFill>
                        </a:rPr>
                        <a:t>B</a:t>
                      </a:r>
                    </a:p>
                  </a:txBody>
                  <a:tcPr>
                    <a:noFill/>
                  </a:tcPr>
                </a:tc>
                <a:tc>
                  <a:txBody>
                    <a:bodyPr/>
                    <a:lstStyle/>
                    <a:p>
                      <a:pPr algn="ctr"/>
                      <a:r>
                        <a:rPr lang="en-US" dirty="0">
                          <a:solidFill>
                            <a:schemeClr val="tx1"/>
                          </a:solidFill>
                        </a:rPr>
                        <a:t>G</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F</a:t>
                      </a:r>
                    </a:p>
                  </a:txBody>
                  <a:tcPr>
                    <a:noFill/>
                  </a:tcPr>
                </a:tc>
                <a:tc>
                  <a:txBody>
                    <a:bodyPr/>
                    <a:lstStyle/>
                    <a:p>
                      <a:pPr algn="ctr"/>
                      <a:r>
                        <a:rPr lang="en-US" dirty="0">
                          <a:solidFill>
                            <a:schemeClr val="tx1"/>
                          </a:solidFill>
                        </a:rPr>
                        <a:t>E</a:t>
                      </a:r>
                    </a:p>
                  </a:txBody>
                  <a:tcPr>
                    <a:noFill/>
                  </a:tcPr>
                </a:tc>
                <a:tc>
                  <a:txBody>
                    <a:bodyPr/>
                    <a:lstStyle/>
                    <a:p>
                      <a:pPr algn="ctr"/>
                      <a:r>
                        <a:rPr lang="en-US" dirty="0">
                          <a:solidFill>
                            <a:schemeClr val="tx1"/>
                          </a:solidFill>
                        </a:rPr>
                        <a:t>D</a:t>
                      </a: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extLst>
                  <a:ext uri="{0D108BD9-81ED-4DB2-BD59-A6C34878D82A}">
                    <a16:rowId xmlns:a16="http://schemas.microsoft.com/office/drawing/2014/main" val="660647860"/>
                  </a:ext>
                </a:extLst>
              </a:tr>
            </a:tbl>
          </a:graphicData>
        </a:graphic>
      </p:graphicFrame>
      <p:graphicFrame>
        <p:nvGraphicFramePr>
          <p:cNvPr id="44" name="Table 43">
            <a:extLst>
              <a:ext uri="{FF2B5EF4-FFF2-40B4-BE49-F238E27FC236}">
                <a16:creationId xmlns:a16="http://schemas.microsoft.com/office/drawing/2014/main" id="{0AE1DB72-877A-423C-BCE7-11EF3E06F340}"/>
              </a:ext>
            </a:extLst>
          </p:cNvPr>
          <p:cNvGraphicFramePr>
            <a:graphicFrameLocks noGrp="1"/>
          </p:cNvGraphicFramePr>
          <p:nvPr>
            <p:extLst>
              <p:ext uri="{D42A27DB-BD31-4B8C-83A1-F6EECF244321}">
                <p14:modId xmlns:p14="http://schemas.microsoft.com/office/powerpoint/2010/main" val="3143837000"/>
              </p:ext>
            </p:extLst>
          </p:nvPr>
        </p:nvGraphicFramePr>
        <p:xfrm>
          <a:off x="7771306" y="2531586"/>
          <a:ext cx="3928115" cy="2966720"/>
        </p:xfrm>
        <a:graphic>
          <a:graphicData uri="http://schemas.openxmlformats.org/drawingml/2006/table">
            <a:tbl>
              <a:tblPr firstRow="1" bandRow="1">
                <a:tableStyleId>{5C22544A-7EE6-4342-B048-85BDC9FD1C3A}</a:tableStyleId>
              </a:tblPr>
              <a:tblGrid>
                <a:gridCol w="1010003">
                  <a:extLst>
                    <a:ext uri="{9D8B030D-6E8A-4147-A177-3AD203B41FA5}">
                      <a16:colId xmlns:a16="http://schemas.microsoft.com/office/drawing/2014/main" val="2989644895"/>
                    </a:ext>
                  </a:extLst>
                </a:gridCol>
                <a:gridCol w="1808042">
                  <a:extLst>
                    <a:ext uri="{9D8B030D-6E8A-4147-A177-3AD203B41FA5}">
                      <a16:colId xmlns:a16="http://schemas.microsoft.com/office/drawing/2014/main" val="4244960412"/>
                    </a:ext>
                  </a:extLst>
                </a:gridCol>
                <a:gridCol w="1110070">
                  <a:extLst>
                    <a:ext uri="{9D8B030D-6E8A-4147-A177-3AD203B41FA5}">
                      <a16:colId xmlns:a16="http://schemas.microsoft.com/office/drawing/2014/main" val="2572560869"/>
                    </a:ext>
                  </a:extLst>
                </a:gridCol>
              </a:tblGrid>
              <a:tr h="370840">
                <a:tc>
                  <a:txBody>
                    <a:bodyPr/>
                    <a:lstStyle/>
                    <a:p>
                      <a:pPr algn="ctr"/>
                      <a:r>
                        <a:rPr lang="en-US" dirty="0"/>
                        <a:t>NODE</a:t>
                      </a:r>
                    </a:p>
                  </a:txBody>
                  <a:tcPr/>
                </a:tc>
                <a:tc>
                  <a:txBody>
                    <a:bodyPr/>
                    <a:lstStyle/>
                    <a:p>
                      <a:pPr algn="ctr"/>
                      <a:r>
                        <a:rPr lang="en-US" dirty="0"/>
                        <a:t>NEIGHBORS</a:t>
                      </a:r>
                    </a:p>
                  </a:txBody>
                  <a:tcPr/>
                </a:tc>
                <a:tc>
                  <a:txBody>
                    <a:bodyPr/>
                    <a:lstStyle/>
                    <a:p>
                      <a:pPr algn="ctr"/>
                      <a:r>
                        <a:rPr lang="en-US" dirty="0"/>
                        <a:t>LABEL</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E,F,G</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mn-lt"/>
                        <a:ea typeface="+mn-ea"/>
                        <a:cs typeface="+mn-cs"/>
                      </a:endParaRP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F</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Corbel"/>
                        <a:ea typeface="+mn-ea"/>
                        <a:cs typeface="+mn-cs"/>
                      </a:endParaRPr>
                    </a:p>
                  </a:txBody>
                  <a:tcPr/>
                </a:tc>
                <a:extLst>
                  <a:ext uri="{0D108BD9-81ED-4DB2-BD59-A6C34878D82A}">
                    <a16:rowId xmlns:a16="http://schemas.microsoft.com/office/drawing/2014/main" val="1205733479"/>
                  </a:ext>
                </a:extLst>
              </a:tr>
            </a:tbl>
          </a:graphicData>
        </a:graphic>
      </p:graphicFrame>
      <p:sp>
        <p:nvSpPr>
          <p:cNvPr id="45" name="Rectangle 44">
            <a:extLst>
              <a:ext uri="{FF2B5EF4-FFF2-40B4-BE49-F238E27FC236}">
                <a16:creationId xmlns:a16="http://schemas.microsoft.com/office/drawing/2014/main" id="{50E69993-B234-459B-8E99-C0AE0FC5C48E}"/>
              </a:ext>
            </a:extLst>
          </p:cNvPr>
          <p:cNvSpPr/>
          <p:nvPr/>
        </p:nvSpPr>
        <p:spPr>
          <a:xfrm>
            <a:off x="10862489" y="2833056"/>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46" name="Rectangle 45">
            <a:extLst>
              <a:ext uri="{FF2B5EF4-FFF2-40B4-BE49-F238E27FC236}">
                <a16:creationId xmlns:a16="http://schemas.microsoft.com/office/drawing/2014/main" id="{1687B4CB-4008-4646-B7E4-C5AE74F0250C}"/>
              </a:ext>
            </a:extLst>
          </p:cNvPr>
          <p:cNvSpPr/>
          <p:nvPr/>
        </p:nvSpPr>
        <p:spPr>
          <a:xfrm>
            <a:off x="10858132" y="3233653"/>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47" name="Rectangle 46">
            <a:extLst>
              <a:ext uri="{FF2B5EF4-FFF2-40B4-BE49-F238E27FC236}">
                <a16:creationId xmlns:a16="http://schemas.microsoft.com/office/drawing/2014/main" id="{A3E8839F-427C-4DD3-BF04-331540D330E1}"/>
              </a:ext>
            </a:extLst>
          </p:cNvPr>
          <p:cNvSpPr/>
          <p:nvPr/>
        </p:nvSpPr>
        <p:spPr>
          <a:xfrm>
            <a:off x="10853776" y="3581998"/>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48" name="Rectangle 47">
            <a:extLst>
              <a:ext uri="{FF2B5EF4-FFF2-40B4-BE49-F238E27FC236}">
                <a16:creationId xmlns:a16="http://schemas.microsoft.com/office/drawing/2014/main" id="{F066EC59-B20E-49C7-AF58-6747050DCCE0}"/>
              </a:ext>
            </a:extLst>
          </p:cNvPr>
          <p:cNvSpPr/>
          <p:nvPr/>
        </p:nvSpPr>
        <p:spPr>
          <a:xfrm>
            <a:off x="10853780" y="4718464"/>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49" name="Rectangle 48">
            <a:extLst>
              <a:ext uri="{FF2B5EF4-FFF2-40B4-BE49-F238E27FC236}">
                <a16:creationId xmlns:a16="http://schemas.microsoft.com/office/drawing/2014/main" id="{653CBC27-5676-48D0-8C4B-89EEAD33E0B9}"/>
              </a:ext>
            </a:extLst>
          </p:cNvPr>
          <p:cNvSpPr/>
          <p:nvPr/>
        </p:nvSpPr>
        <p:spPr>
          <a:xfrm>
            <a:off x="10849424" y="4322227"/>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50" name="Rectangle 49">
            <a:extLst>
              <a:ext uri="{FF2B5EF4-FFF2-40B4-BE49-F238E27FC236}">
                <a16:creationId xmlns:a16="http://schemas.microsoft.com/office/drawing/2014/main" id="{80131F33-368D-4C89-B8BA-4F025B0C3E55}"/>
              </a:ext>
            </a:extLst>
          </p:cNvPr>
          <p:cNvSpPr/>
          <p:nvPr/>
        </p:nvSpPr>
        <p:spPr>
          <a:xfrm>
            <a:off x="10862487" y="5066809"/>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51" name="Rectangle 50">
            <a:extLst>
              <a:ext uri="{FF2B5EF4-FFF2-40B4-BE49-F238E27FC236}">
                <a16:creationId xmlns:a16="http://schemas.microsoft.com/office/drawing/2014/main" id="{9E4F89D8-A64A-4224-9DC6-8339EA2F4D4F}"/>
              </a:ext>
            </a:extLst>
          </p:cNvPr>
          <p:cNvSpPr/>
          <p:nvPr/>
        </p:nvSpPr>
        <p:spPr>
          <a:xfrm>
            <a:off x="10849420" y="3956469"/>
            <a:ext cx="591829" cy="584775"/>
          </a:xfrm>
          <a:prstGeom prst="rect">
            <a:avLst/>
          </a:prstGeom>
        </p:spPr>
        <p:txBody>
          <a:bodyPr wrap="none">
            <a:spAutoFit/>
          </a:bodyPr>
          <a:lstStyle/>
          <a:p>
            <a:pPr marL="285750" lvl="0" indent="-285750">
              <a:buFont typeface="Wingdings" panose="05000000000000000000" pitchFamily="2" charset="2"/>
              <a:buChar char="ü"/>
            </a:pPr>
            <a:r>
              <a:rPr lang="en-US" sz="3200" b="1" dirty="0">
                <a:solidFill>
                  <a:srgbClr val="00B050"/>
                </a:solidFill>
              </a:rPr>
              <a:t> </a:t>
            </a:r>
          </a:p>
        </p:txBody>
      </p:sp>
      <p:sp>
        <p:nvSpPr>
          <p:cNvPr id="41" name="TextBox 40">
            <a:extLst>
              <a:ext uri="{FF2B5EF4-FFF2-40B4-BE49-F238E27FC236}">
                <a16:creationId xmlns:a16="http://schemas.microsoft.com/office/drawing/2014/main" id="{B0BDB7B1-A84F-4498-B639-1E652B4E85E1}"/>
              </a:ext>
            </a:extLst>
          </p:cNvPr>
          <p:cNvSpPr txBox="1"/>
          <p:nvPr/>
        </p:nvSpPr>
        <p:spPr>
          <a:xfrm>
            <a:off x="965262" y="5554545"/>
            <a:ext cx="418704" cy="461665"/>
          </a:xfrm>
          <a:prstGeom prst="rect">
            <a:avLst/>
          </a:prstGeom>
          <a:noFill/>
        </p:spPr>
        <p:txBody>
          <a:bodyPr wrap="none" rtlCol="0">
            <a:spAutoFit/>
          </a:bodyPr>
          <a:lstStyle/>
          <a:p>
            <a:r>
              <a:rPr lang="en-US" sz="2400" b="1" dirty="0">
                <a:effectLst>
                  <a:outerShdw blurRad="38100" dist="38100" dir="2700000" algn="tl">
                    <a:srgbClr val="000000">
                      <a:alpha val="43137"/>
                    </a:srgbClr>
                  </a:outerShdw>
                </a:effectLst>
              </a:rPr>
              <a:t>Q</a:t>
            </a:r>
          </a:p>
        </p:txBody>
      </p:sp>
      <p:grpSp>
        <p:nvGrpSpPr>
          <p:cNvPr id="43" name="Group 42">
            <a:extLst>
              <a:ext uri="{FF2B5EF4-FFF2-40B4-BE49-F238E27FC236}">
                <a16:creationId xmlns:a16="http://schemas.microsoft.com/office/drawing/2014/main" id="{3B776ACC-1BAA-422C-B478-348BF10BF3DD}"/>
              </a:ext>
            </a:extLst>
          </p:cNvPr>
          <p:cNvGrpSpPr/>
          <p:nvPr/>
        </p:nvGrpSpPr>
        <p:grpSpPr>
          <a:xfrm>
            <a:off x="1437550" y="5599958"/>
            <a:ext cx="511370" cy="356179"/>
            <a:chOff x="1437550" y="5599958"/>
            <a:chExt cx="511370" cy="356179"/>
          </a:xfrm>
        </p:grpSpPr>
        <p:cxnSp>
          <p:nvCxnSpPr>
            <p:cNvPr id="52" name="Straight Connector 51">
              <a:extLst>
                <a:ext uri="{FF2B5EF4-FFF2-40B4-BE49-F238E27FC236}">
                  <a16:creationId xmlns:a16="http://schemas.microsoft.com/office/drawing/2014/main" id="{FE25B9E2-04FB-4FE1-AF26-C10EE741541A}"/>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2360FFD-2150-4FCC-92BB-F22C855702F9}"/>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54" name="Group 53">
            <a:extLst>
              <a:ext uri="{FF2B5EF4-FFF2-40B4-BE49-F238E27FC236}">
                <a16:creationId xmlns:a16="http://schemas.microsoft.com/office/drawing/2014/main" id="{98A223B8-CFFD-4BEA-893A-981586626C47}"/>
              </a:ext>
            </a:extLst>
          </p:cNvPr>
          <p:cNvGrpSpPr/>
          <p:nvPr/>
        </p:nvGrpSpPr>
        <p:grpSpPr>
          <a:xfrm>
            <a:off x="1971132" y="5589178"/>
            <a:ext cx="511370" cy="356179"/>
            <a:chOff x="1437550" y="5599958"/>
            <a:chExt cx="511370" cy="356179"/>
          </a:xfrm>
        </p:grpSpPr>
        <p:cxnSp>
          <p:nvCxnSpPr>
            <p:cNvPr id="55" name="Straight Connector 54">
              <a:extLst>
                <a:ext uri="{FF2B5EF4-FFF2-40B4-BE49-F238E27FC236}">
                  <a16:creationId xmlns:a16="http://schemas.microsoft.com/office/drawing/2014/main" id="{AAAF9F8D-C246-4622-AD26-0D6471A5F4F1}"/>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8921C537-8945-45DB-BA75-0E9060449297}"/>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a16="http://schemas.microsoft.com/office/drawing/2014/main" id="{E3EE37F9-A80C-419E-B21F-B5FB22E76EDB}"/>
              </a:ext>
            </a:extLst>
          </p:cNvPr>
          <p:cNvGrpSpPr/>
          <p:nvPr/>
        </p:nvGrpSpPr>
        <p:grpSpPr>
          <a:xfrm>
            <a:off x="2499469" y="5589178"/>
            <a:ext cx="511370" cy="356179"/>
            <a:chOff x="1437550" y="5599958"/>
            <a:chExt cx="511370" cy="356179"/>
          </a:xfrm>
        </p:grpSpPr>
        <p:cxnSp>
          <p:nvCxnSpPr>
            <p:cNvPr id="58" name="Straight Connector 57">
              <a:extLst>
                <a:ext uri="{FF2B5EF4-FFF2-40B4-BE49-F238E27FC236}">
                  <a16:creationId xmlns:a16="http://schemas.microsoft.com/office/drawing/2014/main" id="{75B20642-E582-468D-A6A8-8315FEEE1C74}"/>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8CEA69D-1B4E-438F-ADF6-02863F0FA73C}"/>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60" name="Group 59">
            <a:extLst>
              <a:ext uri="{FF2B5EF4-FFF2-40B4-BE49-F238E27FC236}">
                <a16:creationId xmlns:a16="http://schemas.microsoft.com/office/drawing/2014/main" id="{4F314946-E23E-4399-AEDC-41A1461CD3A1}"/>
              </a:ext>
            </a:extLst>
          </p:cNvPr>
          <p:cNvGrpSpPr/>
          <p:nvPr/>
        </p:nvGrpSpPr>
        <p:grpSpPr>
          <a:xfrm>
            <a:off x="3027806" y="5589177"/>
            <a:ext cx="511370" cy="356179"/>
            <a:chOff x="1437550" y="5599958"/>
            <a:chExt cx="511370" cy="356179"/>
          </a:xfrm>
        </p:grpSpPr>
        <p:cxnSp>
          <p:nvCxnSpPr>
            <p:cNvPr id="61" name="Straight Connector 60">
              <a:extLst>
                <a:ext uri="{FF2B5EF4-FFF2-40B4-BE49-F238E27FC236}">
                  <a16:creationId xmlns:a16="http://schemas.microsoft.com/office/drawing/2014/main" id="{4E7D1395-746E-43C9-9650-428A88E80707}"/>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D85F2C9-51C7-4A9F-AADC-2C4A25320B41}"/>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63" name="Group 62">
            <a:extLst>
              <a:ext uri="{FF2B5EF4-FFF2-40B4-BE49-F238E27FC236}">
                <a16:creationId xmlns:a16="http://schemas.microsoft.com/office/drawing/2014/main" id="{CEA54E3B-C5C1-44A3-8E22-FBDFCE5A1D80}"/>
              </a:ext>
            </a:extLst>
          </p:cNvPr>
          <p:cNvGrpSpPr/>
          <p:nvPr/>
        </p:nvGrpSpPr>
        <p:grpSpPr>
          <a:xfrm>
            <a:off x="3582177" y="5589177"/>
            <a:ext cx="511370" cy="356179"/>
            <a:chOff x="1437550" y="5599958"/>
            <a:chExt cx="511370" cy="356179"/>
          </a:xfrm>
        </p:grpSpPr>
        <p:cxnSp>
          <p:nvCxnSpPr>
            <p:cNvPr id="64" name="Straight Connector 63">
              <a:extLst>
                <a:ext uri="{FF2B5EF4-FFF2-40B4-BE49-F238E27FC236}">
                  <a16:creationId xmlns:a16="http://schemas.microsoft.com/office/drawing/2014/main" id="{3D5E014D-38DA-49A8-BE9C-D740697E20AF}"/>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58EAFAE8-8D96-4962-BB22-A9A48C67A127}"/>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66" name="Group 65">
            <a:extLst>
              <a:ext uri="{FF2B5EF4-FFF2-40B4-BE49-F238E27FC236}">
                <a16:creationId xmlns:a16="http://schemas.microsoft.com/office/drawing/2014/main" id="{3D41D0B7-F3F6-43EC-8C02-AF175D927634}"/>
              </a:ext>
            </a:extLst>
          </p:cNvPr>
          <p:cNvGrpSpPr/>
          <p:nvPr/>
        </p:nvGrpSpPr>
        <p:grpSpPr>
          <a:xfrm>
            <a:off x="4106495" y="5598954"/>
            <a:ext cx="511370" cy="356179"/>
            <a:chOff x="1437550" y="5599958"/>
            <a:chExt cx="511370" cy="356179"/>
          </a:xfrm>
        </p:grpSpPr>
        <p:cxnSp>
          <p:nvCxnSpPr>
            <p:cNvPr id="67" name="Straight Connector 66">
              <a:extLst>
                <a:ext uri="{FF2B5EF4-FFF2-40B4-BE49-F238E27FC236}">
                  <a16:creationId xmlns:a16="http://schemas.microsoft.com/office/drawing/2014/main" id="{ED937F88-6BFF-4579-92BA-E89CF7707D2B}"/>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8CE6CBC-AA13-4659-96C9-8E14268A9E65}"/>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17471676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BFS: Algorithm and Time Complexity</a:t>
            </a:r>
          </a:p>
        </p:txBody>
      </p:sp>
      <p:sp>
        <p:nvSpPr>
          <p:cNvPr id="4" name="Slide Number Placeholder 3">
            <a:extLst>
              <a:ext uri="{FF2B5EF4-FFF2-40B4-BE49-F238E27FC236}">
                <a16:creationId xmlns:a16="http://schemas.microsoft.com/office/drawing/2014/main" id="{066860C8-A99B-4B31-9C17-E5AF3594F494}"/>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46/110</a:t>
            </a:r>
          </a:p>
        </p:txBody>
      </p:sp>
      <p:sp>
        <p:nvSpPr>
          <p:cNvPr id="3" name="TextBox 2"/>
          <p:cNvSpPr txBox="1"/>
          <p:nvPr/>
        </p:nvSpPr>
        <p:spPr>
          <a:xfrm>
            <a:off x="1063534" y="2000977"/>
            <a:ext cx="4398373" cy="3539430"/>
          </a:xfrm>
          <a:prstGeom prst="rect">
            <a:avLst/>
          </a:prstGeom>
          <a:noFill/>
          <a:ln w="38100" cmpd="thickThin">
            <a:solidFill>
              <a:srgbClr val="F6B000"/>
            </a:solidFill>
          </a:ln>
        </p:spPr>
        <p:txBody>
          <a:bodyPr wrap="square" rtlCol="0">
            <a:spAutoFit/>
          </a:bodyPr>
          <a:lstStyle/>
          <a:p>
            <a:r>
              <a:rPr lang="en-US" sz="1600" dirty="0">
                <a:latin typeface="Consolas" panose="020B0609020204030204" pitchFamily="49" charset="0"/>
              </a:rPr>
              <a:t>BFS(START)</a:t>
            </a:r>
          </a:p>
          <a:p>
            <a:r>
              <a:rPr lang="en-US" sz="1600" dirty="0">
                <a:latin typeface="Consolas" panose="020B0609020204030204" pitchFamily="49" charset="0"/>
              </a:rPr>
              <a:t>    Queue Q</a:t>
            </a:r>
          </a:p>
          <a:p>
            <a:r>
              <a:rPr lang="en-US" sz="1600" dirty="0">
                <a:latin typeface="Consolas" panose="020B0609020204030204" pitchFamily="49" charset="0"/>
              </a:rPr>
              <a:t>    Mark all nodes as unchecked</a:t>
            </a:r>
          </a:p>
          <a:p>
            <a:r>
              <a:rPr lang="en-US" sz="1600" dirty="0">
                <a:latin typeface="Consolas" panose="020B0609020204030204" pitchFamily="49" charset="0"/>
              </a:rPr>
              <a:t>    </a:t>
            </a:r>
            <a:r>
              <a:rPr lang="en-US" sz="1600" dirty="0" err="1">
                <a:latin typeface="Consolas" panose="020B0609020204030204" pitchFamily="49" charset="0"/>
              </a:rPr>
              <a:t>Q.add</a:t>
            </a:r>
            <a:r>
              <a:rPr lang="en-US" sz="1600" dirty="0">
                <a:latin typeface="Consolas" panose="020B0609020204030204" pitchFamily="49" charset="0"/>
              </a:rPr>
              <a:t>(START)</a:t>
            </a:r>
          </a:p>
          <a:p>
            <a:r>
              <a:rPr lang="en-US" sz="1600" dirty="0">
                <a:latin typeface="Consolas" panose="020B0609020204030204" pitchFamily="49" charset="0"/>
              </a:rPr>
              <a:t>    Mark START as checked</a:t>
            </a:r>
          </a:p>
          <a:p>
            <a:endParaRPr lang="en-US" sz="1600" dirty="0">
              <a:latin typeface="Consolas" panose="020B0609020204030204" pitchFamily="49" charset="0"/>
            </a:endParaRPr>
          </a:p>
          <a:p>
            <a:r>
              <a:rPr lang="en-US" sz="1600" dirty="0">
                <a:latin typeface="Consolas" panose="020B0609020204030204" pitchFamily="49" charset="0"/>
              </a:rPr>
              <a:t>    while Q is not empty do</a:t>
            </a:r>
          </a:p>
          <a:p>
            <a:r>
              <a:rPr lang="en-US" sz="1600" dirty="0">
                <a:latin typeface="Consolas" panose="020B0609020204030204" pitchFamily="49" charset="0"/>
              </a:rPr>
              <a:t>        v ← </a:t>
            </a:r>
            <a:r>
              <a:rPr lang="en-US" sz="1600" dirty="0" err="1">
                <a:latin typeface="Consolas" panose="020B0609020204030204" pitchFamily="49" charset="0"/>
              </a:rPr>
              <a:t>Q.delete</a:t>
            </a:r>
            <a:r>
              <a:rPr lang="en-US" sz="1600" dirty="0">
                <a:latin typeface="Consolas" panose="020B0609020204030204" pitchFamily="49" charset="0"/>
              </a:rPr>
              <a:t>()</a:t>
            </a:r>
          </a:p>
          <a:p>
            <a:r>
              <a:rPr lang="en-US" sz="1600" dirty="0">
                <a:latin typeface="Consolas" panose="020B0609020204030204" pitchFamily="49" charset="0"/>
              </a:rPr>
              <a:t>        Print v</a:t>
            </a:r>
          </a:p>
          <a:p>
            <a:endParaRPr lang="en-US" sz="1600" dirty="0">
              <a:latin typeface="Consolas" panose="020B0609020204030204" pitchFamily="49" charset="0"/>
            </a:endParaRPr>
          </a:p>
          <a:p>
            <a:r>
              <a:rPr lang="en-US" sz="1600" dirty="0">
                <a:latin typeface="Consolas" panose="020B0609020204030204" pitchFamily="49" charset="0"/>
              </a:rPr>
              <a:t>        for each neighbor w of v do</a:t>
            </a:r>
          </a:p>
          <a:p>
            <a:r>
              <a:rPr lang="en-US" sz="1600" dirty="0">
                <a:latin typeface="Consolas" panose="020B0609020204030204" pitchFamily="49" charset="0"/>
              </a:rPr>
              <a:t>            if w is unchecked then</a:t>
            </a:r>
          </a:p>
          <a:p>
            <a:r>
              <a:rPr lang="en-US" sz="1600" dirty="0">
                <a:latin typeface="Consolas" panose="020B0609020204030204" pitchFamily="49" charset="0"/>
              </a:rPr>
              <a:t>                </a:t>
            </a:r>
            <a:r>
              <a:rPr lang="en-US" sz="1600" dirty="0" err="1">
                <a:latin typeface="Consolas" panose="020B0609020204030204" pitchFamily="49" charset="0"/>
              </a:rPr>
              <a:t>Q.add</a:t>
            </a:r>
            <a:r>
              <a:rPr lang="en-US" sz="1600" dirty="0">
                <a:latin typeface="Consolas" panose="020B0609020204030204" pitchFamily="49" charset="0"/>
              </a:rPr>
              <a:t>(w)</a:t>
            </a:r>
          </a:p>
          <a:p>
            <a:r>
              <a:rPr lang="en-US" sz="1600" dirty="0">
                <a:latin typeface="Consolas" panose="020B0609020204030204" pitchFamily="49" charset="0"/>
              </a:rPr>
              <a:t>                Mark w as checked</a:t>
            </a:r>
          </a:p>
        </p:txBody>
      </p:sp>
      <p:sp>
        <p:nvSpPr>
          <p:cNvPr id="5" name="Rectangle 4">
            <a:extLst>
              <a:ext uri="{FF2B5EF4-FFF2-40B4-BE49-F238E27FC236}">
                <a16:creationId xmlns:a16="http://schemas.microsoft.com/office/drawing/2014/main" id="{AB09392F-31C6-435C-88CC-6EE0B55A7228}"/>
              </a:ext>
            </a:extLst>
          </p:cNvPr>
          <p:cNvSpPr/>
          <p:nvPr/>
        </p:nvSpPr>
        <p:spPr>
          <a:xfrm>
            <a:off x="1927414" y="4392705"/>
            <a:ext cx="3532094" cy="385482"/>
          </a:xfrm>
          <a:prstGeom prst="rect">
            <a:avLst/>
          </a:prstGeom>
          <a:noFill/>
          <a:ln>
            <a:solidFill>
              <a:srgbClr val="D012C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49C653F0-FBDD-44AE-AC55-74C20347EE0A}"/>
              </a:ext>
            </a:extLst>
          </p:cNvPr>
          <p:cNvCxnSpPr/>
          <p:nvPr/>
        </p:nvCxnSpPr>
        <p:spPr>
          <a:xfrm>
            <a:off x="5459508" y="4598894"/>
            <a:ext cx="833716" cy="0"/>
          </a:xfrm>
          <a:prstGeom prst="straightConnector1">
            <a:avLst/>
          </a:prstGeom>
          <a:ln w="28575">
            <a:solidFill>
              <a:srgbClr val="D012C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FA814D1-1E74-4307-9B7B-3C9024ADE2BA}"/>
                  </a:ext>
                </a:extLst>
              </p:cNvPr>
              <p:cNvSpPr txBox="1"/>
              <p:nvPr/>
            </p:nvSpPr>
            <p:spPr>
              <a:xfrm>
                <a:off x="6293224" y="4423088"/>
                <a:ext cx="147643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D012C2"/>
                          </a:solidFill>
                          <a:latin typeface="Cambria Math" panose="02040503050406030204" pitchFamily="18" charset="0"/>
                        </a:rPr>
                        <m:t>𝑂</m:t>
                      </m:r>
                      <m:r>
                        <a:rPr lang="en-US" i="1" dirty="0" smtClean="0">
                          <a:solidFill>
                            <a:srgbClr val="D012C2"/>
                          </a:solidFill>
                          <a:latin typeface="Cambria Math" panose="02040503050406030204" pitchFamily="18" charset="0"/>
                        </a:rPr>
                        <m:t>(</m:t>
                      </m:r>
                      <m:d>
                        <m:dPr>
                          <m:begChr m:val="|"/>
                          <m:endChr m:val="|"/>
                          <m:ctrlPr>
                            <a:rPr lang="en-US" i="1" dirty="0" smtClean="0">
                              <a:solidFill>
                                <a:srgbClr val="D012C2"/>
                              </a:solidFill>
                              <a:latin typeface="Cambria Math" panose="02040503050406030204" pitchFamily="18" charset="0"/>
                            </a:rPr>
                          </m:ctrlPr>
                        </m:dPr>
                        <m:e>
                          <m:r>
                            <a:rPr lang="en-US" i="1" dirty="0" smtClean="0">
                              <a:solidFill>
                                <a:srgbClr val="D012C2"/>
                              </a:solidFill>
                              <a:latin typeface="Cambria Math" panose="02040503050406030204" pitchFamily="18" charset="0"/>
                            </a:rPr>
                            <m:t>𝐸</m:t>
                          </m:r>
                        </m:e>
                      </m:d>
                      <m:r>
                        <a:rPr lang="en-US" b="0" i="1" dirty="0" smtClean="0">
                          <a:solidFill>
                            <a:srgbClr val="D012C2"/>
                          </a:solidFill>
                          <a:latin typeface="Cambria Math" panose="02040503050406030204" pitchFamily="18" charset="0"/>
                        </a:rPr>
                        <m:t>+|</m:t>
                      </m:r>
                      <m:r>
                        <a:rPr lang="en-US" b="0" i="1" dirty="0" smtClean="0">
                          <a:solidFill>
                            <a:srgbClr val="D012C2"/>
                          </a:solidFill>
                          <a:latin typeface="Cambria Math" panose="02040503050406030204" pitchFamily="18" charset="0"/>
                        </a:rPr>
                        <m:t>𝑉</m:t>
                      </m:r>
                      <m:r>
                        <a:rPr lang="en-US" b="0" i="1" dirty="0" smtClean="0">
                          <a:solidFill>
                            <a:srgbClr val="D012C2"/>
                          </a:solidFill>
                          <a:latin typeface="Cambria Math" panose="02040503050406030204" pitchFamily="18" charset="0"/>
                        </a:rPr>
                        <m:t>|)</m:t>
                      </m:r>
                    </m:oMath>
                  </m:oMathPara>
                </a14:m>
                <a:endParaRPr lang="en-US" dirty="0">
                  <a:solidFill>
                    <a:srgbClr val="D012C2"/>
                  </a:solidFill>
                </a:endParaRPr>
              </a:p>
            </p:txBody>
          </p:sp>
        </mc:Choice>
        <mc:Fallback xmlns="">
          <p:sp>
            <p:nvSpPr>
              <p:cNvPr id="7" name="TextBox 6">
                <a:extLst>
                  <a:ext uri="{FF2B5EF4-FFF2-40B4-BE49-F238E27FC236}">
                    <a16:creationId xmlns:a16="http://schemas.microsoft.com/office/drawing/2014/main" id="{BFA814D1-1E74-4307-9B7B-3C9024ADE2BA}"/>
                  </a:ext>
                </a:extLst>
              </p:cNvPr>
              <p:cNvSpPr txBox="1">
                <a:spLocks noRot="1" noChangeAspect="1" noMove="1" noResize="1" noEditPoints="1" noAdjustHandles="1" noChangeArrowheads="1" noChangeShapeType="1" noTextEdit="1"/>
              </p:cNvSpPr>
              <p:nvPr/>
            </p:nvSpPr>
            <p:spPr>
              <a:xfrm>
                <a:off x="6293224" y="4423088"/>
                <a:ext cx="1476430" cy="369332"/>
              </a:xfrm>
              <a:prstGeom prst="rect">
                <a:avLst/>
              </a:prstGeom>
              <a:blipFill>
                <a:blip r:embed="rId4"/>
                <a:stretch>
                  <a:fillRect b="-15000"/>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3367350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Binary Tree</a:t>
            </a:r>
          </a:p>
        </p:txBody>
      </p:sp>
      <p:sp>
        <p:nvSpPr>
          <p:cNvPr id="3" name="Slide Number Placeholder 2">
            <a:extLst>
              <a:ext uri="{FF2B5EF4-FFF2-40B4-BE49-F238E27FC236}">
                <a16:creationId xmlns:a16="http://schemas.microsoft.com/office/drawing/2014/main" id="{419858EB-4346-4375-9CA1-30D118CBB224}"/>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47/110</a:t>
            </a:r>
          </a:p>
        </p:txBody>
      </p:sp>
      <p:cxnSp>
        <p:nvCxnSpPr>
          <p:cNvPr id="5" name="Straight Connector 4"/>
          <p:cNvCxnSpPr/>
          <p:nvPr/>
        </p:nvCxnSpPr>
        <p:spPr>
          <a:xfrm flipV="1">
            <a:off x="3133165" y="4854034"/>
            <a:ext cx="453706" cy="680248"/>
          </a:xfrm>
          <a:prstGeom prst="line">
            <a:avLst/>
          </a:prstGeom>
          <a:ln w="38100">
            <a:solidFill>
              <a:schemeClr val="tx1"/>
            </a:solidFill>
            <a:headEnd type="none"/>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H="1" flipV="1">
            <a:off x="5085185" y="4743886"/>
            <a:ext cx="456860" cy="790396"/>
          </a:xfrm>
          <a:prstGeom prst="line">
            <a:avLst/>
          </a:prstGeom>
          <a:ln w="38100">
            <a:solidFill>
              <a:schemeClr val="tx1"/>
            </a:solidFill>
            <a:headEnd type="none"/>
          </a:ln>
        </p:spPr>
        <p:style>
          <a:lnRef idx="1">
            <a:schemeClr val="accent1"/>
          </a:lnRef>
          <a:fillRef idx="0">
            <a:schemeClr val="accent1"/>
          </a:fillRef>
          <a:effectRef idx="0">
            <a:schemeClr val="accent1"/>
          </a:effectRef>
          <a:fontRef idx="minor">
            <a:schemeClr val="tx1"/>
          </a:fontRef>
        </p:style>
      </p:cxnSp>
      <p:cxnSp>
        <p:nvCxnSpPr>
          <p:cNvPr id="7" name="Straight Connector 6"/>
          <p:cNvCxnSpPr>
            <a:stCxn id="21" idx="1"/>
          </p:cNvCxnSpPr>
          <p:nvPr/>
        </p:nvCxnSpPr>
        <p:spPr>
          <a:xfrm flipH="1" flipV="1">
            <a:off x="6376914" y="2598706"/>
            <a:ext cx="1699493" cy="1105257"/>
          </a:xfrm>
          <a:prstGeom prst="line">
            <a:avLst/>
          </a:prstGeom>
          <a:ln w="38100">
            <a:solidFill>
              <a:schemeClr val="tx1"/>
            </a:solidFill>
            <a:headEnd type="none"/>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4604707" y="2729201"/>
            <a:ext cx="1573693" cy="925491"/>
          </a:xfrm>
          <a:prstGeom prst="line">
            <a:avLst/>
          </a:prstGeom>
          <a:ln w="38100">
            <a:solidFill>
              <a:schemeClr val="tx1"/>
            </a:solidFill>
            <a:headEnd type="none"/>
          </a:ln>
        </p:spPr>
        <p:style>
          <a:lnRef idx="1">
            <a:schemeClr val="accent1"/>
          </a:lnRef>
          <a:fillRef idx="0">
            <a:schemeClr val="accent1"/>
          </a:fillRef>
          <a:effectRef idx="0">
            <a:schemeClr val="accent1"/>
          </a:effectRef>
          <a:fontRef idx="minor">
            <a:schemeClr val="tx1"/>
          </a:fontRef>
        </p:style>
      </p:cxnSp>
      <p:sp>
        <p:nvSpPr>
          <p:cNvPr id="9" name="Oval 16"/>
          <p:cNvSpPr>
            <a:spLocks noChangeArrowheads="1"/>
          </p:cNvSpPr>
          <p:nvPr/>
        </p:nvSpPr>
        <p:spPr bwMode="auto">
          <a:xfrm>
            <a:off x="6142340" y="2489222"/>
            <a:ext cx="435531" cy="435531"/>
          </a:xfrm>
          <a:prstGeom prst="ellipse">
            <a:avLst/>
          </a:prstGeom>
          <a:solidFill>
            <a:schemeClr val="accent6">
              <a:lumMod val="60000"/>
              <a:lumOff val="4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0" name="Straight Connector 9"/>
          <p:cNvCxnSpPr>
            <a:stCxn id="14" idx="1"/>
          </p:cNvCxnSpPr>
          <p:nvPr/>
        </p:nvCxnSpPr>
        <p:spPr>
          <a:xfrm flipH="1" flipV="1">
            <a:off x="4438678" y="3708251"/>
            <a:ext cx="445101" cy="908557"/>
          </a:xfrm>
          <a:prstGeom prst="line">
            <a:avLst/>
          </a:prstGeom>
          <a:ln w="38100">
            <a:solidFill>
              <a:schemeClr val="tx1"/>
            </a:solidFill>
            <a:head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3864349" y="3777801"/>
            <a:ext cx="477990" cy="732009"/>
          </a:xfrm>
          <a:prstGeom prst="line">
            <a:avLst/>
          </a:prstGeom>
          <a:ln w="38100">
            <a:solidFill>
              <a:schemeClr val="tx1"/>
            </a:solidFill>
            <a:headEnd type="none"/>
          </a:ln>
        </p:spPr>
        <p:style>
          <a:lnRef idx="1">
            <a:schemeClr val="accent1"/>
          </a:lnRef>
          <a:fillRef idx="0">
            <a:schemeClr val="accent1"/>
          </a:fillRef>
          <a:effectRef idx="0">
            <a:schemeClr val="accent1"/>
          </a:effectRef>
          <a:fontRef idx="minor">
            <a:schemeClr val="tx1"/>
          </a:fontRef>
        </p:style>
      </p:cxnSp>
      <p:sp>
        <p:nvSpPr>
          <p:cNvPr id="12" name="Oval 16"/>
          <p:cNvSpPr>
            <a:spLocks noChangeArrowheads="1"/>
          </p:cNvSpPr>
          <p:nvPr/>
        </p:nvSpPr>
        <p:spPr bwMode="auto">
          <a:xfrm>
            <a:off x="4209517" y="355435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3" name="Oval 16"/>
          <p:cNvSpPr>
            <a:spLocks noChangeArrowheads="1"/>
          </p:cNvSpPr>
          <p:nvPr/>
        </p:nvSpPr>
        <p:spPr bwMode="auto">
          <a:xfrm>
            <a:off x="3472918" y="450981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4" name="Oval 16"/>
          <p:cNvSpPr>
            <a:spLocks noChangeArrowheads="1"/>
          </p:cNvSpPr>
          <p:nvPr/>
        </p:nvSpPr>
        <p:spPr bwMode="auto">
          <a:xfrm>
            <a:off x="4819997" y="455302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5" name="Oval 16"/>
          <p:cNvSpPr>
            <a:spLocks noChangeArrowheads="1"/>
          </p:cNvSpPr>
          <p:nvPr/>
        </p:nvSpPr>
        <p:spPr bwMode="auto">
          <a:xfrm>
            <a:off x="5444716" y="548049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6" name="Oval 16"/>
          <p:cNvSpPr>
            <a:spLocks noChangeArrowheads="1"/>
          </p:cNvSpPr>
          <p:nvPr/>
        </p:nvSpPr>
        <p:spPr bwMode="auto">
          <a:xfrm>
            <a:off x="2824805" y="5535669"/>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7" name="Straight Connector 16"/>
          <p:cNvCxnSpPr/>
          <p:nvPr/>
        </p:nvCxnSpPr>
        <p:spPr>
          <a:xfrm flipH="1" flipV="1">
            <a:off x="8928634" y="4762474"/>
            <a:ext cx="465117" cy="771808"/>
          </a:xfrm>
          <a:prstGeom prst="line">
            <a:avLst/>
          </a:prstGeom>
          <a:ln w="38100">
            <a:solidFill>
              <a:schemeClr val="tx1"/>
            </a:solidFill>
            <a:head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24" idx="7"/>
          </p:cNvCxnSpPr>
          <p:nvPr/>
        </p:nvCxnSpPr>
        <p:spPr>
          <a:xfrm flipV="1">
            <a:off x="8489285" y="4829738"/>
            <a:ext cx="283801" cy="788302"/>
          </a:xfrm>
          <a:prstGeom prst="line">
            <a:avLst/>
          </a:prstGeom>
          <a:ln w="38100">
            <a:solidFill>
              <a:schemeClr val="tx1"/>
            </a:solidFill>
            <a:head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31" idx="0"/>
          </p:cNvCxnSpPr>
          <p:nvPr/>
        </p:nvCxnSpPr>
        <p:spPr>
          <a:xfrm flipH="1" flipV="1">
            <a:off x="8282128" y="3726839"/>
            <a:ext cx="615993" cy="859976"/>
          </a:xfrm>
          <a:prstGeom prst="line">
            <a:avLst/>
          </a:prstGeom>
          <a:ln w="38100">
            <a:solidFill>
              <a:schemeClr val="tx1"/>
            </a:solidFill>
            <a:head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V="1">
            <a:off x="7668245" y="3796389"/>
            <a:ext cx="517543" cy="713421"/>
          </a:xfrm>
          <a:prstGeom prst="line">
            <a:avLst/>
          </a:prstGeom>
          <a:ln w="38100">
            <a:solidFill>
              <a:schemeClr val="tx1"/>
            </a:solidFill>
            <a:headEnd type="none"/>
          </a:ln>
        </p:spPr>
        <p:style>
          <a:lnRef idx="1">
            <a:schemeClr val="accent1"/>
          </a:lnRef>
          <a:fillRef idx="0">
            <a:schemeClr val="accent1"/>
          </a:fillRef>
          <a:effectRef idx="0">
            <a:schemeClr val="accent1"/>
          </a:effectRef>
          <a:fontRef idx="minor">
            <a:schemeClr val="tx1"/>
          </a:fontRef>
        </p:style>
      </p:cxnSp>
      <p:sp>
        <p:nvSpPr>
          <p:cNvPr id="21" name="Oval 16"/>
          <p:cNvSpPr>
            <a:spLocks noChangeArrowheads="1"/>
          </p:cNvSpPr>
          <p:nvPr/>
        </p:nvSpPr>
        <p:spPr bwMode="auto">
          <a:xfrm>
            <a:off x="8012625" y="364018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2" name="Oval 16"/>
          <p:cNvSpPr>
            <a:spLocks noChangeArrowheads="1"/>
          </p:cNvSpPr>
          <p:nvPr/>
        </p:nvSpPr>
        <p:spPr bwMode="auto">
          <a:xfrm>
            <a:off x="7316367" y="444771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3" name="Oval 16"/>
          <p:cNvSpPr>
            <a:spLocks noChangeArrowheads="1"/>
          </p:cNvSpPr>
          <p:nvPr/>
        </p:nvSpPr>
        <p:spPr bwMode="auto">
          <a:xfrm>
            <a:off x="8663446" y="457161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4" name="Oval 16"/>
          <p:cNvSpPr>
            <a:spLocks noChangeArrowheads="1"/>
          </p:cNvSpPr>
          <p:nvPr/>
        </p:nvSpPr>
        <p:spPr bwMode="auto">
          <a:xfrm>
            <a:off x="8117536" y="555425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5" name="Oval 16"/>
          <p:cNvSpPr>
            <a:spLocks noChangeArrowheads="1"/>
          </p:cNvSpPr>
          <p:nvPr/>
        </p:nvSpPr>
        <p:spPr bwMode="auto">
          <a:xfrm>
            <a:off x="9274718" y="549908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6" name="TextBox 25"/>
          <p:cNvSpPr txBox="1"/>
          <p:nvPr/>
        </p:nvSpPr>
        <p:spPr>
          <a:xfrm>
            <a:off x="6191629" y="2511082"/>
            <a:ext cx="35137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A</a:t>
            </a:r>
          </a:p>
        </p:txBody>
      </p:sp>
      <p:sp>
        <p:nvSpPr>
          <p:cNvPr id="27" name="TextBox 26"/>
          <p:cNvSpPr txBox="1"/>
          <p:nvPr/>
        </p:nvSpPr>
        <p:spPr>
          <a:xfrm>
            <a:off x="4254802" y="3587457"/>
            <a:ext cx="35137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B</a:t>
            </a:r>
          </a:p>
        </p:txBody>
      </p:sp>
      <p:sp>
        <p:nvSpPr>
          <p:cNvPr id="28" name="TextBox 27"/>
          <p:cNvSpPr txBox="1"/>
          <p:nvPr/>
        </p:nvSpPr>
        <p:spPr>
          <a:xfrm>
            <a:off x="8080210" y="3662129"/>
            <a:ext cx="35618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C</a:t>
            </a:r>
          </a:p>
        </p:txBody>
      </p:sp>
      <p:sp>
        <p:nvSpPr>
          <p:cNvPr id="29" name="Rectangle 28"/>
          <p:cNvSpPr/>
          <p:nvPr/>
        </p:nvSpPr>
        <p:spPr>
          <a:xfrm>
            <a:off x="3520985" y="4547482"/>
            <a:ext cx="356188" cy="369332"/>
          </a:xfrm>
          <a:prstGeom prst="rect">
            <a:avLst/>
          </a:prstGeom>
        </p:spPr>
        <p:txBody>
          <a:bodyPr wrap="none">
            <a:spAutoFit/>
          </a:bodyPr>
          <a:lstStyle/>
          <a:p>
            <a:r>
              <a:rPr lang="en-US" b="1" dirty="0">
                <a:solidFill>
                  <a:prstClr val="black"/>
                </a:solidFill>
                <a:latin typeface="Arial Rounded MT Bold" panose="020F0704030504030204" pitchFamily="34" charset="0"/>
              </a:rPr>
              <a:t>D</a:t>
            </a:r>
          </a:p>
        </p:txBody>
      </p:sp>
      <p:sp>
        <p:nvSpPr>
          <p:cNvPr id="30" name="Rectangle 29"/>
          <p:cNvSpPr/>
          <p:nvPr/>
        </p:nvSpPr>
        <p:spPr>
          <a:xfrm>
            <a:off x="7363353" y="4490932"/>
            <a:ext cx="324128" cy="369332"/>
          </a:xfrm>
          <a:prstGeom prst="rect">
            <a:avLst/>
          </a:prstGeom>
        </p:spPr>
        <p:txBody>
          <a:bodyPr wrap="none">
            <a:spAutoFit/>
          </a:bodyPr>
          <a:lstStyle/>
          <a:p>
            <a:r>
              <a:rPr lang="en-US" b="1" dirty="0">
                <a:solidFill>
                  <a:prstClr val="black"/>
                </a:solidFill>
                <a:latin typeface="Arial Rounded MT Bold" panose="020F0704030504030204" pitchFamily="34" charset="0"/>
              </a:rPr>
              <a:t>F</a:t>
            </a:r>
          </a:p>
        </p:txBody>
      </p:sp>
      <p:sp>
        <p:nvSpPr>
          <p:cNvPr id="31" name="Rectangle 30"/>
          <p:cNvSpPr/>
          <p:nvPr/>
        </p:nvSpPr>
        <p:spPr>
          <a:xfrm>
            <a:off x="8714417" y="4586815"/>
            <a:ext cx="367408" cy="369332"/>
          </a:xfrm>
          <a:prstGeom prst="rect">
            <a:avLst/>
          </a:prstGeom>
        </p:spPr>
        <p:txBody>
          <a:bodyPr wrap="none">
            <a:spAutoFit/>
          </a:bodyPr>
          <a:lstStyle/>
          <a:p>
            <a:r>
              <a:rPr lang="en-US" b="1" dirty="0">
                <a:solidFill>
                  <a:prstClr val="black"/>
                </a:solidFill>
                <a:latin typeface="Arial Rounded MT Bold" panose="020F0704030504030204" pitchFamily="34" charset="0"/>
              </a:rPr>
              <a:t>G</a:t>
            </a:r>
          </a:p>
        </p:txBody>
      </p:sp>
      <p:sp>
        <p:nvSpPr>
          <p:cNvPr id="32" name="Rectangle 31"/>
          <p:cNvSpPr/>
          <p:nvPr/>
        </p:nvSpPr>
        <p:spPr>
          <a:xfrm>
            <a:off x="8170833" y="5608332"/>
            <a:ext cx="317716" cy="369332"/>
          </a:xfrm>
          <a:prstGeom prst="rect">
            <a:avLst/>
          </a:prstGeom>
        </p:spPr>
        <p:txBody>
          <a:bodyPr wrap="none">
            <a:spAutoFit/>
          </a:bodyPr>
          <a:lstStyle/>
          <a:p>
            <a:r>
              <a:rPr lang="en-US" b="1" dirty="0">
                <a:solidFill>
                  <a:prstClr val="black"/>
                </a:solidFill>
                <a:latin typeface="Arial Rounded MT Bold" panose="020F0704030504030204" pitchFamily="34" charset="0"/>
              </a:rPr>
              <a:t>J</a:t>
            </a:r>
          </a:p>
        </p:txBody>
      </p:sp>
      <p:sp>
        <p:nvSpPr>
          <p:cNvPr id="33" name="Rectangle 32"/>
          <p:cNvSpPr/>
          <p:nvPr/>
        </p:nvSpPr>
        <p:spPr>
          <a:xfrm>
            <a:off x="9326516" y="5550830"/>
            <a:ext cx="356188" cy="369332"/>
          </a:xfrm>
          <a:prstGeom prst="rect">
            <a:avLst/>
          </a:prstGeom>
        </p:spPr>
        <p:txBody>
          <a:bodyPr wrap="none">
            <a:spAutoFit/>
          </a:bodyPr>
          <a:lstStyle/>
          <a:p>
            <a:r>
              <a:rPr lang="en-US" b="1" dirty="0">
                <a:solidFill>
                  <a:prstClr val="black"/>
                </a:solidFill>
                <a:latin typeface="Arial Rounded MT Bold" panose="020F0704030504030204" pitchFamily="34" charset="0"/>
              </a:rPr>
              <a:t>K</a:t>
            </a:r>
          </a:p>
        </p:txBody>
      </p:sp>
      <p:sp>
        <p:nvSpPr>
          <p:cNvPr id="34" name="Rectangle 33"/>
          <p:cNvSpPr/>
          <p:nvPr/>
        </p:nvSpPr>
        <p:spPr>
          <a:xfrm>
            <a:off x="5528598" y="5530172"/>
            <a:ext cx="318976" cy="369332"/>
          </a:xfrm>
          <a:prstGeom prst="rect">
            <a:avLst/>
          </a:prstGeom>
        </p:spPr>
        <p:txBody>
          <a:bodyPr wrap="square">
            <a:spAutoFit/>
          </a:bodyPr>
          <a:lstStyle/>
          <a:p>
            <a:r>
              <a:rPr lang="en-US" b="1" dirty="0">
                <a:solidFill>
                  <a:prstClr val="black"/>
                </a:solidFill>
                <a:latin typeface="Arial Rounded MT Bold" panose="020F0704030504030204" pitchFamily="34" charset="0"/>
              </a:rPr>
              <a:t>I</a:t>
            </a:r>
          </a:p>
        </p:txBody>
      </p:sp>
      <p:sp>
        <p:nvSpPr>
          <p:cNvPr id="35" name="Rectangle 34"/>
          <p:cNvSpPr/>
          <p:nvPr/>
        </p:nvSpPr>
        <p:spPr>
          <a:xfrm>
            <a:off x="2888630" y="5576929"/>
            <a:ext cx="359394" cy="369332"/>
          </a:xfrm>
          <a:prstGeom prst="rect">
            <a:avLst/>
          </a:prstGeom>
        </p:spPr>
        <p:txBody>
          <a:bodyPr wrap="none">
            <a:spAutoFit/>
          </a:bodyPr>
          <a:lstStyle/>
          <a:p>
            <a:r>
              <a:rPr lang="en-US" b="1" dirty="0">
                <a:solidFill>
                  <a:prstClr val="black"/>
                </a:solidFill>
                <a:latin typeface="Arial Rounded MT Bold" panose="020F0704030504030204" pitchFamily="34" charset="0"/>
              </a:rPr>
              <a:t>H</a:t>
            </a:r>
          </a:p>
        </p:txBody>
      </p:sp>
      <p:sp>
        <p:nvSpPr>
          <p:cNvPr id="36" name="Rectangle 35"/>
          <p:cNvSpPr/>
          <p:nvPr/>
        </p:nvSpPr>
        <p:spPr>
          <a:xfrm>
            <a:off x="4879779" y="4577959"/>
            <a:ext cx="338554" cy="369332"/>
          </a:xfrm>
          <a:prstGeom prst="rect">
            <a:avLst/>
          </a:prstGeom>
        </p:spPr>
        <p:txBody>
          <a:bodyPr wrap="none">
            <a:spAutoFit/>
          </a:bodyPr>
          <a:lstStyle/>
          <a:p>
            <a:r>
              <a:rPr lang="en-US" b="1" dirty="0">
                <a:solidFill>
                  <a:prstClr val="black"/>
                </a:solidFill>
                <a:latin typeface="Arial Rounded MT Bold" panose="020F0704030504030204" pitchFamily="34" charset="0"/>
              </a:rPr>
              <a:t>E</a:t>
            </a:r>
          </a:p>
        </p:txBody>
      </p:sp>
      <p:sp>
        <p:nvSpPr>
          <p:cNvPr id="40" name="Rectangle 39"/>
          <p:cNvSpPr/>
          <p:nvPr/>
        </p:nvSpPr>
        <p:spPr>
          <a:xfrm>
            <a:off x="6029656" y="6210112"/>
            <a:ext cx="538609"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rPr>
              <a:t>T</a:t>
            </a:r>
          </a:p>
        </p:txBody>
      </p:sp>
      <p:sp>
        <p:nvSpPr>
          <p:cNvPr id="57" name="Rectangle 56"/>
          <p:cNvSpPr/>
          <p:nvPr/>
        </p:nvSpPr>
        <p:spPr>
          <a:xfrm>
            <a:off x="5716269" y="1901468"/>
            <a:ext cx="1232132" cy="584775"/>
          </a:xfrm>
          <a:prstGeom prst="rect">
            <a:avLst/>
          </a:prstGeom>
        </p:spPr>
        <p:txBody>
          <a:bodyPr wrap="none">
            <a:spAutoFit/>
          </a:bodyPr>
          <a:lstStyle/>
          <a:p>
            <a:pPr marL="118872" lvl="0">
              <a:buClr>
                <a:srgbClr val="F0AD00"/>
              </a:buClr>
              <a:buSzPct val="80000"/>
            </a:pPr>
            <a:r>
              <a:rPr lang="en-US" sz="3200" b="1" dirty="0">
                <a:solidFill>
                  <a:schemeClr val="accent6">
                    <a:lumMod val="60000"/>
                    <a:lumOff val="40000"/>
                  </a:schemeClr>
                </a:solidFill>
                <a:effectLst>
                  <a:outerShdw blurRad="38100" dist="38100" dir="2700000" algn="tl">
                    <a:srgbClr val="000000">
                      <a:alpha val="43137"/>
                    </a:srgbClr>
                  </a:outerShdw>
                </a:effectLst>
                <a:latin typeface="Arial Rounded MT Bold" panose="020F0704030504030204" pitchFamily="34" charset="0"/>
              </a:rPr>
              <a:t>Root</a:t>
            </a:r>
            <a:endParaRPr lang="en-US" sz="3200" b="1" dirty="0">
              <a:solidFill>
                <a:schemeClr val="accent1">
                  <a:lumMod val="60000"/>
                  <a:lumOff val="40000"/>
                </a:schemeClr>
              </a:solidFill>
              <a:effectLst>
                <a:outerShdw blurRad="38100" dist="38100" dir="2700000" algn="tl">
                  <a:srgbClr val="000000">
                    <a:alpha val="43137"/>
                  </a:srgbClr>
                </a:outerShdw>
              </a:effectLst>
              <a:latin typeface="Arial Rounded MT Bold" panose="020F0704030504030204" pitchFamily="34" charset="0"/>
            </a:endParaRPr>
          </a:p>
        </p:txBody>
      </p:sp>
    </p:spTree>
    <p:custDataLst>
      <p:tags r:id="rId1"/>
    </p:custDataLst>
    <p:extLst>
      <p:ext uri="{BB962C8B-B14F-4D97-AF65-F5344CB8AC3E}">
        <p14:creationId xmlns:p14="http://schemas.microsoft.com/office/powerpoint/2010/main" val="42533534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Straight Connector 14"/>
          <p:cNvCxnSpPr/>
          <p:nvPr/>
        </p:nvCxnSpPr>
        <p:spPr>
          <a:xfrm flipV="1">
            <a:off x="7982305" y="4965944"/>
            <a:ext cx="688460" cy="9871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flipV="1">
            <a:off x="9355861" y="4214132"/>
            <a:ext cx="727875" cy="8321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8599160" y="4102346"/>
            <a:ext cx="688460" cy="9871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ln>
            <a:noFill/>
          </a:ln>
        </p:spPr>
        <p:txBody>
          <a:bodyPr/>
          <a:lstStyle/>
          <a:p>
            <a:r>
              <a:rPr lang="en-US" dirty="0"/>
              <a:t>Traversing a Tree?</a:t>
            </a:r>
          </a:p>
        </p:txBody>
      </p:sp>
      <p:sp>
        <p:nvSpPr>
          <p:cNvPr id="3" name="Slide Number Placeholder 2">
            <a:extLst>
              <a:ext uri="{FF2B5EF4-FFF2-40B4-BE49-F238E27FC236}">
                <a16:creationId xmlns:a16="http://schemas.microsoft.com/office/drawing/2014/main" id="{E3019A7E-E4D0-4639-A8B0-B02B2E998984}"/>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48/110</a:t>
            </a:r>
          </a:p>
        </p:txBody>
      </p:sp>
      <p:sp>
        <p:nvSpPr>
          <p:cNvPr id="4" name="Rectangle 3"/>
          <p:cNvSpPr/>
          <p:nvPr/>
        </p:nvSpPr>
        <p:spPr>
          <a:xfrm>
            <a:off x="581192" y="2115166"/>
            <a:ext cx="10872717" cy="2529923"/>
          </a:xfrm>
          <a:prstGeom prst="rect">
            <a:avLst/>
          </a:prstGeom>
        </p:spPr>
        <p:txBody>
          <a:bodyPr wrap="square">
            <a:spAutoFit/>
          </a:bodyPr>
          <a:lstStyle/>
          <a:p>
            <a:pPr marL="438912" lvl="0" indent="-320040">
              <a:buClr>
                <a:srgbClr val="F0AD00"/>
              </a:buClr>
              <a:buSzPct val="80000"/>
              <a:buFont typeface="Wingdings 2"/>
              <a:buChar char=""/>
            </a:pPr>
            <a:r>
              <a:rPr lang="en-US" sz="2200" b="1" dirty="0">
                <a:solidFill>
                  <a:srgbClr val="FF0000"/>
                </a:solidFill>
              </a:rPr>
              <a:t>Depth-First Search: DFS</a:t>
            </a:r>
          </a:p>
          <a:p>
            <a:pPr lvl="0" fontAlgn="base">
              <a:spcBef>
                <a:spcPct val="20000"/>
              </a:spcBef>
              <a:spcAft>
                <a:spcPct val="0"/>
              </a:spcAft>
              <a:buClr>
                <a:srgbClr val="000000"/>
              </a:buClr>
            </a:pPr>
            <a:r>
              <a:rPr lang="en-US" altLang="en-US" sz="2200" dirty="0">
                <a:solidFill>
                  <a:srgbClr val="3333CC"/>
                </a:solidFill>
                <a:latin typeface="Times New Roman"/>
                <a:sym typeface="Symbol" panose="05050102010706020507" pitchFamily="18" charset="2"/>
              </a:rPr>
              <a:t>	</a:t>
            </a:r>
            <a:r>
              <a:rPr lang="en-US" altLang="en-US" sz="2200" dirty="0">
                <a:solidFill>
                  <a:srgbClr val="000000"/>
                </a:solidFill>
                <a:latin typeface="Times New Roman"/>
                <a:sym typeface="Symbol" panose="05050102010706020507" pitchFamily="18" charset="2"/>
              </a:rPr>
              <a:t>search deeper whenever possible</a:t>
            </a:r>
          </a:p>
          <a:p>
            <a:pPr marL="1776222" lvl="2" indent="-742950">
              <a:buClr>
                <a:srgbClr val="F0AD00"/>
              </a:buClr>
              <a:buSzPct val="80000"/>
              <a:buFont typeface="+mj-lt"/>
              <a:buAutoNum type="arabicPeriod"/>
            </a:pPr>
            <a:endParaRPr lang="en-US" sz="2200" dirty="0">
              <a:solidFill>
                <a:prstClr val="black"/>
              </a:solidFill>
            </a:endParaRPr>
          </a:p>
          <a:p>
            <a:pPr marL="1776222" lvl="2" indent="-742950">
              <a:buClr>
                <a:srgbClr val="F0AD00"/>
              </a:buClr>
              <a:buSzPct val="80000"/>
              <a:buFont typeface="+mj-lt"/>
              <a:buAutoNum type="arabicPeriod"/>
            </a:pPr>
            <a:endParaRPr lang="en-US" sz="2200" dirty="0">
              <a:solidFill>
                <a:prstClr val="black"/>
              </a:solidFill>
            </a:endParaRPr>
          </a:p>
          <a:p>
            <a:pPr marL="438912" lvl="0" indent="-320040">
              <a:buClr>
                <a:srgbClr val="F0AD00"/>
              </a:buClr>
              <a:buSzPct val="80000"/>
              <a:buFont typeface="Wingdings 2"/>
              <a:buChar char=""/>
            </a:pPr>
            <a:r>
              <a:rPr lang="en-US" sz="2200" b="1" dirty="0">
                <a:solidFill>
                  <a:srgbClr val="7030A0"/>
                </a:solidFill>
              </a:rPr>
              <a:t> Breadth-First Search: BFS</a:t>
            </a:r>
          </a:p>
          <a:p>
            <a:pPr marL="1033272" lvl="2">
              <a:buClr>
                <a:srgbClr val="F0AD00"/>
              </a:buClr>
              <a:buSzPct val="80000"/>
            </a:pPr>
            <a:r>
              <a:rPr lang="en-US" altLang="en-US" sz="2200" dirty="0">
                <a:solidFill>
                  <a:srgbClr val="000000"/>
                </a:solidFill>
                <a:latin typeface="Times New Roman"/>
                <a:sym typeface="Symbol" panose="05050102010706020507" pitchFamily="18" charset="2"/>
              </a:rPr>
              <a:t>search in breadth first manner whenever possible</a:t>
            </a:r>
          </a:p>
          <a:p>
            <a:pPr marL="1033272" lvl="2">
              <a:buClr>
                <a:srgbClr val="F0AD00"/>
              </a:buClr>
              <a:buSzPct val="80000"/>
            </a:pPr>
            <a:endParaRPr lang="en-US" sz="2200" dirty="0">
              <a:solidFill>
                <a:prstClr val="black"/>
              </a:solidFill>
            </a:endParaRPr>
          </a:p>
        </p:txBody>
      </p:sp>
      <p:sp>
        <p:nvSpPr>
          <p:cNvPr id="5" name="Oval 16"/>
          <p:cNvSpPr>
            <a:spLocks noChangeArrowheads="1"/>
          </p:cNvSpPr>
          <p:nvPr/>
        </p:nvSpPr>
        <p:spPr bwMode="auto">
          <a:xfrm>
            <a:off x="9069855" y="3890384"/>
            <a:ext cx="435531" cy="435531"/>
          </a:xfrm>
          <a:prstGeom prst="ellipse">
            <a:avLst/>
          </a:prstGeom>
          <a:solidFill>
            <a:schemeClr val="bg1"/>
          </a:solidFill>
          <a:ln w="9525">
            <a:solidFill>
              <a:schemeClr val="tx1"/>
            </a:solidFill>
            <a:round/>
            <a:headEnd/>
            <a:tailEnd/>
          </a:ln>
        </p:spPr>
        <p:txBody>
          <a:bodyPr wrap="none" anchor="ctr"/>
          <a:lstStyle/>
          <a:p>
            <a:endParaRPr lang="en-US">
              <a:solidFill>
                <a:prstClr val="black"/>
              </a:solidFill>
              <a:latin typeface="Corbel"/>
            </a:endParaRPr>
          </a:p>
        </p:txBody>
      </p:sp>
      <p:sp>
        <p:nvSpPr>
          <p:cNvPr id="6" name="TextBox 5"/>
          <p:cNvSpPr txBox="1"/>
          <p:nvPr/>
        </p:nvSpPr>
        <p:spPr>
          <a:xfrm>
            <a:off x="9138095" y="3917680"/>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7" name="Oval 16"/>
          <p:cNvSpPr>
            <a:spLocks noChangeArrowheads="1"/>
          </p:cNvSpPr>
          <p:nvPr/>
        </p:nvSpPr>
        <p:spPr bwMode="auto">
          <a:xfrm>
            <a:off x="8362444" y="4834356"/>
            <a:ext cx="435531" cy="435531"/>
          </a:xfrm>
          <a:prstGeom prst="ellipse">
            <a:avLst/>
          </a:prstGeom>
          <a:solidFill>
            <a:schemeClr val="bg1"/>
          </a:solidFill>
          <a:ln w="9525">
            <a:solidFill>
              <a:schemeClr val="tx1"/>
            </a:solidFill>
            <a:round/>
            <a:headEnd/>
            <a:tailEnd/>
          </a:ln>
        </p:spPr>
        <p:txBody>
          <a:bodyPr wrap="none" anchor="ctr"/>
          <a:lstStyle/>
          <a:p>
            <a:endParaRPr lang="en-US">
              <a:solidFill>
                <a:prstClr val="black"/>
              </a:solidFill>
              <a:latin typeface="Corbel"/>
            </a:endParaRPr>
          </a:p>
        </p:txBody>
      </p:sp>
      <p:sp>
        <p:nvSpPr>
          <p:cNvPr id="8" name="TextBox 7"/>
          <p:cNvSpPr txBox="1"/>
          <p:nvPr/>
        </p:nvSpPr>
        <p:spPr>
          <a:xfrm>
            <a:off x="8430684" y="4861652"/>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9" name="Oval 16"/>
          <p:cNvSpPr>
            <a:spLocks noChangeArrowheads="1"/>
          </p:cNvSpPr>
          <p:nvPr/>
        </p:nvSpPr>
        <p:spPr bwMode="auto">
          <a:xfrm>
            <a:off x="9865971" y="4877572"/>
            <a:ext cx="435531" cy="435531"/>
          </a:xfrm>
          <a:prstGeom prst="ellipse">
            <a:avLst/>
          </a:prstGeom>
          <a:solidFill>
            <a:schemeClr val="bg1"/>
          </a:solidFill>
          <a:ln w="9525">
            <a:solidFill>
              <a:schemeClr val="tx1"/>
            </a:solidFill>
            <a:round/>
            <a:headEnd/>
            <a:tailEnd/>
          </a:ln>
        </p:spPr>
        <p:txBody>
          <a:bodyPr wrap="none" anchor="ctr"/>
          <a:lstStyle/>
          <a:p>
            <a:endParaRPr lang="en-US">
              <a:solidFill>
                <a:prstClr val="black"/>
              </a:solidFill>
              <a:latin typeface="Corbel"/>
            </a:endParaRPr>
          </a:p>
        </p:txBody>
      </p:sp>
      <p:sp>
        <p:nvSpPr>
          <p:cNvPr id="10" name="TextBox 9"/>
          <p:cNvSpPr txBox="1"/>
          <p:nvPr/>
        </p:nvSpPr>
        <p:spPr>
          <a:xfrm>
            <a:off x="9934211" y="4904868"/>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19" name="Rectangle 18"/>
          <p:cNvSpPr/>
          <p:nvPr/>
        </p:nvSpPr>
        <p:spPr>
          <a:xfrm>
            <a:off x="1460007" y="4957215"/>
            <a:ext cx="1492716" cy="707886"/>
          </a:xfrm>
          <a:prstGeom prst="rect">
            <a:avLst/>
          </a:prstGeom>
        </p:spPr>
        <p:txBody>
          <a:bodyPr wrap="none">
            <a:spAutoFit/>
          </a:bodyPr>
          <a:lstStyle/>
          <a:p>
            <a:r>
              <a:rPr lang="en-US" sz="4000" b="1" dirty="0">
                <a:solidFill>
                  <a:srgbClr val="FF0000"/>
                </a:solidFill>
              </a:rPr>
              <a:t>ABDC</a:t>
            </a:r>
          </a:p>
        </p:txBody>
      </p:sp>
      <p:sp>
        <p:nvSpPr>
          <p:cNvPr id="21" name="Rectangle 20"/>
          <p:cNvSpPr/>
          <p:nvPr/>
        </p:nvSpPr>
        <p:spPr>
          <a:xfrm>
            <a:off x="4940004" y="4957215"/>
            <a:ext cx="1492716" cy="707886"/>
          </a:xfrm>
          <a:prstGeom prst="rect">
            <a:avLst/>
          </a:prstGeom>
        </p:spPr>
        <p:txBody>
          <a:bodyPr wrap="none">
            <a:spAutoFit/>
          </a:bodyPr>
          <a:lstStyle/>
          <a:p>
            <a:r>
              <a:rPr lang="en-US" sz="4000" b="1" dirty="0">
                <a:solidFill>
                  <a:srgbClr val="7030A0"/>
                </a:solidFill>
              </a:rPr>
              <a:t>ABCD</a:t>
            </a:r>
          </a:p>
        </p:txBody>
      </p:sp>
      <p:sp>
        <p:nvSpPr>
          <p:cNvPr id="16" name="Oval 16"/>
          <p:cNvSpPr>
            <a:spLocks noChangeArrowheads="1"/>
          </p:cNvSpPr>
          <p:nvPr/>
        </p:nvSpPr>
        <p:spPr bwMode="auto">
          <a:xfrm>
            <a:off x="7826713" y="5668601"/>
            <a:ext cx="435531" cy="435531"/>
          </a:xfrm>
          <a:prstGeom prst="ellipse">
            <a:avLst/>
          </a:prstGeom>
          <a:solidFill>
            <a:schemeClr val="bg1"/>
          </a:solidFill>
          <a:ln w="9525">
            <a:solidFill>
              <a:schemeClr val="tx1"/>
            </a:solidFill>
            <a:round/>
            <a:headEnd/>
            <a:tailEnd/>
          </a:ln>
        </p:spPr>
        <p:txBody>
          <a:bodyPr wrap="none" anchor="ctr"/>
          <a:lstStyle/>
          <a:p>
            <a:endParaRPr lang="en-US">
              <a:solidFill>
                <a:prstClr val="black"/>
              </a:solidFill>
              <a:latin typeface="Corbel"/>
            </a:endParaRPr>
          </a:p>
        </p:txBody>
      </p:sp>
      <p:sp>
        <p:nvSpPr>
          <p:cNvPr id="17" name="TextBox 16"/>
          <p:cNvSpPr txBox="1"/>
          <p:nvPr/>
        </p:nvSpPr>
        <p:spPr>
          <a:xfrm>
            <a:off x="7894953" y="5695897"/>
            <a:ext cx="343364" cy="369332"/>
          </a:xfrm>
          <a:prstGeom prst="rect">
            <a:avLst/>
          </a:prstGeom>
          <a:noFill/>
        </p:spPr>
        <p:txBody>
          <a:bodyPr wrap="none" rtlCol="0">
            <a:spAutoFit/>
          </a:bodyPr>
          <a:lstStyle/>
          <a:p>
            <a:r>
              <a:rPr lang="en-US" b="1" dirty="0">
                <a:solidFill>
                  <a:prstClr val="black"/>
                </a:solidFill>
                <a:latin typeface="Corbel"/>
              </a:rPr>
              <a:t>D</a:t>
            </a:r>
          </a:p>
        </p:txBody>
      </p:sp>
    </p:spTree>
    <p:custDataLst>
      <p:tags r:id="rId1"/>
    </p:custDataLst>
    <p:extLst>
      <p:ext uri="{BB962C8B-B14F-4D97-AF65-F5344CB8AC3E}">
        <p14:creationId xmlns:p14="http://schemas.microsoft.com/office/powerpoint/2010/main" val="31213170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Straight Connector 45"/>
          <p:cNvCxnSpPr/>
          <p:nvPr/>
        </p:nvCxnSpPr>
        <p:spPr>
          <a:xfrm flipV="1">
            <a:off x="797123" y="4129201"/>
            <a:ext cx="542694" cy="82386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flipV="1">
            <a:off x="2838130" y="4019053"/>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ln>
            <a:noFill/>
          </a:ln>
        </p:spPr>
        <p:txBody>
          <a:bodyPr/>
          <a:lstStyle/>
          <a:p>
            <a:r>
              <a:rPr lang="en-US" dirty="0"/>
              <a:t>Depth-First Search</a:t>
            </a:r>
          </a:p>
        </p:txBody>
      </p:sp>
      <p:sp>
        <p:nvSpPr>
          <p:cNvPr id="3" name="Slide Number Placeholder 2">
            <a:extLst>
              <a:ext uri="{FF2B5EF4-FFF2-40B4-BE49-F238E27FC236}">
                <a16:creationId xmlns:a16="http://schemas.microsoft.com/office/drawing/2014/main" id="{C92A284E-18DE-413A-B135-8BD8A67DD4D0}"/>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49/110</a:t>
            </a:r>
          </a:p>
        </p:txBody>
      </p:sp>
      <p:cxnSp>
        <p:nvCxnSpPr>
          <p:cNvPr id="8" name="Straight Connector 7"/>
          <p:cNvCxnSpPr/>
          <p:nvPr/>
        </p:nvCxnSpPr>
        <p:spPr>
          <a:xfrm flipH="1" flipV="1">
            <a:off x="4129859" y="1873873"/>
            <a:ext cx="1853477" cy="11790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2127196" y="2004369"/>
            <a:ext cx="1804150" cy="10422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3895286" y="176439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8" name="Straight Connector 17"/>
          <p:cNvCxnSpPr/>
          <p:nvPr/>
        </p:nvCxnSpPr>
        <p:spPr>
          <a:xfrm flipH="1" flipV="1">
            <a:off x="2191623" y="2983419"/>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406709" y="3052968"/>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1922122" y="2896761"/>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Oval 16"/>
          <p:cNvSpPr>
            <a:spLocks noChangeArrowheads="1"/>
          </p:cNvSpPr>
          <p:nvPr/>
        </p:nvSpPr>
        <p:spPr bwMode="auto">
          <a:xfrm>
            <a:off x="1225864" y="378497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5" name="Oval 16"/>
          <p:cNvSpPr>
            <a:spLocks noChangeArrowheads="1"/>
          </p:cNvSpPr>
          <p:nvPr/>
        </p:nvSpPr>
        <p:spPr bwMode="auto">
          <a:xfrm>
            <a:off x="2572943" y="382819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4" name="Oval 16"/>
          <p:cNvSpPr>
            <a:spLocks noChangeArrowheads="1"/>
          </p:cNvSpPr>
          <p:nvPr/>
        </p:nvSpPr>
        <p:spPr bwMode="auto">
          <a:xfrm>
            <a:off x="3251450" y="480945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6" name="Oval 16"/>
          <p:cNvSpPr>
            <a:spLocks noChangeArrowheads="1"/>
          </p:cNvSpPr>
          <p:nvPr/>
        </p:nvSpPr>
        <p:spPr bwMode="auto">
          <a:xfrm>
            <a:off x="577751" y="4810837"/>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61" name="Straight Connector 60"/>
          <p:cNvCxnSpPr/>
          <p:nvPr/>
        </p:nvCxnSpPr>
        <p:spPr>
          <a:xfrm flipH="1" flipV="1">
            <a:off x="6681579" y="4037641"/>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6068720" y="4104906"/>
            <a:ext cx="457312" cy="8114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flipV="1">
            <a:off x="6035072" y="3002007"/>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5250158" y="3071556"/>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Oval 16"/>
          <p:cNvSpPr>
            <a:spLocks noChangeArrowheads="1"/>
          </p:cNvSpPr>
          <p:nvPr/>
        </p:nvSpPr>
        <p:spPr bwMode="auto">
          <a:xfrm>
            <a:off x="5765571" y="29153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6" name="Oval 16"/>
          <p:cNvSpPr>
            <a:spLocks noChangeArrowheads="1"/>
          </p:cNvSpPr>
          <p:nvPr/>
        </p:nvSpPr>
        <p:spPr bwMode="auto">
          <a:xfrm>
            <a:off x="5069313" y="380356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7" name="Oval 16"/>
          <p:cNvSpPr>
            <a:spLocks noChangeArrowheads="1"/>
          </p:cNvSpPr>
          <p:nvPr/>
        </p:nvSpPr>
        <p:spPr bwMode="auto">
          <a:xfrm>
            <a:off x="6416392" y="384678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8" name="Oval 16"/>
          <p:cNvSpPr>
            <a:spLocks noChangeArrowheads="1"/>
          </p:cNvSpPr>
          <p:nvPr/>
        </p:nvSpPr>
        <p:spPr bwMode="auto">
          <a:xfrm>
            <a:off x="5870482" y="482942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9" name="Oval 16"/>
          <p:cNvSpPr>
            <a:spLocks noChangeArrowheads="1"/>
          </p:cNvSpPr>
          <p:nvPr/>
        </p:nvSpPr>
        <p:spPr bwMode="auto">
          <a:xfrm>
            <a:off x="7094899" y="482803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76" name="TextBox 75"/>
          <p:cNvSpPr txBox="1"/>
          <p:nvPr/>
        </p:nvSpPr>
        <p:spPr>
          <a:xfrm>
            <a:off x="3944575" y="1786250"/>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82" name="TextBox 81"/>
          <p:cNvSpPr txBox="1"/>
          <p:nvPr/>
        </p:nvSpPr>
        <p:spPr>
          <a:xfrm>
            <a:off x="1967407" y="2929860"/>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83" name="TextBox 82"/>
          <p:cNvSpPr txBox="1"/>
          <p:nvPr/>
        </p:nvSpPr>
        <p:spPr>
          <a:xfrm>
            <a:off x="5833156" y="2937297"/>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84" name="Rectangle 83"/>
          <p:cNvSpPr/>
          <p:nvPr/>
        </p:nvSpPr>
        <p:spPr>
          <a:xfrm>
            <a:off x="1273931" y="3822650"/>
            <a:ext cx="343364" cy="369332"/>
          </a:xfrm>
          <a:prstGeom prst="rect">
            <a:avLst/>
          </a:prstGeom>
        </p:spPr>
        <p:txBody>
          <a:bodyPr wrap="none">
            <a:spAutoFit/>
          </a:bodyPr>
          <a:lstStyle/>
          <a:p>
            <a:r>
              <a:rPr lang="en-US" b="1" dirty="0">
                <a:solidFill>
                  <a:prstClr val="black"/>
                </a:solidFill>
              </a:rPr>
              <a:t>D</a:t>
            </a:r>
          </a:p>
        </p:txBody>
      </p:sp>
      <p:sp>
        <p:nvSpPr>
          <p:cNvPr id="85" name="Rectangle 84"/>
          <p:cNvSpPr/>
          <p:nvPr/>
        </p:nvSpPr>
        <p:spPr>
          <a:xfrm>
            <a:off x="5116299" y="3846782"/>
            <a:ext cx="304892" cy="369332"/>
          </a:xfrm>
          <a:prstGeom prst="rect">
            <a:avLst/>
          </a:prstGeom>
        </p:spPr>
        <p:txBody>
          <a:bodyPr wrap="none">
            <a:spAutoFit/>
          </a:bodyPr>
          <a:lstStyle/>
          <a:p>
            <a:r>
              <a:rPr lang="en-US" b="1" dirty="0">
                <a:solidFill>
                  <a:prstClr val="black"/>
                </a:solidFill>
              </a:rPr>
              <a:t>F</a:t>
            </a:r>
          </a:p>
        </p:txBody>
      </p:sp>
      <p:sp>
        <p:nvSpPr>
          <p:cNvPr id="86" name="Rectangle 85"/>
          <p:cNvSpPr/>
          <p:nvPr/>
        </p:nvSpPr>
        <p:spPr>
          <a:xfrm>
            <a:off x="6467363" y="3861983"/>
            <a:ext cx="340158" cy="369332"/>
          </a:xfrm>
          <a:prstGeom prst="rect">
            <a:avLst/>
          </a:prstGeom>
        </p:spPr>
        <p:txBody>
          <a:bodyPr wrap="none">
            <a:spAutoFit/>
          </a:bodyPr>
          <a:lstStyle/>
          <a:p>
            <a:r>
              <a:rPr lang="en-US" b="1" dirty="0">
                <a:solidFill>
                  <a:prstClr val="black"/>
                </a:solidFill>
              </a:rPr>
              <a:t>G</a:t>
            </a:r>
          </a:p>
        </p:txBody>
      </p:sp>
      <p:sp>
        <p:nvSpPr>
          <p:cNvPr id="87" name="Rectangle 86"/>
          <p:cNvSpPr/>
          <p:nvPr/>
        </p:nvSpPr>
        <p:spPr>
          <a:xfrm>
            <a:off x="5923779" y="4883500"/>
            <a:ext cx="277640" cy="369332"/>
          </a:xfrm>
          <a:prstGeom prst="rect">
            <a:avLst/>
          </a:prstGeom>
        </p:spPr>
        <p:txBody>
          <a:bodyPr wrap="none">
            <a:spAutoFit/>
          </a:bodyPr>
          <a:lstStyle/>
          <a:p>
            <a:r>
              <a:rPr lang="en-US" b="1" dirty="0">
                <a:solidFill>
                  <a:prstClr val="black"/>
                </a:solidFill>
              </a:rPr>
              <a:t>J</a:t>
            </a:r>
          </a:p>
        </p:txBody>
      </p:sp>
      <p:sp>
        <p:nvSpPr>
          <p:cNvPr id="88" name="Rectangle 87"/>
          <p:cNvSpPr/>
          <p:nvPr/>
        </p:nvSpPr>
        <p:spPr>
          <a:xfrm>
            <a:off x="7146697" y="4879786"/>
            <a:ext cx="330540" cy="369332"/>
          </a:xfrm>
          <a:prstGeom prst="rect">
            <a:avLst/>
          </a:prstGeom>
        </p:spPr>
        <p:txBody>
          <a:bodyPr wrap="none">
            <a:spAutoFit/>
          </a:bodyPr>
          <a:lstStyle/>
          <a:p>
            <a:r>
              <a:rPr lang="en-US" b="1" dirty="0">
                <a:solidFill>
                  <a:prstClr val="black"/>
                </a:solidFill>
              </a:rPr>
              <a:t>K</a:t>
            </a:r>
          </a:p>
        </p:txBody>
      </p:sp>
      <p:sp>
        <p:nvSpPr>
          <p:cNvPr id="89" name="Rectangle 88"/>
          <p:cNvSpPr/>
          <p:nvPr/>
        </p:nvSpPr>
        <p:spPr>
          <a:xfrm>
            <a:off x="3294991" y="4859128"/>
            <a:ext cx="248786" cy="369332"/>
          </a:xfrm>
          <a:prstGeom prst="rect">
            <a:avLst/>
          </a:prstGeom>
        </p:spPr>
        <p:txBody>
          <a:bodyPr wrap="none">
            <a:spAutoFit/>
          </a:bodyPr>
          <a:lstStyle/>
          <a:p>
            <a:r>
              <a:rPr lang="en-US" b="1" dirty="0">
                <a:solidFill>
                  <a:prstClr val="black"/>
                </a:solidFill>
              </a:rPr>
              <a:t>I</a:t>
            </a:r>
          </a:p>
        </p:txBody>
      </p:sp>
      <p:sp>
        <p:nvSpPr>
          <p:cNvPr id="91" name="Rectangle 90"/>
          <p:cNvSpPr/>
          <p:nvPr/>
        </p:nvSpPr>
        <p:spPr>
          <a:xfrm>
            <a:off x="641576" y="4852097"/>
            <a:ext cx="346570" cy="369332"/>
          </a:xfrm>
          <a:prstGeom prst="rect">
            <a:avLst/>
          </a:prstGeom>
        </p:spPr>
        <p:txBody>
          <a:bodyPr wrap="none">
            <a:spAutoFit/>
          </a:bodyPr>
          <a:lstStyle/>
          <a:p>
            <a:r>
              <a:rPr lang="en-US" b="1" dirty="0">
                <a:solidFill>
                  <a:prstClr val="black"/>
                </a:solidFill>
              </a:rPr>
              <a:t>H</a:t>
            </a:r>
          </a:p>
        </p:txBody>
      </p:sp>
      <p:sp>
        <p:nvSpPr>
          <p:cNvPr id="92" name="Rectangle 91"/>
          <p:cNvSpPr/>
          <p:nvPr/>
        </p:nvSpPr>
        <p:spPr>
          <a:xfrm>
            <a:off x="2632725" y="3853127"/>
            <a:ext cx="316112" cy="369332"/>
          </a:xfrm>
          <a:prstGeom prst="rect">
            <a:avLst/>
          </a:prstGeom>
        </p:spPr>
        <p:txBody>
          <a:bodyPr wrap="none">
            <a:spAutoFit/>
          </a:bodyPr>
          <a:lstStyle/>
          <a:p>
            <a:r>
              <a:rPr lang="en-US" b="1" dirty="0">
                <a:solidFill>
                  <a:prstClr val="black"/>
                </a:solidFill>
              </a:rPr>
              <a:t>E</a:t>
            </a:r>
          </a:p>
        </p:txBody>
      </p:sp>
      <p:graphicFrame>
        <p:nvGraphicFramePr>
          <p:cNvPr id="5" name="Table 4"/>
          <p:cNvGraphicFramePr>
            <a:graphicFrameLocks noGrp="1"/>
          </p:cNvGraphicFramePr>
          <p:nvPr>
            <p:extLst>
              <p:ext uri="{D42A27DB-BD31-4B8C-83A1-F6EECF244321}">
                <p14:modId xmlns:p14="http://schemas.microsoft.com/office/powerpoint/2010/main" val="3039716177"/>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2353885934"/>
                    </a:ext>
                  </a:extLst>
                </a:gridCol>
              </a:tblGrid>
              <a:tr h="370840">
                <a:tc>
                  <a:txBody>
                    <a:bodyPr/>
                    <a:lstStyle/>
                    <a:p>
                      <a:pPr algn="ctr"/>
                      <a:endParaRPr lang="en-US" dirty="0"/>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extLst>
                  <a:ext uri="{0D108BD9-81ED-4DB2-BD59-A6C34878D82A}">
                    <a16:rowId xmlns:a16="http://schemas.microsoft.com/office/drawing/2014/main" val="660647860"/>
                  </a:ext>
                </a:extLst>
              </a:tr>
            </a:tbl>
          </a:graphicData>
        </a:graphic>
      </p:graphicFrame>
      <p:sp>
        <p:nvSpPr>
          <p:cNvPr id="6" name="TextBox 5"/>
          <p:cNvSpPr txBox="1"/>
          <p:nvPr/>
        </p:nvSpPr>
        <p:spPr>
          <a:xfrm>
            <a:off x="965262" y="5554545"/>
            <a:ext cx="362600" cy="461665"/>
          </a:xfrm>
          <a:prstGeom prst="rect">
            <a:avLst/>
          </a:prstGeom>
          <a:noFill/>
        </p:spPr>
        <p:txBody>
          <a:bodyPr wrap="none" rtlCol="0">
            <a:spAutoFit/>
          </a:bodyPr>
          <a:lstStyle/>
          <a:p>
            <a:r>
              <a:rPr lang="en-US" sz="2400" b="1">
                <a:effectLst>
                  <a:outerShdw blurRad="38100" dist="38100" dir="2700000" algn="tl">
                    <a:srgbClr val="000000">
                      <a:alpha val="43137"/>
                    </a:srgbClr>
                  </a:outerShdw>
                </a:effectLst>
              </a:rPr>
              <a:t>S</a:t>
            </a:r>
          </a:p>
        </p:txBody>
      </p:sp>
      <p:cxnSp>
        <p:nvCxnSpPr>
          <p:cNvPr id="39" name="Straight Connector 38"/>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41" name="Table 40">
            <a:extLst>
              <a:ext uri="{FF2B5EF4-FFF2-40B4-BE49-F238E27FC236}">
                <a16:creationId xmlns:a16="http://schemas.microsoft.com/office/drawing/2014/main" id="{20FD6DED-C86B-4871-A2C3-6E2444B2763E}"/>
              </a:ext>
            </a:extLst>
          </p:cNvPr>
          <p:cNvGraphicFramePr>
            <a:graphicFrameLocks noGrp="1"/>
          </p:cNvGraphicFramePr>
          <p:nvPr/>
        </p:nvGraphicFramePr>
        <p:xfrm>
          <a:off x="8658993" y="1862844"/>
          <a:ext cx="2132240" cy="4719320"/>
        </p:xfrm>
        <a:graphic>
          <a:graphicData uri="http://schemas.openxmlformats.org/drawingml/2006/table">
            <a:tbl>
              <a:tblPr firstRow="1" bandRow="1">
                <a:tableStyleId>{5C22544A-7EE6-4342-B048-85BDC9FD1C3A}</a:tableStyleId>
              </a:tblPr>
              <a:tblGrid>
                <a:gridCol w="847864">
                  <a:extLst>
                    <a:ext uri="{9D8B030D-6E8A-4147-A177-3AD203B41FA5}">
                      <a16:colId xmlns:a16="http://schemas.microsoft.com/office/drawing/2014/main" val="2989644895"/>
                    </a:ext>
                  </a:extLst>
                </a:gridCol>
                <a:gridCol w="1284376">
                  <a:extLst>
                    <a:ext uri="{9D8B030D-6E8A-4147-A177-3AD203B41FA5}">
                      <a16:colId xmlns:a16="http://schemas.microsoft.com/office/drawing/2014/main" val="4244960412"/>
                    </a:ext>
                  </a:extLst>
                </a:gridCol>
              </a:tblGrid>
              <a:tr h="370840">
                <a:tc>
                  <a:txBody>
                    <a:bodyPr/>
                    <a:lstStyle/>
                    <a:p>
                      <a:pPr algn="ctr"/>
                      <a:r>
                        <a:rPr lang="en-US" dirty="0"/>
                        <a:t>NODE</a:t>
                      </a:r>
                    </a:p>
                  </a:txBody>
                  <a:tcPr/>
                </a:tc>
                <a:tc>
                  <a:txBody>
                    <a:bodyPr/>
                    <a:lstStyle/>
                    <a:p>
                      <a:pPr algn="ctr"/>
                      <a:r>
                        <a:rPr lang="en-US" dirty="0"/>
                        <a:t>CHILDREN</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F,G</a:t>
                      </a:r>
                      <a:endParaRPr lang="en-US" b="1" dirty="0"/>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H,-</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-,I</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J,K</a:t>
                      </a:r>
                    </a:p>
                  </a:txBody>
                  <a:tcPr/>
                </a:tc>
                <a:extLst>
                  <a:ext uri="{0D108BD9-81ED-4DB2-BD59-A6C34878D82A}">
                    <a16:rowId xmlns:a16="http://schemas.microsoft.com/office/drawing/2014/main" val="1205733479"/>
                  </a:ext>
                </a:extLst>
              </a:tr>
              <a:tr h="370840">
                <a:tc>
                  <a:txBody>
                    <a:bodyPr/>
                    <a:lstStyle/>
                    <a:p>
                      <a:pPr algn="ctr"/>
                      <a:r>
                        <a:rPr lang="en-US" b="1" dirty="0"/>
                        <a: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987431379"/>
                  </a:ext>
                </a:extLst>
              </a:tr>
              <a:tr h="370840">
                <a:tc>
                  <a:txBody>
                    <a:bodyPr/>
                    <a:lstStyle/>
                    <a:p>
                      <a:pPr algn="ctr"/>
                      <a:r>
                        <a:rPr lang="en-US" b="1" dirty="0"/>
                        <a:t>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290039795"/>
                  </a:ext>
                </a:extLst>
              </a:tr>
              <a:tr h="370840">
                <a:tc>
                  <a:txBody>
                    <a:bodyPr/>
                    <a:lstStyle/>
                    <a:p>
                      <a:pPr algn="ctr"/>
                      <a:r>
                        <a:rPr lang="en-US" b="1" dirty="0"/>
                        <a:t>J</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873125107"/>
                  </a:ext>
                </a:extLst>
              </a:tr>
              <a:tr h="370840">
                <a:tc>
                  <a:txBody>
                    <a:bodyPr/>
                    <a:lstStyle/>
                    <a:p>
                      <a:pPr algn="ctr"/>
                      <a:r>
                        <a:rPr lang="en-US" b="1" dirty="0"/>
                        <a:t>K</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640632725"/>
                  </a:ext>
                </a:extLst>
              </a:tr>
            </a:tbl>
          </a:graphicData>
        </a:graphic>
      </p:graphicFrame>
    </p:spTree>
    <p:custDataLst>
      <p:tags r:id="rId1"/>
    </p:custDataLst>
    <p:extLst>
      <p:ext uri="{BB962C8B-B14F-4D97-AF65-F5344CB8AC3E}">
        <p14:creationId xmlns:p14="http://schemas.microsoft.com/office/powerpoint/2010/main" val="8037059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Straight Connector 45"/>
          <p:cNvCxnSpPr/>
          <p:nvPr/>
        </p:nvCxnSpPr>
        <p:spPr>
          <a:xfrm flipV="1">
            <a:off x="797123" y="4129201"/>
            <a:ext cx="542694" cy="82386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flipV="1">
            <a:off x="2838130" y="4019053"/>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ln>
            <a:noFill/>
          </a:ln>
        </p:spPr>
        <p:txBody>
          <a:bodyPr/>
          <a:lstStyle/>
          <a:p>
            <a:r>
              <a:rPr lang="en-US" dirty="0"/>
              <a:t>Depth-First Search</a:t>
            </a:r>
          </a:p>
        </p:txBody>
      </p:sp>
      <p:sp>
        <p:nvSpPr>
          <p:cNvPr id="3" name="Slide Number Placeholder 2">
            <a:extLst>
              <a:ext uri="{FF2B5EF4-FFF2-40B4-BE49-F238E27FC236}">
                <a16:creationId xmlns:a16="http://schemas.microsoft.com/office/drawing/2014/main" id="{1919C013-5D87-43B0-8C95-08017F3ECFA0}"/>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50/110</a:t>
            </a:r>
          </a:p>
        </p:txBody>
      </p:sp>
      <p:cxnSp>
        <p:nvCxnSpPr>
          <p:cNvPr id="8" name="Straight Connector 7"/>
          <p:cNvCxnSpPr/>
          <p:nvPr/>
        </p:nvCxnSpPr>
        <p:spPr>
          <a:xfrm flipH="1" flipV="1">
            <a:off x="4129859" y="1873873"/>
            <a:ext cx="1853477" cy="11790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2127196" y="2004369"/>
            <a:ext cx="1804150" cy="10422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3895286" y="176439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8" name="Straight Connector 17"/>
          <p:cNvCxnSpPr/>
          <p:nvPr/>
        </p:nvCxnSpPr>
        <p:spPr>
          <a:xfrm flipH="1" flipV="1">
            <a:off x="2191623" y="2983419"/>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406709" y="3052968"/>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1922122" y="2896761"/>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Oval 16"/>
          <p:cNvSpPr>
            <a:spLocks noChangeArrowheads="1"/>
          </p:cNvSpPr>
          <p:nvPr/>
        </p:nvSpPr>
        <p:spPr bwMode="auto">
          <a:xfrm>
            <a:off x="1225864" y="378497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5" name="Oval 16"/>
          <p:cNvSpPr>
            <a:spLocks noChangeArrowheads="1"/>
          </p:cNvSpPr>
          <p:nvPr/>
        </p:nvSpPr>
        <p:spPr bwMode="auto">
          <a:xfrm>
            <a:off x="2572943" y="382819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4" name="Oval 16"/>
          <p:cNvSpPr>
            <a:spLocks noChangeArrowheads="1"/>
          </p:cNvSpPr>
          <p:nvPr/>
        </p:nvSpPr>
        <p:spPr bwMode="auto">
          <a:xfrm>
            <a:off x="3251450" y="480945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6" name="Oval 16"/>
          <p:cNvSpPr>
            <a:spLocks noChangeArrowheads="1"/>
          </p:cNvSpPr>
          <p:nvPr/>
        </p:nvSpPr>
        <p:spPr bwMode="auto">
          <a:xfrm>
            <a:off x="577751" y="4810837"/>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61" name="Straight Connector 60"/>
          <p:cNvCxnSpPr/>
          <p:nvPr/>
        </p:nvCxnSpPr>
        <p:spPr>
          <a:xfrm flipH="1" flipV="1">
            <a:off x="6681579" y="4037641"/>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6068720" y="4104906"/>
            <a:ext cx="457312" cy="8114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flipV="1">
            <a:off x="6035072" y="3002007"/>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5250158" y="3071556"/>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Oval 16"/>
          <p:cNvSpPr>
            <a:spLocks noChangeArrowheads="1"/>
          </p:cNvSpPr>
          <p:nvPr/>
        </p:nvSpPr>
        <p:spPr bwMode="auto">
          <a:xfrm>
            <a:off x="5765571" y="29153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6" name="Oval 16"/>
          <p:cNvSpPr>
            <a:spLocks noChangeArrowheads="1"/>
          </p:cNvSpPr>
          <p:nvPr/>
        </p:nvSpPr>
        <p:spPr bwMode="auto">
          <a:xfrm>
            <a:off x="5069313" y="380356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7" name="Oval 16"/>
          <p:cNvSpPr>
            <a:spLocks noChangeArrowheads="1"/>
          </p:cNvSpPr>
          <p:nvPr/>
        </p:nvSpPr>
        <p:spPr bwMode="auto">
          <a:xfrm>
            <a:off x="6416392" y="384678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8" name="Oval 16"/>
          <p:cNvSpPr>
            <a:spLocks noChangeArrowheads="1"/>
          </p:cNvSpPr>
          <p:nvPr/>
        </p:nvSpPr>
        <p:spPr bwMode="auto">
          <a:xfrm>
            <a:off x="5870482" y="482942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9" name="Oval 16"/>
          <p:cNvSpPr>
            <a:spLocks noChangeArrowheads="1"/>
          </p:cNvSpPr>
          <p:nvPr/>
        </p:nvSpPr>
        <p:spPr bwMode="auto">
          <a:xfrm>
            <a:off x="7094899" y="482803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76" name="TextBox 75"/>
          <p:cNvSpPr txBox="1"/>
          <p:nvPr/>
        </p:nvSpPr>
        <p:spPr>
          <a:xfrm>
            <a:off x="3944575" y="1786250"/>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82" name="TextBox 81"/>
          <p:cNvSpPr txBox="1"/>
          <p:nvPr/>
        </p:nvSpPr>
        <p:spPr>
          <a:xfrm>
            <a:off x="1967407" y="2929860"/>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83" name="TextBox 82"/>
          <p:cNvSpPr txBox="1"/>
          <p:nvPr/>
        </p:nvSpPr>
        <p:spPr>
          <a:xfrm>
            <a:off x="5833156" y="2937297"/>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84" name="Rectangle 83"/>
          <p:cNvSpPr/>
          <p:nvPr/>
        </p:nvSpPr>
        <p:spPr>
          <a:xfrm>
            <a:off x="1273931" y="3822650"/>
            <a:ext cx="343364" cy="369332"/>
          </a:xfrm>
          <a:prstGeom prst="rect">
            <a:avLst/>
          </a:prstGeom>
        </p:spPr>
        <p:txBody>
          <a:bodyPr wrap="none">
            <a:spAutoFit/>
          </a:bodyPr>
          <a:lstStyle/>
          <a:p>
            <a:r>
              <a:rPr lang="en-US" b="1" dirty="0">
                <a:solidFill>
                  <a:prstClr val="black"/>
                </a:solidFill>
              </a:rPr>
              <a:t>D</a:t>
            </a:r>
          </a:p>
        </p:txBody>
      </p:sp>
      <p:sp>
        <p:nvSpPr>
          <p:cNvPr id="85" name="Rectangle 84"/>
          <p:cNvSpPr/>
          <p:nvPr/>
        </p:nvSpPr>
        <p:spPr>
          <a:xfrm>
            <a:off x="5116299" y="3846782"/>
            <a:ext cx="304892" cy="369332"/>
          </a:xfrm>
          <a:prstGeom prst="rect">
            <a:avLst/>
          </a:prstGeom>
        </p:spPr>
        <p:txBody>
          <a:bodyPr wrap="none">
            <a:spAutoFit/>
          </a:bodyPr>
          <a:lstStyle/>
          <a:p>
            <a:r>
              <a:rPr lang="en-US" b="1" dirty="0">
                <a:solidFill>
                  <a:prstClr val="black"/>
                </a:solidFill>
              </a:rPr>
              <a:t>F</a:t>
            </a:r>
          </a:p>
        </p:txBody>
      </p:sp>
      <p:sp>
        <p:nvSpPr>
          <p:cNvPr id="86" name="Rectangle 85"/>
          <p:cNvSpPr/>
          <p:nvPr/>
        </p:nvSpPr>
        <p:spPr>
          <a:xfrm>
            <a:off x="6467363" y="3861983"/>
            <a:ext cx="340158" cy="369332"/>
          </a:xfrm>
          <a:prstGeom prst="rect">
            <a:avLst/>
          </a:prstGeom>
        </p:spPr>
        <p:txBody>
          <a:bodyPr wrap="none">
            <a:spAutoFit/>
          </a:bodyPr>
          <a:lstStyle/>
          <a:p>
            <a:r>
              <a:rPr lang="en-US" b="1" dirty="0">
                <a:solidFill>
                  <a:prstClr val="black"/>
                </a:solidFill>
              </a:rPr>
              <a:t>G</a:t>
            </a:r>
          </a:p>
        </p:txBody>
      </p:sp>
      <p:sp>
        <p:nvSpPr>
          <p:cNvPr id="87" name="Rectangle 86"/>
          <p:cNvSpPr/>
          <p:nvPr/>
        </p:nvSpPr>
        <p:spPr>
          <a:xfrm>
            <a:off x="5923779" y="4883500"/>
            <a:ext cx="277640" cy="369332"/>
          </a:xfrm>
          <a:prstGeom prst="rect">
            <a:avLst/>
          </a:prstGeom>
        </p:spPr>
        <p:txBody>
          <a:bodyPr wrap="none">
            <a:spAutoFit/>
          </a:bodyPr>
          <a:lstStyle/>
          <a:p>
            <a:r>
              <a:rPr lang="en-US" b="1" dirty="0">
                <a:solidFill>
                  <a:prstClr val="black"/>
                </a:solidFill>
              </a:rPr>
              <a:t>J</a:t>
            </a:r>
          </a:p>
        </p:txBody>
      </p:sp>
      <p:sp>
        <p:nvSpPr>
          <p:cNvPr id="88" name="Rectangle 87"/>
          <p:cNvSpPr/>
          <p:nvPr/>
        </p:nvSpPr>
        <p:spPr>
          <a:xfrm>
            <a:off x="7146697" y="4879786"/>
            <a:ext cx="330540" cy="369332"/>
          </a:xfrm>
          <a:prstGeom prst="rect">
            <a:avLst/>
          </a:prstGeom>
        </p:spPr>
        <p:txBody>
          <a:bodyPr wrap="none">
            <a:spAutoFit/>
          </a:bodyPr>
          <a:lstStyle/>
          <a:p>
            <a:r>
              <a:rPr lang="en-US" b="1" dirty="0">
                <a:solidFill>
                  <a:prstClr val="black"/>
                </a:solidFill>
              </a:rPr>
              <a:t>K</a:t>
            </a:r>
          </a:p>
        </p:txBody>
      </p:sp>
      <p:sp>
        <p:nvSpPr>
          <p:cNvPr id="89" name="Rectangle 88"/>
          <p:cNvSpPr/>
          <p:nvPr/>
        </p:nvSpPr>
        <p:spPr>
          <a:xfrm>
            <a:off x="3294991" y="4859128"/>
            <a:ext cx="248786" cy="369332"/>
          </a:xfrm>
          <a:prstGeom prst="rect">
            <a:avLst/>
          </a:prstGeom>
        </p:spPr>
        <p:txBody>
          <a:bodyPr wrap="none">
            <a:spAutoFit/>
          </a:bodyPr>
          <a:lstStyle/>
          <a:p>
            <a:r>
              <a:rPr lang="en-US" b="1" dirty="0">
                <a:solidFill>
                  <a:prstClr val="black"/>
                </a:solidFill>
              </a:rPr>
              <a:t>I</a:t>
            </a:r>
          </a:p>
        </p:txBody>
      </p:sp>
      <p:sp>
        <p:nvSpPr>
          <p:cNvPr id="91" name="Rectangle 90"/>
          <p:cNvSpPr/>
          <p:nvPr/>
        </p:nvSpPr>
        <p:spPr>
          <a:xfrm>
            <a:off x="641576" y="4852097"/>
            <a:ext cx="346570" cy="369332"/>
          </a:xfrm>
          <a:prstGeom prst="rect">
            <a:avLst/>
          </a:prstGeom>
        </p:spPr>
        <p:txBody>
          <a:bodyPr wrap="none">
            <a:spAutoFit/>
          </a:bodyPr>
          <a:lstStyle/>
          <a:p>
            <a:r>
              <a:rPr lang="en-US" b="1" dirty="0">
                <a:solidFill>
                  <a:prstClr val="black"/>
                </a:solidFill>
              </a:rPr>
              <a:t>H</a:t>
            </a:r>
          </a:p>
        </p:txBody>
      </p:sp>
      <p:sp>
        <p:nvSpPr>
          <p:cNvPr id="92" name="Rectangle 91"/>
          <p:cNvSpPr/>
          <p:nvPr/>
        </p:nvSpPr>
        <p:spPr>
          <a:xfrm>
            <a:off x="2632725" y="3853127"/>
            <a:ext cx="316112" cy="369332"/>
          </a:xfrm>
          <a:prstGeom prst="rect">
            <a:avLst/>
          </a:prstGeom>
        </p:spPr>
        <p:txBody>
          <a:bodyPr wrap="none">
            <a:spAutoFit/>
          </a:bodyPr>
          <a:lstStyle/>
          <a:p>
            <a:r>
              <a:rPr lang="en-US" b="1" dirty="0">
                <a:solidFill>
                  <a:prstClr val="black"/>
                </a:solidFill>
              </a:rPr>
              <a:t>E</a:t>
            </a:r>
          </a:p>
        </p:txBody>
      </p:sp>
      <p:graphicFrame>
        <p:nvGraphicFramePr>
          <p:cNvPr id="4" name="Table 3"/>
          <p:cNvGraphicFramePr>
            <a:graphicFrameLocks noGrp="1"/>
          </p:cNvGraphicFramePr>
          <p:nvPr/>
        </p:nvGraphicFramePr>
        <p:xfrm>
          <a:off x="8658993" y="1862844"/>
          <a:ext cx="2132240" cy="4719320"/>
        </p:xfrm>
        <a:graphic>
          <a:graphicData uri="http://schemas.openxmlformats.org/drawingml/2006/table">
            <a:tbl>
              <a:tblPr firstRow="1" bandRow="1">
                <a:tableStyleId>{5C22544A-7EE6-4342-B048-85BDC9FD1C3A}</a:tableStyleId>
              </a:tblPr>
              <a:tblGrid>
                <a:gridCol w="847864">
                  <a:extLst>
                    <a:ext uri="{9D8B030D-6E8A-4147-A177-3AD203B41FA5}">
                      <a16:colId xmlns:a16="http://schemas.microsoft.com/office/drawing/2014/main" val="2989644895"/>
                    </a:ext>
                  </a:extLst>
                </a:gridCol>
                <a:gridCol w="1284376">
                  <a:extLst>
                    <a:ext uri="{9D8B030D-6E8A-4147-A177-3AD203B41FA5}">
                      <a16:colId xmlns:a16="http://schemas.microsoft.com/office/drawing/2014/main" val="4244960412"/>
                    </a:ext>
                  </a:extLst>
                </a:gridCol>
              </a:tblGrid>
              <a:tr h="370840">
                <a:tc>
                  <a:txBody>
                    <a:bodyPr/>
                    <a:lstStyle/>
                    <a:p>
                      <a:pPr algn="ctr"/>
                      <a:r>
                        <a:rPr lang="en-US" dirty="0"/>
                        <a:t>NODE</a:t>
                      </a:r>
                    </a:p>
                  </a:txBody>
                  <a:tcPr/>
                </a:tc>
                <a:tc>
                  <a:txBody>
                    <a:bodyPr/>
                    <a:lstStyle/>
                    <a:p>
                      <a:pPr algn="ctr"/>
                      <a:r>
                        <a:rPr lang="en-US" dirty="0"/>
                        <a:t>CHILDREN</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F,G</a:t>
                      </a:r>
                      <a:endParaRPr lang="en-US" b="1" dirty="0"/>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H,-</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-,I</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J,K</a:t>
                      </a:r>
                    </a:p>
                  </a:txBody>
                  <a:tcPr/>
                </a:tc>
                <a:extLst>
                  <a:ext uri="{0D108BD9-81ED-4DB2-BD59-A6C34878D82A}">
                    <a16:rowId xmlns:a16="http://schemas.microsoft.com/office/drawing/2014/main" val="1205733479"/>
                  </a:ext>
                </a:extLst>
              </a:tr>
              <a:tr h="370840">
                <a:tc>
                  <a:txBody>
                    <a:bodyPr/>
                    <a:lstStyle/>
                    <a:p>
                      <a:pPr algn="ctr"/>
                      <a:r>
                        <a:rPr lang="en-US" b="1" dirty="0"/>
                        <a: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987431379"/>
                  </a:ext>
                </a:extLst>
              </a:tr>
              <a:tr h="370840">
                <a:tc>
                  <a:txBody>
                    <a:bodyPr/>
                    <a:lstStyle/>
                    <a:p>
                      <a:pPr algn="ctr"/>
                      <a:r>
                        <a:rPr lang="en-US" b="1" dirty="0"/>
                        <a:t>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290039795"/>
                  </a:ext>
                </a:extLst>
              </a:tr>
              <a:tr h="370840">
                <a:tc>
                  <a:txBody>
                    <a:bodyPr/>
                    <a:lstStyle/>
                    <a:p>
                      <a:pPr algn="ctr"/>
                      <a:r>
                        <a:rPr lang="en-US" b="1" dirty="0"/>
                        <a:t>J</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873125107"/>
                  </a:ext>
                </a:extLst>
              </a:tr>
              <a:tr h="370840">
                <a:tc>
                  <a:txBody>
                    <a:bodyPr/>
                    <a:lstStyle/>
                    <a:p>
                      <a:pPr algn="ctr"/>
                      <a:r>
                        <a:rPr lang="en-US" b="1" dirty="0"/>
                        <a:t>K</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640632725"/>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898254485"/>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2353885934"/>
                    </a:ext>
                  </a:extLst>
                </a:gridCol>
              </a:tblGrid>
              <a:tr h="370840">
                <a:tc>
                  <a:txBody>
                    <a:bodyPr/>
                    <a:lstStyle/>
                    <a:p>
                      <a:pPr algn="ctr"/>
                      <a:r>
                        <a:rPr lang="en-US" b="1" dirty="0">
                          <a:solidFill>
                            <a:prstClr val="black"/>
                          </a:solidFill>
                          <a:latin typeface="+mn-lt"/>
                        </a:rPr>
                        <a:t>A</a:t>
                      </a:r>
                      <a:endParaRPr lang="en-US" dirty="0"/>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extLst>
                  <a:ext uri="{0D108BD9-81ED-4DB2-BD59-A6C34878D82A}">
                    <a16:rowId xmlns:a16="http://schemas.microsoft.com/office/drawing/2014/main" val="660647860"/>
                  </a:ext>
                </a:extLst>
              </a:tr>
            </a:tbl>
          </a:graphicData>
        </a:graphic>
      </p:graphicFrame>
      <p:sp>
        <p:nvSpPr>
          <p:cNvPr id="6" name="TextBox 5"/>
          <p:cNvSpPr txBox="1"/>
          <p:nvPr/>
        </p:nvSpPr>
        <p:spPr>
          <a:xfrm>
            <a:off x="965262" y="5554545"/>
            <a:ext cx="362600" cy="461665"/>
          </a:xfrm>
          <a:prstGeom prst="rect">
            <a:avLst/>
          </a:prstGeom>
          <a:noFill/>
        </p:spPr>
        <p:txBody>
          <a:bodyPr wrap="none" rtlCol="0">
            <a:spAutoFit/>
          </a:bodyPr>
          <a:lstStyle/>
          <a:p>
            <a:r>
              <a:rPr lang="en-US" sz="2400" b="1">
                <a:effectLst>
                  <a:outerShdw blurRad="38100" dist="38100" dir="2700000" algn="tl">
                    <a:srgbClr val="000000">
                      <a:alpha val="43137"/>
                    </a:srgbClr>
                  </a:outerShdw>
                </a:effectLst>
              </a:rPr>
              <a:t>S</a:t>
            </a:r>
          </a:p>
        </p:txBody>
      </p:sp>
      <p:cxnSp>
        <p:nvCxnSpPr>
          <p:cNvPr id="39" name="Straight Connector 38"/>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8120061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Straight Connector 45"/>
          <p:cNvCxnSpPr/>
          <p:nvPr/>
        </p:nvCxnSpPr>
        <p:spPr>
          <a:xfrm flipV="1">
            <a:off x="797123" y="4129201"/>
            <a:ext cx="542694" cy="82386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flipV="1">
            <a:off x="2838130" y="4019053"/>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ln>
            <a:noFill/>
          </a:ln>
        </p:spPr>
        <p:txBody>
          <a:bodyPr/>
          <a:lstStyle/>
          <a:p>
            <a:r>
              <a:rPr lang="en-US" dirty="0"/>
              <a:t>Depth-First Search</a:t>
            </a:r>
          </a:p>
        </p:txBody>
      </p:sp>
      <p:sp>
        <p:nvSpPr>
          <p:cNvPr id="3" name="Slide Number Placeholder 2">
            <a:extLst>
              <a:ext uri="{FF2B5EF4-FFF2-40B4-BE49-F238E27FC236}">
                <a16:creationId xmlns:a16="http://schemas.microsoft.com/office/drawing/2014/main" id="{73385EA4-EE9C-4699-AFE7-1ACC8D5F4F69}"/>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51/110</a:t>
            </a:r>
          </a:p>
        </p:txBody>
      </p:sp>
      <p:cxnSp>
        <p:nvCxnSpPr>
          <p:cNvPr id="8" name="Straight Connector 7"/>
          <p:cNvCxnSpPr/>
          <p:nvPr/>
        </p:nvCxnSpPr>
        <p:spPr>
          <a:xfrm flipH="1" flipV="1">
            <a:off x="4129859" y="1873873"/>
            <a:ext cx="1853477" cy="11790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2127196" y="2004369"/>
            <a:ext cx="1804150" cy="10422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3895286" y="176439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8" name="Straight Connector 17"/>
          <p:cNvCxnSpPr/>
          <p:nvPr/>
        </p:nvCxnSpPr>
        <p:spPr>
          <a:xfrm flipH="1" flipV="1">
            <a:off x="2191623" y="2983419"/>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406709" y="3052968"/>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1922122" y="2896761"/>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Oval 16"/>
          <p:cNvSpPr>
            <a:spLocks noChangeArrowheads="1"/>
          </p:cNvSpPr>
          <p:nvPr/>
        </p:nvSpPr>
        <p:spPr bwMode="auto">
          <a:xfrm>
            <a:off x="1225864" y="378497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5" name="Oval 16"/>
          <p:cNvSpPr>
            <a:spLocks noChangeArrowheads="1"/>
          </p:cNvSpPr>
          <p:nvPr/>
        </p:nvSpPr>
        <p:spPr bwMode="auto">
          <a:xfrm>
            <a:off x="2572943" y="382819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4" name="Oval 16"/>
          <p:cNvSpPr>
            <a:spLocks noChangeArrowheads="1"/>
          </p:cNvSpPr>
          <p:nvPr/>
        </p:nvSpPr>
        <p:spPr bwMode="auto">
          <a:xfrm>
            <a:off x="3251450" y="480945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6" name="Oval 16"/>
          <p:cNvSpPr>
            <a:spLocks noChangeArrowheads="1"/>
          </p:cNvSpPr>
          <p:nvPr/>
        </p:nvSpPr>
        <p:spPr bwMode="auto">
          <a:xfrm>
            <a:off x="577751" y="4810837"/>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61" name="Straight Connector 60"/>
          <p:cNvCxnSpPr/>
          <p:nvPr/>
        </p:nvCxnSpPr>
        <p:spPr>
          <a:xfrm flipH="1" flipV="1">
            <a:off x="6681579" y="4037641"/>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6068720" y="4104906"/>
            <a:ext cx="457312" cy="8114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flipV="1">
            <a:off x="6035072" y="3002007"/>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5250158" y="3071556"/>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Oval 16"/>
          <p:cNvSpPr>
            <a:spLocks noChangeArrowheads="1"/>
          </p:cNvSpPr>
          <p:nvPr/>
        </p:nvSpPr>
        <p:spPr bwMode="auto">
          <a:xfrm>
            <a:off x="5765571" y="29153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6" name="Oval 16"/>
          <p:cNvSpPr>
            <a:spLocks noChangeArrowheads="1"/>
          </p:cNvSpPr>
          <p:nvPr/>
        </p:nvSpPr>
        <p:spPr bwMode="auto">
          <a:xfrm>
            <a:off x="5069313" y="380356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7" name="Oval 16"/>
          <p:cNvSpPr>
            <a:spLocks noChangeArrowheads="1"/>
          </p:cNvSpPr>
          <p:nvPr/>
        </p:nvSpPr>
        <p:spPr bwMode="auto">
          <a:xfrm>
            <a:off x="6416392" y="384678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8" name="Oval 16"/>
          <p:cNvSpPr>
            <a:spLocks noChangeArrowheads="1"/>
          </p:cNvSpPr>
          <p:nvPr/>
        </p:nvSpPr>
        <p:spPr bwMode="auto">
          <a:xfrm>
            <a:off x="5870482" y="482942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9" name="Oval 16"/>
          <p:cNvSpPr>
            <a:spLocks noChangeArrowheads="1"/>
          </p:cNvSpPr>
          <p:nvPr/>
        </p:nvSpPr>
        <p:spPr bwMode="auto">
          <a:xfrm>
            <a:off x="7094899" y="482803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76" name="TextBox 75"/>
          <p:cNvSpPr txBox="1"/>
          <p:nvPr/>
        </p:nvSpPr>
        <p:spPr>
          <a:xfrm>
            <a:off x="3944575" y="1786250"/>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82" name="TextBox 81"/>
          <p:cNvSpPr txBox="1"/>
          <p:nvPr/>
        </p:nvSpPr>
        <p:spPr>
          <a:xfrm>
            <a:off x="1967407" y="2929860"/>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83" name="TextBox 82"/>
          <p:cNvSpPr txBox="1"/>
          <p:nvPr/>
        </p:nvSpPr>
        <p:spPr>
          <a:xfrm>
            <a:off x="5833156" y="2937297"/>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84" name="Rectangle 83"/>
          <p:cNvSpPr/>
          <p:nvPr/>
        </p:nvSpPr>
        <p:spPr>
          <a:xfrm>
            <a:off x="1273931" y="3822650"/>
            <a:ext cx="343364" cy="369332"/>
          </a:xfrm>
          <a:prstGeom prst="rect">
            <a:avLst/>
          </a:prstGeom>
        </p:spPr>
        <p:txBody>
          <a:bodyPr wrap="none">
            <a:spAutoFit/>
          </a:bodyPr>
          <a:lstStyle/>
          <a:p>
            <a:r>
              <a:rPr lang="en-US" b="1" dirty="0">
                <a:solidFill>
                  <a:prstClr val="black"/>
                </a:solidFill>
              </a:rPr>
              <a:t>D</a:t>
            </a:r>
          </a:p>
        </p:txBody>
      </p:sp>
      <p:sp>
        <p:nvSpPr>
          <p:cNvPr id="85" name="Rectangle 84"/>
          <p:cNvSpPr/>
          <p:nvPr/>
        </p:nvSpPr>
        <p:spPr>
          <a:xfrm>
            <a:off x="5116299" y="3846782"/>
            <a:ext cx="304892" cy="369332"/>
          </a:xfrm>
          <a:prstGeom prst="rect">
            <a:avLst/>
          </a:prstGeom>
        </p:spPr>
        <p:txBody>
          <a:bodyPr wrap="none">
            <a:spAutoFit/>
          </a:bodyPr>
          <a:lstStyle/>
          <a:p>
            <a:r>
              <a:rPr lang="en-US" b="1" dirty="0">
                <a:solidFill>
                  <a:prstClr val="black"/>
                </a:solidFill>
              </a:rPr>
              <a:t>F</a:t>
            </a:r>
          </a:p>
        </p:txBody>
      </p:sp>
      <p:sp>
        <p:nvSpPr>
          <p:cNvPr id="86" name="Rectangle 85"/>
          <p:cNvSpPr/>
          <p:nvPr/>
        </p:nvSpPr>
        <p:spPr>
          <a:xfrm>
            <a:off x="6467363" y="3861983"/>
            <a:ext cx="340158" cy="369332"/>
          </a:xfrm>
          <a:prstGeom prst="rect">
            <a:avLst/>
          </a:prstGeom>
        </p:spPr>
        <p:txBody>
          <a:bodyPr wrap="none">
            <a:spAutoFit/>
          </a:bodyPr>
          <a:lstStyle/>
          <a:p>
            <a:r>
              <a:rPr lang="en-US" b="1" dirty="0">
                <a:solidFill>
                  <a:prstClr val="black"/>
                </a:solidFill>
              </a:rPr>
              <a:t>G</a:t>
            </a:r>
          </a:p>
        </p:txBody>
      </p:sp>
      <p:sp>
        <p:nvSpPr>
          <p:cNvPr id="87" name="Rectangle 86"/>
          <p:cNvSpPr/>
          <p:nvPr/>
        </p:nvSpPr>
        <p:spPr>
          <a:xfrm>
            <a:off x="5923779" y="4883500"/>
            <a:ext cx="277640" cy="369332"/>
          </a:xfrm>
          <a:prstGeom prst="rect">
            <a:avLst/>
          </a:prstGeom>
        </p:spPr>
        <p:txBody>
          <a:bodyPr wrap="none">
            <a:spAutoFit/>
          </a:bodyPr>
          <a:lstStyle/>
          <a:p>
            <a:r>
              <a:rPr lang="en-US" b="1" dirty="0">
                <a:solidFill>
                  <a:prstClr val="black"/>
                </a:solidFill>
              </a:rPr>
              <a:t>J</a:t>
            </a:r>
          </a:p>
        </p:txBody>
      </p:sp>
      <p:sp>
        <p:nvSpPr>
          <p:cNvPr id="88" name="Rectangle 87"/>
          <p:cNvSpPr/>
          <p:nvPr/>
        </p:nvSpPr>
        <p:spPr>
          <a:xfrm>
            <a:off x="7146697" y="4879786"/>
            <a:ext cx="330540" cy="369332"/>
          </a:xfrm>
          <a:prstGeom prst="rect">
            <a:avLst/>
          </a:prstGeom>
        </p:spPr>
        <p:txBody>
          <a:bodyPr wrap="none">
            <a:spAutoFit/>
          </a:bodyPr>
          <a:lstStyle/>
          <a:p>
            <a:r>
              <a:rPr lang="en-US" b="1" dirty="0">
                <a:solidFill>
                  <a:prstClr val="black"/>
                </a:solidFill>
              </a:rPr>
              <a:t>K</a:t>
            </a:r>
          </a:p>
        </p:txBody>
      </p:sp>
      <p:sp>
        <p:nvSpPr>
          <p:cNvPr id="89" name="Rectangle 88"/>
          <p:cNvSpPr/>
          <p:nvPr/>
        </p:nvSpPr>
        <p:spPr>
          <a:xfrm>
            <a:off x="3294991" y="4859128"/>
            <a:ext cx="248786" cy="369332"/>
          </a:xfrm>
          <a:prstGeom prst="rect">
            <a:avLst/>
          </a:prstGeom>
        </p:spPr>
        <p:txBody>
          <a:bodyPr wrap="none">
            <a:spAutoFit/>
          </a:bodyPr>
          <a:lstStyle/>
          <a:p>
            <a:r>
              <a:rPr lang="en-US" b="1" dirty="0">
                <a:solidFill>
                  <a:prstClr val="black"/>
                </a:solidFill>
              </a:rPr>
              <a:t>I</a:t>
            </a:r>
          </a:p>
        </p:txBody>
      </p:sp>
      <p:sp>
        <p:nvSpPr>
          <p:cNvPr id="91" name="Rectangle 90"/>
          <p:cNvSpPr/>
          <p:nvPr/>
        </p:nvSpPr>
        <p:spPr>
          <a:xfrm>
            <a:off x="641576" y="4852097"/>
            <a:ext cx="346570" cy="369332"/>
          </a:xfrm>
          <a:prstGeom prst="rect">
            <a:avLst/>
          </a:prstGeom>
        </p:spPr>
        <p:txBody>
          <a:bodyPr wrap="none">
            <a:spAutoFit/>
          </a:bodyPr>
          <a:lstStyle/>
          <a:p>
            <a:r>
              <a:rPr lang="en-US" b="1" dirty="0">
                <a:solidFill>
                  <a:prstClr val="black"/>
                </a:solidFill>
              </a:rPr>
              <a:t>H</a:t>
            </a:r>
          </a:p>
        </p:txBody>
      </p:sp>
      <p:sp>
        <p:nvSpPr>
          <p:cNvPr id="92" name="Rectangle 91"/>
          <p:cNvSpPr/>
          <p:nvPr/>
        </p:nvSpPr>
        <p:spPr>
          <a:xfrm>
            <a:off x="2632725" y="3853127"/>
            <a:ext cx="316112" cy="369332"/>
          </a:xfrm>
          <a:prstGeom prst="rect">
            <a:avLst/>
          </a:prstGeom>
        </p:spPr>
        <p:txBody>
          <a:bodyPr wrap="none">
            <a:spAutoFit/>
          </a:bodyPr>
          <a:lstStyle/>
          <a:p>
            <a:r>
              <a:rPr lang="en-US" b="1" dirty="0">
                <a:solidFill>
                  <a:prstClr val="black"/>
                </a:solidFill>
              </a:rPr>
              <a:t>E</a:t>
            </a:r>
          </a:p>
        </p:txBody>
      </p:sp>
      <p:graphicFrame>
        <p:nvGraphicFramePr>
          <p:cNvPr id="5" name="Table 4"/>
          <p:cNvGraphicFramePr>
            <a:graphicFrameLocks noGrp="1"/>
          </p:cNvGraphicFramePr>
          <p:nvPr>
            <p:extLst>
              <p:ext uri="{D42A27DB-BD31-4B8C-83A1-F6EECF244321}">
                <p14:modId xmlns:p14="http://schemas.microsoft.com/office/powerpoint/2010/main" val="2657214495"/>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endParaRPr lang="en-US" dirty="0"/>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extLst>
                  <a:ext uri="{0D108BD9-81ED-4DB2-BD59-A6C34878D82A}">
                    <a16:rowId xmlns:a16="http://schemas.microsoft.com/office/drawing/2014/main" val="660647860"/>
                  </a:ext>
                </a:extLst>
              </a:tr>
            </a:tbl>
          </a:graphicData>
        </a:graphic>
      </p:graphicFrame>
      <p:sp>
        <p:nvSpPr>
          <p:cNvPr id="6" name="TextBox 5"/>
          <p:cNvSpPr txBox="1"/>
          <p:nvPr/>
        </p:nvSpPr>
        <p:spPr>
          <a:xfrm>
            <a:off x="965262" y="5554545"/>
            <a:ext cx="362600" cy="461665"/>
          </a:xfrm>
          <a:prstGeom prst="rect">
            <a:avLst/>
          </a:prstGeom>
          <a:noFill/>
        </p:spPr>
        <p:txBody>
          <a:bodyPr wrap="none" rtlCol="0">
            <a:spAutoFit/>
          </a:bodyPr>
          <a:lstStyle/>
          <a:p>
            <a:r>
              <a:rPr lang="en-US" sz="2400" b="1">
                <a:effectLst>
                  <a:outerShdw blurRad="38100" dist="38100" dir="2700000" algn="tl">
                    <a:srgbClr val="000000">
                      <a:alpha val="43137"/>
                    </a:srgbClr>
                  </a:outerShdw>
                </a:effectLst>
              </a:rPr>
              <a:t>S</a:t>
            </a:r>
          </a:p>
        </p:txBody>
      </p:sp>
      <p:cxnSp>
        <p:nvCxnSpPr>
          <p:cNvPr id="55" name="Straight Connector 54"/>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57" name="Table 56"/>
          <p:cNvGraphicFramePr>
            <a:graphicFrameLocks noGrp="1"/>
          </p:cNvGraphicFramePr>
          <p:nvPr/>
        </p:nvGraphicFramePr>
        <p:xfrm>
          <a:off x="1437550" y="6071671"/>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endParaRPr lang="en-US" dirty="0"/>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dirty="0"/>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graphicFrame>
        <p:nvGraphicFramePr>
          <p:cNvPr id="41" name="Table 40">
            <a:extLst>
              <a:ext uri="{FF2B5EF4-FFF2-40B4-BE49-F238E27FC236}">
                <a16:creationId xmlns:a16="http://schemas.microsoft.com/office/drawing/2014/main" id="{6EC079DC-9F50-43E8-9F4B-9B8E316343BE}"/>
              </a:ext>
            </a:extLst>
          </p:cNvPr>
          <p:cNvGraphicFramePr>
            <a:graphicFrameLocks noGrp="1"/>
          </p:cNvGraphicFramePr>
          <p:nvPr/>
        </p:nvGraphicFramePr>
        <p:xfrm>
          <a:off x="8658993" y="1862844"/>
          <a:ext cx="2132240" cy="4719320"/>
        </p:xfrm>
        <a:graphic>
          <a:graphicData uri="http://schemas.openxmlformats.org/drawingml/2006/table">
            <a:tbl>
              <a:tblPr firstRow="1" bandRow="1">
                <a:tableStyleId>{5C22544A-7EE6-4342-B048-85BDC9FD1C3A}</a:tableStyleId>
              </a:tblPr>
              <a:tblGrid>
                <a:gridCol w="847864">
                  <a:extLst>
                    <a:ext uri="{9D8B030D-6E8A-4147-A177-3AD203B41FA5}">
                      <a16:colId xmlns:a16="http://schemas.microsoft.com/office/drawing/2014/main" val="2989644895"/>
                    </a:ext>
                  </a:extLst>
                </a:gridCol>
                <a:gridCol w="1284376">
                  <a:extLst>
                    <a:ext uri="{9D8B030D-6E8A-4147-A177-3AD203B41FA5}">
                      <a16:colId xmlns:a16="http://schemas.microsoft.com/office/drawing/2014/main" val="4244960412"/>
                    </a:ext>
                  </a:extLst>
                </a:gridCol>
              </a:tblGrid>
              <a:tr h="370840">
                <a:tc>
                  <a:txBody>
                    <a:bodyPr/>
                    <a:lstStyle/>
                    <a:p>
                      <a:pPr algn="ctr"/>
                      <a:r>
                        <a:rPr lang="en-US" dirty="0"/>
                        <a:t>NODE</a:t>
                      </a:r>
                    </a:p>
                  </a:txBody>
                  <a:tcPr/>
                </a:tc>
                <a:tc>
                  <a:txBody>
                    <a:bodyPr/>
                    <a:lstStyle/>
                    <a:p>
                      <a:pPr algn="ctr"/>
                      <a:r>
                        <a:rPr lang="en-US" dirty="0"/>
                        <a:t>CHILDREN</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F,G</a:t>
                      </a:r>
                      <a:endParaRPr lang="en-US" b="1" dirty="0"/>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H,-</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-,I</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J,K</a:t>
                      </a:r>
                    </a:p>
                  </a:txBody>
                  <a:tcPr/>
                </a:tc>
                <a:extLst>
                  <a:ext uri="{0D108BD9-81ED-4DB2-BD59-A6C34878D82A}">
                    <a16:rowId xmlns:a16="http://schemas.microsoft.com/office/drawing/2014/main" val="1205733479"/>
                  </a:ext>
                </a:extLst>
              </a:tr>
              <a:tr h="370840">
                <a:tc>
                  <a:txBody>
                    <a:bodyPr/>
                    <a:lstStyle/>
                    <a:p>
                      <a:pPr algn="ctr"/>
                      <a:r>
                        <a:rPr lang="en-US" b="1" dirty="0"/>
                        <a: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987431379"/>
                  </a:ext>
                </a:extLst>
              </a:tr>
              <a:tr h="370840">
                <a:tc>
                  <a:txBody>
                    <a:bodyPr/>
                    <a:lstStyle/>
                    <a:p>
                      <a:pPr algn="ctr"/>
                      <a:r>
                        <a:rPr lang="en-US" b="1" dirty="0"/>
                        <a:t>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290039795"/>
                  </a:ext>
                </a:extLst>
              </a:tr>
              <a:tr h="370840">
                <a:tc>
                  <a:txBody>
                    <a:bodyPr/>
                    <a:lstStyle/>
                    <a:p>
                      <a:pPr algn="ctr"/>
                      <a:r>
                        <a:rPr lang="en-US" b="1" dirty="0"/>
                        <a:t>J</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873125107"/>
                  </a:ext>
                </a:extLst>
              </a:tr>
              <a:tr h="370840">
                <a:tc>
                  <a:txBody>
                    <a:bodyPr/>
                    <a:lstStyle/>
                    <a:p>
                      <a:pPr algn="ctr"/>
                      <a:r>
                        <a:rPr lang="en-US" b="1" dirty="0"/>
                        <a:t>K</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640632725"/>
                  </a:ext>
                </a:extLst>
              </a:tr>
            </a:tbl>
          </a:graphicData>
        </a:graphic>
      </p:graphicFrame>
    </p:spTree>
    <p:custDataLst>
      <p:tags r:id="rId1"/>
    </p:custDataLst>
    <p:extLst>
      <p:ext uri="{BB962C8B-B14F-4D97-AF65-F5344CB8AC3E}">
        <p14:creationId xmlns:p14="http://schemas.microsoft.com/office/powerpoint/2010/main" val="7063939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Straight Connector 45"/>
          <p:cNvCxnSpPr/>
          <p:nvPr/>
        </p:nvCxnSpPr>
        <p:spPr>
          <a:xfrm flipV="1">
            <a:off x="797123" y="4129201"/>
            <a:ext cx="542694" cy="82386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flipV="1">
            <a:off x="2838130" y="4019053"/>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ln>
            <a:noFill/>
          </a:ln>
        </p:spPr>
        <p:txBody>
          <a:bodyPr/>
          <a:lstStyle/>
          <a:p>
            <a:r>
              <a:rPr lang="en-US" dirty="0"/>
              <a:t>Depth-First Search</a:t>
            </a:r>
          </a:p>
        </p:txBody>
      </p:sp>
      <p:sp>
        <p:nvSpPr>
          <p:cNvPr id="3" name="Slide Number Placeholder 2">
            <a:extLst>
              <a:ext uri="{FF2B5EF4-FFF2-40B4-BE49-F238E27FC236}">
                <a16:creationId xmlns:a16="http://schemas.microsoft.com/office/drawing/2014/main" id="{7D178248-A3A4-49F0-A7DA-22FC3AE6A8C0}"/>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52/110</a:t>
            </a:r>
          </a:p>
        </p:txBody>
      </p:sp>
      <p:cxnSp>
        <p:nvCxnSpPr>
          <p:cNvPr id="8" name="Straight Connector 7"/>
          <p:cNvCxnSpPr/>
          <p:nvPr/>
        </p:nvCxnSpPr>
        <p:spPr>
          <a:xfrm flipH="1" flipV="1">
            <a:off x="4129859" y="1873873"/>
            <a:ext cx="1853477" cy="11790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2127196" y="2004369"/>
            <a:ext cx="1804150" cy="10422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3895286" y="176439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8" name="Straight Connector 17"/>
          <p:cNvCxnSpPr/>
          <p:nvPr/>
        </p:nvCxnSpPr>
        <p:spPr>
          <a:xfrm flipH="1" flipV="1">
            <a:off x="2191623" y="2983419"/>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406709" y="3052968"/>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1922122" y="2896761"/>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Oval 16"/>
          <p:cNvSpPr>
            <a:spLocks noChangeArrowheads="1"/>
          </p:cNvSpPr>
          <p:nvPr/>
        </p:nvSpPr>
        <p:spPr bwMode="auto">
          <a:xfrm>
            <a:off x="1225864" y="378497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5" name="Oval 16"/>
          <p:cNvSpPr>
            <a:spLocks noChangeArrowheads="1"/>
          </p:cNvSpPr>
          <p:nvPr/>
        </p:nvSpPr>
        <p:spPr bwMode="auto">
          <a:xfrm>
            <a:off x="2572943" y="382819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4" name="Oval 16"/>
          <p:cNvSpPr>
            <a:spLocks noChangeArrowheads="1"/>
          </p:cNvSpPr>
          <p:nvPr/>
        </p:nvSpPr>
        <p:spPr bwMode="auto">
          <a:xfrm>
            <a:off x="3251450" y="480945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6" name="Oval 16"/>
          <p:cNvSpPr>
            <a:spLocks noChangeArrowheads="1"/>
          </p:cNvSpPr>
          <p:nvPr/>
        </p:nvSpPr>
        <p:spPr bwMode="auto">
          <a:xfrm>
            <a:off x="577751" y="4810837"/>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61" name="Straight Connector 60"/>
          <p:cNvCxnSpPr/>
          <p:nvPr/>
        </p:nvCxnSpPr>
        <p:spPr>
          <a:xfrm flipH="1" flipV="1">
            <a:off x="6681579" y="4037641"/>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6068720" y="4104906"/>
            <a:ext cx="457312" cy="8114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flipV="1">
            <a:off x="6035072" y="3002007"/>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5250158" y="3071556"/>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Oval 16"/>
          <p:cNvSpPr>
            <a:spLocks noChangeArrowheads="1"/>
          </p:cNvSpPr>
          <p:nvPr/>
        </p:nvSpPr>
        <p:spPr bwMode="auto">
          <a:xfrm>
            <a:off x="5765571" y="29153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6" name="Oval 16"/>
          <p:cNvSpPr>
            <a:spLocks noChangeArrowheads="1"/>
          </p:cNvSpPr>
          <p:nvPr/>
        </p:nvSpPr>
        <p:spPr bwMode="auto">
          <a:xfrm>
            <a:off x="5069313" y="380356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7" name="Oval 16"/>
          <p:cNvSpPr>
            <a:spLocks noChangeArrowheads="1"/>
          </p:cNvSpPr>
          <p:nvPr/>
        </p:nvSpPr>
        <p:spPr bwMode="auto">
          <a:xfrm>
            <a:off x="6416392" y="384678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8" name="Oval 16"/>
          <p:cNvSpPr>
            <a:spLocks noChangeArrowheads="1"/>
          </p:cNvSpPr>
          <p:nvPr/>
        </p:nvSpPr>
        <p:spPr bwMode="auto">
          <a:xfrm>
            <a:off x="5870482" y="482942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9" name="Oval 16"/>
          <p:cNvSpPr>
            <a:spLocks noChangeArrowheads="1"/>
          </p:cNvSpPr>
          <p:nvPr/>
        </p:nvSpPr>
        <p:spPr bwMode="auto">
          <a:xfrm>
            <a:off x="7094899" y="482803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76" name="TextBox 75"/>
          <p:cNvSpPr txBox="1"/>
          <p:nvPr/>
        </p:nvSpPr>
        <p:spPr>
          <a:xfrm>
            <a:off x="3944575" y="1786250"/>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82" name="TextBox 81"/>
          <p:cNvSpPr txBox="1"/>
          <p:nvPr/>
        </p:nvSpPr>
        <p:spPr>
          <a:xfrm>
            <a:off x="1967407" y="2929860"/>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83" name="TextBox 82"/>
          <p:cNvSpPr txBox="1"/>
          <p:nvPr/>
        </p:nvSpPr>
        <p:spPr>
          <a:xfrm>
            <a:off x="5833156" y="2937297"/>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84" name="Rectangle 83"/>
          <p:cNvSpPr/>
          <p:nvPr/>
        </p:nvSpPr>
        <p:spPr>
          <a:xfrm>
            <a:off x="1273931" y="3822650"/>
            <a:ext cx="343364" cy="369332"/>
          </a:xfrm>
          <a:prstGeom prst="rect">
            <a:avLst/>
          </a:prstGeom>
        </p:spPr>
        <p:txBody>
          <a:bodyPr wrap="none">
            <a:spAutoFit/>
          </a:bodyPr>
          <a:lstStyle/>
          <a:p>
            <a:r>
              <a:rPr lang="en-US" b="1" dirty="0">
                <a:solidFill>
                  <a:prstClr val="black"/>
                </a:solidFill>
              </a:rPr>
              <a:t>D</a:t>
            </a:r>
          </a:p>
        </p:txBody>
      </p:sp>
      <p:sp>
        <p:nvSpPr>
          <p:cNvPr id="85" name="Rectangle 84"/>
          <p:cNvSpPr/>
          <p:nvPr/>
        </p:nvSpPr>
        <p:spPr>
          <a:xfrm>
            <a:off x="5116299" y="3846782"/>
            <a:ext cx="304892" cy="369332"/>
          </a:xfrm>
          <a:prstGeom prst="rect">
            <a:avLst/>
          </a:prstGeom>
        </p:spPr>
        <p:txBody>
          <a:bodyPr wrap="none">
            <a:spAutoFit/>
          </a:bodyPr>
          <a:lstStyle/>
          <a:p>
            <a:r>
              <a:rPr lang="en-US" b="1" dirty="0">
                <a:solidFill>
                  <a:prstClr val="black"/>
                </a:solidFill>
              </a:rPr>
              <a:t>F</a:t>
            </a:r>
          </a:p>
        </p:txBody>
      </p:sp>
      <p:sp>
        <p:nvSpPr>
          <p:cNvPr id="86" name="Rectangle 85"/>
          <p:cNvSpPr/>
          <p:nvPr/>
        </p:nvSpPr>
        <p:spPr>
          <a:xfrm>
            <a:off x="6467363" y="3861983"/>
            <a:ext cx="340158" cy="369332"/>
          </a:xfrm>
          <a:prstGeom prst="rect">
            <a:avLst/>
          </a:prstGeom>
        </p:spPr>
        <p:txBody>
          <a:bodyPr wrap="none">
            <a:spAutoFit/>
          </a:bodyPr>
          <a:lstStyle/>
          <a:p>
            <a:r>
              <a:rPr lang="en-US" b="1" dirty="0">
                <a:solidFill>
                  <a:prstClr val="black"/>
                </a:solidFill>
              </a:rPr>
              <a:t>G</a:t>
            </a:r>
          </a:p>
        </p:txBody>
      </p:sp>
      <p:sp>
        <p:nvSpPr>
          <p:cNvPr id="87" name="Rectangle 86"/>
          <p:cNvSpPr/>
          <p:nvPr/>
        </p:nvSpPr>
        <p:spPr>
          <a:xfrm>
            <a:off x="5923779" y="4883500"/>
            <a:ext cx="277640" cy="369332"/>
          </a:xfrm>
          <a:prstGeom prst="rect">
            <a:avLst/>
          </a:prstGeom>
        </p:spPr>
        <p:txBody>
          <a:bodyPr wrap="none">
            <a:spAutoFit/>
          </a:bodyPr>
          <a:lstStyle/>
          <a:p>
            <a:r>
              <a:rPr lang="en-US" b="1" dirty="0">
                <a:solidFill>
                  <a:prstClr val="black"/>
                </a:solidFill>
              </a:rPr>
              <a:t>J</a:t>
            </a:r>
          </a:p>
        </p:txBody>
      </p:sp>
      <p:sp>
        <p:nvSpPr>
          <p:cNvPr id="88" name="Rectangle 87"/>
          <p:cNvSpPr/>
          <p:nvPr/>
        </p:nvSpPr>
        <p:spPr>
          <a:xfrm>
            <a:off x="7146697" y="4879786"/>
            <a:ext cx="330540" cy="369332"/>
          </a:xfrm>
          <a:prstGeom prst="rect">
            <a:avLst/>
          </a:prstGeom>
        </p:spPr>
        <p:txBody>
          <a:bodyPr wrap="none">
            <a:spAutoFit/>
          </a:bodyPr>
          <a:lstStyle/>
          <a:p>
            <a:r>
              <a:rPr lang="en-US" b="1" dirty="0">
                <a:solidFill>
                  <a:prstClr val="black"/>
                </a:solidFill>
              </a:rPr>
              <a:t>K</a:t>
            </a:r>
          </a:p>
        </p:txBody>
      </p:sp>
      <p:sp>
        <p:nvSpPr>
          <p:cNvPr id="89" name="Rectangle 88"/>
          <p:cNvSpPr/>
          <p:nvPr/>
        </p:nvSpPr>
        <p:spPr>
          <a:xfrm>
            <a:off x="3294991" y="4859128"/>
            <a:ext cx="248786" cy="369332"/>
          </a:xfrm>
          <a:prstGeom prst="rect">
            <a:avLst/>
          </a:prstGeom>
        </p:spPr>
        <p:txBody>
          <a:bodyPr wrap="none">
            <a:spAutoFit/>
          </a:bodyPr>
          <a:lstStyle/>
          <a:p>
            <a:r>
              <a:rPr lang="en-US" b="1" dirty="0">
                <a:solidFill>
                  <a:prstClr val="black"/>
                </a:solidFill>
              </a:rPr>
              <a:t>I</a:t>
            </a:r>
          </a:p>
        </p:txBody>
      </p:sp>
      <p:sp>
        <p:nvSpPr>
          <p:cNvPr id="91" name="Rectangle 90"/>
          <p:cNvSpPr/>
          <p:nvPr/>
        </p:nvSpPr>
        <p:spPr>
          <a:xfrm>
            <a:off x="641576" y="4852097"/>
            <a:ext cx="346570" cy="369332"/>
          </a:xfrm>
          <a:prstGeom prst="rect">
            <a:avLst/>
          </a:prstGeom>
        </p:spPr>
        <p:txBody>
          <a:bodyPr wrap="none">
            <a:spAutoFit/>
          </a:bodyPr>
          <a:lstStyle/>
          <a:p>
            <a:r>
              <a:rPr lang="en-US" b="1" dirty="0">
                <a:solidFill>
                  <a:prstClr val="black"/>
                </a:solidFill>
              </a:rPr>
              <a:t>H</a:t>
            </a:r>
          </a:p>
        </p:txBody>
      </p:sp>
      <p:sp>
        <p:nvSpPr>
          <p:cNvPr id="92" name="Rectangle 91"/>
          <p:cNvSpPr/>
          <p:nvPr/>
        </p:nvSpPr>
        <p:spPr>
          <a:xfrm>
            <a:off x="2632725" y="3853127"/>
            <a:ext cx="316112" cy="369332"/>
          </a:xfrm>
          <a:prstGeom prst="rect">
            <a:avLst/>
          </a:prstGeom>
        </p:spPr>
        <p:txBody>
          <a:bodyPr wrap="none">
            <a:spAutoFit/>
          </a:bodyPr>
          <a:lstStyle/>
          <a:p>
            <a:r>
              <a:rPr lang="en-US" b="1" dirty="0">
                <a:solidFill>
                  <a:prstClr val="black"/>
                </a:solidFill>
              </a:rPr>
              <a:t>E</a:t>
            </a:r>
          </a:p>
        </p:txBody>
      </p:sp>
      <p:graphicFrame>
        <p:nvGraphicFramePr>
          <p:cNvPr id="5" name="Table 4"/>
          <p:cNvGraphicFramePr>
            <a:graphicFrameLocks noGrp="1"/>
          </p:cNvGraphicFramePr>
          <p:nvPr>
            <p:extLst>
              <p:ext uri="{D42A27DB-BD31-4B8C-83A1-F6EECF244321}">
                <p14:modId xmlns:p14="http://schemas.microsoft.com/office/powerpoint/2010/main" val="2669096401"/>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C</a:t>
                      </a:r>
                    </a:p>
                  </a:txBody>
                  <a:tcPr>
                    <a:solidFill>
                      <a:schemeClr val="accent2">
                        <a:lumMod val="60000"/>
                        <a:lumOff val="40000"/>
                      </a:schemeClr>
                    </a:solidFill>
                  </a:tcPr>
                </a:tc>
                <a:tc>
                  <a:txBody>
                    <a:bodyPr/>
                    <a:lstStyle/>
                    <a:p>
                      <a:pPr algn="ctr"/>
                      <a:r>
                        <a:rPr lang="en-US" dirty="0">
                          <a:solidFill>
                            <a:schemeClr val="tx1"/>
                          </a:solidFill>
                        </a:rPr>
                        <a:t>B</a:t>
                      </a: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extLst>
                  <a:ext uri="{0D108BD9-81ED-4DB2-BD59-A6C34878D82A}">
                    <a16:rowId xmlns:a16="http://schemas.microsoft.com/office/drawing/2014/main" val="660647860"/>
                  </a:ext>
                </a:extLst>
              </a:tr>
            </a:tbl>
          </a:graphicData>
        </a:graphic>
      </p:graphicFrame>
      <p:sp>
        <p:nvSpPr>
          <p:cNvPr id="6" name="TextBox 5"/>
          <p:cNvSpPr txBox="1"/>
          <p:nvPr/>
        </p:nvSpPr>
        <p:spPr>
          <a:xfrm>
            <a:off x="965262" y="5554545"/>
            <a:ext cx="362600" cy="461665"/>
          </a:xfrm>
          <a:prstGeom prst="rect">
            <a:avLst/>
          </a:prstGeom>
          <a:noFill/>
        </p:spPr>
        <p:txBody>
          <a:bodyPr wrap="none" rtlCol="0">
            <a:spAutoFit/>
          </a:bodyPr>
          <a:lstStyle/>
          <a:p>
            <a:r>
              <a:rPr lang="en-US" sz="2400" b="1">
                <a:effectLst>
                  <a:outerShdw blurRad="38100" dist="38100" dir="2700000" algn="tl">
                    <a:srgbClr val="000000">
                      <a:alpha val="43137"/>
                    </a:srgbClr>
                  </a:outerShdw>
                </a:effectLst>
              </a:rPr>
              <a:t>S</a:t>
            </a:r>
          </a:p>
        </p:txBody>
      </p:sp>
      <p:cxnSp>
        <p:nvCxnSpPr>
          <p:cNvPr id="55" name="Straight Connector 54"/>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57" name="Table 56"/>
          <p:cNvGraphicFramePr>
            <a:graphicFrameLocks noGrp="1"/>
          </p:cNvGraphicFramePr>
          <p:nvPr/>
        </p:nvGraphicFramePr>
        <p:xfrm>
          <a:off x="1437550" y="6071671"/>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endParaRPr lang="en-US" dirty="0"/>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dirty="0"/>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graphicFrame>
        <p:nvGraphicFramePr>
          <p:cNvPr id="41" name="Table 40">
            <a:extLst>
              <a:ext uri="{FF2B5EF4-FFF2-40B4-BE49-F238E27FC236}">
                <a16:creationId xmlns:a16="http://schemas.microsoft.com/office/drawing/2014/main" id="{5599F422-3836-4776-9FF0-5FA3A02DF9E0}"/>
              </a:ext>
            </a:extLst>
          </p:cNvPr>
          <p:cNvGraphicFramePr>
            <a:graphicFrameLocks noGrp="1"/>
          </p:cNvGraphicFramePr>
          <p:nvPr/>
        </p:nvGraphicFramePr>
        <p:xfrm>
          <a:off x="8658993" y="1862844"/>
          <a:ext cx="2132240" cy="4719320"/>
        </p:xfrm>
        <a:graphic>
          <a:graphicData uri="http://schemas.openxmlformats.org/drawingml/2006/table">
            <a:tbl>
              <a:tblPr firstRow="1" bandRow="1">
                <a:tableStyleId>{5C22544A-7EE6-4342-B048-85BDC9FD1C3A}</a:tableStyleId>
              </a:tblPr>
              <a:tblGrid>
                <a:gridCol w="847864">
                  <a:extLst>
                    <a:ext uri="{9D8B030D-6E8A-4147-A177-3AD203B41FA5}">
                      <a16:colId xmlns:a16="http://schemas.microsoft.com/office/drawing/2014/main" val="2989644895"/>
                    </a:ext>
                  </a:extLst>
                </a:gridCol>
                <a:gridCol w="1284376">
                  <a:extLst>
                    <a:ext uri="{9D8B030D-6E8A-4147-A177-3AD203B41FA5}">
                      <a16:colId xmlns:a16="http://schemas.microsoft.com/office/drawing/2014/main" val="4244960412"/>
                    </a:ext>
                  </a:extLst>
                </a:gridCol>
              </a:tblGrid>
              <a:tr h="370840">
                <a:tc>
                  <a:txBody>
                    <a:bodyPr/>
                    <a:lstStyle/>
                    <a:p>
                      <a:pPr algn="ctr"/>
                      <a:r>
                        <a:rPr lang="en-US" dirty="0"/>
                        <a:t>NODE</a:t>
                      </a:r>
                    </a:p>
                  </a:txBody>
                  <a:tcPr/>
                </a:tc>
                <a:tc>
                  <a:txBody>
                    <a:bodyPr/>
                    <a:lstStyle/>
                    <a:p>
                      <a:pPr algn="ctr"/>
                      <a:r>
                        <a:rPr lang="en-US" dirty="0"/>
                        <a:t>CHILDREN</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F,G</a:t>
                      </a:r>
                      <a:endParaRPr lang="en-US" b="1" dirty="0"/>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H,-</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-,I</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J,K</a:t>
                      </a:r>
                    </a:p>
                  </a:txBody>
                  <a:tcPr/>
                </a:tc>
                <a:extLst>
                  <a:ext uri="{0D108BD9-81ED-4DB2-BD59-A6C34878D82A}">
                    <a16:rowId xmlns:a16="http://schemas.microsoft.com/office/drawing/2014/main" val="1205733479"/>
                  </a:ext>
                </a:extLst>
              </a:tr>
              <a:tr h="370840">
                <a:tc>
                  <a:txBody>
                    <a:bodyPr/>
                    <a:lstStyle/>
                    <a:p>
                      <a:pPr algn="ctr"/>
                      <a:r>
                        <a:rPr lang="en-US" b="1" dirty="0"/>
                        <a: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987431379"/>
                  </a:ext>
                </a:extLst>
              </a:tr>
              <a:tr h="370840">
                <a:tc>
                  <a:txBody>
                    <a:bodyPr/>
                    <a:lstStyle/>
                    <a:p>
                      <a:pPr algn="ctr"/>
                      <a:r>
                        <a:rPr lang="en-US" b="1" dirty="0"/>
                        <a:t>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290039795"/>
                  </a:ext>
                </a:extLst>
              </a:tr>
              <a:tr h="370840">
                <a:tc>
                  <a:txBody>
                    <a:bodyPr/>
                    <a:lstStyle/>
                    <a:p>
                      <a:pPr algn="ctr"/>
                      <a:r>
                        <a:rPr lang="en-US" b="1" dirty="0"/>
                        <a:t>J</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873125107"/>
                  </a:ext>
                </a:extLst>
              </a:tr>
              <a:tr h="370840">
                <a:tc>
                  <a:txBody>
                    <a:bodyPr/>
                    <a:lstStyle/>
                    <a:p>
                      <a:pPr algn="ctr"/>
                      <a:r>
                        <a:rPr lang="en-US" b="1" dirty="0"/>
                        <a:t>K</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640632725"/>
                  </a:ext>
                </a:extLst>
              </a:tr>
            </a:tbl>
          </a:graphicData>
        </a:graphic>
      </p:graphicFrame>
    </p:spTree>
    <p:custDataLst>
      <p:tags r:id="rId1"/>
    </p:custDataLst>
    <p:extLst>
      <p:ext uri="{BB962C8B-B14F-4D97-AF65-F5344CB8AC3E}">
        <p14:creationId xmlns:p14="http://schemas.microsoft.com/office/powerpoint/2010/main" val="37682457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Straight Connector 45"/>
          <p:cNvCxnSpPr/>
          <p:nvPr/>
        </p:nvCxnSpPr>
        <p:spPr>
          <a:xfrm flipV="1">
            <a:off x="797123" y="4129201"/>
            <a:ext cx="542694" cy="82386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flipV="1">
            <a:off x="2838130" y="4019053"/>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ln>
            <a:noFill/>
          </a:ln>
        </p:spPr>
        <p:txBody>
          <a:bodyPr/>
          <a:lstStyle/>
          <a:p>
            <a:r>
              <a:rPr lang="en-US" dirty="0"/>
              <a:t>Depth-First Search</a:t>
            </a:r>
          </a:p>
        </p:txBody>
      </p:sp>
      <p:sp>
        <p:nvSpPr>
          <p:cNvPr id="3" name="Slide Number Placeholder 2">
            <a:extLst>
              <a:ext uri="{FF2B5EF4-FFF2-40B4-BE49-F238E27FC236}">
                <a16:creationId xmlns:a16="http://schemas.microsoft.com/office/drawing/2014/main" id="{13668E4D-8E4C-480C-89C2-7DC2EA2ABD24}"/>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53/110</a:t>
            </a:r>
          </a:p>
        </p:txBody>
      </p:sp>
      <p:cxnSp>
        <p:nvCxnSpPr>
          <p:cNvPr id="8" name="Straight Connector 7"/>
          <p:cNvCxnSpPr/>
          <p:nvPr/>
        </p:nvCxnSpPr>
        <p:spPr>
          <a:xfrm flipH="1" flipV="1">
            <a:off x="4129859" y="1873873"/>
            <a:ext cx="1853477" cy="11790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2127196" y="2004369"/>
            <a:ext cx="1804150" cy="10422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3895286" y="176439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8" name="Straight Connector 17"/>
          <p:cNvCxnSpPr/>
          <p:nvPr/>
        </p:nvCxnSpPr>
        <p:spPr>
          <a:xfrm flipH="1" flipV="1">
            <a:off x="2191623" y="2983419"/>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406709" y="3052968"/>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1922122" y="2896761"/>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Oval 16"/>
          <p:cNvSpPr>
            <a:spLocks noChangeArrowheads="1"/>
          </p:cNvSpPr>
          <p:nvPr/>
        </p:nvSpPr>
        <p:spPr bwMode="auto">
          <a:xfrm>
            <a:off x="1225864" y="378497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5" name="Oval 16"/>
          <p:cNvSpPr>
            <a:spLocks noChangeArrowheads="1"/>
          </p:cNvSpPr>
          <p:nvPr/>
        </p:nvSpPr>
        <p:spPr bwMode="auto">
          <a:xfrm>
            <a:off x="2572943" y="382819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4" name="Oval 16"/>
          <p:cNvSpPr>
            <a:spLocks noChangeArrowheads="1"/>
          </p:cNvSpPr>
          <p:nvPr/>
        </p:nvSpPr>
        <p:spPr bwMode="auto">
          <a:xfrm>
            <a:off x="3251450" y="480945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6" name="Oval 16"/>
          <p:cNvSpPr>
            <a:spLocks noChangeArrowheads="1"/>
          </p:cNvSpPr>
          <p:nvPr/>
        </p:nvSpPr>
        <p:spPr bwMode="auto">
          <a:xfrm>
            <a:off x="577751" y="4810837"/>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61" name="Straight Connector 60"/>
          <p:cNvCxnSpPr/>
          <p:nvPr/>
        </p:nvCxnSpPr>
        <p:spPr>
          <a:xfrm flipH="1" flipV="1">
            <a:off x="6681579" y="4037641"/>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6068720" y="4104906"/>
            <a:ext cx="457312" cy="8114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flipV="1">
            <a:off x="6035072" y="3002007"/>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5250158" y="3071556"/>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Oval 16"/>
          <p:cNvSpPr>
            <a:spLocks noChangeArrowheads="1"/>
          </p:cNvSpPr>
          <p:nvPr/>
        </p:nvSpPr>
        <p:spPr bwMode="auto">
          <a:xfrm>
            <a:off x="5765571" y="29153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6" name="Oval 16"/>
          <p:cNvSpPr>
            <a:spLocks noChangeArrowheads="1"/>
          </p:cNvSpPr>
          <p:nvPr/>
        </p:nvSpPr>
        <p:spPr bwMode="auto">
          <a:xfrm>
            <a:off x="5069313" y="380356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7" name="Oval 16"/>
          <p:cNvSpPr>
            <a:spLocks noChangeArrowheads="1"/>
          </p:cNvSpPr>
          <p:nvPr/>
        </p:nvSpPr>
        <p:spPr bwMode="auto">
          <a:xfrm>
            <a:off x="6416392" y="384678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8" name="Oval 16"/>
          <p:cNvSpPr>
            <a:spLocks noChangeArrowheads="1"/>
          </p:cNvSpPr>
          <p:nvPr/>
        </p:nvSpPr>
        <p:spPr bwMode="auto">
          <a:xfrm>
            <a:off x="5870482" y="482942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9" name="Oval 16"/>
          <p:cNvSpPr>
            <a:spLocks noChangeArrowheads="1"/>
          </p:cNvSpPr>
          <p:nvPr/>
        </p:nvSpPr>
        <p:spPr bwMode="auto">
          <a:xfrm>
            <a:off x="7094899" y="482803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76" name="TextBox 75"/>
          <p:cNvSpPr txBox="1"/>
          <p:nvPr/>
        </p:nvSpPr>
        <p:spPr>
          <a:xfrm>
            <a:off x="3944575" y="1786250"/>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82" name="TextBox 81"/>
          <p:cNvSpPr txBox="1"/>
          <p:nvPr/>
        </p:nvSpPr>
        <p:spPr>
          <a:xfrm>
            <a:off x="1967407" y="2929860"/>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83" name="TextBox 82"/>
          <p:cNvSpPr txBox="1"/>
          <p:nvPr/>
        </p:nvSpPr>
        <p:spPr>
          <a:xfrm>
            <a:off x="5833156" y="2937297"/>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84" name="Rectangle 83"/>
          <p:cNvSpPr/>
          <p:nvPr/>
        </p:nvSpPr>
        <p:spPr>
          <a:xfrm>
            <a:off x="1273931" y="3822650"/>
            <a:ext cx="343364" cy="369332"/>
          </a:xfrm>
          <a:prstGeom prst="rect">
            <a:avLst/>
          </a:prstGeom>
        </p:spPr>
        <p:txBody>
          <a:bodyPr wrap="none">
            <a:spAutoFit/>
          </a:bodyPr>
          <a:lstStyle/>
          <a:p>
            <a:r>
              <a:rPr lang="en-US" b="1" dirty="0">
                <a:solidFill>
                  <a:prstClr val="black"/>
                </a:solidFill>
              </a:rPr>
              <a:t>D</a:t>
            </a:r>
          </a:p>
        </p:txBody>
      </p:sp>
      <p:sp>
        <p:nvSpPr>
          <p:cNvPr id="85" name="Rectangle 84"/>
          <p:cNvSpPr/>
          <p:nvPr/>
        </p:nvSpPr>
        <p:spPr>
          <a:xfrm>
            <a:off x="5116299" y="3846782"/>
            <a:ext cx="304892" cy="369332"/>
          </a:xfrm>
          <a:prstGeom prst="rect">
            <a:avLst/>
          </a:prstGeom>
        </p:spPr>
        <p:txBody>
          <a:bodyPr wrap="none">
            <a:spAutoFit/>
          </a:bodyPr>
          <a:lstStyle/>
          <a:p>
            <a:r>
              <a:rPr lang="en-US" b="1" dirty="0">
                <a:solidFill>
                  <a:prstClr val="black"/>
                </a:solidFill>
              </a:rPr>
              <a:t>F</a:t>
            </a:r>
          </a:p>
        </p:txBody>
      </p:sp>
      <p:sp>
        <p:nvSpPr>
          <p:cNvPr id="86" name="Rectangle 85"/>
          <p:cNvSpPr/>
          <p:nvPr/>
        </p:nvSpPr>
        <p:spPr>
          <a:xfrm>
            <a:off x="6467363" y="3861983"/>
            <a:ext cx="340158" cy="369332"/>
          </a:xfrm>
          <a:prstGeom prst="rect">
            <a:avLst/>
          </a:prstGeom>
        </p:spPr>
        <p:txBody>
          <a:bodyPr wrap="none">
            <a:spAutoFit/>
          </a:bodyPr>
          <a:lstStyle/>
          <a:p>
            <a:r>
              <a:rPr lang="en-US" b="1" dirty="0">
                <a:solidFill>
                  <a:prstClr val="black"/>
                </a:solidFill>
              </a:rPr>
              <a:t>G</a:t>
            </a:r>
          </a:p>
        </p:txBody>
      </p:sp>
      <p:sp>
        <p:nvSpPr>
          <p:cNvPr id="87" name="Rectangle 86"/>
          <p:cNvSpPr/>
          <p:nvPr/>
        </p:nvSpPr>
        <p:spPr>
          <a:xfrm>
            <a:off x="5923779" y="4883500"/>
            <a:ext cx="277640" cy="369332"/>
          </a:xfrm>
          <a:prstGeom prst="rect">
            <a:avLst/>
          </a:prstGeom>
        </p:spPr>
        <p:txBody>
          <a:bodyPr wrap="none">
            <a:spAutoFit/>
          </a:bodyPr>
          <a:lstStyle/>
          <a:p>
            <a:r>
              <a:rPr lang="en-US" b="1" dirty="0">
                <a:solidFill>
                  <a:prstClr val="black"/>
                </a:solidFill>
              </a:rPr>
              <a:t>J</a:t>
            </a:r>
          </a:p>
        </p:txBody>
      </p:sp>
      <p:sp>
        <p:nvSpPr>
          <p:cNvPr id="88" name="Rectangle 87"/>
          <p:cNvSpPr/>
          <p:nvPr/>
        </p:nvSpPr>
        <p:spPr>
          <a:xfrm>
            <a:off x="7146697" y="4879786"/>
            <a:ext cx="330540" cy="369332"/>
          </a:xfrm>
          <a:prstGeom prst="rect">
            <a:avLst/>
          </a:prstGeom>
        </p:spPr>
        <p:txBody>
          <a:bodyPr wrap="none">
            <a:spAutoFit/>
          </a:bodyPr>
          <a:lstStyle/>
          <a:p>
            <a:r>
              <a:rPr lang="en-US" b="1" dirty="0">
                <a:solidFill>
                  <a:prstClr val="black"/>
                </a:solidFill>
              </a:rPr>
              <a:t>K</a:t>
            </a:r>
          </a:p>
        </p:txBody>
      </p:sp>
      <p:sp>
        <p:nvSpPr>
          <p:cNvPr id="89" name="Rectangle 88"/>
          <p:cNvSpPr/>
          <p:nvPr/>
        </p:nvSpPr>
        <p:spPr>
          <a:xfrm>
            <a:off x="3294991" y="4859128"/>
            <a:ext cx="248786" cy="369332"/>
          </a:xfrm>
          <a:prstGeom prst="rect">
            <a:avLst/>
          </a:prstGeom>
        </p:spPr>
        <p:txBody>
          <a:bodyPr wrap="none">
            <a:spAutoFit/>
          </a:bodyPr>
          <a:lstStyle/>
          <a:p>
            <a:r>
              <a:rPr lang="en-US" b="1" dirty="0">
                <a:solidFill>
                  <a:prstClr val="black"/>
                </a:solidFill>
              </a:rPr>
              <a:t>I</a:t>
            </a:r>
          </a:p>
        </p:txBody>
      </p:sp>
      <p:sp>
        <p:nvSpPr>
          <p:cNvPr id="91" name="Rectangle 90"/>
          <p:cNvSpPr/>
          <p:nvPr/>
        </p:nvSpPr>
        <p:spPr>
          <a:xfrm>
            <a:off x="641576" y="4852097"/>
            <a:ext cx="346570" cy="369332"/>
          </a:xfrm>
          <a:prstGeom prst="rect">
            <a:avLst/>
          </a:prstGeom>
        </p:spPr>
        <p:txBody>
          <a:bodyPr wrap="none">
            <a:spAutoFit/>
          </a:bodyPr>
          <a:lstStyle/>
          <a:p>
            <a:r>
              <a:rPr lang="en-US" b="1" dirty="0">
                <a:solidFill>
                  <a:prstClr val="black"/>
                </a:solidFill>
              </a:rPr>
              <a:t>H</a:t>
            </a:r>
          </a:p>
        </p:txBody>
      </p:sp>
      <p:sp>
        <p:nvSpPr>
          <p:cNvPr id="92" name="Rectangle 91"/>
          <p:cNvSpPr/>
          <p:nvPr/>
        </p:nvSpPr>
        <p:spPr>
          <a:xfrm>
            <a:off x="2632725" y="3853127"/>
            <a:ext cx="316112" cy="369332"/>
          </a:xfrm>
          <a:prstGeom prst="rect">
            <a:avLst/>
          </a:prstGeom>
        </p:spPr>
        <p:txBody>
          <a:bodyPr wrap="none">
            <a:spAutoFit/>
          </a:bodyPr>
          <a:lstStyle/>
          <a:p>
            <a:r>
              <a:rPr lang="en-US" b="1" dirty="0">
                <a:solidFill>
                  <a:prstClr val="black"/>
                </a:solidFill>
              </a:rPr>
              <a:t>E</a:t>
            </a:r>
          </a:p>
        </p:txBody>
      </p:sp>
      <p:graphicFrame>
        <p:nvGraphicFramePr>
          <p:cNvPr id="5" name="Table 4"/>
          <p:cNvGraphicFramePr>
            <a:graphicFrameLocks noGrp="1"/>
          </p:cNvGraphicFramePr>
          <p:nvPr>
            <p:extLst>
              <p:ext uri="{D42A27DB-BD31-4B8C-83A1-F6EECF244321}">
                <p14:modId xmlns:p14="http://schemas.microsoft.com/office/powerpoint/2010/main" val="1359759242"/>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C</a:t>
                      </a: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extLst>
                  <a:ext uri="{0D108BD9-81ED-4DB2-BD59-A6C34878D82A}">
                    <a16:rowId xmlns:a16="http://schemas.microsoft.com/office/drawing/2014/main" val="660647860"/>
                  </a:ext>
                </a:extLst>
              </a:tr>
            </a:tbl>
          </a:graphicData>
        </a:graphic>
      </p:graphicFrame>
      <p:sp>
        <p:nvSpPr>
          <p:cNvPr id="6" name="TextBox 5"/>
          <p:cNvSpPr txBox="1"/>
          <p:nvPr/>
        </p:nvSpPr>
        <p:spPr>
          <a:xfrm>
            <a:off x="965262" y="5554545"/>
            <a:ext cx="362600" cy="461665"/>
          </a:xfrm>
          <a:prstGeom prst="rect">
            <a:avLst/>
          </a:prstGeom>
          <a:noFill/>
        </p:spPr>
        <p:txBody>
          <a:bodyPr wrap="none" rtlCol="0">
            <a:spAutoFit/>
          </a:bodyPr>
          <a:lstStyle/>
          <a:p>
            <a:r>
              <a:rPr lang="en-US" sz="2400" b="1">
                <a:effectLst>
                  <a:outerShdw blurRad="38100" dist="38100" dir="2700000" algn="tl">
                    <a:srgbClr val="000000">
                      <a:alpha val="43137"/>
                    </a:srgbClr>
                  </a:outerShdw>
                </a:effectLst>
              </a:rPr>
              <a:t>S</a:t>
            </a:r>
          </a:p>
        </p:txBody>
      </p:sp>
      <p:cxnSp>
        <p:nvCxnSpPr>
          <p:cNvPr id="55" name="Straight Connector 54"/>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57" name="Table 56"/>
          <p:cNvGraphicFramePr>
            <a:graphicFrameLocks noGrp="1"/>
          </p:cNvGraphicFramePr>
          <p:nvPr/>
        </p:nvGraphicFramePr>
        <p:xfrm>
          <a:off x="1437550" y="6071671"/>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B</a:t>
                      </a:r>
                    </a:p>
                  </a:txBody>
                  <a:tcPr>
                    <a:noFill/>
                  </a:tcPr>
                </a:tc>
                <a:tc>
                  <a:txBody>
                    <a:bodyPr/>
                    <a:lstStyle/>
                    <a:p>
                      <a:endParaRPr lang="en-US"/>
                    </a:p>
                  </a:txBody>
                  <a:tcPr>
                    <a:noFill/>
                  </a:tcPr>
                </a:tc>
                <a:tc>
                  <a:txBody>
                    <a:bodyPr/>
                    <a:lstStyle/>
                    <a:p>
                      <a:endParaRPr lang="en-US" dirty="0"/>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dirty="0"/>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graphicFrame>
        <p:nvGraphicFramePr>
          <p:cNvPr id="42" name="Table 41">
            <a:extLst>
              <a:ext uri="{FF2B5EF4-FFF2-40B4-BE49-F238E27FC236}">
                <a16:creationId xmlns:a16="http://schemas.microsoft.com/office/drawing/2014/main" id="{D4514C3E-FC00-43E9-9915-3DABBED6876A}"/>
              </a:ext>
            </a:extLst>
          </p:cNvPr>
          <p:cNvGraphicFramePr>
            <a:graphicFrameLocks noGrp="1"/>
          </p:cNvGraphicFramePr>
          <p:nvPr/>
        </p:nvGraphicFramePr>
        <p:xfrm>
          <a:off x="8658993" y="1862844"/>
          <a:ext cx="2132240" cy="4719320"/>
        </p:xfrm>
        <a:graphic>
          <a:graphicData uri="http://schemas.openxmlformats.org/drawingml/2006/table">
            <a:tbl>
              <a:tblPr firstRow="1" bandRow="1">
                <a:tableStyleId>{5C22544A-7EE6-4342-B048-85BDC9FD1C3A}</a:tableStyleId>
              </a:tblPr>
              <a:tblGrid>
                <a:gridCol w="847864">
                  <a:extLst>
                    <a:ext uri="{9D8B030D-6E8A-4147-A177-3AD203B41FA5}">
                      <a16:colId xmlns:a16="http://schemas.microsoft.com/office/drawing/2014/main" val="2989644895"/>
                    </a:ext>
                  </a:extLst>
                </a:gridCol>
                <a:gridCol w="1284376">
                  <a:extLst>
                    <a:ext uri="{9D8B030D-6E8A-4147-A177-3AD203B41FA5}">
                      <a16:colId xmlns:a16="http://schemas.microsoft.com/office/drawing/2014/main" val="4244960412"/>
                    </a:ext>
                  </a:extLst>
                </a:gridCol>
              </a:tblGrid>
              <a:tr h="370840">
                <a:tc>
                  <a:txBody>
                    <a:bodyPr/>
                    <a:lstStyle/>
                    <a:p>
                      <a:pPr algn="ctr"/>
                      <a:r>
                        <a:rPr lang="en-US" dirty="0"/>
                        <a:t>NODE</a:t>
                      </a:r>
                    </a:p>
                  </a:txBody>
                  <a:tcPr/>
                </a:tc>
                <a:tc>
                  <a:txBody>
                    <a:bodyPr/>
                    <a:lstStyle/>
                    <a:p>
                      <a:pPr algn="ctr"/>
                      <a:r>
                        <a:rPr lang="en-US" dirty="0"/>
                        <a:t>CHILDREN</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F,G</a:t>
                      </a:r>
                      <a:endParaRPr lang="en-US" b="1" dirty="0"/>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H,-</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-,I</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J,K</a:t>
                      </a:r>
                    </a:p>
                  </a:txBody>
                  <a:tcPr/>
                </a:tc>
                <a:extLst>
                  <a:ext uri="{0D108BD9-81ED-4DB2-BD59-A6C34878D82A}">
                    <a16:rowId xmlns:a16="http://schemas.microsoft.com/office/drawing/2014/main" val="1205733479"/>
                  </a:ext>
                </a:extLst>
              </a:tr>
              <a:tr h="370840">
                <a:tc>
                  <a:txBody>
                    <a:bodyPr/>
                    <a:lstStyle/>
                    <a:p>
                      <a:pPr algn="ctr"/>
                      <a:r>
                        <a:rPr lang="en-US" b="1" dirty="0"/>
                        <a: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987431379"/>
                  </a:ext>
                </a:extLst>
              </a:tr>
              <a:tr h="370840">
                <a:tc>
                  <a:txBody>
                    <a:bodyPr/>
                    <a:lstStyle/>
                    <a:p>
                      <a:pPr algn="ctr"/>
                      <a:r>
                        <a:rPr lang="en-US" b="1" dirty="0"/>
                        <a:t>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290039795"/>
                  </a:ext>
                </a:extLst>
              </a:tr>
              <a:tr h="370840">
                <a:tc>
                  <a:txBody>
                    <a:bodyPr/>
                    <a:lstStyle/>
                    <a:p>
                      <a:pPr algn="ctr"/>
                      <a:r>
                        <a:rPr lang="en-US" b="1" dirty="0"/>
                        <a:t>J</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873125107"/>
                  </a:ext>
                </a:extLst>
              </a:tr>
              <a:tr h="370840">
                <a:tc>
                  <a:txBody>
                    <a:bodyPr/>
                    <a:lstStyle/>
                    <a:p>
                      <a:pPr algn="ctr"/>
                      <a:r>
                        <a:rPr lang="en-US" b="1" dirty="0"/>
                        <a:t>K</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640632725"/>
                  </a:ext>
                </a:extLst>
              </a:tr>
            </a:tbl>
          </a:graphicData>
        </a:graphic>
      </p:graphicFrame>
    </p:spTree>
    <p:custDataLst>
      <p:tags r:id="rId1"/>
    </p:custDataLst>
    <p:extLst>
      <p:ext uri="{BB962C8B-B14F-4D97-AF65-F5344CB8AC3E}">
        <p14:creationId xmlns:p14="http://schemas.microsoft.com/office/powerpoint/2010/main" val="5331620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Straight Connector 45"/>
          <p:cNvCxnSpPr/>
          <p:nvPr/>
        </p:nvCxnSpPr>
        <p:spPr>
          <a:xfrm flipV="1">
            <a:off x="797123" y="4129201"/>
            <a:ext cx="542694" cy="82386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flipV="1">
            <a:off x="2838130" y="4019053"/>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ln>
            <a:noFill/>
          </a:ln>
        </p:spPr>
        <p:txBody>
          <a:bodyPr/>
          <a:lstStyle/>
          <a:p>
            <a:r>
              <a:rPr lang="en-US" dirty="0"/>
              <a:t>Depth-First Search</a:t>
            </a:r>
          </a:p>
        </p:txBody>
      </p:sp>
      <p:sp>
        <p:nvSpPr>
          <p:cNvPr id="3" name="Slide Number Placeholder 2">
            <a:extLst>
              <a:ext uri="{FF2B5EF4-FFF2-40B4-BE49-F238E27FC236}">
                <a16:creationId xmlns:a16="http://schemas.microsoft.com/office/drawing/2014/main" id="{14C0EA0C-7686-43EB-A3A6-DEB8C1D1BD72}"/>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54/110</a:t>
            </a:r>
          </a:p>
        </p:txBody>
      </p:sp>
      <p:cxnSp>
        <p:nvCxnSpPr>
          <p:cNvPr id="8" name="Straight Connector 7"/>
          <p:cNvCxnSpPr/>
          <p:nvPr/>
        </p:nvCxnSpPr>
        <p:spPr>
          <a:xfrm flipH="1" flipV="1">
            <a:off x="4129859" y="1873873"/>
            <a:ext cx="1853477" cy="11790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2127196" y="2004369"/>
            <a:ext cx="1804150" cy="10422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3895286" y="176439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8" name="Straight Connector 17"/>
          <p:cNvCxnSpPr/>
          <p:nvPr/>
        </p:nvCxnSpPr>
        <p:spPr>
          <a:xfrm flipH="1" flipV="1">
            <a:off x="2191623" y="2983419"/>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406709" y="3052968"/>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1922122" y="2896761"/>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Oval 16"/>
          <p:cNvSpPr>
            <a:spLocks noChangeArrowheads="1"/>
          </p:cNvSpPr>
          <p:nvPr/>
        </p:nvSpPr>
        <p:spPr bwMode="auto">
          <a:xfrm>
            <a:off x="1225864" y="378497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5" name="Oval 16"/>
          <p:cNvSpPr>
            <a:spLocks noChangeArrowheads="1"/>
          </p:cNvSpPr>
          <p:nvPr/>
        </p:nvSpPr>
        <p:spPr bwMode="auto">
          <a:xfrm>
            <a:off x="2572943" y="382819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4" name="Oval 16"/>
          <p:cNvSpPr>
            <a:spLocks noChangeArrowheads="1"/>
          </p:cNvSpPr>
          <p:nvPr/>
        </p:nvSpPr>
        <p:spPr bwMode="auto">
          <a:xfrm>
            <a:off x="3251450" y="480945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6" name="Oval 16"/>
          <p:cNvSpPr>
            <a:spLocks noChangeArrowheads="1"/>
          </p:cNvSpPr>
          <p:nvPr/>
        </p:nvSpPr>
        <p:spPr bwMode="auto">
          <a:xfrm>
            <a:off x="577751" y="4810837"/>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61" name="Straight Connector 60"/>
          <p:cNvCxnSpPr/>
          <p:nvPr/>
        </p:nvCxnSpPr>
        <p:spPr>
          <a:xfrm flipH="1" flipV="1">
            <a:off x="6681579" y="4037641"/>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6068720" y="4104906"/>
            <a:ext cx="457312" cy="8114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flipV="1">
            <a:off x="6035072" y="3002007"/>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5250158" y="3071556"/>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Oval 16"/>
          <p:cNvSpPr>
            <a:spLocks noChangeArrowheads="1"/>
          </p:cNvSpPr>
          <p:nvPr/>
        </p:nvSpPr>
        <p:spPr bwMode="auto">
          <a:xfrm>
            <a:off x="5765571" y="29153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6" name="Oval 16"/>
          <p:cNvSpPr>
            <a:spLocks noChangeArrowheads="1"/>
          </p:cNvSpPr>
          <p:nvPr/>
        </p:nvSpPr>
        <p:spPr bwMode="auto">
          <a:xfrm>
            <a:off x="5069313" y="380356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7" name="Oval 16"/>
          <p:cNvSpPr>
            <a:spLocks noChangeArrowheads="1"/>
          </p:cNvSpPr>
          <p:nvPr/>
        </p:nvSpPr>
        <p:spPr bwMode="auto">
          <a:xfrm>
            <a:off x="6416392" y="384678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8" name="Oval 16"/>
          <p:cNvSpPr>
            <a:spLocks noChangeArrowheads="1"/>
          </p:cNvSpPr>
          <p:nvPr/>
        </p:nvSpPr>
        <p:spPr bwMode="auto">
          <a:xfrm>
            <a:off x="5870482" y="482942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9" name="Oval 16"/>
          <p:cNvSpPr>
            <a:spLocks noChangeArrowheads="1"/>
          </p:cNvSpPr>
          <p:nvPr/>
        </p:nvSpPr>
        <p:spPr bwMode="auto">
          <a:xfrm>
            <a:off x="7094899" y="482803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76" name="TextBox 75"/>
          <p:cNvSpPr txBox="1"/>
          <p:nvPr/>
        </p:nvSpPr>
        <p:spPr>
          <a:xfrm>
            <a:off x="3944575" y="1786250"/>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82" name="TextBox 81"/>
          <p:cNvSpPr txBox="1"/>
          <p:nvPr/>
        </p:nvSpPr>
        <p:spPr>
          <a:xfrm>
            <a:off x="1967407" y="2929860"/>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83" name="TextBox 82"/>
          <p:cNvSpPr txBox="1"/>
          <p:nvPr/>
        </p:nvSpPr>
        <p:spPr>
          <a:xfrm>
            <a:off x="5833156" y="2937297"/>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84" name="Rectangle 83"/>
          <p:cNvSpPr/>
          <p:nvPr/>
        </p:nvSpPr>
        <p:spPr>
          <a:xfrm>
            <a:off x="1273931" y="3822650"/>
            <a:ext cx="343364" cy="369332"/>
          </a:xfrm>
          <a:prstGeom prst="rect">
            <a:avLst/>
          </a:prstGeom>
        </p:spPr>
        <p:txBody>
          <a:bodyPr wrap="none">
            <a:spAutoFit/>
          </a:bodyPr>
          <a:lstStyle/>
          <a:p>
            <a:r>
              <a:rPr lang="en-US" b="1" dirty="0">
                <a:solidFill>
                  <a:prstClr val="black"/>
                </a:solidFill>
              </a:rPr>
              <a:t>D</a:t>
            </a:r>
          </a:p>
        </p:txBody>
      </p:sp>
      <p:sp>
        <p:nvSpPr>
          <p:cNvPr id="85" name="Rectangle 84"/>
          <p:cNvSpPr/>
          <p:nvPr/>
        </p:nvSpPr>
        <p:spPr>
          <a:xfrm>
            <a:off x="5116299" y="3846782"/>
            <a:ext cx="304892" cy="369332"/>
          </a:xfrm>
          <a:prstGeom prst="rect">
            <a:avLst/>
          </a:prstGeom>
        </p:spPr>
        <p:txBody>
          <a:bodyPr wrap="none">
            <a:spAutoFit/>
          </a:bodyPr>
          <a:lstStyle/>
          <a:p>
            <a:r>
              <a:rPr lang="en-US" b="1" dirty="0">
                <a:solidFill>
                  <a:prstClr val="black"/>
                </a:solidFill>
              </a:rPr>
              <a:t>F</a:t>
            </a:r>
          </a:p>
        </p:txBody>
      </p:sp>
      <p:sp>
        <p:nvSpPr>
          <p:cNvPr id="86" name="Rectangle 85"/>
          <p:cNvSpPr/>
          <p:nvPr/>
        </p:nvSpPr>
        <p:spPr>
          <a:xfrm>
            <a:off x="6467363" y="3861983"/>
            <a:ext cx="340158" cy="369332"/>
          </a:xfrm>
          <a:prstGeom prst="rect">
            <a:avLst/>
          </a:prstGeom>
        </p:spPr>
        <p:txBody>
          <a:bodyPr wrap="none">
            <a:spAutoFit/>
          </a:bodyPr>
          <a:lstStyle/>
          <a:p>
            <a:r>
              <a:rPr lang="en-US" b="1" dirty="0">
                <a:solidFill>
                  <a:prstClr val="black"/>
                </a:solidFill>
              </a:rPr>
              <a:t>G</a:t>
            </a:r>
          </a:p>
        </p:txBody>
      </p:sp>
      <p:sp>
        <p:nvSpPr>
          <p:cNvPr id="87" name="Rectangle 86"/>
          <p:cNvSpPr/>
          <p:nvPr/>
        </p:nvSpPr>
        <p:spPr>
          <a:xfrm>
            <a:off x="5923779" y="4883500"/>
            <a:ext cx="277640" cy="369332"/>
          </a:xfrm>
          <a:prstGeom prst="rect">
            <a:avLst/>
          </a:prstGeom>
        </p:spPr>
        <p:txBody>
          <a:bodyPr wrap="none">
            <a:spAutoFit/>
          </a:bodyPr>
          <a:lstStyle/>
          <a:p>
            <a:r>
              <a:rPr lang="en-US" b="1" dirty="0">
                <a:solidFill>
                  <a:prstClr val="black"/>
                </a:solidFill>
              </a:rPr>
              <a:t>J</a:t>
            </a:r>
          </a:p>
        </p:txBody>
      </p:sp>
      <p:sp>
        <p:nvSpPr>
          <p:cNvPr id="88" name="Rectangle 87"/>
          <p:cNvSpPr/>
          <p:nvPr/>
        </p:nvSpPr>
        <p:spPr>
          <a:xfrm>
            <a:off x="7146697" y="4879786"/>
            <a:ext cx="330540" cy="369332"/>
          </a:xfrm>
          <a:prstGeom prst="rect">
            <a:avLst/>
          </a:prstGeom>
        </p:spPr>
        <p:txBody>
          <a:bodyPr wrap="none">
            <a:spAutoFit/>
          </a:bodyPr>
          <a:lstStyle/>
          <a:p>
            <a:r>
              <a:rPr lang="en-US" b="1" dirty="0">
                <a:solidFill>
                  <a:prstClr val="black"/>
                </a:solidFill>
              </a:rPr>
              <a:t>K</a:t>
            </a:r>
          </a:p>
        </p:txBody>
      </p:sp>
      <p:sp>
        <p:nvSpPr>
          <p:cNvPr id="89" name="Rectangle 88"/>
          <p:cNvSpPr/>
          <p:nvPr/>
        </p:nvSpPr>
        <p:spPr>
          <a:xfrm>
            <a:off x="3294991" y="4859128"/>
            <a:ext cx="248786" cy="369332"/>
          </a:xfrm>
          <a:prstGeom prst="rect">
            <a:avLst/>
          </a:prstGeom>
        </p:spPr>
        <p:txBody>
          <a:bodyPr wrap="none">
            <a:spAutoFit/>
          </a:bodyPr>
          <a:lstStyle/>
          <a:p>
            <a:r>
              <a:rPr lang="en-US" b="1" dirty="0">
                <a:solidFill>
                  <a:prstClr val="black"/>
                </a:solidFill>
              </a:rPr>
              <a:t>I</a:t>
            </a:r>
          </a:p>
        </p:txBody>
      </p:sp>
      <p:sp>
        <p:nvSpPr>
          <p:cNvPr id="91" name="Rectangle 90"/>
          <p:cNvSpPr/>
          <p:nvPr/>
        </p:nvSpPr>
        <p:spPr>
          <a:xfrm>
            <a:off x="641576" y="4852097"/>
            <a:ext cx="346570" cy="369332"/>
          </a:xfrm>
          <a:prstGeom prst="rect">
            <a:avLst/>
          </a:prstGeom>
        </p:spPr>
        <p:txBody>
          <a:bodyPr wrap="none">
            <a:spAutoFit/>
          </a:bodyPr>
          <a:lstStyle/>
          <a:p>
            <a:r>
              <a:rPr lang="en-US" b="1" dirty="0">
                <a:solidFill>
                  <a:prstClr val="black"/>
                </a:solidFill>
              </a:rPr>
              <a:t>H</a:t>
            </a:r>
          </a:p>
        </p:txBody>
      </p:sp>
      <p:sp>
        <p:nvSpPr>
          <p:cNvPr id="92" name="Rectangle 91"/>
          <p:cNvSpPr/>
          <p:nvPr/>
        </p:nvSpPr>
        <p:spPr>
          <a:xfrm>
            <a:off x="2632725" y="3853127"/>
            <a:ext cx="316112" cy="369332"/>
          </a:xfrm>
          <a:prstGeom prst="rect">
            <a:avLst/>
          </a:prstGeom>
        </p:spPr>
        <p:txBody>
          <a:bodyPr wrap="none">
            <a:spAutoFit/>
          </a:bodyPr>
          <a:lstStyle/>
          <a:p>
            <a:r>
              <a:rPr lang="en-US" b="1" dirty="0">
                <a:solidFill>
                  <a:prstClr val="black"/>
                </a:solidFill>
              </a:rPr>
              <a:t>E</a:t>
            </a:r>
          </a:p>
        </p:txBody>
      </p:sp>
      <p:graphicFrame>
        <p:nvGraphicFramePr>
          <p:cNvPr id="5" name="Table 4"/>
          <p:cNvGraphicFramePr>
            <a:graphicFrameLocks noGrp="1"/>
          </p:cNvGraphicFramePr>
          <p:nvPr>
            <p:extLst>
              <p:ext uri="{D42A27DB-BD31-4B8C-83A1-F6EECF244321}">
                <p14:modId xmlns:p14="http://schemas.microsoft.com/office/powerpoint/2010/main" val="1427742691"/>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C</a:t>
                      </a:r>
                    </a:p>
                  </a:txBody>
                  <a:tcPr>
                    <a:solidFill>
                      <a:schemeClr val="accent2">
                        <a:lumMod val="60000"/>
                        <a:lumOff val="40000"/>
                      </a:schemeClr>
                    </a:solidFill>
                  </a:tcPr>
                </a:tc>
                <a:tc>
                  <a:txBody>
                    <a:bodyPr/>
                    <a:lstStyle/>
                    <a:p>
                      <a:pPr algn="ctr"/>
                      <a:r>
                        <a:rPr lang="en-US" dirty="0">
                          <a:solidFill>
                            <a:schemeClr val="tx1"/>
                          </a:solidFill>
                        </a:rPr>
                        <a:t>E</a:t>
                      </a:r>
                    </a:p>
                  </a:txBody>
                  <a:tcPr>
                    <a:solidFill>
                      <a:schemeClr val="accent2">
                        <a:lumMod val="60000"/>
                        <a:lumOff val="40000"/>
                      </a:schemeClr>
                    </a:solidFill>
                  </a:tcPr>
                </a:tc>
                <a:tc>
                  <a:txBody>
                    <a:bodyPr/>
                    <a:lstStyle/>
                    <a:p>
                      <a:pPr algn="ctr"/>
                      <a:r>
                        <a:rPr lang="en-US" dirty="0">
                          <a:solidFill>
                            <a:schemeClr val="tx1"/>
                          </a:solidFill>
                        </a:rPr>
                        <a:t>D</a:t>
                      </a:r>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extLst>
                  <a:ext uri="{0D108BD9-81ED-4DB2-BD59-A6C34878D82A}">
                    <a16:rowId xmlns:a16="http://schemas.microsoft.com/office/drawing/2014/main" val="660647860"/>
                  </a:ext>
                </a:extLst>
              </a:tr>
            </a:tbl>
          </a:graphicData>
        </a:graphic>
      </p:graphicFrame>
      <p:sp>
        <p:nvSpPr>
          <p:cNvPr id="6" name="TextBox 5"/>
          <p:cNvSpPr txBox="1"/>
          <p:nvPr/>
        </p:nvSpPr>
        <p:spPr>
          <a:xfrm>
            <a:off x="965262" y="5554545"/>
            <a:ext cx="362600" cy="461665"/>
          </a:xfrm>
          <a:prstGeom prst="rect">
            <a:avLst/>
          </a:prstGeom>
          <a:noFill/>
        </p:spPr>
        <p:txBody>
          <a:bodyPr wrap="none" rtlCol="0">
            <a:spAutoFit/>
          </a:bodyPr>
          <a:lstStyle/>
          <a:p>
            <a:r>
              <a:rPr lang="en-US" sz="2400" b="1">
                <a:effectLst>
                  <a:outerShdw blurRad="38100" dist="38100" dir="2700000" algn="tl">
                    <a:srgbClr val="000000">
                      <a:alpha val="43137"/>
                    </a:srgbClr>
                  </a:outerShdw>
                </a:effectLst>
              </a:rPr>
              <a:t>S</a:t>
            </a:r>
          </a:p>
        </p:txBody>
      </p:sp>
      <p:cxnSp>
        <p:nvCxnSpPr>
          <p:cNvPr id="55" name="Straight Connector 54"/>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57" name="Table 56"/>
          <p:cNvGraphicFramePr>
            <a:graphicFrameLocks noGrp="1"/>
          </p:cNvGraphicFramePr>
          <p:nvPr/>
        </p:nvGraphicFramePr>
        <p:xfrm>
          <a:off x="1437550" y="6071671"/>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B</a:t>
                      </a:r>
                    </a:p>
                  </a:txBody>
                  <a:tcPr>
                    <a:noFill/>
                  </a:tcPr>
                </a:tc>
                <a:tc>
                  <a:txBody>
                    <a:bodyPr/>
                    <a:lstStyle/>
                    <a:p>
                      <a:endParaRPr lang="en-US"/>
                    </a:p>
                  </a:txBody>
                  <a:tcPr>
                    <a:noFill/>
                  </a:tcPr>
                </a:tc>
                <a:tc>
                  <a:txBody>
                    <a:bodyPr/>
                    <a:lstStyle/>
                    <a:p>
                      <a:endParaRPr lang="en-US" dirty="0"/>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dirty="0"/>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graphicFrame>
        <p:nvGraphicFramePr>
          <p:cNvPr id="42" name="Table 41">
            <a:extLst>
              <a:ext uri="{FF2B5EF4-FFF2-40B4-BE49-F238E27FC236}">
                <a16:creationId xmlns:a16="http://schemas.microsoft.com/office/drawing/2014/main" id="{D4514C3E-FC00-43E9-9915-3DABBED6876A}"/>
              </a:ext>
            </a:extLst>
          </p:cNvPr>
          <p:cNvGraphicFramePr>
            <a:graphicFrameLocks noGrp="1"/>
          </p:cNvGraphicFramePr>
          <p:nvPr/>
        </p:nvGraphicFramePr>
        <p:xfrm>
          <a:off x="8658993" y="1862844"/>
          <a:ext cx="2132240" cy="4719320"/>
        </p:xfrm>
        <a:graphic>
          <a:graphicData uri="http://schemas.openxmlformats.org/drawingml/2006/table">
            <a:tbl>
              <a:tblPr firstRow="1" bandRow="1">
                <a:tableStyleId>{5C22544A-7EE6-4342-B048-85BDC9FD1C3A}</a:tableStyleId>
              </a:tblPr>
              <a:tblGrid>
                <a:gridCol w="847864">
                  <a:extLst>
                    <a:ext uri="{9D8B030D-6E8A-4147-A177-3AD203B41FA5}">
                      <a16:colId xmlns:a16="http://schemas.microsoft.com/office/drawing/2014/main" val="2989644895"/>
                    </a:ext>
                  </a:extLst>
                </a:gridCol>
                <a:gridCol w="1284376">
                  <a:extLst>
                    <a:ext uri="{9D8B030D-6E8A-4147-A177-3AD203B41FA5}">
                      <a16:colId xmlns:a16="http://schemas.microsoft.com/office/drawing/2014/main" val="4244960412"/>
                    </a:ext>
                  </a:extLst>
                </a:gridCol>
              </a:tblGrid>
              <a:tr h="370840">
                <a:tc>
                  <a:txBody>
                    <a:bodyPr/>
                    <a:lstStyle/>
                    <a:p>
                      <a:pPr algn="ctr"/>
                      <a:r>
                        <a:rPr lang="en-US" dirty="0"/>
                        <a:t>NODE</a:t>
                      </a:r>
                    </a:p>
                  </a:txBody>
                  <a:tcPr/>
                </a:tc>
                <a:tc>
                  <a:txBody>
                    <a:bodyPr/>
                    <a:lstStyle/>
                    <a:p>
                      <a:pPr algn="ctr"/>
                      <a:r>
                        <a:rPr lang="en-US" dirty="0"/>
                        <a:t>CHILDREN</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F,G</a:t>
                      </a:r>
                      <a:endParaRPr lang="en-US" b="1" dirty="0"/>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H,-</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-,I</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J,K</a:t>
                      </a:r>
                    </a:p>
                  </a:txBody>
                  <a:tcPr/>
                </a:tc>
                <a:extLst>
                  <a:ext uri="{0D108BD9-81ED-4DB2-BD59-A6C34878D82A}">
                    <a16:rowId xmlns:a16="http://schemas.microsoft.com/office/drawing/2014/main" val="1205733479"/>
                  </a:ext>
                </a:extLst>
              </a:tr>
              <a:tr h="370840">
                <a:tc>
                  <a:txBody>
                    <a:bodyPr/>
                    <a:lstStyle/>
                    <a:p>
                      <a:pPr algn="ctr"/>
                      <a:r>
                        <a:rPr lang="en-US" b="1" dirty="0"/>
                        <a: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987431379"/>
                  </a:ext>
                </a:extLst>
              </a:tr>
              <a:tr h="370840">
                <a:tc>
                  <a:txBody>
                    <a:bodyPr/>
                    <a:lstStyle/>
                    <a:p>
                      <a:pPr algn="ctr"/>
                      <a:r>
                        <a:rPr lang="en-US" b="1" dirty="0"/>
                        <a:t>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290039795"/>
                  </a:ext>
                </a:extLst>
              </a:tr>
              <a:tr h="370840">
                <a:tc>
                  <a:txBody>
                    <a:bodyPr/>
                    <a:lstStyle/>
                    <a:p>
                      <a:pPr algn="ctr"/>
                      <a:r>
                        <a:rPr lang="en-US" b="1" dirty="0"/>
                        <a:t>J</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873125107"/>
                  </a:ext>
                </a:extLst>
              </a:tr>
              <a:tr h="370840">
                <a:tc>
                  <a:txBody>
                    <a:bodyPr/>
                    <a:lstStyle/>
                    <a:p>
                      <a:pPr algn="ctr"/>
                      <a:r>
                        <a:rPr lang="en-US" b="1" dirty="0"/>
                        <a:t>K</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640632725"/>
                  </a:ext>
                </a:extLst>
              </a:tr>
            </a:tbl>
          </a:graphicData>
        </a:graphic>
      </p:graphicFrame>
    </p:spTree>
    <p:custDataLst>
      <p:tags r:id="rId1"/>
    </p:custDataLst>
    <p:extLst>
      <p:ext uri="{BB962C8B-B14F-4D97-AF65-F5344CB8AC3E}">
        <p14:creationId xmlns:p14="http://schemas.microsoft.com/office/powerpoint/2010/main" val="31172728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Straight Connector 45"/>
          <p:cNvCxnSpPr/>
          <p:nvPr/>
        </p:nvCxnSpPr>
        <p:spPr>
          <a:xfrm flipV="1">
            <a:off x="797123" y="4129201"/>
            <a:ext cx="542694" cy="82386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flipV="1">
            <a:off x="2838130" y="4019053"/>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ln>
            <a:noFill/>
          </a:ln>
        </p:spPr>
        <p:txBody>
          <a:bodyPr/>
          <a:lstStyle/>
          <a:p>
            <a:r>
              <a:rPr lang="en-US" dirty="0"/>
              <a:t>Depth-First Search</a:t>
            </a:r>
          </a:p>
        </p:txBody>
      </p:sp>
      <p:sp>
        <p:nvSpPr>
          <p:cNvPr id="3" name="Slide Number Placeholder 2">
            <a:extLst>
              <a:ext uri="{FF2B5EF4-FFF2-40B4-BE49-F238E27FC236}">
                <a16:creationId xmlns:a16="http://schemas.microsoft.com/office/drawing/2014/main" id="{4F42C172-E1E5-4661-9E83-CDB722B04CB9}"/>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55/110</a:t>
            </a:r>
          </a:p>
        </p:txBody>
      </p:sp>
      <p:cxnSp>
        <p:nvCxnSpPr>
          <p:cNvPr id="8" name="Straight Connector 7"/>
          <p:cNvCxnSpPr/>
          <p:nvPr/>
        </p:nvCxnSpPr>
        <p:spPr>
          <a:xfrm flipH="1" flipV="1">
            <a:off x="4129859" y="1873873"/>
            <a:ext cx="1853477" cy="11790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2127196" y="2004369"/>
            <a:ext cx="1804150" cy="10422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3895286" y="176439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8" name="Straight Connector 17"/>
          <p:cNvCxnSpPr/>
          <p:nvPr/>
        </p:nvCxnSpPr>
        <p:spPr>
          <a:xfrm flipH="1" flipV="1">
            <a:off x="2191623" y="2983419"/>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406709" y="3052968"/>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1922122" y="2896761"/>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Oval 16"/>
          <p:cNvSpPr>
            <a:spLocks noChangeArrowheads="1"/>
          </p:cNvSpPr>
          <p:nvPr/>
        </p:nvSpPr>
        <p:spPr bwMode="auto">
          <a:xfrm>
            <a:off x="1225864" y="378497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5" name="Oval 16"/>
          <p:cNvSpPr>
            <a:spLocks noChangeArrowheads="1"/>
          </p:cNvSpPr>
          <p:nvPr/>
        </p:nvSpPr>
        <p:spPr bwMode="auto">
          <a:xfrm>
            <a:off x="2572943" y="382819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4" name="Oval 16"/>
          <p:cNvSpPr>
            <a:spLocks noChangeArrowheads="1"/>
          </p:cNvSpPr>
          <p:nvPr/>
        </p:nvSpPr>
        <p:spPr bwMode="auto">
          <a:xfrm>
            <a:off x="3251450" y="480945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6" name="Oval 16"/>
          <p:cNvSpPr>
            <a:spLocks noChangeArrowheads="1"/>
          </p:cNvSpPr>
          <p:nvPr/>
        </p:nvSpPr>
        <p:spPr bwMode="auto">
          <a:xfrm>
            <a:off x="577751" y="4810837"/>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61" name="Straight Connector 60"/>
          <p:cNvCxnSpPr/>
          <p:nvPr/>
        </p:nvCxnSpPr>
        <p:spPr>
          <a:xfrm flipH="1" flipV="1">
            <a:off x="6681579" y="4037641"/>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6068720" y="4104906"/>
            <a:ext cx="457312" cy="8114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flipV="1">
            <a:off x="6035072" y="3002007"/>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5250158" y="3071556"/>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Oval 16"/>
          <p:cNvSpPr>
            <a:spLocks noChangeArrowheads="1"/>
          </p:cNvSpPr>
          <p:nvPr/>
        </p:nvSpPr>
        <p:spPr bwMode="auto">
          <a:xfrm>
            <a:off x="5765571" y="29153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6" name="Oval 16"/>
          <p:cNvSpPr>
            <a:spLocks noChangeArrowheads="1"/>
          </p:cNvSpPr>
          <p:nvPr/>
        </p:nvSpPr>
        <p:spPr bwMode="auto">
          <a:xfrm>
            <a:off x="5069313" y="380356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7" name="Oval 16"/>
          <p:cNvSpPr>
            <a:spLocks noChangeArrowheads="1"/>
          </p:cNvSpPr>
          <p:nvPr/>
        </p:nvSpPr>
        <p:spPr bwMode="auto">
          <a:xfrm>
            <a:off x="6416392" y="384678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8" name="Oval 16"/>
          <p:cNvSpPr>
            <a:spLocks noChangeArrowheads="1"/>
          </p:cNvSpPr>
          <p:nvPr/>
        </p:nvSpPr>
        <p:spPr bwMode="auto">
          <a:xfrm>
            <a:off x="5870482" y="482942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9" name="Oval 16"/>
          <p:cNvSpPr>
            <a:spLocks noChangeArrowheads="1"/>
          </p:cNvSpPr>
          <p:nvPr/>
        </p:nvSpPr>
        <p:spPr bwMode="auto">
          <a:xfrm>
            <a:off x="7094899" y="482803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76" name="TextBox 75"/>
          <p:cNvSpPr txBox="1"/>
          <p:nvPr/>
        </p:nvSpPr>
        <p:spPr>
          <a:xfrm>
            <a:off x="3944575" y="1786250"/>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82" name="TextBox 81"/>
          <p:cNvSpPr txBox="1"/>
          <p:nvPr/>
        </p:nvSpPr>
        <p:spPr>
          <a:xfrm>
            <a:off x="1967407" y="2929860"/>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83" name="TextBox 82"/>
          <p:cNvSpPr txBox="1"/>
          <p:nvPr/>
        </p:nvSpPr>
        <p:spPr>
          <a:xfrm>
            <a:off x="5833156" y="2937297"/>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84" name="Rectangle 83"/>
          <p:cNvSpPr/>
          <p:nvPr/>
        </p:nvSpPr>
        <p:spPr>
          <a:xfrm>
            <a:off x="1273931" y="3822650"/>
            <a:ext cx="343364" cy="369332"/>
          </a:xfrm>
          <a:prstGeom prst="rect">
            <a:avLst/>
          </a:prstGeom>
        </p:spPr>
        <p:txBody>
          <a:bodyPr wrap="none">
            <a:spAutoFit/>
          </a:bodyPr>
          <a:lstStyle/>
          <a:p>
            <a:r>
              <a:rPr lang="en-US" b="1" dirty="0">
                <a:solidFill>
                  <a:prstClr val="black"/>
                </a:solidFill>
              </a:rPr>
              <a:t>D</a:t>
            </a:r>
          </a:p>
        </p:txBody>
      </p:sp>
      <p:sp>
        <p:nvSpPr>
          <p:cNvPr id="85" name="Rectangle 84"/>
          <p:cNvSpPr/>
          <p:nvPr/>
        </p:nvSpPr>
        <p:spPr>
          <a:xfrm>
            <a:off x="5116299" y="3846782"/>
            <a:ext cx="304892" cy="369332"/>
          </a:xfrm>
          <a:prstGeom prst="rect">
            <a:avLst/>
          </a:prstGeom>
        </p:spPr>
        <p:txBody>
          <a:bodyPr wrap="none">
            <a:spAutoFit/>
          </a:bodyPr>
          <a:lstStyle/>
          <a:p>
            <a:r>
              <a:rPr lang="en-US" b="1" dirty="0">
                <a:solidFill>
                  <a:prstClr val="black"/>
                </a:solidFill>
              </a:rPr>
              <a:t>F</a:t>
            </a:r>
          </a:p>
        </p:txBody>
      </p:sp>
      <p:sp>
        <p:nvSpPr>
          <p:cNvPr id="86" name="Rectangle 85"/>
          <p:cNvSpPr/>
          <p:nvPr/>
        </p:nvSpPr>
        <p:spPr>
          <a:xfrm>
            <a:off x="6467363" y="3861983"/>
            <a:ext cx="340158" cy="369332"/>
          </a:xfrm>
          <a:prstGeom prst="rect">
            <a:avLst/>
          </a:prstGeom>
        </p:spPr>
        <p:txBody>
          <a:bodyPr wrap="none">
            <a:spAutoFit/>
          </a:bodyPr>
          <a:lstStyle/>
          <a:p>
            <a:r>
              <a:rPr lang="en-US" b="1" dirty="0">
                <a:solidFill>
                  <a:prstClr val="black"/>
                </a:solidFill>
              </a:rPr>
              <a:t>G</a:t>
            </a:r>
          </a:p>
        </p:txBody>
      </p:sp>
      <p:sp>
        <p:nvSpPr>
          <p:cNvPr id="87" name="Rectangle 86"/>
          <p:cNvSpPr/>
          <p:nvPr/>
        </p:nvSpPr>
        <p:spPr>
          <a:xfrm>
            <a:off x="5923779" y="4883500"/>
            <a:ext cx="277640" cy="369332"/>
          </a:xfrm>
          <a:prstGeom prst="rect">
            <a:avLst/>
          </a:prstGeom>
        </p:spPr>
        <p:txBody>
          <a:bodyPr wrap="none">
            <a:spAutoFit/>
          </a:bodyPr>
          <a:lstStyle/>
          <a:p>
            <a:r>
              <a:rPr lang="en-US" b="1" dirty="0">
                <a:solidFill>
                  <a:prstClr val="black"/>
                </a:solidFill>
              </a:rPr>
              <a:t>J</a:t>
            </a:r>
          </a:p>
        </p:txBody>
      </p:sp>
      <p:sp>
        <p:nvSpPr>
          <p:cNvPr id="88" name="Rectangle 87"/>
          <p:cNvSpPr/>
          <p:nvPr/>
        </p:nvSpPr>
        <p:spPr>
          <a:xfrm>
            <a:off x="7146697" y="4879786"/>
            <a:ext cx="330540" cy="369332"/>
          </a:xfrm>
          <a:prstGeom prst="rect">
            <a:avLst/>
          </a:prstGeom>
        </p:spPr>
        <p:txBody>
          <a:bodyPr wrap="none">
            <a:spAutoFit/>
          </a:bodyPr>
          <a:lstStyle/>
          <a:p>
            <a:r>
              <a:rPr lang="en-US" b="1" dirty="0">
                <a:solidFill>
                  <a:prstClr val="black"/>
                </a:solidFill>
              </a:rPr>
              <a:t>K</a:t>
            </a:r>
          </a:p>
        </p:txBody>
      </p:sp>
      <p:sp>
        <p:nvSpPr>
          <p:cNvPr id="89" name="Rectangle 88"/>
          <p:cNvSpPr/>
          <p:nvPr/>
        </p:nvSpPr>
        <p:spPr>
          <a:xfrm>
            <a:off x="3294991" y="4859128"/>
            <a:ext cx="248786" cy="369332"/>
          </a:xfrm>
          <a:prstGeom prst="rect">
            <a:avLst/>
          </a:prstGeom>
        </p:spPr>
        <p:txBody>
          <a:bodyPr wrap="none">
            <a:spAutoFit/>
          </a:bodyPr>
          <a:lstStyle/>
          <a:p>
            <a:r>
              <a:rPr lang="en-US" b="1" dirty="0">
                <a:solidFill>
                  <a:prstClr val="black"/>
                </a:solidFill>
              </a:rPr>
              <a:t>I</a:t>
            </a:r>
          </a:p>
        </p:txBody>
      </p:sp>
      <p:sp>
        <p:nvSpPr>
          <p:cNvPr id="91" name="Rectangle 90"/>
          <p:cNvSpPr/>
          <p:nvPr/>
        </p:nvSpPr>
        <p:spPr>
          <a:xfrm>
            <a:off x="641576" y="4852097"/>
            <a:ext cx="346570" cy="369332"/>
          </a:xfrm>
          <a:prstGeom prst="rect">
            <a:avLst/>
          </a:prstGeom>
        </p:spPr>
        <p:txBody>
          <a:bodyPr wrap="none">
            <a:spAutoFit/>
          </a:bodyPr>
          <a:lstStyle/>
          <a:p>
            <a:r>
              <a:rPr lang="en-US" b="1" dirty="0">
                <a:solidFill>
                  <a:prstClr val="black"/>
                </a:solidFill>
              </a:rPr>
              <a:t>H</a:t>
            </a:r>
          </a:p>
        </p:txBody>
      </p:sp>
      <p:sp>
        <p:nvSpPr>
          <p:cNvPr id="92" name="Rectangle 91"/>
          <p:cNvSpPr/>
          <p:nvPr/>
        </p:nvSpPr>
        <p:spPr>
          <a:xfrm>
            <a:off x="2632725" y="3853127"/>
            <a:ext cx="316112" cy="369332"/>
          </a:xfrm>
          <a:prstGeom prst="rect">
            <a:avLst/>
          </a:prstGeom>
        </p:spPr>
        <p:txBody>
          <a:bodyPr wrap="none">
            <a:spAutoFit/>
          </a:bodyPr>
          <a:lstStyle/>
          <a:p>
            <a:r>
              <a:rPr lang="en-US" b="1" dirty="0">
                <a:solidFill>
                  <a:prstClr val="black"/>
                </a:solidFill>
              </a:rPr>
              <a:t>E</a:t>
            </a:r>
          </a:p>
        </p:txBody>
      </p:sp>
      <p:graphicFrame>
        <p:nvGraphicFramePr>
          <p:cNvPr id="5" name="Table 4"/>
          <p:cNvGraphicFramePr>
            <a:graphicFrameLocks noGrp="1"/>
          </p:cNvGraphicFramePr>
          <p:nvPr>
            <p:extLst>
              <p:ext uri="{D42A27DB-BD31-4B8C-83A1-F6EECF244321}">
                <p14:modId xmlns:p14="http://schemas.microsoft.com/office/powerpoint/2010/main" val="827309624"/>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C</a:t>
                      </a:r>
                    </a:p>
                  </a:txBody>
                  <a:tcPr>
                    <a:solidFill>
                      <a:schemeClr val="accent2">
                        <a:lumMod val="60000"/>
                        <a:lumOff val="40000"/>
                      </a:schemeClr>
                    </a:solidFill>
                  </a:tcPr>
                </a:tc>
                <a:tc>
                  <a:txBody>
                    <a:bodyPr/>
                    <a:lstStyle/>
                    <a:p>
                      <a:pPr algn="ctr"/>
                      <a:r>
                        <a:rPr lang="en-US" dirty="0">
                          <a:solidFill>
                            <a:schemeClr val="tx1"/>
                          </a:solidFill>
                        </a:rPr>
                        <a:t>E</a:t>
                      </a: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extLst>
                  <a:ext uri="{0D108BD9-81ED-4DB2-BD59-A6C34878D82A}">
                    <a16:rowId xmlns:a16="http://schemas.microsoft.com/office/drawing/2014/main" val="660647860"/>
                  </a:ext>
                </a:extLst>
              </a:tr>
            </a:tbl>
          </a:graphicData>
        </a:graphic>
      </p:graphicFrame>
      <p:sp>
        <p:nvSpPr>
          <p:cNvPr id="6" name="TextBox 5"/>
          <p:cNvSpPr txBox="1"/>
          <p:nvPr/>
        </p:nvSpPr>
        <p:spPr>
          <a:xfrm>
            <a:off x="965262" y="5554545"/>
            <a:ext cx="362600" cy="461665"/>
          </a:xfrm>
          <a:prstGeom prst="rect">
            <a:avLst/>
          </a:prstGeom>
          <a:noFill/>
        </p:spPr>
        <p:txBody>
          <a:bodyPr wrap="none" rtlCol="0">
            <a:spAutoFit/>
          </a:bodyPr>
          <a:lstStyle/>
          <a:p>
            <a:r>
              <a:rPr lang="en-US" sz="2400" b="1">
                <a:effectLst>
                  <a:outerShdw blurRad="38100" dist="38100" dir="2700000" algn="tl">
                    <a:srgbClr val="000000">
                      <a:alpha val="43137"/>
                    </a:srgbClr>
                  </a:outerShdw>
                </a:effectLst>
              </a:rPr>
              <a:t>S</a:t>
            </a:r>
          </a:p>
        </p:txBody>
      </p:sp>
      <p:cxnSp>
        <p:nvCxnSpPr>
          <p:cNvPr id="55" name="Straight Connector 54"/>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57" name="Table 56"/>
          <p:cNvGraphicFramePr>
            <a:graphicFrameLocks noGrp="1"/>
          </p:cNvGraphicFramePr>
          <p:nvPr/>
        </p:nvGraphicFramePr>
        <p:xfrm>
          <a:off x="1437550" y="6071671"/>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B</a:t>
                      </a:r>
                    </a:p>
                  </a:txBody>
                  <a:tcPr>
                    <a:noFill/>
                  </a:tcPr>
                </a:tc>
                <a:tc>
                  <a:txBody>
                    <a:bodyPr/>
                    <a:lstStyle/>
                    <a:p>
                      <a:pPr algn="ctr"/>
                      <a:r>
                        <a:rPr lang="en-US" dirty="0">
                          <a:solidFill>
                            <a:schemeClr val="tx1"/>
                          </a:solidFill>
                        </a:rPr>
                        <a:t>D</a:t>
                      </a:r>
                    </a:p>
                  </a:txBody>
                  <a:tcPr>
                    <a:noFill/>
                  </a:tcPr>
                </a:tc>
                <a:tc>
                  <a:txBody>
                    <a:bodyPr/>
                    <a:lstStyle/>
                    <a:p>
                      <a:endParaRPr lang="en-US" dirty="0"/>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dirty="0"/>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graphicFrame>
        <p:nvGraphicFramePr>
          <p:cNvPr id="43" name="Table 42">
            <a:extLst>
              <a:ext uri="{FF2B5EF4-FFF2-40B4-BE49-F238E27FC236}">
                <a16:creationId xmlns:a16="http://schemas.microsoft.com/office/drawing/2014/main" id="{AB55CC27-1EC9-4BA3-BCFE-B9231A221A9E}"/>
              </a:ext>
            </a:extLst>
          </p:cNvPr>
          <p:cNvGraphicFramePr>
            <a:graphicFrameLocks noGrp="1"/>
          </p:cNvGraphicFramePr>
          <p:nvPr/>
        </p:nvGraphicFramePr>
        <p:xfrm>
          <a:off x="8658993" y="1862844"/>
          <a:ext cx="2132240" cy="4719320"/>
        </p:xfrm>
        <a:graphic>
          <a:graphicData uri="http://schemas.openxmlformats.org/drawingml/2006/table">
            <a:tbl>
              <a:tblPr firstRow="1" bandRow="1">
                <a:tableStyleId>{5C22544A-7EE6-4342-B048-85BDC9FD1C3A}</a:tableStyleId>
              </a:tblPr>
              <a:tblGrid>
                <a:gridCol w="847864">
                  <a:extLst>
                    <a:ext uri="{9D8B030D-6E8A-4147-A177-3AD203B41FA5}">
                      <a16:colId xmlns:a16="http://schemas.microsoft.com/office/drawing/2014/main" val="2989644895"/>
                    </a:ext>
                  </a:extLst>
                </a:gridCol>
                <a:gridCol w="1284376">
                  <a:extLst>
                    <a:ext uri="{9D8B030D-6E8A-4147-A177-3AD203B41FA5}">
                      <a16:colId xmlns:a16="http://schemas.microsoft.com/office/drawing/2014/main" val="4244960412"/>
                    </a:ext>
                  </a:extLst>
                </a:gridCol>
              </a:tblGrid>
              <a:tr h="370840">
                <a:tc>
                  <a:txBody>
                    <a:bodyPr/>
                    <a:lstStyle/>
                    <a:p>
                      <a:pPr algn="ctr"/>
                      <a:r>
                        <a:rPr lang="en-US" dirty="0"/>
                        <a:t>NODE</a:t>
                      </a:r>
                    </a:p>
                  </a:txBody>
                  <a:tcPr/>
                </a:tc>
                <a:tc>
                  <a:txBody>
                    <a:bodyPr/>
                    <a:lstStyle/>
                    <a:p>
                      <a:pPr algn="ctr"/>
                      <a:r>
                        <a:rPr lang="en-US" dirty="0"/>
                        <a:t>CHILDREN</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F,G</a:t>
                      </a:r>
                      <a:endParaRPr lang="en-US" b="1" dirty="0"/>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H,-</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-,I</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J,K</a:t>
                      </a:r>
                    </a:p>
                  </a:txBody>
                  <a:tcPr/>
                </a:tc>
                <a:extLst>
                  <a:ext uri="{0D108BD9-81ED-4DB2-BD59-A6C34878D82A}">
                    <a16:rowId xmlns:a16="http://schemas.microsoft.com/office/drawing/2014/main" val="1205733479"/>
                  </a:ext>
                </a:extLst>
              </a:tr>
              <a:tr h="370840">
                <a:tc>
                  <a:txBody>
                    <a:bodyPr/>
                    <a:lstStyle/>
                    <a:p>
                      <a:pPr algn="ctr"/>
                      <a:r>
                        <a:rPr lang="en-US" b="1" dirty="0"/>
                        <a: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987431379"/>
                  </a:ext>
                </a:extLst>
              </a:tr>
              <a:tr h="370840">
                <a:tc>
                  <a:txBody>
                    <a:bodyPr/>
                    <a:lstStyle/>
                    <a:p>
                      <a:pPr algn="ctr"/>
                      <a:r>
                        <a:rPr lang="en-US" b="1" dirty="0"/>
                        <a:t>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290039795"/>
                  </a:ext>
                </a:extLst>
              </a:tr>
              <a:tr h="370840">
                <a:tc>
                  <a:txBody>
                    <a:bodyPr/>
                    <a:lstStyle/>
                    <a:p>
                      <a:pPr algn="ctr"/>
                      <a:r>
                        <a:rPr lang="en-US" b="1" dirty="0"/>
                        <a:t>J</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873125107"/>
                  </a:ext>
                </a:extLst>
              </a:tr>
              <a:tr h="370840">
                <a:tc>
                  <a:txBody>
                    <a:bodyPr/>
                    <a:lstStyle/>
                    <a:p>
                      <a:pPr algn="ctr"/>
                      <a:r>
                        <a:rPr lang="en-US" b="1" dirty="0"/>
                        <a:t>K</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640632725"/>
                  </a:ext>
                </a:extLst>
              </a:tr>
            </a:tbl>
          </a:graphicData>
        </a:graphic>
      </p:graphicFrame>
    </p:spTree>
    <p:custDataLst>
      <p:tags r:id="rId1"/>
    </p:custDataLst>
    <p:extLst>
      <p:ext uri="{BB962C8B-B14F-4D97-AF65-F5344CB8AC3E}">
        <p14:creationId xmlns:p14="http://schemas.microsoft.com/office/powerpoint/2010/main" val="32305812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Straight Connector 45"/>
          <p:cNvCxnSpPr/>
          <p:nvPr/>
        </p:nvCxnSpPr>
        <p:spPr>
          <a:xfrm flipV="1">
            <a:off x="797123" y="4129201"/>
            <a:ext cx="542694" cy="82386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flipV="1">
            <a:off x="2838130" y="4019053"/>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ln>
            <a:noFill/>
          </a:ln>
        </p:spPr>
        <p:txBody>
          <a:bodyPr/>
          <a:lstStyle/>
          <a:p>
            <a:r>
              <a:rPr lang="en-US" dirty="0"/>
              <a:t>Depth-First Search</a:t>
            </a:r>
          </a:p>
        </p:txBody>
      </p:sp>
      <p:sp>
        <p:nvSpPr>
          <p:cNvPr id="3" name="Slide Number Placeholder 2">
            <a:extLst>
              <a:ext uri="{FF2B5EF4-FFF2-40B4-BE49-F238E27FC236}">
                <a16:creationId xmlns:a16="http://schemas.microsoft.com/office/drawing/2014/main" id="{90BCF5CB-9C93-48B1-868B-7EF121868748}"/>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56/110</a:t>
            </a:r>
          </a:p>
        </p:txBody>
      </p:sp>
      <p:cxnSp>
        <p:nvCxnSpPr>
          <p:cNvPr id="8" name="Straight Connector 7"/>
          <p:cNvCxnSpPr/>
          <p:nvPr/>
        </p:nvCxnSpPr>
        <p:spPr>
          <a:xfrm flipH="1" flipV="1">
            <a:off x="4129859" y="1873873"/>
            <a:ext cx="1853477" cy="11790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2127196" y="2004369"/>
            <a:ext cx="1804150" cy="10422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3895286" y="176439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8" name="Straight Connector 17"/>
          <p:cNvCxnSpPr/>
          <p:nvPr/>
        </p:nvCxnSpPr>
        <p:spPr>
          <a:xfrm flipH="1" flipV="1">
            <a:off x="2191623" y="2983419"/>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406709" y="3052968"/>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1922122" y="2896761"/>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Oval 16"/>
          <p:cNvSpPr>
            <a:spLocks noChangeArrowheads="1"/>
          </p:cNvSpPr>
          <p:nvPr/>
        </p:nvSpPr>
        <p:spPr bwMode="auto">
          <a:xfrm>
            <a:off x="1225864" y="378497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5" name="Oval 16"/>
          <p:cNvSpPr>
            <a:spLocks noChangeArrowheads="1"/>
          </p:cNvSpPr>
          <p:nvPr/>
        </p:nvSpPr>
        <p:spPr bwMode="auto">
          <a:xfrm>
            <a:off x="2572943" y="382819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4" name="Oval 16"/>
          <p:cNvSpPr>
            <a:spLocks noChangeArrowheads="1"/>
          </p:cNvSpPr>
          <p:nvPr/>
        </p:nvSpPr>
        <p:spPr bwMode="auto">
          <a:xfrm>
            <a:off x="3251450" y="480945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6" name="Oval 16"/>
          <p:cNvSpPr>
            <a:spLocks noChangeArrowheads="1"/>
          </p:cNvSpPr>
          <p:nvPr/>
        </p:nvSpPr>
        <p:spPr bwMode="auto">
          <a:xfrm>
            <a:off x="577751" y="4810837"/>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61" name="Straight Connector 60"/>
          <p:cNvCxnSpPr/>
          <p:nvPr/>
        </p:nvCxnSpPr>
        <p:spPr>
          <a:xfrm flipH="1" flipV="1">
            <a:off x="6681579" y="4037641"/>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6068720" y="4104906"/>
            <a:ext cx="457312" cy="8114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flipV="1">
            <a:off x="6035072" y="3002007"/>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5250158" y="3071556"/>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Oval 16"/>
          <p:cNvSpPr>
            <a:spLocks noChangeArrowheads="1"/>
          </p:cNvSpPr>
          <p:nvPr/>
        </p:nvSpPr>
        <p:spPr bwMode="auto">
          <a:xfrm>
            <a:off x="5765571" y="29153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6" name="Oval 16"/>
          <p:cNvSpPr>
            <a:spLocks noChangeArrowheads="1"/>
          </p:cNvSpPr>
          <p:nvPr/>
        </p:nvSpPr>
        <p:spPr bwMode="auto">
          <a:xfrm>
            <a:off x="5069313" y="380356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7" name="Oval 16"/>
          <p:cNvSpPr>
            <a:spLocks noChangeArrowheads="1"/>
          </p:cNvSpPr>
          <p:nvPr/>
        </p:nvSpPr>
        <p:spPr bwMode="auto">
          <a:xfrm>
            <a:off x="6416392" y="384678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8" name="Oval 16"/>
          <p:cNvSpPr>
            <a:spLocks noChangeArrowheads="1"/>
          </p:cNvSpPr>
          <p:nvPr/>
        </p:nvSpPr>
        <p:spPr bwMode="auto">
          <a:xfrm>
            <a:off x="5870482" y="482942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9" name="Oval 16"/>
          <p:cNvSpPr>
            <a:spLocks noChangeArrowheads="1"/>
          </p:cNvSpPr>
          <p:nvPr/>
        </p:nvSpPr>
        <p:spPr bwMode="auto">
          <a:xfrm>
            <a:off x="7094899" y="482803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76" name="TextBox 75"/>
          <p:cNvSpPr txBox="1"/>
          <p:nvPr/>
        </p:nvSpPr>
        <p:spPr>
          <a:xfrm>
            <a:off x="3944575" y="1786250"/>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82" name="TextBox 81"/>
          <p:cNvSpPr txBox="1"/>
          <p:nvPr/>
        </p:nvSpPr>
        <p:spPr>
          <a:xfrm>
            <a:off x="1967407" y="2929860"/>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83" name="TextBox 82"/>
          <p:cNvSpPr txBox="1"/>
          <p:nvPr/>
        </p:nvSpPr>
        <p:spPr>
          <a:xfrm>
            <a:off x="5833156" y="2937297"/>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84" name="Rectangle 83"/>
          <p:cNvSpPr/>
          <p:nvPr/>
        </p:nvSpPr>
        <p:spPr>
          <a:xfrm>
            <a:off x="1273931" y="3822650"/>
            <a:ext cx="343364" cy="369332"/>
          </a:xfrm>
          <a:prstGeom prst="rect">
            <a:avLst/>
          </a:prstGeom>
        </p:spPr>
        <p:txBody>
          <a:bodyPr wrap="none">
            <a:spAutoFit/>
          </a:bodyPr>
          <a:lstStyle/>
          <a:p>
            <a:r>
              <a:rPr lang="en-US" b="1" dirty="0">
                <a:solidFill>
                  <a:prstClr val="black"/>
                </a:solidFill>
              </a:rPr>
              <a:t>D</a:t>
            </a:r>
          </a:p>
        </p:txBody>
      </p:sp>
      <p:sp>
        <p:nvSpPr>
          <p:cNvPr id="85" name="Rectangle 84"/>
          <p:cNvSpPr/>
          <p:nvPr/>
        </p:nvSpPr>
        <p:spPr>
          <a:xfrm>
            <a:off x="5116299" y="3846782"/>
            <a:ext cx="304892" cy="369332"/>
          </a:xfrm>
          <a:prstGeom prst="rect">
            <a:avLst/>
          </a:prstGeom>
        </p:spPr>
        <p:txBody>
          <a:bodyPr wrap="none">
            <a:spAutoFit/>
          </a:bodyPr>
          <a:lstStyle/>
          <a:p>
            <a:r>
              <a:rPr lang="en-US" b="1" dirty="0">
                <a:solidFill>
                  <a:prstClr val="black"/>
                </a:solidFill>
              </a:rPr>
              <a:t>F</a:t>
            </a:r>
          </a:p>
        </p:txBody>
      </p:sp>
      <p:sp>
        <p:nvSpPr>
          <p:cNvPr id="86" name="Rectangle 85"/>
          <p:cNvSpPr/>
          <p:nvPr/>
        </p:nvSpPr>
        <p:spPr>
          <a:xfrm>
            <a:off x="6467363" y="3861983"/>
            <a:ext cx="340158" cy="369332"/>
          </a:xfrm>
          <a:prstGeom prst="rect">
            <a:avLst/>
          </a:prstGeom>
        </p:spPr>
        <p:txBody>
          <a:bodyPr wrap="none">
            <a:spAutoFit/>
          </a:bodyPr>
          <a:lstStyle/>
          <a:p>
            <a:r>
              <a:rPr lang="en-US" b="1" dirty="0">
                <a:solidFill>
                  <a:prstClr val="black"/>
                </a:solidFill>
              </a:rPr>
              <a:t>G</a:t>
            </a:r>
          </a:p>
        </p:txBody>
      </p:sp>
      <p:sp>
        <p:nvSpPr>
          <p:cNvPr id="87" name="Rectangle 86"/>
          <p:cNvSpPr/>
          <p:nvPr/>
        </p:nvSpPr>
        <p:spPr>
          <a:xfrm>
            <a:off x="5923779" y="4883500"/>
            <a:ext cx="277640" cy="369332"/>
          </a:xfrm>
          <a:prstGeom prst="rect">
            <a:avLst/>
          </a:prstGeom>
        </p:spPr>
        <p:txBody>
          <a:bodyPr wrap="none">
            <a:spAutoFit/>
          </a:bodyPr>
          <a:lstStyle/>
          <a:p>
            <a:r>
              <a:rPr lang="en-US" b="1" dirty="0">
                <a:solidFill>
                  <a:prstClr val="black"/>
                </a:solidFill>
              </a:rPr>
              <a:t>J</a:t>
            </a:r>
          </a:p>
        </p:txBody>
      </p:sp>
      <p:sp>
        <p:nvSpPr>
          <p:cNvPr id="88" name="Rectangle 87"/>
          <p:cNvSpPr/>
          <p:nvPr/>
        </p:nvSpPr>
        <p:spPr>
          <a:xfrm>
            <a:off x="7146697" y="4879786"/>
            <a:ext cx="330540" cy="369332"/>
          </a:xfrm>
          <a:prstGeom prst="rect">
            <a:avLst/>
          </a:prstGeom>
        </p:spPr>
        <p:txBody>
          <a:bodyPr wrap="none">
            <a:spAutoFit/>
          </a:bodyPr>
          <a:lstStyle/>
          <a:p>
            <a:r>
              <a:rPr lang="en-US" b="1" dirty="0">
                <a:solidFill>
                  <a:prstClr val="black"/>
                </a:solidFill>
              </a:rPr>
              <a:t>K</a:t>
            </a:r>
          </a:p>
        </p:txBody>
      </p:sp>
      <p:sp>
        <p:nvSpPr>
          <p:cNvPr id="89" name="Rectangle 88"/>
          <p:cNvSpPr/>
          <p:nvPr/>
        </p:nvSpPr>
        <p:spPr>
          <a:xfrm>
            <a:off x="3294991" y="4859128"/>
            <a:ext cx="248786" cy="369332"/>
          </a:xfrm>
          <a:prstGeom prst="rect">
            <a:avLst/>
          </a:prstGeom>
        </p:spPr>
        <p:txBody>
          <a:bodyPr wrap="none">
            <a:spAutoFit/>
          </a:bodyPr>
          <a:lstStyle/>
          <a:p>
            <a:r>
              <a:rPr lang="en-US" b="1" dirty="0">
                <a:solidFill>
                  <a:prstClr val="black"/>
                </a:solidFill>
              </a:rPr>
              <a:t>I</a:t>
            </a:r>
          </a:p>
        </p:txBody>
      </p:sp>
      <p:sp>
        <p:nvSpPr>
          <p:cNvPr id="91" name="Rectangle 90"/>
          <p:cNvSpPr/>
          <p:nvPr/>
        </p:nvSpPr>
        <p:spPr>
          <a:xfrm>
            <a:off x="641576" y="4852097"/>
            <a:ext cx="346570" cy="369332"/>
          </a:xfrm>
          <a:prstGeom prst="rect">
            <a:avLst/>
          </a:prstGeom>
        </p:spPr>
        <p:txBody>
          <a:bodyPr wrap="none">
            <a:spAutoFit/>
          </a:bodyPr>
          <a:lstStyle/>
          <a:p>
            <a:r>
              <a:rPr lang="en-US" b="1" dirty="0">
                <a:solidFill>
                  <a:prstClr val="black"/>
                </a:solidFill>
              </a:rPr>
              <a:t>H</a:t>
            </a:r>
          </a:p>
        </p:txBody>
      </p:sp>
      <p:sp>
        <p:nvSpPr>
          <p:cNvPr id="92" name="Rectangle 91"/>
          <p:cNvSpPr/>
          <p:nvPr/>
        </p:nvSpPr>
        <p:spPr>
          <a:xfrm>
            <a:off x="2632725" y="3853127"/>
            <a:ext cx="316112" cy="369332"/>
          </a:xfrm>
          <a:prstGeom prst="rect">
            <a:avLst/>
          </a:prstGeom>
        </p:spPr>
        <p:txBody>
          <a:bodyPr wrap="none">
            <a:spAutoFit/>
          </a:bodyPr>
          <a:lstStyle/>
          <a:p>
            <a:r>
              <a:rPr lang="en-US" b="1" dirty="0">
                <a:solidFill>
                  <a:prstClr val="black"/>
                </a:solidFill>
              </a:rPr>
              <a:t>E</a:t>
            </a:r>
          </a:p>
        </p:txBody>
      </p:sp>
      <p:graphicFrame>
        <p:nvGraphicFramePr>
          <p:cNvPr id="5" name="Table 4"/>
          <p:cNvGraphicFramePr>
            <a:graphicFrameLocks noGrp="1"/>
          </p:cNvGraphicFramePr>
          <p:nvPr>
            <p:extLst>
              <p:ext uri="{D42A27DB-BD31-4B8C-83A1-F6EECF244321}">
                <p14:modId xmlns:p14="http://schemas.microsoft.com/office/powerpoint/2010/main" val="2383089840"/>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C</a:t>
                      </a:r>
                    </a:p>
                  </a:txBody>
                  <a:tcPr>
                    <a:solidFill>
                      <a:schemeClr val="accent2">
                        <a:lumMod val="60000"/>
                        <a:lumOff val="40000"/>
                      </a:schemeClr>
                    </a:solidFill>
                  </a:tcPr>
                </a:tc>
                <a:tc>
                  <a:txBody>
                    <a:bodyPr/>
                    <a:lstStyle/>
                    <a:p>
                      <a:pPr algn="ctr"/>
                      <a:r>
                        <a:rPr lang="en-US" dirty="0">
                          <a:solidFill>
                            <a:schemeClr val="tx1"/>
                          </a:solidFill>
                        </a:rPr>
                        <a:t>E</a:t>
                      </a:r>
                    </a:p>
                  </a:txBody>
                  <a:tcPr>
                    <a:solidFill>
                      <a:schemeClr val="accent2">
                        <a:lumMod val="60000"/>
                        <a:lumOff val="40000"/>
                      </a:schemeClr>
                    </a:solidFill>
                  </a:tcPr>
                </a:tc>
                <a:tc>
                  <a:txBody>
                    <a:bodyPr/>
                    <a:lstStyle/>
                    <a:p>
                      <a:pPr algn="ctr"/>
                      <a:r>
                        <a:rPr lang="en-US" dirty="0">
                          <a:solidFill>
                            <a:schemeClr val="tx1"/>
                          </a:solidFill>
                        </a:rPr>
                        <a:t>H</a:t>
                      </a:r>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extLst>
                  <a:ext uri="{0D108BD9-81ED-4DB2-BD59-A6C34878D82A}">
                    <a16:rowId xmlns:a16="http://schemas.microsoft.com/office/drawing/2014/main" val="660647860"/>
                  </a:ext>
                </a:extLst>
              </a:tr>
            </a:tbl>
          </a:graphicData>
        </a:graphic>
      </p:graphicFrame>
      <p:sp>
        <p:nvSpPr>
          <p:cNvPr id="6" name="TextBox 5"/>
          <p:cNvSpPr txBox="1"/>
          <p:nvPr/>
        </p:nvSpPr>
        <p:spPr>
          <a:xfrm>
            <a:off x="965262" y="5554545"/>
            <a:ext cx="362600" cy="461665"/>
          </a:xfrm>
          <a:prstGeom prst="rect">
            <a:avLst/>
          </a:prstGeom>
          <a:noFill/>
        </p:spPr>
        <p:txBody>
          <a:bodyPr wrap="none" rtlCol="0">
            <a:spAutoFit/>
          </a:bodyPr>
          <a:lstStyle/>
          <a:p>
            <a:r>
              <a:rPr lang="en-US" sz="2400" b="1">
                <a:effectLst>
                  <a:outerShdw blurRad="38100" dist="38100" dir="2700000" algn="tl">
                    <a:srgbClr val="000000">
                      <a:alpha val="43137"/>
                    </a:srgbClr>
                  </a:outerShdw>
                </a:effectLst>
              </a:rPr>
              <a:t>S</a:t>
            </a:r>
          </a:p>
        </p:txBody>
      </p:sp>
      <p:cxnSp>
        <p:nvCxnSpPr>
          <p:cNvPr id="55" name="Straight Connector 54"/>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57" name="Table 56"/>
          <p:cNvGraphicFramePr>
            <a:graphicFrameLocks noGrp="1"/>
          </p:cNvGraphicFramePr>
          <p:nvPr/>
        </p:nvGraphicFramePr>
        <p:xfrm>
          <a:off x="1437550" y="6071671"/>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B</a:t>
                      </a:r>
                    </a:p>
                  </a:txBody>
                  <a:tcPr>
                    <a:noFill/>
                  </a:tcPr>
                </a:tc>
                <a:tc>
                  <a:txBody>
                    <a:bodyPr/>
                    <a:lstStyle/>
                    <a:p>
                      <a:pPr algn="ctr"/>
                      <a:r>
                        <a:rPr lang="en-US" dirty="0">
                          <a:solidFill>
                            <a:schemeClr val="tx1"/>
                          </a:solidFill>
                        </a:rPr>
                        <a:t>D</a:t>
                      </a:r>
                    </a:p>
                  </a:txBody>
                  <a:tcPr>
                    <a:noFill/>
                  </a:tcPr>
                </a:tc>
                <a:tc>
                  <a:txBody>
                    <a:bodyPr/>
                    <a:lstStyle/>
                    <a:p>
                      <a:endParaRPr lang="en-US" dirty="0"/>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dirty="0"/>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graphicFrame>
        <p:nvGraphicFramePr>
          <p:cNvPr id="43" name="Table 42">
            <a:extLst>
              <a:ext uri="{FF2B5EF4-FFF2-40B4-BE49-F238E27FC236}">
                <a16:creationId xmlns:a16="http://schemas.microsoft.com/office/drawing/2014/main" id="{0DDC506D-B6A6-47C2-A9AA-70CD6754382B}"/>
              </a:ext>
            </a:extLst>
          </p:cNvPr>
          <p:cNvGraphicFramePr>
            <a:graphicFrameLocks noGrp="1"/>
          </p:cNvGraphicFramePr>
          <p:nvPr/>
        </p:nvGraphicFramePr>
        <p:xfrm>
          <a:off x="8658993" y="1862844"/>
          <a:ext cx="2132240" cy="4719320"/>
        </p:xfrm>
        <a:graphic>
          <a:graphicData uri="http://schemas.openxmlformats.org/drawingml/2006/table">
            <a:tbl>
              <a:tblPr firstRow="1" bandRow="1">
                <a:tableStyleId>{5C22544A-7EE6-4342-B048-85BDC9FD1C3A}</a:tableStyleId>
              </a:tblPr>
              <a:tblGrid>
                <a:gridCol w="847864">
                  <a:extLst>
                    <a:ext uri="{9D8B030D-6E8A-4147-A177-3AD203B41FA5}">
                      <a16:colId xmlns:a16="http://schemas.microsoft.com/office/drawing/2014/main" val="2989644895"/>
                    </a:ext>
                  </a:extLst>
                </a:gridCol>
                <a:gridCol w="1284376">
                  <a:extLst>
                    <a:ext uri="{9D8B030D-6E8A-4147-A177-3AD203B41FA5}">
                      <a16:colId xmlns:a16="http://schemas.microsoft.com/office/drawing/2014/main" val="4244960412"/>
                    </a:ext>
                  </a:extLst>
                </a:gridCol>
              </a:tblGrid>
              <a:tr h="370840">
                <a:tc>
                  <a:txBody>
                    <a:bodyPr/>
                    <a:lstStyle/>
                    <a:p>
                      <a:pPr algn="ctr"/>
                      <a:r>
                        <a:rPr lang="en-US" dirty="0"/>
                        <a:t>NODE</a:t>
                      </a:r>
                    </a:p>
                  </a:txBody>
                  <a:tcPr/>
                </a:tc>
                <a:tc>
                  <a:txBody>
                    <a:bodyPr/>
                    <a:lstStyle/>
                    <a:p>
                      <a:pPr algn="ctr"/>
                      <a:r>
                        <a:rPr lang="en-US" dirty="0"/>
                        <a:t>CHILDREN</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F,G</a:t>
                      </a:r>
                      <a:endParaRPr lang="en-US" b="1" dirty="0"/>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H,-</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-,I</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J,K</a:t>
                      </a:r>
                    </a:p>
                  </a:txBody>
                  <a:tcPr/>
                </a:tc>
                <a:extLst>
                  <a:ext uri="{0D108BD9-81ED-4DB2-BD59-A6C34878D82A}">
                    <a16:rowId xmlns:a16="http://schemas.microsoft.com/office/drawing/2014/main" val="1205733479"/>
                  </a:ext>
                </a:extLst>
              </a:tr>
              <a:tr h="370840">
                <a:tc>
                  <a:txBody>
                    <a:bodyPr/>
                    <a:lstStyle/>
                    <a:p>
                      <a:pPr algn="ctr"/>
                      <a:r>
                        <a:rPr lang="en-US" b="1" dirty="0"/>
                        <a: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987431379"/>
                  </a:ext>
                </a:extLst>
              </a:tr>
              <a:tr h="370840">
                <a:tc>
                  <a:txBody>
                    <a:bodyPr/>
                    <a:lstStyle/>
                    <a:p>
                      <a:pPr algn="ctr"/>
                      <a:r>
                        <a:rPr lang="en-US" b="1" dirty="0"/>
                        <a:t>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290039795"/>
                  </a:ext>
                </a:extLst>
              </a:tr>
              <a:tr h="370840">
                <a:tc>
                  <a:txBody>
                    <a:bodyPr/>
                    <a:lstStyle/>
                    <a:p>
                      <a:pPr algn="ctr"/>
                      <a:r>
                        <a:rPr lang="en-US" b="1" dirty="0"/>
                        <a:t>J</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873125107"/>
                  </a:ext>
                </a:extLst>
              </a:tr>
              <a:tr h="370840">
                <a:tc>
                  <a:txBody>
                    <a:bodyPr/>
                    <a:lstStyle/>
                    <a:p>
                      <a:pPr algn="ctr"/>
                      <a:r>
                        <a:rPr lang="en-US" b="1" dirty="0"/>
                        <a:t>K</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640632725"/>
                  </a:ext>
                </a:extLst>
              </a:tr>
            </a:tbl>
          </a:graphicData>
        </a:graphic>
      </p:graphicFrame>
    </p:spTree>
    <p:custDataLst>
      <p:tags r:id="rId1"/>
    </p:custDataLst>
    <p:extLst>
      <p:ext uri="{BB962C8B-B14F-4D97-AF65-F5344CB8AC3E}">
        <p14:creationId xmlns:p14="http://schemas.microsoft.com/office/powerpoint/2010/main" val="262595327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Straight Connector 45"/>
          <p:cNvCxnSpPr/>
          <p:nvPr/>
        </p:nvCxnSpPr>
        <p:spPr>
          <a:xfrm flipV="1">
            <a:off x="797123" y="4129201"/>
            <a:ext cx="542694" cy="82386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flipV="1">
            <a:off x="2838130" y="4019053"/>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ln>
            <a:noFill/>
          </a:ln>
        </p:spPr>
        <p:txBody>
          <a:bodyPr/>
          <a:lstStyle/>
          <a:p>
            <a:r>
              <a:rPr lang="en-US" dirty="0"/>
              <a:t>Depth-First Search</a:t>
            </a:r>
          </a:p>
        </p:txBody>
      </p:sp>
      <p:sp>
        <p:nvSpPr>
          <p:cNvPr id="3" name="Slide Number Placeholder 2">
            <a:extLst>
              <a:ext uri="{FF2B5EF4-FFF2-40B4-BE49-F238E27FC236}">
                <a16:creationId xmlns:a16="http://schemas.microsoft.com/office/drawing/2014/main" id="{4BF82518-834E-44C6-B234-9593793581A9}"/>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57/110</a:t>
            </a:r>
          </a:p>
        </p:txBody>
      </p:sp>
      <p:cxnSp>
        <p:nvCxnSpPr>
          <p:cNvPr id="8" name="Straight Connector 7"/>
          <p:cNvCxnSpPr/>
          <p:nvPr/>
        </p:nvCxnSpPr>
        <p:spPr>
          <a:xfrm flipH="1" flipV="1">
            <a:off x="4129859" y="1873873"/>
            <a:ext cx="1853477" cy="11790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2127196" y="2004369"/>
            <a:ext cx="1804150" cy="10422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3895286" y="176439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8" name="Straight Connector 17"/>
          <p:cNvCxnSpPr/>
          <p:nvPr/>
        </p:nvCxnSpPr>
        <p:spPr>
          <a:xfrm flipH="1" flipV="1">
            <a:off x="2191623" y="2983419"/>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406709" y="3052968"/>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1922122" y="2896761"/>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Oval 16"/>
          <p:cNvSpPr>
            <a:spLocks noChangeArrowheads="1"/>
          </p:cNvSpPr>
          <p:nvPr/>
        </p:nvSpPr>
        <p:spPr bwMode="auto">
          <a:xfrm>
            <a:off x="1225864" y="378497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5" name="Oval 16"/>
          <p:cNvSpPr>
            <a:spLocks noChangeArrowheads="1"/>
          </p:cNvSpPr>
          <p:nvPr/>
        </p:nvSpPr>
        <p:spPr bwMode="auto">
          <a:xfrm>
            <a:off x="2572943" y="382819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4" name="Oval 16"/>
          <p:cNvSpPr>
            <a:spLocks noChangeArrowheads="1"/>
          </p:cNvSpPr>
          <p:nvPr/>
        </p:nvSpPr>
        <p:spPr bwMode="auto">
          <a:xfrm>
            <a:off x="3251450" y="480945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6" name="Oval 16"/>
          <p:cNvSpPr>
            <a:spLocks noChangeArrowheads="1"/>
          </p:cNvSpPr>
          <p:nvPr/>
        </p:nvSpPr>
        <p:spPr bwMode="auto">
          <a:xfrm>
            <a:off x="577751" y="4810837"/>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61" name="Straight Connector 60"/>
          <p:cNvCxnSpPr/>
          <p:nvPr/>
        </p:nvCxnSpPr>
        <p:spPr>
          <a:xfrm flipH="1" flipV="1">
            <a:off x="6681579" y="4037641"/>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6068720" y="4104906"/>
            <a:ext cx="457312" cy="8114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flipV="1">
            <a:off x="6035072" y="3002007"/>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5250158" y="3071556"/>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Oval 16"/>
          <p:cNvSpPr>
            <a:spLocks noChangeArrowheads="1"/>
          </p:cNvSpPr>
          <p:nvPr/>
        </p:nvSpPr>
        <p:spPr bwMode="auto">
          <a:xfrm>
            <a:off x="5765571" y="29153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6" name="Oval 16"/>
          <p:cNvSpPr>
            <a:spLocks noChangeArrowheads="1"/>
          </p:cNvSpPr>
          <p:nvPr/>
        </p:nvSpPr>
        <p:spPr bwMode="auto">
          <a:xfrm>
            <a:off x="5069313" y="380356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7" name="Oval 16"/>
          <p:cNvSpPr>
            <a:spLocks noChangeArrowheads="1"/>
          </p:cNvSpPr>
          <p:nvPr/>
        </p:nvSpPr>
        <p:spPr bwMode="auto">
          <a:xfrm>
            <a:off x="6416392" y="384678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8" name="Oval 16"/>
          <p:cNvSpPr>
            <a:spLocks noChangeArrowheads="1"/>
          </p:cNvSpPr>
          <p:nvPr/>
        </p:nvSpPr>
        <p:spPr bwMode="auto">
          <a:xfrm>
            <a:off x="5870482" y="482942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9" name="Oval 16"/>
          <p:cNvSpPr>
            <a:spLocks noChangeArrowheads="1"/>
          </p:cNvSpPr>
          <p:nvPr/>
        </p:nvSpPr>
        <p:spPr bwMode="auto">
          <a:xfrm>
            <a:off x="7094899" y="482803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76" name="TextBox 75"/>
          <p:cNvSpPr txBox="1"/>
          <p:nvPr/>
        </p:nvSpPr>
        <p:spPr>
          <a:xfrm>
            <a:off x="3944575" y="1786250"/>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82" name="TextBox 81"/>
          <p:cNvSpPr txBox="1"/>
          <p:nvPr/>
        </p:nvSpPr>
        <p:spPr>
          <a:xfrm>
            <a:off x="1967407" y="2929860"/>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83" name="TextBox 82"/>
          <p:cNvSpPr txBox="1"/>
          <p:nvPr/>
        </p:nvSpPr>
        <p:spPr>
          <a:xfrm>
            <a:off x="5833156" y="2937297"/>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84" name="Rectangle 83"/>
          <p:cNvSpPr/>
          <p:nvPr/>
        </p:nvSpPr>
        <p:spPr>
          <a:xfrm>
            <a:off x="1273931" y="3822650"/>
            <a:ext cx="343364" cy="369332"/>
          </a:xfrm>
          <a:prstGeom prst="rect">
            <a:avLst/>
          </a:prstGeom>
        </p:spPr>
        <p:txBody>
          <a:bodyPr wrap="none">
            <a:spAutoFit/>
          </a:bodyPr>
          <a:lstStyle/>
          <a:p>
            <a:r>
              <a:rPr lang="en-US" b="1" dirty="0">
                <a:solidFill>
                  <a:prstClr val="black"/>
                </a:solidFill>
              </a:rPr>
              <a:t>D</a:t>
            </a:r>
          </a:p>
        </p:txBody>
      </p:sp>
      <p:sp>
        <p:nvSpPr>
          <p:cNvPr id="85" name="Rectangle 84"/>
          <p:cNvSpPr/>
          <p:nvPr/>
        </p:nvSpPr>
        <p:spPr>
          <a:xfrm>
            <a:off x="5116299" y="3846782"/>
            <a:ext cx="304892" cy="369332"/>
          </a:xfrm>
          <a:prstGeom prst="rect">
            <a:avLst/>
          </a:prstGeom>
        </p:spPr>
        <p:txBody>
          <a:bodyPr wrap="none">
            <a:spAutoFit/>
          </a:bodyPr>
          <a:lstStyle/>
          <a:p>
            <a:r>
              <a:rPr lang="en-US" b="1" dirty="0">
                <a:solidFill>
                  <a:prstClr val="black"/>
                </a:solidFill>
              </a:rPr>
              <a:t>F</a:t>
            </a:r>
          </a:p>
        </p:txBody>
      </p:sp>
      <p:sp>
        <p:nvSpPr>
          <p:cNvPr id="86" name="Rectangle 85"/>
          <p:cNvSpPr/>
          <p:nvPr/>
        </p:nvSpPr>
        <p:spPr>
          <a:xfrm>
            <a:off x="6467363" y="3861983"/>
            <a:ext cx="340158" cy="369332"/>
          </a:xfrm>
          <a:prstGeom prst="rect">
            <a:avLst/>
          </a:prstGeom>
        </p:spPr>
        <p:txBody>
          <a:bodyPr wrap="none">
            <a:spAutoFit/>
          </a:bodyPr>
          <a:lstStyle/>
          <a:p>
            <a:r>
              <a:rPr lang="en-US" b="1" dirty="0">
                <a:solidFill>
                  <a:prstClr val="black"/>
                </a:solidFill>
              </a:rPr>
              <a:t>G</a:t>
            </a:r>
          </a:p>
        </p:txBody>
      </p:sp>
      <p:sp>
        <p:nvSpPr>
          <p:cNvPr id="87" name="Rectangle 86"/>
          <p:cNvSpPr/>
          <p:nvPr/>
        </p:nvSpPr>
        <p:spPr>
          <a:xfrm>
            <a:off x="5923779" y="4883500"/>
            <a:ext cx="277640" cy="369332"/>
          </a:xfrm>
          <a:prstGeom prst="rect">
            <a:avLst/>
          </a:prstGeom>
        </p:spPr>
        <p:txBody>
          <a:bodyPr wrap="none">
            <a:spAutoFit/>
          </a:bodyPr>
          <a:lstStyle/>
          <a:p>
            <a:r>
              <a:rPr lang="en-US" b="1" dirty="0">
                <a:solidFill>
                  <a:prstClr val="black"/>
                </a:solidFill>
              </a:rPr>
              <a:t>J</a:t>
            </a:r>
          </a:p>
        </p:txBody>
      </p:sp>
      <p:sp>
        <p:nvSpPr>
          <p:cNvPr id="88" name="Rectangle 87"/>
          <p:cNvSpPr/>
          <p:nvPr/>
        </p:nvSpPr>
        <p:spPr>
          <a:xfrm>
            <a:off x="7146697" y="4879786"/>
            <a:ext cx="330540" cy="369332"/>
          </a:xfrm>
          <a:prstGeom prst="rect">
            <a:avLst/>
          </a:prstGeom>
        </p:spPr>
        <p:txBody>
          <a:bodyPr wrap="none">
            <a:spAutoFit/>
          </a:bodyPr>
          <a:lstStyle/>
          <a:p>
            <a:r>
              <a:rPr lang="en-US" b="1" dirty="0">
                <a:solidFill>
                  <a:prstClr val="black"/>
                </a:solidFill>
              </a:rPr>
              <a:t>K</a:t>
            </a:r>
          </a:p>
        </p:txBody>
      </p:sp>
      <p:sp>
        <p:nvSpPr>
          <p:cNvPr id="89" name="Rectangle 88"/>
          <p:cNvSpPr/>
          <p:nvPr/>
        </p:nvSpPr>
        <p:spPr>
          <a:xfrm>
            <a:off x="3294991" y="4859128"/>
            <a:ext cx="248786" cy="369332"/>
          </a:xfrm>
          <a:prstGeom prst="rect">
            <a:avLst/>
          </a:prstGeom>
        </p:spPr>
        <p:txBody>
          <a:bodyPr wrap="none">
            <a:spAutoFit/>
          </a:bodyPr>
          <a:lstStyle/>
          <a:p>
            <a:r>
              <a:rPr lang="en-US" b="1" dirty="0">
                <a:solidFill>
                  <a:prstClr val="black"/>
                </a:solidFill>
              </a:rPr>
              <a:t>I</a:t>
            </a:r>
          </a:p>
        </p:txBody>
      </p:sp>
      <p:sp>
        <p:nvSpPr>
          <p:cNvPr id="91" name="Rectangle 90"/>
          <p:cNvSpPr/>
          <p:nvPr/>
        </p:nvSpPr>
        <p:spPr>
          <a:xfrm>
            <a:off x="641576" y="4852097"/>
            <a:ext cx="346570" cy="369332"/>
          </a:xfrm>
          <a:prstGeom prst="rect">
            <a:avLst/>
          </a:prstGeom>
        </p:spPr>
        <p:txBody>
          <a:bodyPr wrap="none">
            <a:spAutoFit/>
          </a:bodyPr>
          <a:lstStyle/>
          <a:p>
            <a:r>
              <a:rPr lang="en-US" b="1" dirty="0">
                <a:solidFill>
                  <a:prstClr val="black"/>
                </a:solidFill>
              </a:rPr>
              <a:t>H</a:t>
            </a:r>
          </a:p>
        </p:txBody>
      </p:sp>
      <p:sp>
        <p:nvSpPr>
          <p:cNvPr id="92" name="Rectangle 91"/>
          <p:cNvSpPr/>
          <p:nvPr/>
        </p:nvSpPr>
        <p:spPr>
          <a:xfrm>
            <a:off x="2632725" y="3853127"/>
            <a:ext cx="316112" cy="369332"/>
          </a:xfrm>
          <a:prstGeom prst="rect">
            <a:avLst/>
          </a:prstGeom>
        </p:spPr>
        <p:txBody>
          <a:bodyPr wrap="none">
            <a:spAutoFit/>
          </a:bodyPr>
          <a:lstStyle/>
          <a:p>
            <a:r>
              <a:rPr lang="en-US" b="1" dirty="0">
                <a:solidFill>
                  <a:prstClr val="black"/>
                </a:solidFill>
              </a:rPr>
              <a:t>E</a:t>
            </a:r>
          </a:p>
        </p:txBody>
      </p:sp>
      <p:graphicFrame>
        <p:nvGraphicFramePr>
          <p:cNvPr id="5" name="Table 4"/>
          <p:cNvGraphicFramePr>
            <a:graphicFrameLocks noGrp="1"/>
          </p:cNvGraphicFramePr>
          <p:nvPr>
            <p:extLst>
              <p:ext uri="{D42A27DB-BD31-4B8C-83A1-F6EECF244321}">
                <p14:modId xmlns:p14="http://schemas.microsoft.com/office/powerpoint/2010/main" val="789000746"/>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C</a:t>
                      </a:r>
                    </a:p>
                  </a:txBody>
                  <a:tcPr>
                    <a:solidFill>
                      <a:schemeClr val="accent2">
                        <a:lumMod val="60000"/>
                        <a:lumOff val="40000"/>
                      </a:schemeClr>
                    </a:solidFill>
                  </a:tcPr>
                </a:tc>
                <a:tc>
                  <a:txBody>
                    <a:bodyPr/>
                    <a:lstStyle/>
                    <a:p>
                      <a:pPr algn="ctr"/>
                      <a:r>
                        <a:rPr lang="en-US" dirty="0">
                          <a:solidFill>
                            <a:schemeClr val="tx1"/>
                          </a:solidFill>
                        </a:rPr>
                        <a:t>E</a:t>
                      </a: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extLst>
                  <a:ext uri="{0D108BD9-81ED-4DB2-BD59-A6C34878D82A}">
                    <a16:rowId xmlns:a16="http://schemas.microsoft.com/office/drawing/2014/main" val="660647860"/>
                  </a:ext>
                </a:extLst>
              </a:tr>
            </a:tbl>
          </a:graphicData>
        </a:graphic>
      </p:graphicFrame>
      <p:sp>
        <p:nvSpPr>
          <p:cNvPr id="6" name="TextBox 5"/>
          <p:cNvSpPr txBox="1"/>
          <p:nvPr/>
        </p:nvSpPr>
        <p:spPr>
          <a:xfrm>
            <a:off x="965262" y="5554545"/>
            <a:ext cx="362600" cy="461665"/>
          </a:xfrm>
          <a:prstGeom prst="rect">
            <a:avLst/>
          </a:prstGeom>
          <a:noFill/>
        </p:spPr>
        <p:txBody>
          <a:bodyPr wrap="none" rtlCol="0">
            <a:spAutoFit/>
          </a:bodyPr>
          <a:lstStyle/>
          <a:p>
            <a:r>
              <a:rPr lang="en-US" sz="2400" b="1">
                <a:effectLst>
                  <a:outerShdw blurRad="38100" dist="38100" dir="2700000" algn="tl">
                    <a:srgbClr val="000000">
                      <a:alpha val="43137"/>
                    </a:srgbClr>
                  </a:outerShdw>
                </a:effectLst>
              </a:rPr>
              <a:t>S</a:t>
            </a:r>
          </a:p>
        </p:txBody>
      </p:sp>
      <p:cxnSp>
        <p:nvCxnSpPr>
          <p:cNvPr id="55" name="Straight Connector 54"/>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57" name="Table 56"/>
          <p:cNvGraphicFramePr>
            <a:graphicFrameLocks noGrp="1"/>
          </p:cNvGraphicFramePr>
          <p:nvPr/>
        </p:nvGraphicFramePr>
        <p:xfrm>
          <a:off x="1437550" y="6071671"/>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B</a:t>
                      </a:r>
                    </a:p>
                  </a:txBody>
                  <a:tcPr>
                    <a:noFill/>
                  </a:tcPr>
                </a:tc>
                <a:tc>
                  <a:txBody>
                    <a:bodyPr/>
                    <a:lstStyle/>
                    <a:p>
                      <a:pPr algn="ctr"/>
                      <a:r>
                        <a:rPr lang="en-US" dirty="0">
                          <a:solidFill>
                            <a:schemeClr val="tx1"/>
                          </a:solidFill>
                        </a:rPr>
                        <a:t>D</a:t>
                      </a:r>
                    </a:p>
                  </a:txBody>
                  <a:tcPr>
                    <a:noFill/>
                  </a:tcPr>
                </a:tc>
                <a:tc>
                  <a:txBody>
                    <a:bodyPr/>
                    <a:lstStyle/>
                    <a:p>
                      <a:pPr algn="ctr"/>
                      <a:r>
                        <a:rPr lang="en-US" dirty="0">
                          <a:solidFill>
                            <a:schemeClr val="tx1"/>
                          </a:solidFill>
                        </a:rPr>
                        <a:t>H</a:t>
                      </a:r>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dirty="0"/>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graphicFrame>
        <p:nvGraphicFramePr>
          <p:cNvPr id="44" name="Table 43">
            <a:extLst>
              <a:ext uri="{FF2B5EF4-FFF2-40B4-BE49-F238E27FC236}">
                <a16:creationId xmlns:a16="http://schemas.microsoft.com/office/drawing/2014/main" id="{BC40037F-12B7-4B70-80C4-E5433CF1A933}"/>
              </a:ext>
            </a:extLst>
          </p:cNvPr>
          <p:cNvGraphicFramePr>
            <a:graphicFrameLocks noGrp="1"/>
          </p:cNvGraphicFramePr>
          <p:nvPr/>
        </p:nvGraphicFramePr>
        <p:xfrm>
          <a:off x="8658993" y="1862844"/>
          <a:ext cx="2132240" cy="4719320"/>
        </p:xfrm>
        <a:graphic>
          <a:graphicData uri="http://schemas.openxmlformats.org/drawingml/2006/table">
            <a:tbl>
              <a:tblPr firstRow="1" bandRow="1">
                <a:tableStyleId>{5C22544A-7EE6-4342-B048-85BDC9FD1C3A}</a:tableStyleId>
              </a:tblPr>
              <a:tblGrid>
                <a:gridCol w="847864">
                  <a:extLst>
                    <a:ext uri="{9D8B030D-6E8A-4147-A177-3AD203B41FA5}">
                      <a16:colId xmlns:a16="http://schemas.microsoft.com/office/drawing/2014/main" val="2989644895"/>
                    </a:ext>
                  </a:extLst>
                </a:gridCol>
                <a:gridCol w="1284376">
                  <a:extLst>
                    <a:ext uri="{9D8B030D-6E8A-4147-A177-3AD203B41FA5}">
                      <a16:colId xmlns:a16="http://schemas.microsoft.com/office/drawing/2014/main" val="4244960412"/>
                    </a:ext>
                  </a:extLst>
                </a:gridCol>
              </a:tblGrid>
              <a:tr h="370840">
                <a:tc>
                  <a:txBody>
                    <a:bodyPr/>
                    <a:lstStyle/>
                    <a:p>
                      <a:pPr algn="ctr"/>
                      <a:r>
                        <a:rPr lang="en-US" dirty="0"/>
                        <a:t>NODE</a:t>
                      </a:r>
                    </a:p>
                  </a:txBody>
                  <a:tcPr/>
                </a:tc>
                <a:tc>
                  <a:txBody>
                    <a:bodyPr/>
                    <a:lstStyle/>
                    <a:p>
                      <a:pPr algn="ctr"/>
                      <a:r>
                        <a:rPr lang="en-US" dirty="0"/>
                        <a:t>CHILDREN</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F,G</a:t>
                      </a:r>
                      <a:endParaRPr lang="en-US" b="1" dirty="0"/>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H,-</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-,I</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J,K</a:t>
                      </a:r>
                    </a:p>
                  </a:txBody>
                  <a:tcPr/>
                </a:tc>
                <a:extLst>
                  <a:ext uri="{0D108BD9-81ED-4DB2-BD59-A6C34878D82A}">
                    <a16:rowId xmlns:a16="http://schemas.microsoft.com/office/drawing/2014/main" val="1205733479"/>
                  </a:ext>
                </a:extLst>
              </a:tr>
              <a:tr h="370840">
                <a:tc>
                  <a:txBody>
                    <a:bodyPr/>
                    <a:lstStyle/>
                    <a:p>
                      <a:pPr algn="ctr"/>
                      <a:r>
                        <a:rPr lang="en-US" b="1" dirty="0"/>
                        <a: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987431379"/>
                  </a:ext>
                </a:extLst>
              </a:tr>
              <a:tr h="370840">
                <a:tc>
                  <a:txBody>
                    <a:bodyPr/>
                    <a:lstStyle/>
                    <a:p>
                      <a:pPr algn="ctr"/>
                      <a:r>
                        <a:rPr lang="en-US" b="1" dirty="0"/>
                        <a:t>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290039795"/>
                  </a:ext>
                </a:extLst>
              </a:tr>
              <a:tr h="370840">
                <a:tc>
                  <a:txBody>
                    <a:bodyPr/>
                    <a:lstStyle/>
                    <a:p>
                      <a:pPr algn="ctr"/>
                      <a:r>
                        <a:rPr lang="en-US" b="1" dirty="0"/>
                        <a:t>J</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873125107"/>
                  </a:ext>
                </a:extLst>
              </a:tr>
              <a:tr h="370840">
                <a:tc>
                  <a:txBody>
                    <a:bodyPr/>
                    <a:lstStyle/>
                    <a:p>
                      <a:pPr algn="ctr"/>
                      <a:r>
                        <a:rPr lang="en-US" b="1" dirty="0"/>
                        <a:t>K</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640632725"/>
                  </a:ext>
                </a:extLst>
              </a:tr>
            </a:tbl>
          </a:graphicData>
        </a:graphic>
      </p:graphicFrame>
    </p:spTree>
    <p:custDataLst>
      <p:tags r:id="rId1"/>
    </p:custDataLst>
    <p:extLst>
      <p:ext uri="{BB962C8B-B14F-4D97-AF65-F5344CB8AC3E}">
        <p14:creationId xmlns:p14="http://schemas.microsoft.com/office/powerpoint/2010/main" val="25338014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Straight Connector 45"/>
          <p:cNvCxnSpPr/>
          <p:nvPr/>
        </p:nvCxnSpPr>
        <p:spPr>
          <a:xfrm flipV="1">
            <a:off x="797123" y="4129201"/>
            <a:ext cx="542694" cy="82386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flipV="1">
            <a:off x="2838130" y="4019053"/>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ln>
            <a:noFill/>
          </a:ln>
        </p:spPr>
        <p:txBody>
          <a:bodyPr/>
          <a:lstStyle/>
          <a:p>
            <a:r>
              <a:rPr lang="en-US" dirty="0"/>
              <a:t>Depth-First Search</a:t>
            </a:r>
          </a:p>
        </p:txBody>
      </p:sp>
      <p:sp>
        <p:nvSpPr>
          <p:cNvPr id="3" name="Slide Number Placeholder 2">
            <a:extLst>
              <a:ext uri="{FF2B5EF4-FFF2-40B4-BE49-F238E27FC236}">
                <a16:creationId xmlns:a16="http://schemas.microsoft.com/office/drawing/2014/main" id="{4E5CF127-561C-4284-A7E5-7E5BEF20DD78}"/>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58/110</a:t>
            </a:r>
          </a:p>
        </p:txBody>
      </p:sp>
      <p:cxnSp>
        <p:nvCxnSpPr>
          <p:cNvPr id="8" name="Straight Connector 7"/>
          <p:cNvCxnSpPr/>
          <p:nvPr/>
        </p:nvCxnSpPr>
        <p:spPr>
          <a:xfrm flipH="1" flipV="1">
            <a:off x="4129859" y="1873873"/>
            <a:ext cx="1853477" cy="11790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2127196" y="2004369"/>
            <a:ext cx="1804150" cy="10422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3895286" y="176439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8" name="Straight Connector 17"/>
          <p:cNvCxnSpPr/>
          <p:nvPr/>
        </p:nvCxnSpPr>
        <p:spPr>
          <a:xfrm flipH="1" flipV="1">
            <a:off x="2191623" y="2983419"/>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406709" y="3052968"/>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1922122" y="2896761"/>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Oval 16"/>
          <p:cNvSpPr>
            <a:spLocks noChangeArrowheads="1"/>
          </p:cNvSpPr>
          <p:nvPr/>
        </p:nvSpPr>
        <p:spPr bwMode="auto">
          <a:xfrm>
            <a:off x="1225864" y="378497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5" name="Oval 16"/>
          <p:cNvSpPr>
            <a:spLocks noChangeArrowheads="1"/>
          </p:cNvSpPr>
          <p:nvPr/>
        </p:nvSpPr>
        <p:spPr bwMode="auto">
          <a:xfrm>
            <a:off x="2572943" y="382819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4" name="Oval 16"/>
          <p:cNvSpPr>
            <a:spLocks noChangeArrowheads="1"/>
          </p:cNvSpPr>
          <p:nvPr/>
        </p:nvSpPr>
        <p:spPr bwMode="auto">
          <a:xfrm>
            <a:off x="3251450" y="480945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6" name="Oval 16"/>
          <p:cNvSpPr>
            <a:spLocks noChangeArrowheads="1"/>
          </p:cNvSpPr>
          <p:nvPr/>
        </p:nvSpPr>
        <p:spPr bwMode="auto">
          <a:xfrm>
            <a:off x="577751" y="4810837"/>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61" name="Straight Connector 60"/>
          <p:cNvCxnSpPr/>
          <p:nvPr/>
        </p:nvCxnSpPr>
        <p:spPr>
          <a:xfrm flipH="1" flipV="1">
            <a:off x="6681579" y="4037641"/>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6068720" y="4104906"/>
            <a:ext cx="457312" cy="8114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flipV="1">
            <a:off x="6035072" y="3002007"/>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5250158" y="3071556"/>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Oval 16"/>
          <p:cNvSpPr>
            <a:spLocks noChangeArrowheads="1"/>
          </p:cNvSpPr>
          <p:nvPr/>
        </p:nvSpPr>
        <p:spPr bwMode="auto">
          <a:xfrm>
            <a:off x="5765571" y="29153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6" name="Oval 16"/>
          <p:cNvSpPr>
            <a:spLocks noChangeArrowheads="1"/>
          </p:cNvSpPr>
          <p:nvPr/>
        </p:nvSpPr>
        <p:spPr bwMode="auto">
          <a:xfrm>
            <a:off x="5069313" y="380356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7" name="Oval 16"/>
          <p:cNvSpPr>
            <a:spLocks noChangeArrowheads="1"/>
          </p:cNvSpPr>
          <p:nvPr/>
        </p:nvSpPr>
        <p:spPr bwMode="auto">
          <a:xfrm>
            <a:off x="6416392" y="384678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8" name="Oval 16"/>
          <p:cNvSpPr>
            <a:spLocks noChangeArrowheads="1"/>
          </p:cNvSpPr>
          <p:nvPr/>
        </p:nvSpPr>
        <p:spPr bwMode="auto">
          <a:xfrm>
            <a:off x="5870482" y="482942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9" name="Oval 16"/>
          <p:cNvSpPr>
            <a:spLocks noChangeArrowheads="1"/>
          </p:cNvSpPr>
          <p:nvPr/>
        </p:nvSpPr>
        <p:spPr bwMode="auto">
          <a:xfrm>
            <a:off x="7094899" y="482803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76" name="TextBox 75"/>
          <p:cNvSpPr txBox="1"/>
          <p:nvPr/>
        </p:nvSpPr>
        <p:spPr>
          <a:xfrm>
            <a:off x="3944575" y="1786250"/>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82" name="TextBox 81"/>
          <p:cNvSpPr txBox="1"/>
          <p:nvPr/>
        </p:nvSpPr>
        <p:spPr>
          <a:xfrm>
            <a:off x="1967407" y="2929860"/>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83" name="TextBox 82"/>
          <p:cNvSpPr txBox="1"/>
          <p:nvPr/>
        </p:nvSpPr>
        <p:spPr>
          <a:xfrm>
            <a:off x="5833156" y="2937297"/>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84" name="Rectangle 83"/>
          <p:cNvSpPr/>
          <p:nvPr/>
        </p:nvSpPr>
        <p:spPr>
          <a:xfrm>
            <a:off x="1273931" y="3822650"/>
            <a:ext cx="343364" cy="369332"/>
          </a:xfrm>
          <a:prstGeom prst="rect">
            <a:avLst/>
          </a:prstGeom>
        </p:spPr>
        <p:txBody>
          <a:bodyPr wrap="none">
            <a:spAutoFit/>
          </a:bodyPr>
          <a:lstStyle/>
          <a:p>
            <a:r>
              <a:rPr lang="en-US" b="1" dirty="0">
                <a:solidFill>
                  <a:prstClr val="black"/>
                </a:solidFill>
              </a:rPr>
              <a:t>D</a:t>
            </a:r>
          </a:p>
        </p:txBody>
      </p:sp>
      <p:sp>
        <p:nvSpPr>
          <p:cNvPr id="85" name="Rectangle 84"/>
          <p:cNvSpPr/>
          <p:nvPr/>
        </p:nvSpPr>
        <p:spPr>
          <a:xfrm>
            <a:off x="5116299" y="3846782"/>
            <a:ext cx="304892" cy="369332"/>
          </a:xfrm>
          <a:prstGeom prst="rect">
            <a:avLst/>
          </a:prstGeom>
        </p:spPr>
        <p:txBody>
          <a:bodyPr wrap="none">
            <a:spAutoFit/>
          </a:bodyPr>
          <a:lstStyle/>
          <a:p>
            <a:r>
              <a:rPr lang="en-US" b="1" dirty="0">
                <a:solidFill>
                  <a:prstClr val="black"/>
                </a:solidFill>
              </a:rPr>
              <a:t>F</a:t>
            </a:r>
          </a:p>
        </p:txBody>
      </p:sp>
      <p:sp>
        <p:nvSpPr>
          <p:cNvPr id="86" name="Rectangle 85"/>
          <p:cNvSpPr/>
          <p:nvPr/>
        </p:nvSpPr>
        <p:spPr>
          <a:xfrm>
            <a:off x="6467363" y="3861983"/>
            <a:ext cx="340158" cy="369332"/>
          </a:xfrm>
          <a:prstGeom prst="rect">
            <a:avLst/>
          </a:prstGeom>
        </p:spPr>
        <p:txBody>
          <a:bodyPr wrap="none">
            <a:spAutoFit/>
          </a:bodyPr>
          <a:lstStyle/>
          <a:p>
            <a:r>
              <a:rPr lang="en-US" b="1" dirty="0">
                <a:solidFill>
                  <a:prstClr val="black"/>
                </a:solidFill>
              </a:rPr>
              <a:t>G</a:t>
            </a:r>
          </a:p>
        </p:txBody>
      </p:sp>
      <p:sp>
        <p:nvSpPr>
          <p:cNvPr id="87" name="Rectangle 86"/>
          <p:cNvSpPr/>
          <p:nvPr/>
        </p:nvSpPr>
        <p:spPr>
          <a:xfrm>
            <a:off x="5923779" y="4883500"/>
            <a:ext cx="277640" cy="369332"/>
          </a:xfrm>
          <a:prstGeom prst="rect">
            <a:avLst/>
          </a:prstGeom>
        </p:spPr>
        <p:txBody>
          <a:bodyPr wrap="none">
            <a:spAutoFit/>
          </a:bodyPr>
          <a:lstStyle/>
          <a:p>
            <a:r>
              <a:rPr lang="en-US" b="1" dirty="0">
                <a:solidFill>
                  <a:prstClr val="black"/>
                </a:solidFill>
              </a:rPr>
              <a:t>J</a:t>
            </a:r>
          </a:p>
        </p:txBody>
      </p:sp>
      <p:sp>
        <p:nvSpPr>
          <p:cNvPr id="88" name="Rectangle 87"/>
          <p:cNvSpPr/>
          <p:nvPr/>
        </p:nvSpPr>
        <p:spPr>
          <a:xfrm>
            <a:off x="7146697" y="4879786"/>
            <a:ext cx="330540" cy="369332"/>
          </a:xfrm>
          <a:prstGeom prst="rect">
            <a:avLst/>
          </a:prstGeom>
        </p:spPr>
        <p:txBody>
          <a:bodyPr wrap="none">
            <a:spAutoFit/>
          </a:bodyPr>
          <a:lstStyle/>
          <a:p>
            <a:r>
              <a:rPr lang="en-US" b="1" dirty="0">
                <a:solidFill>
                  <a:prstClr val="black"/>
                </a:solidFill>
              </a:rPr>
              <a:t>K</a:t>
            </a:r>
          </a:p>
        </p:txBody>
      </p:sp>
      <p:sp>
        <p:nvSpPr>
          <p:cNvPr id="89" name="Rectangle 88"/>
          <p:cNvSpPr/>
          <p:nvPr/>
        </p:nvSpPr>
        <p:spPr>
          <a:xfrm>
            <a:off x="3294991" y="4859128"/>
            <a:ext cx="248786" cy="369332"/>
          </a:xfrm>
          <a:prstGeom prst="rect">
            <a:avLst/>
          </a:prstGeom>
        </p:spPr>
        <p:txBody>
          <a:bodyPr wrap="none">
            <a:spAutoFit/>
          </a:bodyPr>
          <a:lstStyle/>
          <a:p>
            <a:r>
              <a:rPr lang="en-US" b="1" dirty="0">
                <a:solidFill>
                  <a:prstClr val="black"/>
                </a:solidFill>
              </a:rPr>
              <a:t>I</a:t>
            </a:r>
          </a:p>
        </p:txBody>
      </p:sp>
      <p:sp>
        <p:nvSpPr>
          <p:cNvPr id="91" name="Rectangle 90"/>
          <p:cNvSpPr/>
          <p:nvPr/>
        </p:nvSpPr>
        <p:spPr>
          <a:xfrm>
            <a:off x="641576" y="4852097"/>
            <a:ext cx="346570" cy="369332"/>
          </a:xfrm>
          <a:prstGeom prst="rect">
            <a:avLst/>
          </a:prstGeom>
        </p:spPr>
        <p:txBody>
          <a:bodyPr wrap="none">
            <a:spAutoFit/>
          </a:bodyPr>
          <a:lstStyle/>
          <a:p>
            <a:r>
              <a:rPr lang="en-US" b="1" dirty="0">
                <a:solidFill>
                  <a:prstClr val="black"/>
                </a:solidFill>
              </a:rPr>
              <a:t>H</a:t>
            </a:r>
          </a:p>
        </p:txBody>
      </p:sp>
      <p:sp>
        <p:nvSpPr>
          <p:cNvPr id="92" name="Rectangle 91"/>
          <p:cNvSpPr/>
          <p:nvPr/>
        </p:nvSpPr>
        <p:spPr>
          <a:xfrm>
            <a:off x="2632725" y="3853127"/>
            <a:ext cx="316112" cy="369332"/>
          </a:xfrm>
          <a:prstGeom prst="rect">
            <a:avLst/>
          </a:prstGeom>
        </p:spPr>
        <p:txBody>
          <a:bodyPr wrap="none">
            <a:spAutoFit/>
          </a:bodyPr>
          <a:lstStyle/>
          <a:p>
            <a:r>
              <a:rPr lang="en-US" b="1" dirty="0">
                <a:solidFill>
                  <a:prstClr val="black"/>
                </a:solidFill>
              </a:rPr>
              <a:t>E</a:t>
            </a:r>
          </a:p>
        </p:txBody>
      </p:sp>
      <p:graphicFrame>
        <p:nvGraphicFramePr>
          <p:cNvPr id="5" name="Table 4"/>
          <p:cNvGraphicFramePr>
            <a:graphicFrameLocks noGrp="1"/>
          </p:cNvGraphicFramePr>
          <p:nvPr>
            <p:extLst>
              <p:ext uri="{D42A27DB-BD31-4B8C-83A1-F6EECF244321}">
                <p14:modId xmlns:p14="http://schemas.microsoft.com/office/powerpoint/2010/main" val="3999213846"/>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C</a:t>
                      </a: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extLst>
                  <a:ext uri="{0D108BD9-81ED-4DB2-BD59-A6C34878D82A}">
                    <a16:rowId xmlns:a16="http://schemas.microsoft.com/office/drawing/2014/main" val="660647860"/>
                  </a:ext>
                </a:extLst>
              </a:tr>
            </a:tbl>
          </a:graphicData>
        </a:graphic>
      </p:graphicFrame>
      <p:sp>
        <p:nvSpPr>
          <p:cNvPr id="6" name="TextBox 5"/>
          <p:cNvSpPr txBox="1"/>
          <p:nvPr/>
        </p:nvSpPr>
        <p:spPr>
          <a:xfrm>
            <a:off x="965262" y="5554545"/>
            <a:ext cx="362600" cy="461665"/>
          </a:xfrm>
          <a:prstGeom prst="rect">
            <a:avLst/>
          </a:prstGeom>
          <a:noFill/>
        </p:spPr>
        <p:txBody>
          <a:bodyPr wrap="none" rtlCol="0">
            <a:spAutoFit/>
          </a:bodyPr>
          <a:lstStyle/>
          <a:p>
            <a:r>
              <a:rPr lang="en-US" sz="2400" b="1">
                <a:effectLst>
                  <a:outerShdw blurRad="38100" dist="38100" dir="2700000" algn="tl">
                    <a:srgbClr val="000000">
                      <a:alpha val="43137"/>
                    </a:srgbClr>
                  </a:outerShdw>
                </a:effectLst>
              </a:rPr>
              <a:t>S</a:t>
            </a:r>
          </a:p>
        </p:txBody>
      </p:sp>
      <p:cxnSp>
        <p:nvCxnSpPr>
          <p:cNvPr id="55" name="Straight Connector 54"/>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57" name="Table 56"/>
          <p:cNvGraphicFramePr>
            <a:graphicFrameLocks noGrp="1"/>
          </p:cNvGraphicFramePr>
          <p:nvPr/>
        </p:nvGraphicFramePr>
        <p:xfrm>
          <a:off x="1437550" y="6071671"/>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B</a:t>
                      </a:r>
                    </a:p>
                  </a:txBody>
                  <a:tcPr>
                    <a:noFill/>
                  </a:tcPr>
                </a:tc>
                <a:tc>
                  <a:txBody>
                    <a:bodyPr/>
                    <a:lstStyle/>
                    <a:p>
                      <a:pPr algn="ctr"/>
                      <a:r>
                        <a:rPr lang="en-US" dirty="0">
                          <a:solidFill>
                            <a:schemeClr val="tx1"/>
                          </a:solidFill>
                        </a:rPr>
                        <a:t>D</a:t>
                      </a:r>
                    </a:p>
                  </a:txBody>
                  <a:tcPr>
                    <a:noFill/>
                  </a:tcPr>
                </a:tc>
                <a:tc>
                  <a:txBody>
                    <a:bodyPr/>
                    <a:lstStyle/>
                    <a:p>
                      <a:pPr algn="ctr"/>
                      <a:r>
                        <a:rPr lang="en-US" dirty="0">
                          <a:solidFill>
                            <a:schemeClr val="tx1"/>
                          </a:solidFill>
                        </a:rPr>
                        <a:t>H</a:t>
                      </a:r>
                    </a:p>
                  </a:txBody>
                  <a:tcPr>
                    <a:noFill/>
                  </a:tcPr>
                </a:tc>
                <a:tc>
                  <a:txBody>
                    <a:bodyPr/>
                    <a:lstStyle/>
                    <a:p>
                      <a:pPr algn="ctr"/>
                      <a:r>
                        <a:rPr lang="en-US" dirty="0">
                          <a:solidFill>
                            <a:schemeClr val="tx1"/>
                          </a:solidFill>
                        </a:rPr>
                        <a:t>E</a:t>
                      </a:r>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dirty="0"/>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graphicFrame>
        <p:nvGraphicFramePr>
          <p:cNvPr id="45" name="Table 44">
            <a:extLst>
              <a:ext uri="{FF2B5EF4-FFF2-40B4-BE49-F238E27FC236}">
                <a16:creationId xmlns:a16="http://schemas.microsoft.com/office/drawing/2014/main" id="{E2DF3076-4C6D-43C5-8625-A7378B8F609E}"/>
              </a:ext>
            </a:extLst>
          </p:cNvPr>
          <p:cNvGraphicFramePr>
            <a:graphicFrameLocks noGrp="1"/>
          </p:cNvGraphicFramePr>
          <p:nvPr/>
        </p:nvGraphicFramePr>
        <p:xfrm>
          <a:off x="8658993" y="1862844"/>
          <a:ext cx="2132240" cy="4719320"/>
        </p:xfrm>
        <a:graphic>
          <a:graphicData uri="http://schemas.openxmlformats.org/drawingml/2006/table">
            <a:tbl>
              <a:tblPr firstRow="1" bandRow="1">
                <a:tableStyleId>{5C22544A-7EE6-4342-B048-85BDC9FD1C3A}</a:tableStyleId>
              </a:tblPr>
              <a:tblGrid>
                <a:gridCol w="847864">
                  <a:extLst>
                    <a:ext uri="{9D8B030D-6E8A-4147-A177-3AD203B41FA5}">
                      <a16:colId xmlns:a16="http://schemas.microsoft.com/office/drawing/2014/main" val="2989644895"/>
                    </a:ext>
                  </a:extLst>
                </a:gridCol>
                <a:gridCol w="1284376">
                  <a:extLst>
                    <a:ext uri="{9D8B030D-6E8A-4147-A177-3AD203B41FA5}">
                      <a16:colId xmlns:a16="http://schemas.microsoft.com/office/drawing/2014/main" val="4244960412"/>
                    </a:ext>
                  </a:extLst>
                </a:gridCol>
              </a:tblGrid>
              <a:tr h="370840">
                <a:tc>
                  <a:txBody>
                    <a:bodyPr/>
                    <a:lstStyle/>
                    <a:p>
                      <a:pPr algn="ctr"/>
                      <a:r>
                        <a:rPr lang="en-US" dirty="0"/>
                        <a:t>NODE</a:t>
                      </a:r>
                    </a:p>
                  </a:txBody>
                  <a:tcPr/>
                </a:tc>
                <a:tc>
                  <a:txBody>
                    <a:bodyPr/>
                    <a:lstStyle/>
                    <a:p>
                      <a:pPr algn="ctr"/>
                      <a:r>
                        <a:rPr lang="en-US" dirty="0"/>
                        <a:t>CHILDREN</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F,G</a:t>
                      </a:r>
                      <a:endParaRPr lang="en-US" b="1" dirty="0"/>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H,-</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-,I</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J,K</a:t>
                      </a:r>
                    </a:p>
                  </a:txBody>
                  <a:tcPr/>
                </a:tc>
                <a:extLst>
                  <a:ext uri="{0D108BD9-81ED-4DB2-BD59-A6C34878D82A}">
                    <a16:rowId xmlns:a16="http://schemas.microsoft.com/office/drawing/2014/main" val="1205733479"/>
                  </a:ext>
                </a:extLst>
              </a:tr>
              <a:tr h="370840">
                <a:tc>
                  <a:txBody>
                    <a:bodyPr/>
                    <a:lstStyle/>
                    <a:p>
                      <a:pPr algn="ctr"/>
                      <a:r>
                        <a:rPr lang="en-US" b="1" dirty="0"/>
                        <a: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987431379"/>
                  </a:ext>
                </a:extLst>
              </a:tr>
              <a:tr h="370840">
                <a:tc>
                  <a:txBody>
                    <a:bodyPr/>
                    <a:lstStyle/>
                    <a:p>
                      <a:pPr algn="ctr"/>
                      <a:r>
                        <a:rPr lang="en-US" b="1" dirty="0"/>
                        <a:t>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290039795"/>
                  </a:ext>
                </a:extLst>
              </a:tr>
              <a:tr h="370840">
                <a:tc>
                  <a:txBody>
                    <a:bodyPr/>
                    <a:lstStyle/>
                    <a:p>
                      <a:pPr algn="ctr"/>
                      <a:r>
                        <a:rPr lang="en-US" b="1" dirty="0"/>
                        <a:t>J</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873125107"/>
                  </a:ext>
                </a:extLst>
              </a:tr>
              <a:tr h="370840">
                <a:tc>
                  <a:txBody>
                    <a:bodyPr/>
                    <a:lstStyle/>
                    <a:p>
                      <a:pPr algn="ctr"/>
                      <a:r>
                        <a:rPr lang="en-US" b="1" dirty="0"/>
                        <a:t>K</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640632725"/>
                  </a:ext>
                </a:extLst>
              </a:tr>
            </a:tbl>
          </a:graphicData>
        </a:graphic>
      </p:graphicFrame>
    </p:spTree>
    <p:custDataLst>
      <p:tags r:id="rId1"/>
    </p:custDataLst>
    <p:extLst>
      <p:ext uri="{BB962C8B-B14F-4D97-AF65-F5344CB8AC3E}">
        <p14:creationId xmlns:p14="http://schemas.microsoft.com/office/powerpoint/2010/main" val="41393291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Straight Connector 45"/>
          <p:cNvCxnSpPr/>
          <p:nvPr/>
        </p:nvCxnSpPr>
        <p:spPr>
          <a:xfrm flipV="1">
            <a:off x="797123" y="4129201"/>
            <a:ext cx="542694" cy="82386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flipV="1">
            <a:off x="2838130" y="4019053"/>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ln>
            <a:noFill/>
          </a:ln>
        </p:spPr>
        <p:txBody>
          <a:bodyPr/>
          <a:lstStyle/>
          <a:p>
            <a:r>
              <a:rPr lang="en-US" dirty="0"/>
              <a:t>Depth-First Search</a:t>
            </a:r>
          </a:p>
        </p:txBody>
      </p:sp>
      <p:sp>
        <p:nvSpPr>
          <p:cNvPr id="3" name="Slide Number Placeholder 2">
            <a:extLst>
              <a:ext uri="{FF2B5EF4-FFF2-40B4-BE49-F238E27FC236}">
                <a16:creationId xmlns:a16="http://schemas.microsoft.com/office/drawing/2014/main" id="{CCA281EE-CEFD-4147-85AE-CA5FBDDA6862}"/>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59/110</a:t>
            </a:r>
          </a:p>
        </p:txBody>
      </p:sp>
      <p:cxnSp>
        <p:nvCxnSpPr>
          <p:cNvPr id="8" name="Straight Connector 7"/>
          <p:cNvCxnSpPr/>
          <p:nvPr/>
        </p:nvCxnSpPr>
        <p:spPr>
          <a:xfrm flipH="1" flipV="1">
            <a:off x="4129859" y="1873873"/>
            <a:ext cx="1853477" cy="11790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2127196" y="2004369"/>
            <a:ext cx="1804150" cy="10422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3895286" y="176439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8" name="Straight Connector 17"/>
          <p:cNvCxnSpPr/>
          <p:nvPr/>
        </p:nvCxnSpPr>
        <p:spPr>
          <a:xfrm flipH="1" flipV="1">
            <a:off x="2191623" y="2983419"/>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406709" y="3052968"/>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1922122" y="2896761"/>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Oval 16"/>
          <p:cNvSpPr>
            <a:spLocks noChangeArrowheads="1"/>
          </p:cNvSpPr>
          <p:nvPr/>
        </p:nvSpPr>
        <p:spPr bwMode="auto">
          <a:xfrm>
            <a:off x="1225864" y="378497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5" name="Oval 16"/>
          <p:cNvSpPr>
            <a:spLocks noChangeArrowheads="1"/>
          </p:cNvSpPr>
          <p:nvPr/>
        </p:nvSpPr>
        <p:spPr bwMode="auto">
          <a:xfrm>
            <a:off x="2572943" y="382819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4" name="Oval 16"/>
          <p:cNvSpPr>
            <a:spLocks noChangeArrowheads="1"/>
          </p:cNvSpPr>
          <p:nvPr/>
        </p:nvSpPr>
        <p:spPr bwMode="auto">
          <a:xfrm>
            <a:off x="3251450" y="480945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6" name="Oval 16"/>
          <p:cNvSpPr>
            <a:spLocks noChangeArrowheads="1"/>
          </p:cNvSpPr>
          <p:nvPr/>
        </p:nvSpPr>
        <p:spPr bwMode="auto">
          <a:xfrm>
            <a:off x="577751" y="4810837"/>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61" name="Straight Connector 60"/>
          <p:cNvCxnSpPr/>
          <p:nvPr/>
        </p:nvCxnSpPr>
        <p:spPr>
          <a:xfrm flipH="1" flipV="1">
            <a:off x="6681579" y="4037641"/>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6068720" y="4104906"/>
            <a:ext cx="457312" cy="8114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flipV="1">
            <a:off x="6035072" y="3002007"/>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5250158" y="3071556"/>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Oval 16"/>
          <p:cNvSpPr>
            <a:spLocks noChangeArrowheads="1"/>
          </p:cNvSpPr>
          <p:nvPr/>
        </p:nvSpPr>
        <p:spPr bwMode="auto">
          <a:xfrm>
            <a:off x="5765571" y="29153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6" name="Oval 16"/>
          <p:cNvSpPr>
            <a:spLocks noChangeArrowheads="1"/>
          </p:cNvSpPr>
          <p:nvPr/>
        </p:nvSpPr>
        <p:spPr bwMode="auto">
          <a:xfrm>
            <a:off x="5069313" y="380356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7" name="Oval 16"/>
          <p:cNvSpPr>
            <a:spLocks noChangeArrowheads="1"/>
          </p:cNvSpPr>
          <p:nvPr/>
        </p:nvSpPr>
        <p:spPr bwMode="auto">
          <a:xfrm>
            <a:off x="6416392" y="384678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8" name="Oval 16"/>
          <p:cNvSpPr>
            <a:spLocks noChangeArrowheads="1"/>
          </p:cNvSpPr>
          <p:nvPr/>
        </p:nvSpPr>
        <p:spPr bwMode="auto">
          <a:xfrm>
            <a:off x="5870482" y="482942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9" name="Oval 16"/>
          <p:cNvSpPr>
            <a:spLocks noChangeArrowheads="1"/>
          </p:cNvSpPr>
          <p:nvPr/>
        </p:nvSpPr>
        <p:spPr bwMode="auto">
          <a:xfrm>
            <a:off x="7094899" y="482803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76" name="TextBox 75"/>
          <p:cNvSpPr txBox="1"/>
          <p:nvPr/>
        </p:nvSpPr>
        <p:spPr>
          <a:xfrm>
            <a:off x="3944575" y="1786250"/>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82" name="TextBox 81"/>
          <p:cNvSpPr txBox="1"/>
          <p:nvPr/>
        </p:nvSpPr>
        <p:spPr>
          <a:xfrm>
            <a:off x="1967407" y="2929860"/>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83" name="TextBox 82"/>
          <p:cNvSpPr txBox="1"/>
          <p:nvPr/>
        </p:nvSpPr>
        <p:spPr>
          <a:xfrm>
            <a:off x="5833156" y="2937297"/>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84" name="Rectangle 83"/>
          <p:cNvSpPr/>
          <p:nvPr/>
        </p:nvSpPr>
        <p:spPr>
          <a:xfrm>
            <a:off x="1273931" y="3822650"/>
            <a:ext cx="343364" cy="369332"/>
          </a:xfrm>
          <a:prstGeom prst="rect">
            <a:avLst/>
          </a:prstGeom>
        </p:spPr>
        <p:txBody>
          <a:bodyPr wrap="none">
            <a:spAutoFit/>
          </a:bodyPr>
          <a:lstStyle/>
          <a:p>
            <a:r>
              <a:rPr lang="en-US" b="1" dirty="0">
                <a:solidFill>
                  <a:prstClr val="black"/>
                </a:solidFill>
              </a:rPr>
              <a:t>D</a:t>
            </a:r>
          </a:p>
        </p:txBody>
      </p:sp>
      <p:sp>
        <p:nvSpPr>
          <p:cNvPr id="85" name="Rectangle 84"/>
          <p:cNvSpPr/>
          <p:nvPr/>
        </p:nvSpPr>
        <p:spPr>
          <a:xfrm>
            <a:off x="5116299" y="3846782"/>
            <a:ext cx="304892" cy="369332"/>
          </a:xfrm>
          <a:prstGeom prst="rect">
            <a:avLst/>
          </a:prstGeom>
        </p:spPr>
        <p:txBody>
          <a:bodyPr wrap="none">
            <a:spAutoFit/>
          </a:bodyPr>
          <a:lstStyle/>
          <a:p>
            <a:r>
              <a:rPr lang="en-US" b="1" dirty="0">
                <a:solidFill>
                  <a:prstClr val="black"/>
                </a:solidFill>
              </a:rPr>
              <a:t>F</a:t>
            </a:r>
          </a:p>
        </p:txBody>
      </p:sp>
      <p:sp>
        <p:nvSpPr>
          <p:cNvPr id="86" name="Rectangle 85"/>
          <p:cNvSpPr/>
          <p:nvPr/>
        </p:nvSpPr>
        <p:spPr>
          <a:xfrm>
            <a:off x="6467363" y="3861983"/>
            <a:ext cx="340158" cy="369332"/>
          </a:xfrm>
          <a:prstGeom prst="rect">
            <a:avLst/>
          </a:prstGeom>
        </p:spPr>
        <p:txBody>
          <a:bodyPr wrap="none">
            <a:spAutoFit/>
          </a:bodyPr>
          <a:lstStyle/>
          <a:p>
            <a:r>
              <a:rPr lang="en-US" b="1" dirty="0">
                <a:solidFill>
                  <a:prstClr val="black"/>
                </a:solidFill>
              </a:rPr>
              <a:t>G</a:t>
            </a:r>
          </a:p>
        </p:txBody>
      </p:sp>
      <p:sp>
        <p:nvSpPr>
          <p:cNvPr id="87" name="Rectangle 86"/>
          <p:cNvSpPr/>
          <p:nvPr/>
        </p:nvSpPr>
        <p:spPr>
          <a:xfrm>
            <a:off x="5923779" y="4883500"/>
            <a:ext cx="277640" cy="369332"/>
          </a:xfrm>
          <a:prstGeom prst="rect">
            <a:avLst/>
          </a:prstGeom>
        </p:spPr>
        <p:txBody>
          <a:bodyPr wrap="none">
            <a:spAutoFit/>
          </a:bodyPr>
          <a:lstStyle/>
          <a:p>
            <a:r>
              <a:rPr lang="en-US" b="1" dirty="0">
                <a:solidFill>
                  <a:prstClr val="black"/>
                </a:solidFill>
              </a:rPr>
              <a:t>J</a:t>
            </a:r>
          </a:p>
        </p:txBody>
      </p:sp>
      <p:sp>
        <p:nvSpPr>
          <p:cNvPr id="88" name="Rectangle 87"/>
          <p:cNvSpPr/>
          <p:nvPr/>
        </p:nvSpPr>
        <p:spPr>
          <a:xfrm>
            <a:off x="7146697" y="4879786"/>
            <a:ext cx="330540" cy="369332"/>
          </a:xfrm>
          <a:prstGeom prst="rect">
            <a:avLst/>
          </a:prstGeom>
        </p:spPr>
        <p:txBody>
          <a:bodyPr wrap="none">
            <a:spAutoFit/>
          </a:bodyPr>
          <a:lstStyle/>
          <a:p>
            <a:r>
              <a:rPr lang="en-US" b="1" dirty="0">
                <a:solidFill>
                  <a:prstClr val="black"/>
                </a:solidFill>
              </a:rPr>
              <a:t>K</a:t>
            </a:r>
          </a:p>
        </p:txBody>
      </p:sp>
      <p:sp>
        <p:nvSpPr>
          <p:cNvPr id="89" name="Rectangle 88"/>
          <p:cNvSpPr/>
          <p:nvPr/>
        </p:nvSpPr>
        <p:spPr>
          <a:xfrm>
            <a:off x="3294991" y="4859128"/>
            <a:ext cx="248786" cy="369332"/>
          </a:xfrm>
          <a:prstGeom prst="rect">
            <a:avLst/>
          </a:prstGeom>
        </p:spPr>
        <p:txBody>
          <a:bodyPr wrap="none">
            <a:spAutoFit/>
          </a:bodyPr>
          <a:lstStyle/>
          <a:p>
            <a:r>
              <a:rPr lang="en-US" b="1" dirty="0">
                <a:solidFill>
                  <a:prstClr val="black"/>
                </a:solidFill>
              </a:rPr>
              <a:t>I</a:t>
            </a:r>
          </a:p>
        </p:txBody>
      </p:sp>
      <p:sp>
        <p:nvSpPr>
          <p:cNvPr id="91" name="Rectangle 90"/>
          <p:cNvSpPr/>
          <p:nvPr/>
        </p:nvSpPr>
        <p:spPr>
          <a:xfrm>
            <a:off x="641576" y="4852097"/>
            <a:ext cx="346570" cy="369332"/>
          </a:xfrm>
          <a:prstGeom prst="rect">
            <a:avLst/>
          </a:prstGeom>
        </p:spPr>
        <p:txBody>
          <a:bodyPr wrap="none">
            <a:spAutoFit/>
          </a:bodyPr>
          <a:lstStyle/>
          <a:p>
            <a:r>
              <a:rPr lang="en-US" b="1" dirty="0">
                <a:solidFill>
                  <a:prstClr val="black"/>
                </a:solidFill>
              </a:rPr>
              <a:t>H</a:t>
            </a:r>
          </a:p>
        </p:txBody>
      </p:sp>
      <p:sp>
        <p:nvSpPr>
          <p:cNvPr id="92" name="Rectangle 91"/>
          <p:cNvSpPr/>
          <p:nvPr/>
        </p:nvSpPr>
        <p:spPr>
          <a:xfrm>
            <a:off x="2632725" y="3853127"/>
            <a:ext cx="316112" cy="369332"/>
          </a:xfrm>
          <a:prstGeom prst="rect">
            <a:avLst/>
          </a:prstGeom>
        </p:spPr>
        <p:txBody>
          <a:bodyPr wrap="none">
            <a:spAutoFit/>
          </a:bodyPr>
          <a:lstStyle/>
          <a:p>
            <a:r>
              <a:rPr lang="en-US" b="1" dirty="0">
                <a:solidFill>
                  <a:prstClr val="black"/>
                </a:solidFill>
              </a:rPr>
              <a:t>E</a:t>
            </a:r>
          </a:p>
        </p:txBody>
      </p:sp>
      <p:graphicFrame>
        <p:nvGraphicFramePr>
          <p:cNvPr id="5" name="Table 4"/>
          <p:cNvGraphicFramePr>
            <a:graphicFrameLocks noGrp="1"/>
          </p:cNvGraphicFramePr>
          <p:nvPr>
            <p:extLst>
              <p:ext uri="{D42A27DB-BD31-4B8C-83A1-F6EECF244321}">
                <p14:modId xmlns:p14="http://schemas.microsoft.com/office/powerpoint/2010/main" val="1855893214"/>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C</a:t>
                      </a:r>
                    </a:p>
                  </a:txBody>
                  <a:tcPr>
                    <a:solidFill>
                      <a:schemeClr val="accent2">
                        <a:lumMod val="60000"/>
                        <a:lumOff val="40000"/>
                      </a:schemeClr>
                    </a:solidFill>
                  </a:tcPr>
                </a:tc>
                <a:tc>
                  <a:txBody>
                    <a:bodyPr/>
                    <a:lstStyle/>
                    <a:p>
                      <a:pPr algn="ctr"/>
                      <a:r>
                        <a:rPr lang="en-US" dirty="0">
                          <a:solidFill>
                            <a:schemeClr val="tx1"/>
                          </a:solidFill>
                        </a:rPr>
                        <a:t>I</a:t>
                      </a: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extLst>
                  <a:ext uri="{0D108BD9-81ED-4DB2-BD59-A6C34878D82A}">
                    <a16:rowId xmlns:a16="http://schemas.microsoft.com/office/drawing/2014/main" val="660647860"/>
                  </a:ext>
                </a:extLst>
              </a:tr>
            </a:tbl>
          </a:graphicData>
        </a:graphic>
      </p:graphicFrame>
      <p:sp>
        <p:nvSpPr>
          <p:cNvPr id="6" name="TextBox 5"/>
          <p:cNvSpPr txBox="1"/>
          <p:nvPr/>
        </p:nvSpPr>
        <p:spPr>
          <a:xfrm>
            <a:off x="965262" y="5554545"/>
            <a:ext cx="362600" cy="461665"/>
          </a:xfrm>
          <a:prstGeom prst="rect">
            <a:avLst/>
          </a:prstGeom>
          <a:noFill/>
        </p:spPr>
        <p:txBody>
          <a:bodyPr wrap="none" rtlCol="0">
            <a:spAutoFit/>
          </a:bodyPr>
          <a:lstStyle/>
          <a:p>
            <a:r>
              <a:rPr lang="en-US" sz="2400" b="1">
                <a:effectLst>
                  <a:outerShdw blurRad="38100" dist="38100" dir="2700000" algn="tl">
                    <a:srgbClr val="000000">
                      <a:alpha val="43137"/>
                    </a:srgbClr>
                  </a:outerShdw>
                </a:effectLst>
              </a:rPr>
              <a:t>S</a:t>
            </a:r>
          </a:p>
        </p:txBody>
      </p:sp>
      <p:cxnSp>
        <p:nvCxnSpPr>
          <p:cNvPr id="55" name="Straight Connector 54"/>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57" name="Table 56"/>
          <p:cNvGraphicFramePr>
            <a:graphicFrameLocks noGrp="1"/>
          </p:cNvGraphicFramePr>
          <p:nvPr/>
        </p:nvGraphicFramePr>
        <p:xfrm>
          <a:off x="1437550" y="6071671"/>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B</a:t>
                      </a:r>
                    </a:p>
                  </a:txBody>
                  <a:tcPr>
                    <a:noFill/>
                  </a:tcPr>
                </a:tc>
                <a:tc>
                  <a:txBody>
                    <a:bodyPr/>
                    <a:lstStyle/>
                    <a:p>
                      <a:pPr algn="ctr"/>
                      <a:r>
                        <a:rPr lang="en-US" dirty="0">
                          <a:solidFill>
                            <a:schemeClr val="tx1"/>
                          </a:solidFill>
                        </a:rPr>
                        <a:t>D</a:t>
                      </a:r>
                    </a:p>
                  </a:txBody>
                  <a:tcPr>
                    <a:noFill/>
                  </a:tcPr>
                </a:tc>
                <a:tc>
                  <a:txBody>
                    <a:bodyPr/>
                    <a:lstStyle/>
                    <a:p>
                      <a:pPr algn="ctr"/>
                      <a:r>
                        <a:rPr lang="en-US" dirty="0">
                          <a:solidFill>
                            <a:schemeClr val="tx1"/>
                          </a:solidFill>
                        </a:rPr>
                        <a:t>H</a:t>
                      </a:r>
                    </a:p>
                  </a:txBody>
                  <a:tcPr>
                    <a:noFill/>
                  </a:tcPr>
                </a:tc>
                <a:tc>
                  <a:txBody>
                    <a:bodyPr/>
                    <a:lstStyle/>
                    <a:p>
                      <a:pPr algn="ctr"/>
                      <a:r>
                        <a:rPr lang="en-US" dirty="0">
                          <a:solidFill>
                            <a:schemeClr val="tx1"/>
                          </a:solidFill>
                        </a:rPr>
                        <a:t>E</a:t>
                      </a:r>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dirty="0"/>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graphicFrame>
        <p:nvGraphicFramePr>
          <p:cNvPr id="45" name="Table 44">
            <a:extLst>
              <a:ext uri="{FF2B5EF4-FFF2-40B4-BE49-F238E27FC236}">
                <a16:creationId xmlns:a16="http://schemas.microsoft.com/office/drawing/2014/main" id="{72D40344-AB6E-4CBC-9DFE-3C8DD726BE58}"/>
              </a:ext>
            </a:extLst>
          </p:cNvPr>
          <p:cNvGraphicFramePr>
            <a:graphicFrameLocks noGrp="1"/>
          </p:cNvGraphicFramePr>
          <p:nvPr/>
        </p:nvGraphicFramePr>
        <p:xfrm>
          <a:off x="8658993" y="1862844"/>
          <a:ext cx="2132240" cy="4719320"/>
        </p:xfrm>
        <a:graphic>
          <a:graphicData uri="http://schemas.openxmlformats.org/drawingml/2006/table">
            <a:tbl>
              <a:tblPr firstRow="1" bandRow="1">
                <a:tableStyleId>{5C22544A-7EE6-4342-B048-85BDC9FD1C3A}</a:tableStyleId>
              </a:tblPr>
              <a:tblGrid>
                <a:gridCol w="847864">
                  <a:extLst>
                    <a:ext uri="{9D8B030D-6E8A-4147-A177-3AD203B41FA5}">
                      <a16:colId xmlns:a16="http://schemas.microsoft.com/office/drawing/2014/main" val="2989644895"/>
                    </a:ext>
                  </a:extLst>
                </a:gridCol>
                <a:gridCol w="1284376">
                  <a:extLst>
                    <a:ext uri="{9D8B030D-6E8A-4147-A177-3AD203B41FA5}">
                      <a16:colId xmlns:a16="http://schemas.microsoft.com/office/drawing/2014/main" val="4244960412"/>
                    </a:ext>
                  </a:extLst>
                </a:gridCol>
              </a:tblGrid>
              <a:tr h="370840">
                <a:tc>
                  <a:txBody>
                    <a:bodyPr/>
                    <a:lstStyle/>
                    <a:p>
                      <a:pPr algn="ctr"/>
                      <a:r>
                        <a:rPr lang="en-US" dirty="0"/>
                        <a:t>NODE</a:t>
                      </a:r>
                    </a:p>
                  </a:txBody>
                  <a:tcPr/>
                </a:tc>
                <a:tc>
                  <a:txBody>
                    <a:bodyPr/>
                    <a:lstStyle/>
                    <a:p>
                      <a:pPr algn="ctr"/>
                      <a:r>
                        <a:rPr lang="en-US" dirty="0"/>
                        <a:t>CHILDREN</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F,G</a:t>
                      </a:r>
                      <a:endParaRPr lang="en-US" b="1" dirty="0"/>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H,-</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-,I</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J,K</a:t>
                      </a:r>
                    </a:p>
                  </a:txBody>
                  <a:tcPr/>
                </a:tc>
                <a:extLst>
                  <a:ext uri="{0D108BD9-81ED-4DB2-BD59-A6C34878D82A}">
                    <a16:rowId xmlns:a16="http://schemas.microsoft.com/office/drawing/2014/main" val="1205733479"/>
                  </a:ext>
                </a:extLst>
              </a:tr>
              <a:tr h="370840">
                <a:tc>
                  <a:txBody>
                    <a:bodyPr/>
                    <a:lstStyle/>
                    <a:p>
                      <a:pPr algn="ctr"/>
                      <a:r>
                        <a:rPr lang="en-US" b="1" dirty="0"/>
                        <a: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987431379"/>
                  </a:ext>
                </a:extLst>
              </a:tr>
              <a:tr h="370840">
                <a:tc>
                  <a:txBody>
                    <a:bodyPr/>
                    <a:lstStyle/>
                    <a:p>
                      <a:pPr algn="ctr"/>
                      <a:r>
                        <a:rPr lang="en-US" b="1" dirty="0"/>
                        <a:t>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290039795"/>
                  </a:ext>
                </a:extLst>
              </a:tr>
              <a:tr h="370840">
                <a:tc>
                  <a:txBody>
                    <a:bodyPr/>
                    <a:lstStyle/>
                    <a:p>
                      <a:pPr algn="ctr"/>
                      <a:r>
                        <a:rPr lang="en-US" b="1" dirty="0"/>
                        <a:t>J</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873125107"/>
                  </a:ext>
                </a:extLst>
              </a:tr>
              <a:tr h="370840">
                <a:tc>
                  <a:txBody>
                    <a:bodyPr/>
                    <a:lstStyle/>
                    <a:p>
                      <a:pPr algn="ctr"/>
                      <a:r>
                        <a:rPr lang="en-US" b="1" dirty="0"/>
                        <a:t>K</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640632725"/>
                  </a:ext>
                </a:extLst>
              </a:tr>
            </a:tbl>
          </a:graphicData>
        </a:graphic>
      </p:graphicFrame>
    </p:spTree>
    <p:custDataLst>
      <p:tags r:id="rId1"/>
    </p:custDataLst>
    <p:extLst>
      <p:ext uri="{BB962C8B-B14F-4D97-AF65-F5344CB8AC3E}">
        <p14:creationId xmlns:p14="http://schemas.microsoft.com/office/powerpoint/2010/main" val="39601932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Straight Connector 45"/>
          <p:cNvCxnSpPr/>
          <p:nvPr/>
        </p:nvCxnSpPr>
        <p:spPr>
          <a:xfrm flipV="1">
            <a:off x="797123" y="4129201"/>
            <a:ext cx="542694" cy="82386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flipV="1">
            <a:off x="2838130" y="4019053"/>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ln>
            <a:noFill/>
          </a:ln>
        </p:spPr>
        <p:txBody>
          <a:bodyPr/>
          <a:lstStyle/>
          <a:p>
            <a:r>
              <a:rPr lang="en-US" dirty="0"/>
              <a:t>Depth-First Search</a:t>
            </a:r>
          </a:p>
        </p:txBody>
      </p:sp>
      <p:sp>
        <p:nvSpPr>
          <p:cNvPr id="3" name="Slide Number Placeholder 2">
            <a:extLst>
              <a:ext uri="{FF2B5EF4-FFF2-40B4-BE49-F238E27FC236}">
                <a16:creationId xmlns:a16="http://schemas.microsoft.com/office/drawing/2014/main" id="{C3987932-7289-4EA1-A2F7-6963F8B4A314}"/>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60/110</a:t>
            </a:r>
          </a:p>
        </p:txBody>
      </p:sp>
      <p:cxnSp>
        <p:nvCxnSpPr>
          <p:cNvPr id="8" name="Straight Connector 7"/>
          <p:cNvCxnSpPr/>
          <p:nvPr/>
        </p:nvCxnSpPr>
        <p:spPr>
          <a:xfrm flipH="1" flipV="1">
            <a:off x="4129859" y="1873873"/>
            <a:ext cx="1853477" cy="11790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2127196" y="2004369"/>
            <a:ext cx="1804150" cy="10422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3895286" y="176439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8" name="Straight Connector 17"/>
          <p:cNvCxnSpPr/>
          <p:nvPr/>
        </p:nvCxnSpPr>
        <p:spPr>
          <a:xfrm flipH="1" flipV="1">
            <a:off x="2191623" y="2983419"/>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406709" y="3052968"/>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1922122" y="2896761"/>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Oval 16"/>
          <p:cNvSpPr>
            <a:spLocks noChangeArrowheads="1"/>
          </p:cNvSpPr>
          <p:nvPr/>
        </p:nvSpPr>
        <p:spPr bwMode="auto">
          <a:xfrm>
            <a:off x="1225864" y="378497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5" name="Oval 16"/>
          <p:cNvSpPr>
            <a:spLocks noChangeArrowheads="1"/>
          </p:cNvSpPr>
          <p:nvPr/>
        </p:nvSpPr>
        <p:spPr bwMode="auto">
          <a:xfrm>
            <a:off x="2572943" y="382819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4" name="Oval 16"/>
          <p:cNvSpPr>
            <a:spLocks noChangeArrowheads="1"/>
          </p:cNvSpPr>
          <p:nvPr/>
        </p:nvSpPr>
        <p:spPr bwMode="auto">
          <a:xfrm>
            <a:off x="3251450" y="480945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6" name="Oval 16"/>
          <p:cNvSpPr>
            <a:spLocks noChangeArrowheads="1"/>
          </p:cNvSpPr>
          <p:nvPr/>
        </p:nvSpPr>
        <p:spPr bwMode="auto">
          <a:xfrm>
            <a:off x="577751" y="4810837"/>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61" name="Straight Connector 60"/>
          <p:cNvCxnSpPr/>
          <p:nvPr/>
        </p:nvCxnSpPr>
        <p:spPr>
          <a:xfrm flipH="1" flipV="1">
            <a:off x="6681579" y="4037641"/>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6068720" y="4104906"/>
            <a:ext cx="457312" cy="8114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flipV="1">
            <a:off x="6035072" y="3002007"/>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5250158" y="3071556"/>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Oval 16"/>
          <p:cNvSpPr>
            <a:spLocks noChangeArrowheads="1"/>
          </p:cNvSpPr>
          <p:nvPr/>
        </p:nvSpPr>
        <p:spPr bwMode="auto">
          <a:xfrm>
            <a:off x="5765571" y="29153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6" name="Oval 16"/>
          <p:cNvSpPr>
            <a:spLocks noChangeArrowheads="1"/>
          </p:cNvSpPr>
          <p:nvPr/>
        </p:nvSpPr>
        <p:spPr bwMode="auto">
          <a:xfrm>
            <a:off x="5069313" y="380356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7" name="Oval 16"/>
          <p:cNvSpPr>
            <a:spLocks noChangeArrowheads="1"/>
          </p:cNvSpPr>
          <p:nvPr/>
        </p:nvSpPr>
        <p:spPr bwMode="auto">
          <a:xfrm>
            <a:off x="6416392" y="384678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8" name="Oval 16"/>
          <p:cNvSpPr>
            <a:spLocks noChangeArrowheads="1"/>
          </p:cNvSpPr>
          <p:nvPr/>
        </p:nvSpPr>
        <p:spPr bwMode="auto">
          <a:xfrm>
            <a:off x="5870482" y="482942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9" name="Oval 16"/>
          <p:cNvSpPr>
            <a:spLocks noChangeArrowheads="1"/>
          </p:cNvSpPr>
          <p:nvPr/>
        </p:nvSpPr>
        <p:spPr bwMode="auto">
          <a:xfrm>
            <a:off x="7094899" y="482803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76" name="TextBox 75"/>
          <p:cNvSpPr txBox="1"/>
          <p:nvPr/>
        </p:nvSpPr>
        <p:spPr>
          <a:xfrm>
            <a:off x="3944575" y="1786250"/>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82" name="TextBox 81"/>
          <p:cNvSpPr txBox="1"/>
          <p:nvPr/>
        </p:nvSpPr>
        <p:spPr>
          <a:xfrm>
            <a:off x="1967407" y="2929860"/>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83" name="TextBox 82"/>
          <p:cNvSpPr txBox="1"/>
          <p:nvPr/>
        </p:nvSpPr>
        <p:spPr>
          <a:xfrm>
            <a:off x="5833156" y="2937297"/>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84" name="Rectangle 83"/>
          <p:cNvSpPr/>
          <p:nvPr/>
        </p:nvSpPr>
        <p:spPr>
          <a:xfrm>
            <a:off x="1273931" y="3822650"/>
            <a:ext cx="343364" cy="369332"/>
          </a:xfrm>
          <a:prstGeom prst="rect">
            <a:avLst/>
          </a:prstGeom>
        </p:spPr>
        <p:txBody>
          <a:bodyPr wrap="none">
            <a:spAutoFit/>
          </a:bodyPr>
          <a:lstStyle/>
          <a:p>
            <a:r>
              <a:rPr lang="en-US" b="1" dirty="0">
                <a:solidFill>
                  <a:prstClr val="black"/>
                </a:solidFill>
              </a:rPr>
              <a:t>D</a:t>
            </a:r>
          </a:p>
        </p:txBody>
      </p:sp>
      <p:sp>
        <p:nvSpPr>
          <p:cNvPr id="85" name="Rectangle 84"/>
          <p:cNvSpPr/>
          <p:nvPr/>
        </p:nvSpPr>
        <p:spPr>
          <a:xfrm>
            <a:off x="5116299" y="3846782"/>
            <a:ext cx="304892" cy="369332"/>
          </a:xfrm>
          <a:prstGeom prst="rect">
            <a:avLst/>
          </a:prstGeom>
        </p:spPr>
        <p:txBody>
          <a:bodyPr wrap="none">
            <a:spAutoFit/>
          </a:bodyPr>
          <a:lstStyle/>
          <a:p>
            <a:r>
              <a:rPr lang="en-US" b="1" dirty="0">
                <a:solidFill>
                  <a:prstClr val="black"/>
                </a:solidFill>
              </a:rPr>
              <a:t>F</a:t>
            </a:r>
          </a:p>
        </p:txBody>
      </p:sp>
      <p:sp>
        <p:nvSpPr>
          <p:cNvPr id="86" name="Rectangle 85"/>
          <p:cNvSpPr/>
          <p:nvPr/>
        </p:nvSpPr>
        <p:spPr>
          <a:xfrm>
            <a:off x="6467363" y="3861983"/>
            <a:ext cx="340158" cy="369332"/>
          </a:xfrm>
          <a:prstGeom prst="rect">
            <a:avLst/>
          </a:prstGeom>
        </p:spPr>
        <p:txBody>
          <a:bodyPr wrap="none">
            <a:spAutoFit/>
          </a:bodyPr>
          <a:lstStyle/>
          <a:p>
            <a:r>
              <a:rPr lang="en-US" b="1" dirty="0">
                <a:solidFill>
                  <a:prstClr val="black"/>
                </a:solidFill>
              </a:rPr>
              <a:t>G</a:t>
            </a:r>
          </a:p>
        </p:txBody>
      </p:sp>
      <p:sp>
        <p:nvSpPr>
          <p:cNvPr id="87" name="Rectangle 86"/>
          <p:cNvSpPr/>
          <p:nvPr/>
        </p:nvSpPr>
        <p:spPr>
          <a:xfrm>
            <a:off x="5923779" y="4883500"/>
            <a:ext cx="277640" cy="369332"/>
          </a:xfrm>
          <a:prstGeom prst="rect">
            <a:avLst/>
          </a:prstGeom>
        </p:spPr>
        <p:txBody>
          <a:bodyPr wrap="none">
            <a:spAutoFit/>
          </a:bodyPr>
          <a:lstStyle/>
          <a:p>
            <a:r>
              <a:rPr lang="en-US" b="1" dirty="0">
                <a:solidFill>
                  <a:prstClr val="black"/>
                </a:solidFill>
              </a:rPr>
              <a:t>J</a:t>
            </a:r>
          </a:p>
        </p:txBody>
      </p:sp>
      <p:sp>
        <p:nvSpPr>
          <p:cNvPr id="88" name="Rectangle 87"/>
          <p:cNvSpPr/>
          <p:nvPr/>
        </p:nvSpPr>
        <p:spPr>
          <a:xfrm>
            <a:off x="7146697" y="4879786"/>
            <a:ext cx="330540" cy="369332"/>
          </a:xfrm>
          <a:prstGeom prst="rect">
            <a:avLst/>
          </a:prstGeom>
        </p:spPr>
        <p:txBody>
          <a:bodyPr wrap="none">
            <a:spAutoFit/>
          </a:bodyPr>
          <a:lstStyle/>
          <a:p>
            <a:r>
              <a:rPr lang="en-US" b="1" dirty="0">
                <a:solidFill>
                  <a:prstClr val="black"/>
                </a:solidFill>
              </a:rPr>
              <a:t>K</a:t>
            </a:r>
          </a:p>
        </p:txBody>
      </p:sp>
      <p:sp>
        <p:nvSpPr>
          <p:cNvPr id="89" name="Rectangle 88"/>
          <p:cNvSpPr/>
          <p:nvPr/>
        </p:nvSpPr>
        <p:spPr>
          <a:xfrm>
            <a:off x="3294991" y="4859128"/>
            <a:ext cx="248786" cy="369332"/>
          </a:xfrm>
          <a:prstGeom prst="rect">
            <a:avLst/>
          </a:prstGeom>
        </p:spPr>
        <p:txBody>
          <a:bodyPr wrap="none">
            <a:spAutoFit/>
          </a:bodyPr>
          <a:lstStyle/>
          <a:p>
            <a:r>
              <a:rPr lang="en-US" b="1" dirty="0">
                <a:solidFill>
                  <a:prstClr val="black"/>
                </a:solidFill>
              </a:rPr>
              <a:t>I</a:t>
            </a:r>
          </a:p>
        </p:txBody>
      </p:sp>
      <p:sp>
        <p:nvSpPr>
          <p:cNvPr id="91" name="Rectangle 90"/>
          <p:cNvSpPr/>
          <p:nvPr/>
        </p:nvSpPr>
        <p:spPr>
          <a:xfrm>
            <a:off x="641576" y="4852097"/>
            <a:ext cx="346570" cy="369332"/>
          </a:xfrm>
          <a:prstGeom prst="rect">
            <a:avLst/>
          </a:prstGeom>
        </p:spPr>
        <p:txBody>
          <a:bodyPr wrap="none">
            <a:spAutoFit/>
          </a:bodyPr>
          <a:lstStyle/>
          <a:p>
            <a:r>
              <a:rPr lang="en-US" b="1" dirty="0">
                <a:solidFill>
                  <a:prstClr val="black"/>
                </a:solidFill>
              </a:rPr>
              <a:t>H</a:t>
            </a:r>
          </a:p>
        </p:txBody>
      </p:sp>
      <p:sp>
        <p:nvSpPr>
          <p:cNvPr id="92" name="Rectangle 91"/>
          <p:cNvSpPr/>
          <p:nvPr/>
        </p:nvSpPr>
        <p:spPr>
          <a:xfrm>
            <a:off x="2632725" y="3853127"/>
            <a:ext cx="316112" cy="369332"/>
          </a:xfrm>
          <a:prstGeom prst="rect">
            <a:avLst/>
          </a:prstGeom>
        </p:spPr>
        <p:txBody>
          <a:bodyPr wrap="none">
            <a:spAutoFit/>
          </a:bodyPr>
          <a:lstStyle/>
          <a:p>
            <a:r>
              <a:rPr lang="en-US" b="1" dirty="0">
                <a:solidFill>
                  <a:prstClr val="black"/>
                </a:solidFill>
              </a:rPr>
              <a:t>E</a:t>
            </a:r>
          </a:p>
        </p:txBody>
      </p:sp>
      <p:graphicFrame>
        <p:nvGraphicFramePr>
          <p:cNvPr id="5" name="Table 4"/>
          <p:cNvGraphicFramePr>
            <a:graphicFrameLocks noGrp="1"/>
          </p:cNvGraphicFramePr>
          <p:nvPr>
            <p:extLst>
              <p:ext uri="{D42A27DB-BD31-4B8C-83A1-F6EECF244321}">
                <p14:modId xmlns:p14="http://schemas.microsoft.com/office/powerpoint/2010/main" val="1191376542"/>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C</a:t>
                      </a: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extLst>
                  <a:ext uri="{0D108BD9-81ED-4DB2-BD59-A6C34878D82A}">
                    <a16:rowId xmlns:a16="http://schemas.microsoft.com/office/drawing/2014/main" val="660647860"/>
                  </a:ext>
                </a:extLst>
              </a:tr>
            </a:tbl>
          </a:graphicData>
        </a:graphic>
      </p:graphicFrame>
      <p:sp>
        <p:nvSpPr>
          <p:cNvPr id="6" name="TextBox 5"/>
          <p:cNvSpPr txBox="1"/>
          <p:nvPr/>
        </p:nvSpPr>
        <p:spPr>
          <a:xfrm>
            <a:off x="965262" y="5554545"/>
            <a:ext cx="362600" cy="461665"/>
          </a:xfrm>
          <a:prstGeom prst="rect">
            <a:avLst/>
          </a:prstGeom>
          <a:noFill/>
        </p:spPr>
        <p:txBody>
          <a:bodyPr wrap="none" rtlCol="0">
            <a:spAutoFit/>
          </a:bodyPr>
          <a:lstStyle/>
          <a:p>
            <a:r>
              <a:rPr lang="en-US" sz="2400" b="1">
                <a:effectLst>
                  <a:outerShdw blurRad="38100" dist="38100" dir="2700000" algn="tl">
                    <a:srgbClr val="000000">
                      <a:alpha val="43137"/>
                    </a:srgbClr>
                  </a:outerShdw>
                </a:effectLst>
              </a:rPr>
              <a:t>S</a:t>
            </a:r>
          </a:p>
        </p:txBody>
      </p:sp>
      <p:cxnSp>
        <p:nvCxnSpPr>
          <p:cNvPr id="55" name="Straight Connector 54"/>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57" name="Table 56"/>
          <p:cNvGraphicFramePr>
            <a:graphicFrameLocks noGrp="1"/>
          </p:cNvGraphicFramePr>
          <p:nvPr/>
        </p:nvGraphicFramePr>
        <p:xfrm>
          <a:off x="1437550" y="6071671"/>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B</a:t>
                      </a:r>
                    </a:p>
                  </a:txBody>
                  <a:tcPr>
                    <a:noFill/>
                  </a:tcPr>
                </a:tc>
                <a:tc>
                  <a:txBody>
                    <a:bodyPr/>
                    <a:lstStyle/>
                    <a:p>
                      <a:pPr algn="ctr"/>
                      <a:r>
                        <a:rPr lang="en-US" dirty="0">
                          <a:solidFill>
                            <a:schemeClr val="tx1"/>
                          </a:solidFill>
                        </a:rPr>
                        <a:t>D</a:t>
                      </a:r>
                    </a:p>
                  </a:txBody>
                  <a:tcPr>
                    <a:noFill/>
                  </a:tcPr>
                </a:tc>
                <a:tc>
                  <a:txBody>
                    <a:bodyPr/>
                    <a:lstStyle/>
                    <a:p>
                      <a:pPr algn="ctr"/>
                      <a:r>
                        <a:rPr lang="en-US" dirty="0">
                          <a:solidFill>
                            <a:schemeClr val="tx1"/>
                          </a:solidFill>
                        </a:rPr>
                        <a:t>H</a:t>
                      </a:r>
                    </a:p>
                  </a:txBody>
                  <a:tcPr>
                    <a:noFill/>
                  </a:tcPr>
                </a:tc>
                <a:tc>
                  <a:txBody>
                    <a:bodyPr/>
                    <a:lstStyle/>
                    <a:p>
                      <a:pPr algn="ctr"/>
                      <a:r>
                        <a:rPr lang="en-US" dirty="0">
                          <a:solidFill>
                            <a:schemeClr val="tx1"/>
                          </a:solidFill>
                        </a:rPr>
                        <a:t>E</a:t>
                      </a:r>
                    </a:p>
                  </a:txBody>
                  <a:tcPr>
                    <a:noFill/>
                  </a:tcPr>
                </a:tc>
                <a:tc>
                  <a:txBody>
                    <a:bodyPr/>
                    <a:lstStyle/>
                    <a:p>
                      <a:pPr algn="ctr"/>
                      <a:r>
                        <a:rPr lang="en-US" dirty="0">
                          <a:solidFill>
                            <a:schemeClr val="tx1"/>
                          </a:solidFill>
                        </a:rPr>
                        <a:t>I</a:t>
                      </a:r>
                    </a:p>
                  </a:txBody>
                  <a:tcPr>
                    <a:noFill/>
                  </a:tcPr>
                </a:tc>
                <a:tc>
                  <a:txBody>
                    <a:bodyPr/>
                    <a:lstStyle/>
                    <a:p>
                      <a:endParaRPr lang="en-US" dirty="0"/>
                    </a:p>
                  </a:txBody>
                  <a:tcPr>
                    <a:noFill/>
                  </a:tcPr>
                </a:tc>
                <a:tc>
                  <a:txBody>
                    <a:bodyPr/>
                    <a:lstStyle/>
                    <a:p>
                      <a:endParaRPr lang="en-US"/>
                    </a:p>
                  </a:txBody>
                  <a:tcPr>
                    <a:noFill/>
                  </a:tcPr>
                </a:tc>
                <a:tc>
                  <a:txBody>
                    <a:bodyPr/>
                    <a:lstStyle/>
                    <a:p>
                      <a:endParaRPr lang="en-US"/>
                    </a:p>
                  </a:txBody>
                  <a:tcPr>
                    <a:noFill/>
                  </a:tcPr>
                </a:tc>
                <a:tc>
                  <a:txBody>
                    <a:bodyPr/>
                    <a:lstStyle/>
                    <a:p>
                      <a:endParaRPr lang="en-US" dirty="0"/>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graphicFrame>
        <p:nvGraphicFramePr>
          <p:cNvPr id="47" name="Table 46">
            <a:extLst>
              <a:ext uri="{FF2B5EF4-FFF2-40B4-BE49-F238E27FC236}">
                <a16:creationId xmlns:a16="http://schemas.microsoft.com/office/drawing/2014/main" id="{4F46C79D-2DA7-47F9-B939-09665A469175}"/>
              </a:ext>
            </a:extLst>
          </p:cNvPr>
          <p:cNvGraphicFramePr>
            <a:graphicFrameLocks noGrp="1"/>
          </p:cNvGraphicFramePr>
          <p:nvPr/>
        </p:nvGraphicFramePr>
        <p:xfrm>
          <a:off x="8658993" y="1862844"/>
          <a:ext cx="2132240" cy="4719320"/>
        </p:xfrm>
        <a:graphic>
          <a:graphicData uri="http://schemas.openxmlformats.org/drawingml/2006/table">
            <a:tbl>
              <a:tblPr firstRow="1" bandRow="1">
                <a:tableStyleId>{5C22544A-7EE6-4342-B048-85BDC9FD1C3A}</a:tableStyleId>
              </a:tblPr>
              <a:tblGrid>
                <a:gridCol w="847864">
                  <a:extLst>
                    <a:ext uri="{9D8B030D-6E8A-4147-A177-3AD203B41FA5}">
                      <a16:colId xmlns:a16="http://schemas.microsoft.com/office/drawing/2014/main" val="2989644895"/>
                    </a:ext>
                  </a:extLst>
                </a:gridCol>
                <a:gridCol w="1284376">
                  <a:extLst>
                    <a:ext uri="{9D8B030D-6E8A-4147-A177-3AD203B41FA5}">
                      <a16:colId xmlns:a16="http://schemas.microsoft.com/office/drawing/2014/main" val="4244960412"/>
                    </a:ext>
                  </a:extLst>
                </a:gridCol>
              </a:tblGrid>
              <a:tr h="370840">
                <a:tc>
                  <a:txBody>
                    <a:bodyPr/>
                    <a:lstStyle/>
                    <a:p>
                      <a:pPr algn="ctr"/>
                      <a:r>
                        <a:rPr lang="en-US" dirty="0"/>
                        <a:t>NODE</a:t>
                      </a:r>
                    </a:p>
                  </a:txBody>
                  <a:tcPr/>
                </a:tc>
                <a:tc>
                  <a:txBody>
                    <a:bodyPr/>
                    <a:lstStyle/>
                    <a:p>
                      <a:pPr algn="ctr"/>
                      <a:r>
                        <a:rPr lang="en-US" dirty="0"/>
                        <a:t>CHILDREN</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F,G</a:t>
                      </a:r>
                      <a:endParaRPr lang="en-US" b="1" dirty="0"/>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H,-</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-,I</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J,K</a:t>
                      </a:r>
                    </a:p>
                  </a:txBody>
                  <a:tcPr/>
                </a:tc>
                <a:extLst>
                  <a:ext uri="{0D108BD9-81ED-4DB2-BD59-A6C34878D82A}">
                    <a16:rowId xmlns:a16="http://schemas.microsoft.com/office/drawing/2014/main" val="1205733479"/>
                  </a:ext>
                </a:extLst>
              </a:tr>
              <a:tr h="370840">
                <a:tc>
                  <a:txBody>
                    <a:bodyPr/>
                    <a:lstStyle/>
                    <a:p>
                      <a:pPr algn="ctr"/>
                      <a:r>
                        <a:rPr lang="en-US" b="1" dirty="0"/>
                        <a: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987431379"/>
                  </a:ext>
                </a:extLst>
              </a:tr>
              <a:tr h="370840">
                <a:tc>
                  <a:txBody>
                    <a:bodyPr/>
                    <a:lstStyle/>
                    <a:p>
                      <a:pPr algn="ctr"/>
                      <a:r>
                        <a:rPr lang="en-US" b="1" dirty="0"/>
                        <a:t>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290039795"/>
                  </a:ext>
                </a:extLst>
              </a:tr>
              <a:tr h="370840">
                <a:tc>
                  <a:txBody>
                    <a:bodyPr/>
                    <a:lstStyle/>
                    <a:p>
                      <a:pPr algn="ctr"/>
                      <a:r>
                        <a:rPr lang="en-US" b="1" dirty="0"/>
                        <a:t>J</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873125107"/>
                  </a:ext>
                </a:extLst>
              </a:tr>
              <a:tr h="370840">
                <a:tc>
                  <a:txBody>
                    <a:bodyPr/>
                    <a:lstStyle/>
                    <a:p>
                      <a:pPr algn="ctr"/>
                      <a:r>
                        <a:rPr lang="en-US" b="1" dirty="0"/>
                        <a:t>K</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640632725"/>
                  </a:ext>
                </a:extLst>
              </a:tr>
            </a:tbl>
          </a:graphicData>
        </a:graphic>
      </p:graphicFrame>
    </p:spTree>
    <p:custDataLst>
      <p:tags r:id="rId1"/>
    </p:custDataLst>
    <p:extLst>
      <p:ext uri="{BB962C8B-B14F-4D97-AF65-F5344CB8AC3E}">
        <p14:creationId xmlns:p14="http://schemas.microsoft.com/office/powerpoint/2010/main" val="277570296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Straight Connector 45"/>
          <p:cNvCxnSpPr/>
          <p:nvPr/>
        </p:nvCxnSpPr>
        <p:spPr>
          <a:xfrm flipV="1">
            <a:off x="797123" y="4129201"/>
            <a:ext cx="542694" cy="82386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flipV="1">
            <a:off x="2838130" y="4019053"/>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ln>
            <a:noFill/>
          </a:ln>
        </p:spPr>
        <p:txBody>
          <a:bodyPr/>
          <a:lstStyle/>
          <a:p>
            <a:r>
              <a:rPr lang="en-US" dirty="0"/>
              <a:t>Depth-First Search</a:t>
            </a:r>
          </a:p>
        </p:txBody>
      </p:sp>
      <p:sp>
        <p:nvSpPr>
          <p:cNvPr id="3" name="Slide Number Placeholder 2">
            <a:extLst>
              <a:ext uri="{FF2B5EF4-FFF2-40B4-BE49-F238E27FC236}">
                <a16:creationId xmlns:a16="http://schemas.microsoft.com/office/drawing/2014/main" id="{8F75CB32-3314-4B06-8462-9053978AFC97}"/>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61/110</a:t>
            </a:r>
          </a:p>
        </p:txBody>
      </p:sp>
      <p:cxnSp>
        <p:nvCxnSpPr>
          <p:cNvPr id="8" name="Straight Connector 7"/>
          <p:cNvCxnSpPr/>
          <p:nvPr/>
        </p:nvCxnSpPr>
        <p:spPr>
          <a:xfrm flipH="1" flipV="1">
            <a:off x="4129859" y="1873873"/>
            <a:ext cx="1853477" cy="11790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2127196" y="2004369"/>
            <a:ext cx="1804150" cy="10422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3895286" y="176439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8" name="Straight Connector 17"/>
          <p:cNvCxnSpPr/>
          <p:nvPr/>
        </p:nvCxnSpPr>
        <p:spPr>
          <a:xfrm flipH="1" flipV="1">
            <a:off x="2191623" y="2983419"/>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406709" y="3052968"/>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1922122" y="2896761"/>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Oval 16"/>
          <p:cNvSpPr>
            <a:spLocks noChangeArrowheads="1"/>
          </p:cNvSpPr>
          <p:nvPr/>
        </p:nvSpPr>
        <p:spPr bwMode="auto">
          <a:xfrm>
            <a:off x="1225864" y="378497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5" name="Oval 16"/>
          <p:cNvSpPr>
            <a:spLocks noChangeArrowheads="1"/>
          </p:cNvSpPr>
          <p:nvPr/>
        </p:nvSpPr>
        <p:spPr bwMode="auto">
          <a:xfrm>
            <a:off x="2572943" y="382819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4" name="Oval 16"/>
          <p:cNvSpPr>
            <a:spLocks noChangeArrowheads="1"/>
          </p:cNvSpPr>
          <p:nvPr/>
        </p:nvSpPr>
        <p:spPr bwMode="auto">
          <a:xfrm>
            <a:off x="3251450" y="480945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6" name="Oval 16"/>
          <p:cNvSpPr>
            <a:spLocks noChangeArrowheads="1"/>
          </p:cNvSpPr>
          <p:nvPr/>
        </p:nvSpPr>
        <p:spPr bwMode="auto">
          <a:xfrm>
            <a:off x="577751" y="4810837"/>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61" name="Straight Connector 60"/>
          <p:cNvCxnSpPr/>
          <p:nvPr/>
        </p:nvCxnSpPr>
        <p:spPr>
          <a:xfrm flipH="1" flipV="1">
            <a:off x="6681579" y="4037641"/>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6068720" y="4104906"/>
            <a:ext cx="457312" cy="8114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flipV="1">
            <a:off x="6035072" y="3002007"/>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5250158" y="3071556"/>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Oval 16"/>
          <p:cNvSpPr>
            <a:spLocks noChangeArrowheads="1"/>
          </p:cNvSpPr>
          <p:nvPr/>
        </p:nvSpPr>
        <p:spPr bwMode="auto">
          <a:xfrm>
            <a:off x="5765571" y="29153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6" name="Oval 16"/>
          <p:cNvSpPr>
            <a:spLocks noChangeArrowheads="1"/>
          </p:cNvSpPr>
          <p:nvPr/>
        </p:nvSpPr>
        <p:spPr bwMode="auto">
          <a:xfrm>
            <a:off x="5069313" y="380356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7" name="Oval 16"/>
          <p:cNvSpPr>
            <a:spLocks noChangeArrowheads="1"/>
          </p:cNvSpPr>
          <p:nvPr/>
        </p:nvSpPr>
        <p:spPr bwMode="auto">
          <a:xfrm>
            <a:off x="6416392" y="384678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8" name="Oval 16"/>
          <p:cNvSpPr>
            <a:spLocks noChangeArrowheads="1"/>
          </p:cNvSpPr>
          <p:nvPr/>
        </p:nvSpPr>
        <p:spPr bwMode="auto">
          <a:xfrm>
            <a:off x="5870482" y="482942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9" name="Oval 16"/>
          <p:cNvSpPr>
            <a:spLocks noChangeArrowheads="1"/>
          </p:cNvSpPr>
          <p:nvPr/>
        </p:nvSpPr>
        <p:spPr bwMode="auto">
          <a:xfrm>
            <a:off x="7094899" y="482803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76" name="TextBox 75"/>
          <p:cNvSpPr txBox="1"/>
          <p:nvPr/>
        </p:nvSpPr>
        <p:spPr>
          <a:xfrm>
            <a:off x="3944575" y="1786250"/>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82" name="TextBox 81"/>
          <p:cNvSpPr txBox="1"/>
          <p:nvPr/>
        </p:nvSpPr>
        <p:spPr>
          <a:xfrm>
            <a:off x="1967407" y="2929860"/>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83" name="TextBox 82"/>
          <p:cNvSpPr txBox="1"/>
          <p:nvPr/>
        </p:nvSpPr>
        <p:spPr>
          <a:xfrm>
            <a:off x="5833156" y="2937297"/>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84" name="Rectangle 83"/>
          <p:cNvSpPr/>
          <p:nvPr/>
        </p:nvSpPr>
        <p:spPr>
          <a:xfrm>
            <a:off x="1273931" y="3822650"/>
            <a:ext cx="343364" cy="369332"/>
          </a:xfrm>
          <a:prstGeom prst="rect">
            <a:avLst/>
          </a:prstGeom>
        </p:spPr>
        <p:txBody>
          <a:bodyPr wrap="none">
            <a:spAutoFit/>
          </a:bodyPr>
          <a:lstStyle/>
          <a:p>
            <a:r>
              <a:rPr lang="en-US" b="1" dirty="0">
                <a:solidFill>
                  <a:prstClr val="black"/>
                </a:solidFill>
              </a:rPr>
              <a:t>D</a:t>
            </a:r>
          </a:p>
        </p:txBody>
      </p:sp>
      <p:sp>
        <p:nvSpPr>
          <p:cNvPr id="85" name="Rectangle 84"/>
          <p:cNvSpPr/>
          <p:nvPr/>
        </p:nvSpPr>
        <p:spPr>
          <a:xfrm>
            <a:off x="5116299" y="3846782"/>
            <a:ext cx="304892" cy="369332"/>
          </a:xfrm>
          <a:prstGeom prst="rect">
            <a:avLst/>
          </a:prstGeom>
        </p:spPr>
        <p:txBody>
          <a:bodyPr wrap="none">
            <a:spAutoFit/>
          </a:bodyPr>
          <a:lstStyle/>
          <a:p>
            <a:r>
              <a:rPr lang="en-US" b="1" dirty="0">
                <a:solidFill>
                  <a:prstClr val="black"/>
                </a:solidFill>
              </a:rPr>
              <a:t>F</a:t>
            </a:r>
          </a:p>
        </p:txBody>
      </p:sp>
      <p:sp>
        <p:nvSpPr>
          <p:cNvPr id="86" name="Rectangle 85"/>
          <p:cNvSpPr/>
          <p:nvPr/>
        </p:nvSpPr>
        <p:spPr>
          <a:xfrm>
            <a:off x="6467363" y="3861983"/>
            <a:ext cx="340158" cy="369332"/>
          </a:xfrm>
          <a:prstGeom prst="rect">
            <a:avLst/>
          </a:prstGeom>
        </p:spPr>
        <p:txBody>
          <a:bodyPr wrap="none">
            <a:spAutoFit/>
          </a:bodyPr>
          <a:lstStyle/>
          <a:p>
            <a:r>
              <a:rPr lang="en-US" b="1" dirty="0">
                <a:solidFill>
                  <a:prstClr val="black"/>
                </a:solidFill>
              </a:rPr>
              <a:t>G</a:t>
            </a:r>
          </a:p>
        </p:txBody>
      </p:sp>
      <p:sp>
        <p:nvSpPr>
          <p:cNvPr id="87" name="Rectangle 86"/>
          <p:cNvSpPr/>
          <p:nvPr/>
        </p:nvSpPr>
        <p:spPr>
          <a:xfrm>
            <a:off x="5923779" y="4883500"/>
            <a:ext cx="277640" cy="369332"/>
          </a:xfrm>
          <a:prstGeom prst="rect">
            <a:avLst/>
          </a:prstGeom>
        </p:spPr>
        <p:txBody>
          <a:bodyPr wrap="none">
            <a:spAutoFit/>
          </a:bodyPr>
          <a:lstStyle/>
          <a:p>
            <a:r>
              <a:rPr lang="en-US" b="1" dirty="0">
                <a:solidFill>
                  <a:prstClr val="black"/>
                </a:solidFill>
              </a:rPr>
              <a:t>J</a:t>
            </a:r>
          </a:p>
        </p:txBody>
      </p:sp>
      <p:sp>
        <p:nvSpPr>
          <p:cNvPr id="88" name="Rectangle 87"/>
          <p:cNvSpPr/>
          <p:nvPr/>
        </p:nvSpPr>
        <p:spPr>
          <a:xfrm>
            <a:off x="7146697" y="4879786"/>
            <a:ext cx="330540" cy="369332"/>
          </a:xfrm>
          <a:prstGeom prst="rect">
            <a:avLst/>
          </a:prstGeom>
        </p:spPr>
        <p:txBody>
          <a:bodyPr wrap="none">
            <a:spAutoFit/>
          </a:bodyPr>
          <a:lstStyle/>
          <a:p>
            <a:r>
              <a:rPr lang="en-US" b="1" dirty="0">
                <a:solidFill>
                  <a:prstClr val="black"/>
                </a:solidFill>
              </a:rPr>
              <a:t>K</a:t>
            </a:r>
          </a:p>
        </p:txBody>
      </p:sp>
      <p:sp>
        <p:nvSpPr>
          <p:cNvPr id="89" name="Rectangle 88"/>
          <p:cNvSpPr/>
          <p:nvPr/>
        </p:nvSpPr>
        <p:spPr>
          <a:xfrm>
            <a:off x="3294991" y="4859128"/>
            <a:ext cx="248786" cy="369332"/>
          </a:xfrm>
          <a:prstGeom prst="rect">
            <a:avLst/>
          </a:prstGeom>
        </p:spPr>
        <p:txBody>
          <a:bodyPr wrap="none">
            <a:spAutoFit/>
          </a:bodyPr>
          <a:lstStyle/>
          <a:p>
            <a:r>
              <a:rPr lang="en-US" b="1" dirty="0">
                <a:solidFill>
                  <a:prstClr val="black"/>
                </a:solidFill>
              </a:rPr>
              <a:t>I</a:t>
            </a:r>
          </a:p>
        </p:txBody>
      </p:sp>
      <p:sp>
        <p:nvSpPr>
          <p:cNvPr id="91" name="Rectangle 90"/>
          <p:cNvSpPr/>
          <p:nvPr/>
        </p:nvSpPr>
        <p:spPr>
          <a:xfrm>
            <a:off x="641576" y="4852097"/>
            <a:ext cx="346570" cy="369332"/>
          </a:xfrm>
          <a:prstGeom prst="rect">
            <a:avLst/>
          </a:prstGeom>
        </p:spPr>
        <p:txBody>
          <a:bodyPr wrap="none">
            <a:spAutoFit/>
          </a:bodyPr>
          <a:lstStyle/>
          <a:p>
            <a:r>
              <a:rPr lang="en-US" b="1" dirty="0">
                <a:solidFill>
                  <a:prstClr val="black"/>
                </a:solidFill>
              </a:rPr>
              <a:t>H</a:t>
            </a:r>
          </a:p>
        </p:txBody>
      </p:sp>
      <p:sp>
        <p:nvSpPr>
          <p:cNvPr id="92" name="Rectangle 91"/>
          <p:cNvSpPr/>
          <p:nvPr/>
        </p:nvSpPr>
        <p:spPr>
          <a:xfrm>
            <a:off x="2632725" y="3853127"/>
            <a:ext cx="316112" cy="369332"/>
          </a:xfrm>
          <a:prstGeom prst="rect">
            <a:avLst/>
          </a:prstGeom>
        </p:spPr>
        <p:txBody>
          <a:bodyPr wrap="none">
            <a:spAutoFit/>
          </a:bodyPr>
          <a:lstStyle/>
          <a:p>
            <a:r>
              <a:rPr lang="en-US" b="1" dirty="0">
                <a:solidFill>
                  <a:prstClr val="black"/>
                </a:solidFill>
              </a:rPr>
              <a:t>E</a:t>
            </a:r>
          </a:p>
        </p:txBody>
      </p:sp>
      <p:graphicFrame>
        <p:nvGraphicFramePr>
          <p:cNvPr id="5" name="Table 4"/>
          <p:cNvGraphicFramePr>
            <a:graphicFrameLocks noGrp="1"/>
          </p:cNvGraphicFramePr>
          <p:nvPr>
            <p:extLst>
              <p:ext uri="{D42A27DB-BD31-4B8C-83A1-F6EECF244321}">
                <p14:modId xmlns:p14="http://schemas.microsoft.com/office/powerpoint/2010/main" val="1131420440"/>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endParaRPr lang="en-US" dirty="0">
                        <a:solidFill>
                          <a:schemeClr val="tx1"/>
                        </a:solidFill>
                      </a:endParaRP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extLst>
                  <a:ext uri="{0D108BD9-81ED-4DB2-BD59-A6C34878D82A}">
                    <a16:rowId xmlns:a16="http://schemas.microsoft.com/office/drawing/2014/main" val="660647860"/>
                  </a:ext>
                </a:extLst>
              </a:tr>
            </a:tbl>
          </a:graphicData>
        </a:graphic>
      </p:graphicFrame>
      <p:sp>
        <p:nvSpPr>
          <p:cNvPr id="6" name="TextBox 5"/>
          <p:cNvSpPr txBox="1"/>
          <p:nvPr/>
        </p:nvSpPr>
        <p:spPr>
          <a:xfrm>
            <a:off x="965262" y="5554545"/>
            <a:ext cx="362600" cy="461665"/>
          </a:xfrm>
          <a:prstGeom prst="rect">
            <a:avLst/>
          </a:prstGeom>
          <a:noFill/>
        </p:spPr>
        <p:txBody>
          <a:bodyPr wrap="none" rtlCol="0">
            <a:spAutoFit/>
          </a:bodyPr>
          <a:lstStyle/>
          <a:p>
            <a:r>
              <a:rPr lang="en-US" sz="2400" b="1">
                <a:effectLst>
                  <a:outerShdw blurRad="38100" dist="38100" dir="2700000" algn="tl">
                    <a:srgbClr val="000000">
                      <a:alpha val="43137"/>
                    </a:srgbClr>
                  </a:outerShdw>
                </a:effectLst>
              </a:rPr>
              <a:t>S</a:t>
            </a:r>
          </a:p>
        </p:txBody>
      </p:sp>
      <p:cxnSp>
        <p:nvCxnSpPr>
          <p:cNvPr id="55" name="Straight Connector 54"/>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57" name="Table 56"/>
          <p:cNvGraphicFramePr>
            <a:graphicFrameLocks noGrp="1"/>
          </p:cNvGraphicFramePr>
          <p:nvPr/>
        </p:nvGraphicFramePr>
        <p:xfrm>
          <a:off x="1437550" y="6071671"/>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B</a:t>
                      </a:r>
                    </a:p>
                  </a:txBody>
                  <a:tcPr>
                    <a:noFill/>
                  </a:tcPr>
                </a:tc>
                <a:tc>
                  <a:txBody>
                    <a:bodyPr/>
                    <a:lstStyle/>
                    <a:p>
                      <a:pPr algn="ctr"/>
                      <a:r>
                        <a:rPr lang="en-US" dirty="0">
                          <a:solidFill>
                            <a:schemeClr val="tx1"/>
                          </a:solidFill>
                        </a:rPr>
                        <a:t>D</a:t>
                      </a:r>
                    </a:p>
                  </a:txBody>
                  <a:tcPr>
                    <a:noFill/>
                  </a:tcPr>
                </a:tc>
                <a:tc>
                  <a:txBody>
                    <a:bodyPr/>
                    <a:lstStyle/>
                    <a:p>
                      <a:pPr algn="ctr"/>
                      <a:r>
                        <a:rPr lang="en-US" dirty="0">
                          <a:solidFill>
                            <a:schemeClr val="tx1"/>
                          </a:solidFill>
                        </a:rPr>
                        <a:t>H</a:t>
                      </a:r>
                    </a:p>
                  </a:txBody>
                  <a:tcPr>
                    <a:noFill/>
                  </a:tcPr>
                </a:tc>
                <a:tc>
                  <a:txBody>
                    <a:bodyPr/>
                    <a:lstStyle/>
                    <a:p>
                      <a:pPr algn="ctr"/>
                      <a:r>
                        <a:rPr lang="en-US" dirty="0">
                          <a:solidFill>
                            <a:schemeClr val="tx1"/>
                          </a:solidFill>
                        </a:rPr>
                        <a:t>E</a:t>
                      </a:r>
                    </a:p>
                  </a:txBody>
                  <a:tcPr>
                    <a:noFill/>
                  </a:tcPr>
                </a:tc>
                <a:tc>
                  <a:txBody>
                    <a:bodyPr/>
                    <a:lstStyle/>
                    <a:p>
                      <a:pPr algn="ctr"/>
                      <a:r>
                        <a:rPr lang="en-US" dirty="0">
                          <a:solidFill>
                            <a:schemeClr val="tx1"/>
                          </a:solidFill>
                        </a:rPr>
                        <a:t>I</a:t>
                      </a:r>
                    </a:p>
                  </a:txBody>
                  <a:tcPr>
                    <a:noFill/>
                  </a:tcPr>
                </a:tc>
                <a:tc>
                  <a:txBody>
                    <a:bodyPr/>
                    <a:lstStyle/>
                    <a:p>
                      <a:pPr algn="ctr"/>
                      <a:r>
                        <a:rPr lang="en-US" dirty="0">
                          <a:solidFill>
                            <a:schemeClr val="tx1"/>
                          </a:solidFill>
                        </a:rPr>
                        <a:t>C</a:t>
                      </a:r>
                    </a:p>
                  </a:txBody>
                  <a:tcPr>
                    <a:noFill/>
                  </a:tcPr>
                </a:tc>
                <a:tc>
                  <a:txBody>
                    <a:bodyPr/>
                    <a:lstStyle/>
                    <a:p>
                      <a:endParaRPr lang="en-US"/>
                    </a:p>
                  </a:txBody>
                  <a:tcPr>
                    <a:noFill/>
                  </a:tcPr>
                </a:tc>
                <a:tc>
                  <a:txBody>
                    <a:bodyPr/>
                    <a:lstStyle/>
                    <a:p>
                      <a:endParaRPr lang="en-US"/>
                    </a:p>
                  </a:txBody>
                  <a:tcPr>
                    <a:noFill/>
                  </a:tcPr>
                </a:tc>
                <a:tc>
                  <a:txBody>
                    <a:bodyPr/>
                    <a:lstStyle/>
                    <a:p>
                      <a:endParaRPr lang="en-US" dirty="0"/>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graphicFrame>
        <p:nvGraphicFramePr>
          <p:cNvPr id="48" name="Table 47">
            <a:extLst>
              <a:ext uri="{FF2B5EF4-FFF2-40B4-BE49-F238E27FC236}">
                <a16:creationId xmlns:a16="http://schemas.microsoft.com/office/drawing/2014/main" id="{2845B26A-9E99-4A69-B7CC-4EB3DF0381D4}"/>
              </a:ext>
            </a:extLst>
          </p:cNvPr>
          <p:cNvGraphicFramePr>
            <a:graphicFrameLocks noGrp="1"/>
          </p:cNvGraphicFramePr>
          <p:nvPr/>
        </p:nvGraphicFramePr>
        <p:xfrm>
          <a:off x="8658993" y="1862844"/>
          <a:ext cx="2132240" cy="4719320"/>
        </p:xfrm>
        <a:graphic>
          <a:graphicData uri="http://schemas.openxmlformats.org/drawingml/2006/table">
            <a:tbl>
              <a:tblPr firstRow="1" bandRow="1">
                <a:tableStyleId>{5C22544A-7EE6-4342-B048-85BDC9FD1C3A}</a:tableStyleId>
              </a:tblPr>
              <a:tblGrid>
                <a:gridCol w="847864">
                  <a:extLst>
                    <a:ext uri="{9D8B030D-6E8A-4147-A177-3AD203B41FA5}">
                      <a16:colId xmlns:a16="http://schemas.microsoft.com/office/drawing/2014/main" val="2989644895"/>
                    </a:ext>
                  </a:extLst>
                </a:gridCol>
                <a:gridCol w="1284376">
                  <a:extLst>
                    <a:ext uri="{9D8B030D-6E8A-4147-A177-3AD203B41FA5}">
                      <a16:colId xmlns:a16="http://schemas.microsoft.com/office/drawing/2014/main" val="4244960412"/>
                    </a:ext>
                  </a:extLst>
                </a:gridCol>
              </a:tblGrid>
              <a:tr h="370840">
                <a:tc>
                  <a:txBody>
                    <a:bodyPr/>
                    <a:lstStyle/>
                    <a:p>
                      <a:pPr algn="ctr"/>
                      <a:r>
                        <a:rPr lang="en-US" dirty="0"/>
                        <a:t>NODE</a:t>
                      </a:r>
                    </a:p>
                  </a:txBody>
                  <a:tcPr/>
                </a:tc>
                <a:tc>
                  <a:txBody>
                    <a:bodyPr/>
                    <a:lstStyle/>
                    <a:p>
                      <a:pPr algn="ctr"/>
                      <a:r>
                        <a:rPr lang="en-US" dirty="0"/>
                        <a:t>CHILDREN</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F,G</a:t>
                      </a:r>
                      <a:endParaRPr lang="en-US" b="1" dirty="0"/>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H,-</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-,I</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J,K</a:t>
                      </a:r>
                    </a:p>
                  </a:txBody>
                  <a:tcPr/>
                </a:tc>
                <a:extLst>
                  <a:ext uri="{0D108BD9-81ED-4DB2-BD59-A6C34878D82A}">
                    <a16:rowId xmlns:a16="http://schemas.microsoft.com/office/drawing/2014/main" val="1205733479"/>
                  </a:ext>
                </a:extLst>
              </a:tr>
              <a:tr h="370840">
                <a:tc>
                  <a:txBody>
                    <a:bodyPr/>
                    <a:lstStyle/>
                    <a:p>
                      <a:pPr algn="ctr"/>
                      <a:r>
                        <a:rPr lang="en-US" b="1" dirty="0"/>
                        <a: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987431379"/>
                  </a:ext>
                </a:extLst>
              </a:tr>
              <a:tr h="370840">
                <a:tc>
                  <a:txBody>
                    <a:bodyPr/>
                    <a:lstStyle/>
                    <a:p>
                      <a:pPr algn="ctr"/>
                      <a:r>
                        <a:rPr lang="en-US" b="1" dirty="0"/>
                        <a:t>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290039795"/>
                  </a:ext>
                </a:extLst>
              </a:tr>
              <a:tr h="370840">
                <a:tc>
                  <a:txBody>
                    <a:bodyPr/>
                    <a:lstStyle/>
                    <a:p>
                      <a:pPr algn="ctr"/>
                      <a:r>
                        <a:rPr lang="en-US" b="1" dirty="0"/>
                        <a:t>J</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873125107"/>
                  </a:ext>
                </a:extLst>
              </a:tr>
              <a:tr h="370840">
                <a:tc>
                  <a:txBody>
                    <a:bodyPr/>
                    <a:lstStyle/>
                    <a:p>
                      <a:pPr algn="ctr"/>
                      <a:r>
                        <a:rPr lang="en-US" b="1" dirty="0"/>
                        <a:t>K</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640632725"/>
                  </a:ext>
                </a:extLst>
              </a:tr>
            </a:tbl>
          </a:graphicData>
        </a:graphic>
      </p:graphicFrame>
    </p:spTree>
    <p:custDataLst>
      <p:tags r:id="rId1"/>
    </p:custDataLst>
    <p:extLst>
      <p:ext uri="{BB962C8B-B14F-4D97-AF65-F5344CB8AC3E}">
        <p14:creationId xmlns:p14="http://schemas.microsoft.com/office/powerpoint/2010/main" val="148122377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Straight Connector 45"/>
          <p:cNvCxnSpPr/>
          <p:nvPr/>
        </p:nvCxnSpPr>
        <p:spPr>
          <a:xfrm flipV="1">
            <a:off x="797123" y="4129201"/>
            <a:ext cx="542694" cy="82386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flipV="1">
            <a:off x="2838130" y="4019053"/>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ln>
            <a:noFill/>
          </a:ln>
        </p:spPr>
        <p:txBody>
          <a:bodyPr/>
          <a:lstStyle/>
          <a:p>
            <a:r>
              <a:rPr lang="en-US" dirty="0"/>
              <a:t>Depth-First Search</a:t>
            </a:r>
          </a:p>
        </p:txBody>
      </p:sp>
      <p:sp>
        <p:nvSpPr>
          <p:cNvPr id="3" name="Slide Number Placeholder 2">
            <a:extLst>
              <a:ext uri="{FF2B5EF4-FFF2-40B4-BE49-F238E27FC236}">
                <a16:creationId xmlns:a16="http://schemas.microsoft.com/office/drawing/2014/main" id="{BAF16164-64DF-4AD5-8892-700FA71F40F5}"/>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62/110</a:t>
            </a:r>
          </a:p>
        </p:txBody>
      </p:sp>
      <p:cxnSp>
        <p:nvCxnSpPr>
          <p:cNvPr id="8" name="Straight Connector 7"/>
          <p:cNvCxnSpPr/>
          <p:nvPr/>
        </p:nvCxnSpPr>
        <p:spPr>
          <a:xfrm flipH="1" flipV="1">
            <a:off x="4129859" y="1873873"/>
            <a:ext cx="1853477" cy="11790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2127196" y="2004369"/>
            <a:ext cx="1804150" cy="10422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3895286" y="176439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8" name="Straight Connector 17"/>
          <p:cNvCxnSpPr/>
          <p:nvPr/>
        </p:nvCxnSpPr>
        <p:spPr>
          <a:xfrm flipH="1" flipV="1">
            <a:off x="2191623" y="2983419"/>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406709" y="3052968"/>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1922122" y="2896761"/>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Oval 16"/>
          <p:cNvSpPr>
            <a:spLocks noChangeArrowheads="1"/>
          </p:cNvSpPr>
          <p:nvPr/>
        </p:nvSpPr>
        <p:spPr bwMode="auto">
          <a:xfrm>
            <a:off x="1225864" y="378497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5" name="Oval 16"/>
          <p:cNvSpPr>
            <a:spLocks noChangeArrowheads="1"/>
          </p:cNvSpPr>
          <p:nvPr/>
        </p:nvSpPr>
        <p:spPr bwMode="auto">
          <a:xfrm>
            <a:off x="2572943" y="382819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4" name="Oval 16"/>
          <p:cNvSpPr>
            <a:spLocks noChangeArrowheads="1"/>
          </p:cNvSpPr>
          <p:nvPr/>
        </p:nvSpPr>
        <p:spPr bwMode="auto">
          <a:xfrm>
            <a:off x="3251450" y="480945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6" name="Oval 16"/>
          <p:cNvSpPr>
            <a:spLocks noChangeArrowheads="1"/>
          </p:cNvSpPr>
          <p:nvPr/>
        </p:nvSpPr>
        <p:spPr bwMode="auto">
          <a:xfrm>
            <a:off x="577751" y="4810837"/>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61" name="Straight Connector 60"/>
          <p:cNvCxnSpPr/>
          <p:nvPr/>
        </p:nvCxnSpPr>
        <p:spPr>
          <a:xfrm flipH="1" flipV="1">
            <a:off x="6681579" y="4037641"/>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6068720" y="4104906"/>
            <a:ext cx="457312" cy="8114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flipV="1">
            <a:off x="6035072" y="3002007"/>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5250158" y="3071556"/>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Oval 16"/>
          <p:cNvSpPr>
            <a:spLocks noChangeArrowheads="1"/>
          </p:cNvSpPr>
          <p:nvPr/>
        </p:nvSpPr>
        <p:spPr bwMode="auto">
          <a:xfrm>
            <a:off x="5765571" y="29153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6" name="Oval 16"/>
          <p:cNvSpPr>
            <a:spLocks noChangeArrowheads="1"/>
          </p:cNvSpPr>
          <p:nvPr/>
        </p:nvSpPr>
        <p:spPr bwMode="auto">
          <a:xfrm>
            <a:off x="5069313" y="380356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7" name="Oval 16"/>
          <p:cNvSpPr>
            <a:spLocks noChangeArrowheads="1"/>
          </p:cNvSpPr>
          <p:nvPr/>
        </p:nvSpPr>
        <p:spPr bwMode="auto">
          <a:xfrm>
            <a:off x="6416392" y="384678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8" name="Oval 16"/>
          <p:cNvSpPr>
            <a:spLocks noChangeArrowheads="1"/>
          </p:cNvSpPr>
          <p:nvPr/>
        </p:nvSpPr>
        <p:spPr bwMode="auto">
          <a:xfrm>
            <a:off x="5870482" y="482942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9" name="Oval 16"/>
          <p:cNvSpPr>
            <a:spLocks noChangeArrowheads="1"/>
          </p:cNvSpPr>
          <p:nvPr/>
        </p:nvSpPr>
        <p:spPr bwMode="auto">
          <a:xfrm>
            <a:off x="7094899" y="482803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76" name="TextBox 75"/>
          <p:cNvSpPr txBox="1"/>
          <p:nvPr/>
        </p:nvSpPr>
        <p:spPr>
          <a:xfrm>
            <a:off x="3944575" y="1786250"/>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82" name="TextBox 81"/>
          <p:cNvSpPr txBox="1"/>
          <p:nvPr/>
        </p:nvSpPr>
        <p:spPr>
          <a:xfrm>
            <a:off x="1967407" y="2929860"/>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83" name="TextBox 82"/>
          <p:cNvSpPr txBox="1"/>
          <p:nvPr/>
        </p:nvSpPr>
        <p:spPr>
          <a:xfrm>
            <a:off x="5833156" y="2937297"/>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84" name="Rectangle 83"/>
          <p:cNvSpPr/>
          <p:nvPr/>
        </p:nvSpPr>
        <p:spPr>
          <a:xfrm>
            <a:off x="1273931" y="3822650"/>
            <a:ext cx="343364" cy="369332"/>
          </a:xfrm>
          <a:prstGeom prst="rect">
            <a:avLst/>
          </a:prstGeom>
        </p:spPr>
        <p:txBody>
          <a:bodyPr wrap="none">
            <a:spAutoFit/>
          </a:bodyPr>
          <a:lstStyle/>
          <a:p>
            <a:r>
              <a:rPr lang="en-US" b="1" dirty="0">
                <a:solidFill>
                  <a:prstClr val="black"/>
                </a:solidFill>
              </a:rPr>
              <a:t>D</a:t>
            </a:r>
          </a:p>
        </p:txBody>
      </p:sp>
      <p:sp>
        <p:nvSpPr>
          <p:cNvPr id="85" name="Rectangle 84"/>
          <p:cNvSpPr/>
          <p:nvPr/>
        </p:nvSpPr>
        <p:spPr>
          <a:xfrm>
            <a:off x="5116299" y="3846782"/>
            <a:ext cx="304892" cy="369332"/>
          </a:xfrm>
          <a:prstGeom prst="rect">
            <a:avLst/>
          </a:prstGeom>
        </p:spPr>
        <p:txBody>
          <a:bodyPr wrap="none">
            <a:spAutoFit/>
          </a:bodyPr>
          <a:lstStyle/>
          <a:p>
            <a:r>
              <a:rPr lang="en-US" b="1" dirty="0">
                <a:solidFill>
                  <a:prstClr val="black"/>
                </a:solidFill>
              </a:rPr>
              <a:t>F</a:t>
            </a:r>
          </a:p>
        </p:txBody>
      </p:sp>
      <p:sp>
        <p:nvSpPr>
          <p:cNvPr id="86" name="Rectangle 85"/>
          <p:cNvSpPr/>
          <p:nvPr/>
        </p:nvSpPr>
        <p:spPr>
          <a:xfrm>
            <a:off x="6467363" y="3861983"/>
            <a:ext cx="340158" cy="369332"/>
          </a:xfrm>
          <a:prstGeom prst="rect">
            <a:avLst/>
          </a:prstGeom>
        </p:spPr>
        <p:txBody>
          <a:bodyPr wrap="none">
            <a:spAutoFit/>
          </a:bodyPr>
          <a:lstStyle/>
          <a:p>
            <a:r>
              <a:rPr lang="en-US" b="1" dirty="0">
                <a:solidFill>
                  <a:prstClr val="black"/>
                </a:solidFill>
              </a:rPr>
              <a:t>G</a:t>
            </a:r>
          </a:p>
        </p:txBody>
      </p:sp>
      <p:sp>
        <p:nvSpPr>
          <p:cNvPr id="87" name="Rectangle 86"/>
          <p:cNvSpPr/>
          <p:nvPr/>
        </p:nvSpPr>
        <p:spPr>
          <a:xfrm>
            <a:off x="5923779" y="4883500"/>
            <a:ext cx="277640" cy="369332"/>
          </a:xfrm>
          <a:prstGeom prst="rect">
            <a:avLst/>
          </a:prstGeom>
        </p:spPr>
        <p:txBody>
          <a:bodyPr wrap="none">
            <a:spAutoFit/>
          </a:bodyPr>
          <a:lstStyle/>
          <a:p>
            <a:r>
              <a:rPr lang="en-US" b="1" dirty="0">
                <a:solidFill>
                  <a:prstClr val="black"/>
                </a:solidFill>
              </a:rPr>
              <a:t>J</a:t>
            </a:r>
          </a:p>
        </p:txBody>
      </p:sp>
      <p:sp>
        <p:nvSpPr>
          <p:cNvPr id="88" name="Rectangle 87"/>
          <p:cNvSpPr/>
          <p:nvPr/>
        </p:nvSpPr>
        <p:spPr>
          <a:xfrm>
            <a:off x="7146697" y="4879786"/>
            <a:ext cx="330540" cy="369332"/>
          </a:xfrm>
          <a:prstGeom prst="rect">
            <a:avLst/>
          </a:prstGeom>
        </p:spPr>
        <p:txBody>
          <a:bodyPr wrap="none">
            <a:spAutoFit/>
          </a:bodyPr>
          <a:lstStyle/>
          <a:p>
            <a:r>
              <a:rPr lang="en-US" b="1" dirty="0">
                <a:solidFill>
                  <a:prstClr val="black"/>
                </a:solidFill>
              </a:rPr>
              <a:t>K</a:t>
            </a:r>
          </a:p>
        </p:txBody>
      </p:sp>
      <p:sp>
        <p:nvSpPr>
          <p:cNvPr id="89" name="Rectangle 88"/>
          <p:cNvSpPr/>
          <p:nvPr/>
        </p:nvSpPr>
        <p:spPr>
          <a:xfrm>
            <a:off x="3294991" y="4859128"/>
            <a:ext cx="248786" cy="369332"/>
          </a:xfrm>
          <a:prstGeom prst="rect">
            <a:avLst/>
          </a:prstGeom>
        </p:spPr>
        <p:txBody>
          <a:bodyPr wrap="none">
            <a:spAutoFit/>
          </a:bodyPr>
          <a:lstStyle/>
          <a:p>
            <a:r>
              <a:rPr lang="en-US" b="1" dirty="0">
                <a:solidFill>
                  <a:prstClr val="black"/>
                </a:solidFill>
              </a:rPr>
              <a:t>I</a:t>
            </a:r>
          </a:p>
        </p:txBody>
      </p:sp>
      <p:sp>
        <p:nvSpPr>
          <p:cNvPr id="91" name="Rectangle 90"/>
          <p:cNvSpPr/>
          <p:nvPr/>
        </p:nvSpPr>
        <p:spPr>
          <a:xfrm>
            <a:off x="641576" y="4852097"/>
            <a:ext cx="346570" cy="369332"/>
          </a:xfrm>
          <a:prstGeom prst="rect">
            <a:avLst/>
          </a:prstGeom>
        </p:spPr>
        <p:txBody>
          <a:bodyPr wrap="none">
            <a:spAutoFit/>
          </a:bodyPr>
          <a:lstStyle/>
          <a:p>
            <a:r>
              <a:rPr lang="en-US" b="1" dirty="0">
                <a:solidFill>
                  <a:prstClr val="black"/>
                </a:solidFill>
              </a:rPr>
              <a:t>H</a:t>
            </a:r>
          </a:p>
        </p:txBody>
      </p:sp>
      <p:sp>
        <p:nvSpPr>
          <p:cNvPr id="92" name="Rectangle 91"/>
          <p:cNvSpPr/>
          <p:nvPr/>
        </p:nvSpPr>
        <p:spPr>
          <a:xfrm>
            <a:off x="2632725" y="3853127"/>
            <a:ext cx="316112" cy="369332"/>
          </a:xfrm>
          <a:prstGeom prst="rect">
            <a:avLst/>
          </a:prstGeom>
        </p:spPr>
        <p:txBody>
          <a:bodyPr wrap="none">
            <a:spAutoFit/>
          </a:bodyPr>
          <a:lstStyle/>
          <a:p>
            <a:r>
              <a:rPr lang="en-US" b="1" dirty="0">
                <a:solidFill>
                  <a:prstClr val="black"/>
                </a:solidFill>
              </a:rPr>
              <a:t>E</a:t>
            </a:r>
          </a:p>
        </p:txBody>
      </p:sp>
      <p:graphicFrame>
        <p:nvGraphicFramePr>
          <p:cNvPr id="5" name="Table 4"/>
          <p:cNvGraphicFramePr>
            <a:graphicFrameLocks noGrp="1"/>
          </p:cNvGraphicFramePr>
          <p:nvPr>
            <p:extLst>
              <p:ext uri="{D42A27DB-BD31-4B8C-83A1-F6EECF244321}">
                <p14:modId xmlns:p14="http://schemas.microsoft.com/office/powerpoint/2010/main" val="2577582166"/>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G</a:t>
                      </a:r>
                    </a:p>
                  </a:txBody>
                  <a:tcPr>
                    <a:solidFill>
                      <a:schemeClr val="accent2">
                        <a:lumMod val="60000"/>
                        <a:lumOff val="40000"/>
                      </a:schemeClr>
                    </a:solidFill>
                  </a:tcPr>
                </a:tc>
                <a:tc>
                  <a:txBody>
                    <a:bodyPr/>
                    <a:lstStyle/>
                    <a:p>
                      <a:pPr algn="ctr"/>
                      <a:r>
                        <a:rPr lang="en-US" dirty="0">
                          <a:solidFill>
                            <a:schemeClr val="tx1"/>
                          </a:solidFill>
                        </a:rPr>
                        <a:t>F</a:t>
                      </a: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extLst>
                  <a:ext uri="{0D108BD9-81ED-4DB2-BD59-A6C34878D82A}">
                    <a16:rowId xmlns:a16="http://schemas.microsoft.com/office/drawing/2014/main" val="660647860"/>
                  </a:ext>
                </a:extLst>
              </a:tr>
            </a:tbl>
          </a:graphicData>
        </a:graphic>
      </p:graphicFrame>
      <p:sp>
        <p:nvSpPr>
          <p:cNvPr id="6" name="TextBox 5"/>
          <p:cNvSpPr txBox="1"/>
          <p:nvPr/>
        </p:nvSpPr>
        <p:spPr>
          <a:xfrm>
            <a:off x="965262" y="5554545"/>
            <a:ext cx="362600" cy="461665"/>
          </a:xfrm>
          <a:prstGeom prst="rect">
            <a:avLst/>
          </a:prstGeom>
          <a:noFill/>
        </p:spPr>
        <p:txBody>
          <a:bodyPr wrap="none" rtlCol="0">
            <a:spAutoFit/>
          </a:bodyPr>
          <a:lstStyle/>
          <a:p>
            <a:r>
              <a:rPr lang="en-US" sz="2400" b="1">
                <a:effectLst>
                  <a:outerShdw blurRad="38100" dist="38100" dir="2700000" algn="tl">
                    <a:srgbClr val="000000">
                      <a:alpha val="43137"/>
                    </a:srgbClr>
                  </a:outerShdw>
                </a:effectLst>
              </a:rPr>
              <a:t>S</a:t>
            </a:r>
          </a:p>
        </p:txBody>
      </p:sp>
      <p:cxnSp>
        <p:nvCxnSpPr>
          <p:cNvPr id="55" name="Straight Connector 54"/>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57" name="Table 56"/>
          <p:cNvGraphicFramePr>
            <a:graphicFrameLocks noGrp="1"/>
          </p:cNvGraphicFramePr>
          <p:nvPr/>
        </p:nvGraphicFramePr>
        <p:xfrm>
          <a:off x="1437550" y="6071671"/>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B</a:t>
                      </a:r>
                    </a:p>
                  </a:txBody>
                  <a:tcPr>
                    <a:noFill/>
                  </a:tcPr>
                </a:tc>
                <a:tc>
                  <a:txBody>
                    <a:bodyPr/>
                    <a:lstStyle/>
                    <a:p>
                      <a:pPr algn="ctr"/>
                      <a:r>
                        <a:rPr lang="en-US" dirty="0">
                          <a:solidFill>
                            <a:schemeClr val="tx1"/>
                          </a:solidFill>
                        </a:rPr>
                        <a:t>D</a:t>
                      </a:r>
                    </a:p>
                  </a:txBody>
                  <a:tcPr>
                    <a:noFill/>
                  </a:tcPr>
                </a:tc>
                <a:tc>
                  <a:txBody>
                    <a:bodyPr/>
                    <a:lstStyle/>
                    <a:p>
                      <a:pPr algn="ctr"/>
                      <a:r>
                        <a:rPr lang="en-US" dirty="0">
                          <a:solidFill>
                            <a:schemeClr val="tx1"/>
                          </a:solidFill>
                        </a:rPr>
                        <a:t>H</a:t>
                      </a:r>
                    </a:p>
                  </a:txBody>
                  <a:tcPr>
                    <a:noFill/>
                  </a:tcPr>
                </a:tc>
                <a:tc>
                  <a:txBody>
                    <a:bodyPr/>
                    <a:lstStyle/>
                    <a:p>
                      <a:pPr algn="ctr"/>
                      <a:r>
                        <a:rPr lang="en-US" dirty="0">
                          <a:solidFill>
                            <a:schemeClr val="tx1"/>
                          </a:solidFill>
                        </a:rPr>
                        <a:t>E</a:t>
                      </a:r>
                    </a:p>
                  </a:txBody>
                  <a:tcPr>
                    <a:noFill/>
                  </a:tcPr>
                </a:tc>
                <a:tc>
                  <a:txBody>
                    <a:bodyPr/>
                    <a:lstStyle/>
                    <a:p>
                      <a:pPr algn="ctr"/>
                      <a:r>
                        <a:rPr lang="en-US" dirty="0">
                          <a:solidFill>
                            <a:schemeClr val="tx1"/>
                          </a:solidFill>
                        </a:rPr>
                        <a:t>I</a:t>
                      </a:r>
                    </a:p>
                  </a:txBody>
                  <a:tcPr>
                    <a:noFill/>
                  </a:tcPr>
                </a:tc>
                <a:tc>
                  <a:txBody>
                    <a:bodyPr/>
                    <a:lstStyle/>
                    <a:p>
                      <a:pPr algn="ctr"/>
                      <a:r>
                        <a:rPr lang="en-US" dirty="0">
                          <a:solidFill>
                            <a:schemeClr val="tx1"/>
                          </a:solidFill>
                        </a:rPr>
                        <a:t>C</a:t>
                      </a:r>
                      <a:endParaRPr lang="en-US" dirty="0"/>
                    </a:p>
                  </a:txBody>
                  <a:tcPr>
                    <a:noFill/>
                  </a:tcPr>
                </a:tc>
                <a:tc>
                  <a:txBody>
                    <a:bodyPr/>
                    <a:lstStyle/>
                    <a:p>
                      <a:endParaRPr lang="en-US"/>
                    </a:p>
                  </a:txBody>
                  <a:tcPr>
                    <a:noFill/>
                  </a:tcPr>
                </a:tc>
                <a:tc>
                  <a:txBody>
                    <a:bodyPr/>
                    <a:lstStyle/>
                    <a:p>
                      <a:endParaRPr lang="en-US"/>
                    </a:p>
                  </a:txBody>
                  <a:tcPr>
                    <a:noFill/>
                  </a:tcPr>
                </a:tc>
                <a:tc>
                  <a:txBody>
                    <a:bodyPr/>
                    <a:lstStyle/>
                    <a:p>
                      <a:endParaRPr lang="en-US" dirty="0"/>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graphicFrame>
        <p:nvGraphicFramePr>
          <p:cNvPr id="48" name="Table 47">
            <a:extLst>
              <a:ext uri="{FF2B5EF4-FFF2-40B4-BE49-F238E27FC236}">
                <a16:creationId xmlns:a16="http://schemas.microsoft.com/office/drawing/2014/main" id="{ADAA0AE8-F5F3-4835-AA8E-4DDB3EED838F}"/>
              </a:ext>
            </a:extLst>
          </p:cNvPr>
          <p:cNvGraphicFramePr>
            <a:graphicFrameLocks noGrp="1"/>
          </p:cNvGraphicFramePr>
          <p:nvPr/>
        </p:nvGraphicFramePr>
        <p:xfrm>
          <a:off x="8658993" y="1862844"/>
          <a:ext cx="2132240" cy="4719320"/>
        </p:xfrm>
        <a:graphic>
          <a:graphicData uri="http://schemas.openxmlformats.org/drawingml/2006/table">
            <a:tbl>
              <a:tblPr firstRow="1" bandRow="1">
                <a:tableStyleId>{5C22544A-7EE6-4342-B048-85BDC9FD1C3A}</a:tableStyleId>
              </a:tblPr>
              <a:tblGrid>
                <a:gridCol w="847864">
                  <a:extLst>
                    <a:ext uri="{9D8B030D-6E8A-4147-A177-3AD203B41FA5}">
                      <a16:colId xmlns:a16="http://schemas.microsoft.com/office/drawing/2014/main" val="2989644895"/>
                    </a:ext>
                  </a:extLst>
                </a:gridCol>
                <a:gridCol w="1284376">
                  <a:extLst>
                    <a:ext uri="{9D8B030D-6E8A-4147-A177-3AD203B41FA5}">
                      <a16:colId xmlns:a16="http://schemas.microsoft.com/office/drawing/2014/main" val="4244960412"/>
                    </a:ext>
                  </a:extLst>
                </a:gridCol>
              </a:tblGrid>
              <a:tr h="370840">
                <a:tc>
                  <a:txBody>
                    <a:bodyPr/>
                    <a:lstStyle/>
                    <a:p>
                      <a:pPr algn="ctr"/>
                      <a:r>
                        <a:rPr lang="en-US" dirty="0"/>
                        <a:t>NODE</a:t>
                      </a:r>
                    </a:p>
                  </a:txBody>
                  <a:tcPr/>
                </a:tc>
                <a:tc>
                  <a:txBody>
                    <a:bodyPr/>
                    <a:lstStyle/>
                    <a:p>
                      <a:pPr algn="ctr"/>
                      <a:r>
                        <a:rPr lang="en-US" dirty="0"/>
                        <a:t>CHILDREN</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F,G</a:t>
                      </a:r>
                      <a:endParaRPr lang="en-US" b="1" dirty="0"/>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H,-</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-,I</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J,K</a:t>
                      </a:r>
                    </a:p>
                  </a:txBody>
                  <a:tcPr/>
                </a:tc>
                <a:extLst>
                  <a:ext uri="{0D108BD9-81ED-4DB2-BD59-A6C34878D82A}">
                    <a16:rowId xmlns:a16="http://schemas.microsoft.com/office/drawing/2014/main" val="1205733479"/>
                  </a:ext>
                </a:extLst>
              </a:tr>
              <a:tr h="370840">
                <a:tc>
                  <a:txBody>
                    <a:bodyPr/>
                    <a:lstStyle/>
                    <a:p>
                      <a:pPr algn="ctr"/>
                      <a:r>
                        <a:rPr lang="en-US" b="1" dirty="0"/>
                        <a: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987431379"/>
                  </a:ext>
                </a:extLst>
              </a:tr>
              <a:tr h="370840">
                <a:tc>
                  <a:txBody>
                    <a:bodyPr/>
                    <a:lstStyle/>
                    <a:p>
                      <a:pPr algn="ctr"/>
                      <a:r>
                        <a:rPr lang="en-US" b="1" dirty="0"/>
                        <a:t>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290039795"/>
                  </a:ext>
                </a:extLst>
              </a:tr>
              <a:tr h="370840">
                <a:tc>
                  <a:txBody>
                    <a:bodyPr/>
                    <a:lstStyle/>
                    <a:p>
                      <a:pPr algn="ctr"/>
                      <a:r>
                        <a:rPr lang="en-US" b="1" dirty="0"/>
                        <a:t>J</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873125107"/>
                  </a:ext>
                </a:extLst>
              </a:tr>
              <a:tr h="370840">
                <a:tc>
                  <a:txBody>
                    <a:bodyPr/>
                    <a:lstStyle/>
                    <a:p>
                      <a:pPr algn="ctr"/>
                      <a:r>
                        <a:rPr lang="en-US" b="1" dirty="0"/>
                        <a:t>K</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640632725"/>
                  </a:ext>
                </a:extLst>
              </a:tr>
            </a:tbl>
          </a:graphicData>
        </a:graphic>
      </p:graphicFrame>
    </p:spTree>
    <p:custDataLst>
      <p:tags r:id="rId1"/>
    </p:custDataLst>
    <p:extLst>
      <p:ext uri="{BB962C8B-B14F-4D97-AF65-F5344CB8AC3E}">
        <p14:creationId xmlns:p14="http://schemas.microsoft.com/office/powerpoint/2010/main" val="38116472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Straight Connector 45"/>
          <p:cNvCxnSpPr/>
          <p:nvPr/>
        </p:nvCxnSpPr>
        <p:spPr>
          <a:xfrm flipV="1">
            <a:off x="797123" y="4129201"/>
            <a:ext cx="542694" cy="82386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flipV="1">
            <a:off x="2838130" y="4019053"/>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ln>
            <a:noFill/>
          </a:ln>
        </p:spPr>
        <p:txBody>
          <a:bodyPr/>
          <a:lstStyle/>
          <a:p>
            <a:r>
              <a:rPr lang="en-US" dirty="0"/>
              <a:t>Depth-First Search</a:t>
            </a:r>
          </a:p>
        </p:txBody>
      </p:sp>
      <p:sp>
        <p:nvSpPr>
          <p:cNvPr id="3" name="Slide Number Placeholder 2">
            <a:extLst>
              <a:ext uri="{FF2B5EF4-FFF2-40B4-BE49-F238E27FC236}">
                <a16:creationId xmlns:a16="http://schemas.microsoft.com/office/drawing/2014/main" id="{506C4012-C304-409A-ADD1-A5925282D34B}"/>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63/110</a:t>
            </a:r>
          </a:p>
        </p:txBody>
      </p:sp>
      <p:cxnSp>
        <p:nvCxnSpPr>
          <p:cNvPr id="8" name="Straight Connector 7"/>
          <p:cNvCxnSpPr/>
          <p:nvPr/>
        </p:nvCxnSpPr>
        <p:spPr>
          <a:xfrm flipH="1" flipV="1">
            <a:off x="4129859" y="1873873"/>
            <a:ext cx="1853477" cy="11790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2127196" y="2004369"/>
            <a:ext cx="1804150" cy="10422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3895286" y="176439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8" name="Straight Connector 17"/>
          <p:cNvCxnSpPr/>
          <p:nvPr/>
        </p:nvCxnSpPr>
        <p:spPr>
          <a:xfrm flipH="1" flipV="1">
            <a:off x="2191623" y="2983419"/>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406709" y="3052968"/>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1922122" y="2896761"/>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Oval 16"/>
          <p:cNvSpPr>
            <a:spLocks noChangeArrowheads="1"/>
          </p:cNvSpPr>
          <p:nvPr/>
        </p:nvSpPr>
        <p:spPr bwMode="auto">
          <a:xfrm>
            <a:off x="1225864" y="378497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5" name="Oval 16"/>
          <p:cNvSpPr>
            <a:spLocks noChangeArrowheads="1"/>
          </p:cNvSpPr>
          <p:nvPr/>
        </p:nvSpPr>
        <p:spPr bwMode="auto">
          <a:xfrm>
            <a:off x="2572943" y="382819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4" name="Oval 16"/>
          <p:cNvSpPr>
            <a:spLocks noChangeArrowheads="1"/>
          </p:cNvSpPr>
          <p:nvPr/>
        </p:nvSpPr>
        <p:spPr bwMode="auto">
          <a:xfrm>
            <a:off x="3251450" y="480945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6" name="Oval 16"/>
          <p:cNvSpPr>
            <a:spLocks noChangeArrowheads="1"/>
          </p:cNvSpPr>
          <p:nvPr/>
        </p:nvSpPr>
        <p:spPr bwMode="auto">
          <a:xfrm>
            <a:off x="577751" y="4810837"/>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61" name="Straight Connector 60"/>
          <p:cNvCxnSpPr/>
          <p:nvPr/>
        </p:nvCxnSpPr>
        <p:spPr>
          <a:xfrm flipH="1" flipV="1">
            <a:off x="6681579" y="4037641"/>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6068720" y="4104906"/>
            <a:ext cx="457312" cy="8114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flipV="1">
            <a:off x="6035072" y="3002007"/>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5250158" y="3071556"/>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Oval 16"/>
          <p:cNvSpPr>
            <a:spLocks noChangeArrowheads="1"/>
          </p:cNvSpPr>
          <p:nvPr/>
        </p:nvSpPr>
        <p:spPr bwMode="auto">
          <a:xfrm>
            <a:off x="5765571" y="29153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6" name="Oval 16"/>
          <p:cNvSpPr>
            <a:spLocks noChangeArrowheads="1"/>
          </p:cNvSpPr>
          <p:nvPr/>
        </p:nvSpPr>
        <p:spPr bwMode="auto">
          <a:xfrm>
            <a:off x="5069313" y="380356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7" name="Oval 16"/>
          <p:cNvSpPr>
            <a:spLocks noChangeArrowheads="1"/>
          </p:cNvSpPr>
          <p:nvPr/>
        </p:nvSpPr>
        <p:spPr bwMode="auto">
          <a:xfrm>
            <a:off x="6416392" y="384678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8" name="Oval 16"/>
          <p:cNvSpPr>
            <a:spLocks noChangeArrowheads="1"/>
          </p:cNvSpPr>
          <p:nvPr/>
        </p:nvSpPr>
        <p:spPr bwMode="auto">
          <a:xfrm>
            <a:off x="5870482" y="482942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9" name="Oval 16"/>
          <p:cNvSpPr>
            <a:spLocks noChangeArrowheads="1"/>
          </p:cNvSpPr>
          <p:nvPr/>
        </p:nvSpPr>
        <p:spPr bwMode="auto">
          <a:xfrm>
            <a:off x="7094899" y="482803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76" name="TextBox 75"/>
          <p:cNvSpPr txBox="1"/>
          <p:nvPr/>
        </p:nvSpPr>
        <p:spPr>
          <a:xfrm>
            <a:off x="3944575" y="1786250"/>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82" name="TextBox 81"/>
          <p:cNvSpPr txBox="1"/>
          <p:nvPr/>
        </p:nvSpPr>
        <p:spPr>
          <a:xfrm>
            <a:off x="1967407" y="2929860"/>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83" name="TextBox 82"/>
          <p:cNvSpPr txBox="1"/>
          <p:nvPr/>
        </p:nvSpPr>
        <p:spPr>
          <a:xfrm>
            <a:off x="5833156" y="2937297"/>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84" name="Rectangle 83"/>
          <p:cNvSpPr/>
          <p:nvPr/>
        </p:nvSpPr>
        <p:spPr>
          <a:xfrm>
            <a:off x="1273931" y="3822650"/>
            <a:ext cx="343364" cy="369332"/>
          </a:xfrm>
          <a:prstGeom prst="rect">
            <a:avLst/>
          </a:prstGeom>
        </p:spPr>
        <p:txBody>
          <a:bodyPr wrap="none">
            <a:spAutoFit/>
          </a:bodyPr>
          <a:lstStyle/>
          <a:p>
            <a:r>
              <a:rPr lang="en-US" b="1" dirty="0">
                <a:solidFill>
                  <a:prstClr val="black"/>
                </a:solidFill>
              </a:rPr>
              <a:t>D</a:t>
            </a:r>
          </a:p>
        </p:txBody>
      </p:sp>
      <p:sp>
        <p:nvSpPr>
          <p:cNvPr id="85" name="Rectangle 84"/>
          <p:cNvSpPr/>
          <p:nvPr/>
        </p:nvSpPr>
        <p:spPr>
          <a:xfrm>
            <a:off x="5116299" y="3846782"/>
            <a:ext cx="304892" cy="369332"/>
          </a:xfrm>
          <a:prstGeom prst="rect">
            <a:avLst/>
          </a:prstGeom>
        </p:spPr>
        <p:txBody>
          <a:bodyPr wrap="none">
            <a:spAutoFit/>
          </a:bodyPr>
          <a:lstStyle/>
          <a:p>
            <a:r>
              <a:rPr lang="en-US" b="1" dirty="0">
                <a:solidFill>
                  <a:prstClr val="black"/>
                </a:solidFill>
              </a:rPr>
              <a:t>F</a:t>
            </a:r>
          </a:p>
        </p:txBody>
      </p:sp>
      <p:sp>
        <p:nvSpPr>
          <p:cNvPr id="86" name="Rectangle 85"/>
          <p:cNvSpPr/>
          <p:nvPr/>
        </p:nvSpPr>
        <p:spPr>
          <a:xfrm>
            <a:off x="6467363" y="3861983"/>
            <a:ext cx="340158" cy="369332"/>
          </a:xfrm>
          <a:prstGeom prst="rect">
            <a:avLst/>
          </a:prstGeom>
        </p:spPr>
        <p:txBody>
          <a:bodyPr wrap="none">
            <a:spAutoFit/>
          </a:bodyPr>
          <a:lstStyle/>
          <a:p>
            <a:r>
              <a:rPr lang="en-US" b="1" dirty="0">
                <a:solidFill>
                  <a:prstClr val="black"/>
                </a:solidFill>
              </a:rPr>
              <a:t>G</a:t>
            </a:r>
          </a:p>
        </p:txBody>
      </p:sp>
      <p:sp>
        <p:nvSpPr>
          <p:cNvPr id="87" name="Rectangle 86"/>
          <p:cNvSpPr/>
          <p:nvPr/>
        </p:nvSpPr>
        <p:spPr>
          <a:xfrm>
            <a:off x="5923779" y="4883500"/>
            <a:ext cx="277640" cy="369332"/>
          </a:xfrm>
          <a:prstGeom prst="rect">
            <a:avLst/>
          </a:prstGeom>
        </p:spPr>
        <p:txBody>
          <a:bodyPr wrap="none">
            <a:spAutoFit/>
          </a:bodyPr>
          <a:lstStyle/>
          <a:p>
            <a:r>
              <a:rPr lang="en-US" b="1" dirty="0">
                <a:solidFill>
                  <a:prstClr val="black"/>
                </a:solidFill>
              </a:rPr>
              <a:t>J</a:t>
            </a:r>
          </a:p>
        </p:txBody>
      </p:sp>
      <p:sp>
        <p:nvSpPr>
          <p:cNvPr id="88" name="Rectangle 87"/>
          <p:cNvSpPr/>
          <p:nvPr/>
        </p:nvSpPr>
        <p:spPr>
          <a:xfrm>
            <a:off x="7146697" y="4879786"/>
            <a:ext cx="330540" cy="369332"/>
          </a:xfrm>
          <a:prstGeom prst="rect">
            <a:avLst/>
          </a:prstGeom>
        </p:spPr>
        <p:txBody>
          <a:bodyPr wrap="none">
            <a:spAutoFit/>
          </a:bodyPr>
          <a:lstStyle/>
          <a:p>
            <a:r>
              <a:rPr lang="en-US" b="1" dirty="0">
                <a:solidFill>
                  <a:prstClr val="black"/>
                </a:solidFill>
              </a:rPr>
              <a:t>K</a:t>
            </a:r>
          </a:p>
        </p:txBody>
      </p:sp>
      <p:sp>
        <p:nvSpPr>
          <p:cNvPr id="89" name="Rectangle 88"/>
          <p:cNvSpPr/>
          <p:nvPr/>
        </p:nvSpPr>
        <p:spPr>
          <a:xfrm>
            <a:off x="3294991" y="4859128"/>
            <a:ext cx="248786" cy="369332"/>
          </a:xfrm>
          <a:prstGeom prst="rect">
            <a:avLst/>
          </a:prstGeom>
        </p:spPr>
        <p:txBody>
          <a:bodyPr wrap="none">
            <a:spAutoFit/>
          </a:bodyPr>
          <a:lstStyle/>
          <a:p>
            <a:r>
              <a:rPr lang="en-US" b="1" dirty="0">
                <a:solidFill>
                  <a:prstClr val="black"/>
                </a:solidFill>
              </a:rPr>
              <a:t>I</a:t>
            </a:r>
          </a:p>
        </p:txBody>
      </p:sp>
      <p:sp>
        <p:nvSpPr>
          <p:cNvPr id="91" name="Rectangle 90"/>
          <p:cNvSpPr/>
          <p:nvPr/>
        </p:nvSpPr>
        <p:spPr>
          <a:xfrm>
            <a:off x="641576" y="4852097"/>
            <a:ext cx="346570" cy="369332"/>
          </a:xfrm>
          <a:prstGeom prst="rect">
            <a:avLst/>
          </a:prstGeom>
        </p:spPr>
        <p:txBody>
          <a:bodyPr wrap="none">
            <a:spAutoFit/>
          </a:bodyPr>
          <a:lstStyle/>
          <a:p>
            <a:r>
              <a:rPr lang="en-US" b="1" dirty="0">
                <a:solidFill>
                  <a:prstClr val="black"/>
                </a:solidFill>
              </a:rPr>
              <a:t>H</a:t>
            </a:r>
          </a:p>
        </p:txBody>
      </p:sp>
      <p:sp>
        <p:nvSpPr>
          <p:cNvPr id="92" name="Rectangle 91"/>
          <p:cNvSpPr/>
          <p:nvPr/>
        </p:nvSpPr>
        <p:spPr>
          <a:xfrm>
            <a:off x="2632725" y="3853127"/>
            <a:ext cx="316112" cy="369332"/>
          </a:xfrm>
          <a:prstGeom prst="rect">
            <a:avLst/>
          </a:prstGeom>
        </p:spPr>
        <p:txBody>
          <a:bodyPr wrap="none">
            <a:spAutoFit/>
          </a:bodyPr>
          <a:lstStyle/>
          <a:p>
            <a:r>
              <a:rPr lang="en-US" b="1" dirty="0">
                <a:solidFill>
                  <a:prstClr val="black"/>
                </a:solidFill>
              </a:rPr>
              <a:t>E</a:t>
            </a:r>
          </a:p>
        </p:txBody>
      </p:sp>
      <p:graphicFrame>
        <p:nvGraphicFramePr>
          <p:cNvPr id="5" name="Table 4"/>
          <p:cNvGraphicFramePr>
            <a:graphicFrameLocks noGrp="1"/>
          </p:cNvGraphicFramePr>
          <p:nvPr>
            <p:extLst>
              <p:ext uri="{D42A27DB-BD31-4B8C-83A1-F6EECF244321}">
                <p14:modId xmlns:p14="http://schemas.microsoft.com/office/powerpoint/2010/main" val="2963393615"/>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G</a:t>
                      </a: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extLst>
                  <a:ext uri="{0D108BD9-81ED-4DB2-BD59-A6C34878D82A}">
                    <a16:rowId xmlns:a16="http://schemas.microsoft.com/office/drawing/2014/main" val="660647860"/>
                  </a:ext>
                </a:extLst>
              </a:tr>
            </a:tbl>
          </a:graphicData>
        </a:graphic>
      </p:graphicFrame>
      <p:sp>
        <p:nvSpPr>
          <p:cNvPr id="6" name="TextBox 5"/>
          <p:cNvSpPr txBox="1"/>
          <p:nvPr/>
        </p:nvSpPr>
        <p:spPr>
          <a:xfrm>
            <a:off x="965262" y="5554545"/>
            <a:ext cx="362600" cy="461665"/>
          </a:xfrm>
          <a:prstGeom prst="rect">
            <a:avLst/>
          </a:prstGeom>
          <a:noFill/>
        </p:spPr>
        <p:txBody>
          <a:bodyPr wrap="none" rtlCol="0">
            <a:spAutoFit/>
          </a:bodyPr>
          <a:lstStyle/>
          <a:p>
            <a:r>
              <a:rPr lang="en-US" sz="2400" b="1">
                <a:effectLst>
                  <a:outerShdw blurRad="38100" dist="38100" dir="2700000" algn="tl">
                    <a:srgbClr val="000000">
                      <a:alpha val="43137"/>
                    </a:srgbClr>
                  </a:outerShdw>
                </a:effectLst>
              </a:rPr>
              <a:t>S</a:t>
            </a:r>
          </a:p>
        </p:txBody>
      </p:sp>
      <p:cxnSp>
        <p:nvCxnSpPr>
          <p:cNvPr id="55" name="Straight Connector 54"/>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57" name="Table 56"/>
          <p:cNvGraphicFramePr>
            <a:graphicFrameLocks noGrp="1"/>
          </p:cNvGraphicFramePr>
          <p:nvPr/>
        </p:nvGraphicFramePr>
        <p:xfrm>
          <a:off x="1437550" y="6071671"/>
          <a:ext cx="4785759"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B</a:t>
                      </a:r>
                    </a:p>
                  </a:txBody>
                  <a:tcPr>
                    <a:noFill/>
                  </a:tcPr>
                </a:tc>
                <a:tc>
                  <a:txBody>
                    <a:bodyPr/>
                    <a:lstStyle/>
                    <a:p>
                      <a:pPr algn="ctr"/>
                      <a:r>
                        <a:rPr lang="en-US" dirty="0">
                          <a:solidFill>
                            <a:schemeClr val="tx1"/>
                          </a:solidFill>
                        </a:rPr>
                        <a:t>D</a:t>
                      </a:r>
                    </a:p>
                  </a:txBody>
                  <a:tcPr>
                    <a:noFill/>
                  </a:tcPr>
                </a:tc>
                <a:tc>
                  <a:txBody>
                    <a:bodyPr/>
                    <a:lstStyle/>
                    <a:p>
                      <a:pPr algn="ctr"/>
                      <a:r>
                        <a:rPr lang="en-US" dirty="0">
                          <a:solidFill>
                            <a:schemeClr val="tx1"/>
                          </a:solidFill>
                        </a:rPr>
                        <a:t>H</a:t>
                      </a:r>
                    </a:p>
                  </a:txBody>
                  <a:tcPr>
                    <a:noFill/>
                  </a:tcPr>
                </a:tc>
                <a:tc>
                  <a:txBody>
                    <a:bodyPr/>
                    <a:lstStyle/>
                    <a:p>
                      <a:pPr algn="ctr"/>
                      <a:r>
                        <a:rPr lang="en-US" dirty="0">
                          <a:solidFill>
                            <a:schemeClr val="tx1"/>
                          </a:solidFill>
                        </a:rPr>
                        <a:t>E</a:t>
                      </a:r>
                    </a:p>
                  </a:txBody>
                  <a:tcPr>
                    <a:noFill/>
                  </a:tcPr>
                </a:tc>
                <a:tc>
                  <a:txBody>
                    <a:bodyPr/>
                    <a:lstStyle/>
                    <a:p>
                      <a:pPr algn="ctr"/>
                      <a:r>
                        <a:rPr lang="en-US" dirty="0">
                          <a:solidFill>
                            <a:schemeClr val="tx1"/>
                          </a:solidFill>
                        </a:rPr>
                        <a:t>I</a:t>
                      </a:r>
                    </a:p>
                  </a:txBody>
                  <a:tcPr>
                    <a:noFill/>
                  </a:tcPr>
                </a:tc>
                <a:tc>
                  <a:txBody>
                    <a:bodyPr/>
                    <a:lstStyle/>
                    <a:p>
                      <a:pPr algn="ctr"/>
                      <a:r>
                        <a:rPr lang="en-US" dirty="0">
                          <a:solidFill>
                            <a:schemeClr val="tx1"/>
                          </a:solidFill>
                        </a:rPr>
                        <a:t>C</a:t>
                      </a:r>
                    </a:p>
                  </a:txBody>
                  <a:tcPr>
                    <a:noFill/>
                  </a:tcPr>
                </a:tc>
                <a:tc>
                  <a:txBody>
                    <a:bodyPr/>
                    <a:lstStyle/>
                    <a:p>
                      <a:pPr algn="ctr"/>
                      <a:r>
                        <a:rPr lang="en-US" dirty="0">
                          <a:solidFill>
                            <a:schemeClr val="tx1"/>
                          </a:solidFill>
                        </a:rPr>
                        <a:t>F</a:t>
                      </a:r>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graphicFrame>
        <p:nvGraphicFramePr>
          <p:cNvPr id="49" name="Table 48">
            <a:extLst>
              <a:ext uri="{FF2B5EF4-FFF2-40B4-BE49-F238E27FC236}">
                <a16:creationId xmlns:a16="http://schemas.microsoft.com/office/drawing/2014/main" id="{043D843E-215A-48FE-A1B4-39530009099E}"/>
              </a:ext>
            </a:extLst>
          </p:cNvPr>
          <p:cNvGraphicFramePr>
            <a:graphicFrameLocks noGrp="1"/>
          </p:cNvGraphicFramePr>
          <p:nvPr/>
        </p:nvGraphicFramePr>
        <p:xfrm>
          <a:off x="8658993" y="1862844"/>
          <a:ext cx="2132240" cy="4719320"/>
        </p:xfrm>
        <a:graphic>
          <a:graphicData uri="http://schemas.openxmlformats.org/drawingml/2006/table">
            <a:tbl>
              <a:tblPr firstRow="1" bandRow="1">
                <a:tableStyleId>{5C22544A-7EE6-4342-B048-85BDC9FD1C3A}</a:tableStyleId>
              </a:tblPr>
              <a:tblGrid>
                <a:gridCol w="847864">
                  <a:extLst>
                    <a:ext uri="{9D8B030D-6E8A-4147-A177-3AD203B41FA5}">
                      <a16:colId xmlns:a16="http://schemas.microsoft.com/office/drawing/2014/main" val="2989644895"/>
                    </a:ext>
                  </a:extLst>
                </a:gridCol>
                <a:gridCol w="1284376">
                  <a:extLst>
                    <a:ext uri="{9D8B030D-6E8A-4147-A177-3AD203B41FA5}">
                      <a16:colId xmlns:a16="http://schemas.microsoft.com/office/drawing/2014/main" val="4244960412"/>
                    </a:ext>
                  </a:extLst>
                </a:gridCol>
              </a:tblGrid>
              <a:tr h="370840">
                <a:tc>
                  <a:txBody>
                    <a:bodyPr/>
                    <a:lstStyle/>
                    <a:p>
                      <a:pPr algn="ctr"/>
                      <a:r>
                        <a:rPr lang="en-US" dirty="0"/>
                        <a:t>NODE</a:t>
                      </a:r>
                    </a:p>
                  </a:txBody>
                  <a:tcPr/>
                </a:tc>
                <a:tc>
                  <a:txBody>
                    <a:bodyPr/>
                    <a:lstStyle/>
                    <a:p>
                      <a:pPr algn="ctr"/>
                      <a:r>
                        <a:rPr lang="en-US" dirty="0"/>
                        <a:t>CHILDREN</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F,G</a:t>
                      </a:r>
                      <a:endParaRPr lang="en-US" b="1" dirty="0"/>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H,-</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-,I</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J,K</a:t>
                      </a:r>
                    </a:p>
                  </a:txBody>
                  <a:tcPr/>
                </a:tc>
                <a:extLst>
                  <a:ext uri="{0D108BD9-81ED-4DB2-BD59-A6C34878D82A}">
                    <a16:rowId xmlns:a16="http://schemas.microsoft.com/office/drawing/2014/main" val="1205733479"/>
                  </a:ext>
                </a:extLst>
              </a:tr>
              <a:tr h="370840">
                <a:tc>
                  <a:txBody>
                    <a:bodyPr/>
                    <a:lstStyle/>
                    <a:p>
                      <a:pPr algn="ctr"/>
                      <a:r>
                        <a:rPr lang="en-US" b="1" dirty="0"/>
                        <a: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987431379"/>
                  </a:ext>
                </a:extLst>
              </a:tr>
              <a:tr h="370840">
                <a:tc>
                  <a:txBody>
                    <a:bodyPr/>
                    <a:lstStyle/>
                    <a:p>
                      <a:pPr algn="ctr"/>
                      <a:r>
                        <a:rPr lang="en-US" b="1" dirty="0"/>
                        <a:t>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290039795"/>
                  </a:ext>
                </a:extLst>
              </a:tr>
              <a:tr h="370840">
                <a:tc>
                  <a:txBody>
                    <a:bodyPr/>
                    <a:lstStyle/>
                    <a:p>
                      <a:pPr algn="ctr"/>
                      <a:r>
                        <a:rPr lang="en-US" b="1" dirty="0"/>
                        <a:t>J</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873125107"/>
                  </a:ext>
                </a:extLst>
              </a:tr>
              <a:tr h="370840">
                <a:tc>
                  <a:txBody>
                    <a:bodyPr/>
                    <a:lstStyle/>
                    <a:p>
                      <a:pPr algn="ctr"/>
                      <a:r>
                        <a:rPr lang="en-US" b="1" dirty="0"/>
                        <a:t>K</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640632725"/>
                  </a:ext>
                </a:extLst>
              </a:tr>
            </a:tbl>
          </a:graphicData>
        </a:graphic>
      </p:graphicFrame>
    </p:spTree>
    <p:custDataLst>
      <p:tags r:id="rId1"/>
    </p:custDataLst>
    <p:extLst>
      <p:ext uri="{BB962C8B-B14F-4D97-AF65-F5344CB8AC3E}">
        <p14:creationId xmlns:p14="http://schemas.microsoft.com/office/powerpoint/2010/main" val="330824743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Straight Connector 45"/>
          <p:cNvCxnSpPr/>
          <p:nvPr/>
        </p:nvCxnSpPr>
        <p:spPr>
          <a:xfrm flipV="1">
            <a:off x="797123" y="4129201"/>
            <a:ext cx="542694" cy="82386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flipV="1">
            <a:off x="2838130" y="4019053"/>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ln>
            <a:noFill/>
          </a:ln>
        </p:spPr>
        <p:txBody>
          <a:bodyPr/>
          <a:lstStyle/>
          <a:p>
            <a:r>
              <a:rPr lang="en-US" dirty="0"/>
              <a:t>Depth-First Search</a:t>
            </a:r>
          </a:p>
        </p:txBody>
      </p:sp>
      <p:sp>
        <p:nvSpPr>
          <p:cNvPr id="3" name="Slide Number Placeholder 2">
            <a:extLst>
              <a:ext uri="{FF2B5EF4-FFF2-40B4-BE49-F238E27FC236}">
                <a16:creationId xmlns:a16="http://schemas.microsoft.com/office/drawing/2014/main" id="{7F62FDE9-F58A-4F1F-B1AF-08C3D3DB6303}"/>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64/110</a:t>
            </a:r>
          </a:p>
        </p:txBody>
      </p:sp>
      <p:cxnSp>
        <p:nvCxnSpPr>
          <p:cNvPr id="8" name="Straight Connector 7"/>
          <p:cNvCxnSpPr/>
          <p:nvPr/>
        </p:nvCxnSpPr>
        <p:spPr>
          <a:xfrm flipH="1" flipV="1">
            <a:off x="4129859" y="1873873"/>
            <a:ext cx="1853477" cy="11790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2127196" y="2004369"/>
            <a:ext cx="1804150" cy="10422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3895286" y="176439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8" name="Straight Connector 17"/>
          <p:cNvCxnSpPr/>
          <p:nvPr/>
        </p:nvCxnSpPr>
        <p:spPr>
          <a:xfrm flipH="1" flipV="1">
            <a:off x="2191623" y="2983419"/>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406709" y="3052968"/>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1922122" y="2896761"/>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Oval 16"/>
          <p:cNvSpPr>
            <a:spLocks noChangeArrowheads="1"/>
          </p:cNvSpPr>
          <p:nvPr/>
        </p:nvSpPr>
        <p:spPr bwMode="auto">
          <a:xfrm>
            <a:off x="1225864" y="378497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5" name="Oval 16"/>
          <p:cNvSpPr>
            <a:spLocks noChangeArrowheads="1"/>
          </p:cNvSpPr>
          <p:nvPr/>
        </p:nvSpPr>
        <p:spPr bwMode="auto">
          <a:xfrm>
            <a:off x="2572943" y="382819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4" name="Oval 16"/>
          <p:cNvSpPr>
            <a:spLocks noChangeArrowheads="1"/>
          </p:cNvSpPr>
          <p:nvPr/>
        </p:nvSpPr>
        <p:spPr bwMode="auto">
          <a:xfrm>
            <a:off x="3251450" y="480945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6" name="Oval 16"/>
          <p:cNvSpPr>
            <a:spLocks noChangeArrowheads="1"/>
          </p:cNvSpPr>
          <p:nvPr/>
        </p:nvSpPr>
        <p:spPr bwMode="auto">
          <a:xfrm>
            <a:off x="577751" y="4810837"/>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61" name="Straight Connector 60"/>
          <p:cNvCxnSpPr/>
          <p:nvPr/>
        </p:nvCxnSpPr>
        <p:spPr>
          <a:xfrm flipH="1" flipV="1">
            <a:off x="6681579" y="4037641"/>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6068720" y="4104906"/>
            <a:ext cx="457312" cy="8114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flipV="1">
            <a:off x="6035072" y="3002007"/>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5250158" y="3071556"/>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Oval 16"/>
          <p:cNvSpPr>
            <a:spLocks noChangeArrowheads="1"/>
          </p:cNvSpPr>
          <p:nvPr/>
        </p:nvSpPr>
        <p:spPr bwMode="auto">
          <a:xfrm>
            <a:off x="5765571" y="29153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6" name="Oval 16"/>
          <p:cNvSpPr>
            <a:spLocks noChangeArrowheads="1"/>
          </p:cNvSpPr>
          <p:nvPr/>
        </p:nvSpPr>
        <p:spPr bwMode="auto">
          <a:xfrm>
            <a:off x="5069313" y="380356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7" name="Oval 16"/>
          <p:cNvSpPr>
            <a:spLocks noChangeArrowheads="1"/>
          </p:cNvSpPr>
          <p:nvPr/>
        </p:nvSpPr>
        <p:spPr bwMode="auto">
          <a:xfrm>
            <a:off x="6416392" y="384678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8" name="Oval 16"/>
          <p:cNvSpPr>
            <a:spLocks noChangeArrowheads="1"/>
          </p:cNvSpPr>
          <p:nvPr/>
        </p:nvSpPr>
        <p:spPr bwMode="auto">
          <a:xfrm>
            <a:off x="5870482" y="482942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9" name="Oval 16"/>
          <p:cNvSpPr>
            <a:spLocks noChangeArrowheads="1"/>
          </p:cNvSpPr>
          <p:nvPr/>
        </p:nvSpPr>
        <p:spPr bwMode="auto">
          <a:xfrm>
            <a:off x="7094899" y="482803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76" name="TextBox 75"/>
          <p:cNvSpPr txBox="1"/>
          <p:nvPr/>
        </p:nvSpPr>
        <p:spPr>
          <a:xfrm>
            <a:off x="3944575" y="1786250"/>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82" name="TextBox 81"/>
          <p:cNvSpPr txBox="1"/>
          <p:nvPr/>
        </p:nvSpPr>
        <p:spPr>
          <a:xfrm>
            <a:off x="1967407" y="2929860"/>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83" name="TextBox 82"/>
          <p:cNvSpPr txBox="1"/>
          <p:nvPr/>
        </p:nvSpPr>
        <p:spPr>
          <a:xfrm>
            <a:off x="5833156" y="2937297"/>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84" name="Rectangle 83"/>
          <p:cNvSpPr/>
          <p:nvPr/>
        </p:nvSpPr>
        <p:spPr>
          <a:xfrm>
            <a:off x="1273931" y="3822650"/>
            <a:ext cx="343364" cy="369332"/>
          </a:xfrm>
          <a:prstGeom prst="rect">
            <a:avLst/>
          </a:prstGeom>
        </p:spPr>
        <p:txBody>
          <a:bodyPr wrap="none">
            <a:spAutoFit/>
          </a:bodyPr>
          <a:lstStyle/>
          <a:p>
            <a:r>
              <a:rPr lang="en-US" b="1" dirty="0">
                <a:solidFill>
                  <a:prstClr val="black"/>
                </a:solidFill>
              </a:rPr>
              <a:t>D</a:t>
            </a:r>
          </a:p>
        </p:txBody>
      </p:sp>
      <p:sp>
        <p:nvSpPr>
          <p:cNvPr id="85" name="Rectangle 84"/>
          <p:cNvSpPr/>
          <p:nvPr/>
        </p:nvSpPr>
        <p:spPr>
          <a:xfrm>
            <a:off x="5116299" y="3846782"/>
            <a:ext cx="304892" cy="369332"/>
          </a:xfrm>
          <a:prstGeom prst="rect">
            <a:avLst/>
          </a:prstGeom>
        </p:spPr>
        <p:txBody>
          <a:bodyPr wrap="none">
            <a:spAutoFit/>
          </a:bodyPr>
          <a:lstStyle/>
          <a:p>
            <a:r>
              <a:rPr lang="en-US" b="1" dirty="0">
                <a:solidFill>
                  <a:prstClr val="black"/>
                </a:solidFill>
              </a:rPr>
              <a:t>F</a:t>
            </a:r>
          </a:p>
        </p:txBody>
      </p:sp>
      <p:sp>
        <p:nvSpPr>
          <p:cNvPr id="86" name="Rectangle 85"/>
          <p:cNvSpPr/>
          <p:nvPr/>
        </p:nvSpPr>
        <p:spPr>
          <a:xfrm>
            <a:off x="6467363" y="3861983"/>
            <a:ext cx="340158" cy="369332"/>
          </a:xfrm>
          <a:prstGeom prst="rect">
            <a:avLst/>
          </a:prstGeom>
        </p:spPr>
        <p:txBody>
          <a:bodyPr wrap="none">
            <a:spAutoFit/>
          </a:bodyPr>
          <a:lstStyle/>
          <a:p>
            <a:r>
              <a:rPr lang="en-US" b="1" dirty="0">
                <a:solidFill>
                  <a:prstClr val="black"/>
                </a:solidFill>
              </a:rPr>
              <a:t>G</a:t>
            </a:r>
          </a:p>
        </p:txBody>
      </p:sp>
      <p:sp>
        <p:nvSpPr>
          <p:cNvPr id="87" name="Rectangle 86"/>
          <p:cNvSpPr/>
          <p:nvPr/>
        </p:nvSpPr>
        <p:spPr>
          <a:xfrm>
            <a:off x="5923779" y="4883500"/>
            <a:ext cx="277640" cy="369332"/>
          </a:xfrm>
          <a:prstGeom prst="rect">
            <a:avLst/>
          </a:prstGeom>
        </p:spPr>
        <p:txBody>
          <a:bodyPr wrap="none">
            <a:spAutoFit/>
          </a:bodyPr>
          <a:lstStyle/>
          <a:p>
            <a:r>
              <a:rPr lang="en-US" b="1" dirty="0">
                <a:solidFill>
                  <a:prstClr val="black"/>
                </a:solidFill>
              </a:rPr>
              <a:t>J</a:t>
            </a:r>
          </a:p>
        </p:txBody>
      </p:sp>
      <p:sp>
        <p:nvSpPr>
          <p:cNvPr id="88" name="Rectangle 87"/>
          <p:cNvSpPr/>
          <p:nvPr/>
        </p:nvSpPr>
        <p:spPr>
          <a:xfrm>
            <a:off x="7146697" y="4879786"/>
            <a:ext cx="330540" cy="369332"/>
          </a:xfrm>
          <a:prstGeom prst="rect">
            <a:avLst/>
          </a:prstGeom>
        </p:spPr>
        <p:txBody>
          <a:bodyPr wrap="none">
            <a:spAutoFit/>
          </a:bodyPr>
          <a:lstStyle/>
          <a:p>
            <a:r>
              <a:rPr lang="en-US" b="1" dirty="0">
                <a:solidFill>
                  <a:prstClr val="black"/>
                </a:solidFill>
              </a:rPr>
              <a:t>K</a:t>
            </a:r>
          </a:p>
        </p:txBody>
      </p:sp>
      <p:sp>
        <p:nvSpPr>
          <p:cNvPr id="89" name="Rectangle 88"/>
          <p:cNvSpPr/>
          <p:nvPr/>
        </p:nvSpPr>
        <p:spPr>
          <a:xfrm>
            <a:off x="3294991" y="4859128"/>
            <a:ext cx="248786" cy="369332"/>
          </a:xfrm>
          <a:prstGeom prst="rect">
            <a:avLst/>
          </a:prstGeom>
        </p:spPr>
        <p:txBody>
          <a:bodyPr wrap="none">
            <a:spAutoFit/>
          </a:bodyPr>
          <a:lstStyle/>
          <a:p>
            <a:r>
              <a:rPr lang="en-US" b="1" dirty="0">
                <a:solidFill>
                  <a:prstClr val="black"/>
                </a:solidFill>
              </a:rPr>
              <a:t>I</a:t>
            </a:r>
          </a:p>
        </p:txBody>
      </p:sp>
      <p:sp>
        <p:nvSpPr>
          <p:cNvPr id="91" name="Rectangle 90"/>
          <p:cNvSpPr/>
          <p:nvPr/>
        </p:nvSpPr>
        <p:spPr>
          <a:xfrm>
            <a:off x="641576" y="4852097"/>
            <a:ext cx="346570" cy="369332"/>
          </a:xfrm>
          <a:prstGeom prst="rect">
            <a:avLst/>
          </a:prstGeom>
        </p:spPr>
        <p:txBody>
          <a:bodyPr wrap="none">
            <a:spAutoFit/>
          </a:bodyPr>
          <a:lstStyle/>
          <a:p>
            <a:r>
              <a:rPr lang="en-US" b="1" dirty="0">
                <a:solidFill>
                  <a:prstClr val="black"/>
                </a:solidFill>
              </a:rPr>
              <a:t>H</a:t>
            </a:r>
          </a:p>
        </p:txBody>
      </p:sp>
      <p:sp>
        <p:nvSpPr>
          <p:cNvPr id="92" name="Rectangle 91"/>
          <p:cNvSpPr/>
          <p:nvPr/>
        </p:nvSpPr>
        <p:spPr>
          <a:xfrm>
            <a:off x="2632725" y="3853127"/>
            <a:ext cx="316112" cy="369332"/>
          </a:xfrm>
          <a:prstGeom prst="rect">
            <a:avLst/>
          </a:prstGeom>
        </p:spPr>
        <p:txBody>
          <a:bodyPr wrap="none">
            <a:spAutoFit/>
          </a:bodyPr>
          <a:lstStyle/>
          <a:p>
            <a:r>
              <a:rPr lang="en-US" b="1" dirty="0">
                <a:solidFill>
                  <a:prstClr val="black"/>
                </a:solidFill>
              </a:rPr>
              <a:t>E</a:t>
            </a:r>
          </a:p>
        </p:txBody>
      </p:sp>
      <p:graphicFrame>
        <p:nvGraphicFramePr>
          <p:cNvPr id="5" name="Table 4"/>
          <p:cNvGraphicFramePr>
            <a:graphicFrameLocks noGrp="1"/>
          </p:cNvGraphicFramePr>
          <p:nvPr>
            <p:extLst>
              <p:ext uri="{D42A27DB-BD31-4B8C-83A1-F6EECF244321}">
                <p14:modId xmlns:p14="http://schemas.microsoft.com/office/powerpoint/2010/main" val="2489945082"/>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endParaRPr lang="en-US" dirty="0">
                        <a:solidFill>
                          <a:schemeClr val="tx1"/>
                        </a:solidFill>
                      </a:endParaRP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extLst>
                  <a:ext uri="{0D108BD9-81ED-4DB2-BD59-A6C34878D82A}">
                    <a16:rowId xmlns:a16="http://schemas.microsoft.com/office/drawing/2014/main" val="660647860"/>
                  </a:ext>
                </a:extLst>
              </a:tr>
            </a:tbl>
          </a:graphicData>
        </a:graphic>
      </p:graphicFrame>
      <p:sp>
        <p:nvSpPr>
          <p:cNvPr id="6" name="TextBox 5"/>
          <p:cNvSpPr txBox="1"/>
          <p:nvPr/>
        </p:nvSpPr>
        <p:spPr>
          <a:xfrm>
            <a:off x="965262" y="5554545"/>
            <a:ext cx="362600" cy="461665"/>
          </a:xfrm>
          <a:prstGeom prst="rect">
            <a:avLst/>
          </a:prstGeom>
          <a:noFill/>
        </p:spPr>
        <p:txBody>
          <a:bodyPr wrap="none" rtlCol="0">
            <a:spAutoFit/>
          </a:bodyPr>
          <a:lstStyle/>
          <a:p>
            <a:r>
              <a:rPr lang="en-US" sz="2400" b="1">
                <a:effectLst>
                  <a:outerShdw blurRad="38100" dist="38100" dir="2700000" algn="tl">
                    <a:srgbClr val="000000">
                      <a:alpha val="43137"/>
                    </a:srgbClr>
                  </a:outerShdw>
                </a:effectLst>
              </a:rPr>
              <a:t>S</a:t>
            </a:r>
          </a:p>
        </p:txBody>
      </p:sp>
      <p:cxnSp>
        <p:nvCxnSpPr>
          <p:cNvPr id="55" name="Straight Connector 54"/>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57" name="Table 56"/>
          <p:cNvGraphicFramePr>
            <a:graphicFrameLocks noGrp="1"/>
          </p:cNvGraphicFramePr>
          <p:nvPr/>
        </p:nvGraphicFramePr>
        <p:xfrm>
          <a:off x="1437550" y="6071671"/>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B</a:t>
                      </a:r>
                    </a:p>
                  </a:txBody>
                  <a:tcPr>
                    <a:noFill/>
                  </a:tcPr>
                </a:tc>
                <a:tc>
                  <a:txBody>
                    <a:bodyPr/>
                    <a:lstStyle/>
                    <a:p>
                      <a:pPr algn="ctr"/>
                      <a:r>
                        <a:rPr lang="en-US" dirty="0">
                          <a:solidFill>
                            <a:schemeClr val="tx1"/>
                          </a:solidFill>
                        </a:rPr>
                        <a:t>D</a:t>
                      </a:r>
                    </a:p>
                  </a:txBody>
                  <a:tcPr>
                    <a:noFill/>
                  </a:tcPr>
                </a:tc>
                <a:tc>
                  <a:txBody>
                    <a:bodyPr/>
                    <a:lstStyle/>
                    <a:p>
                      <a:pPr algn="ctr"/>
                      <a:r>
                        <a:rPr lang="en-US" dirty="0">
                          <a:solidFill>
                            <a:schemeClr val="tx1"/>
                          </a:solidFill>
                        </a:rPr>
                        <a:t>H</a:t>
                      </a:r>
                    </a:p>
                  </a:txBody>
                  <a:tcPr>
                    <a:noFill/>
                  </a:tcPr>
                </a:tc>
                <a:tc>
                  <a:txBody>
                    <a:bodyPr/>
                    <a:lstStyle/>
                    <a:p>
                      <a:pPr algn="ctr"/>
                      <a:r>
                        <a:rPr lang="en-US" dirty="0">
                          <a:solidFill>
                            <a:schemeClr val="tx1"/>
                          </a:solidFill>
                        </a:rPr>
                        <a:t>E</a:t>
                      </a:r>
                    </a:p>
                  </a:txBody>
                  <a:tcPr>
                    <a:noFill/>
                  </a:tcPr>
                </a:tc>
                <a:tc>
                  <a:txBody>
                    <a:bodyPr/>
                    <a:lstStyle/>
                    <a:p>
                      <a:pPr algn="ctr"/>
                      <a:r>
                        <a:rPr lang="en-US" dirty="0">
                          <a:solidFill>
                            <a:schemeClr val="tx1"/>
                          </a:solidFill>
                        </a:rPr>
                        <a:t>I</a:t>
                      </a:r>
                    </a:p>
                  </a:txBody>
                  <a:tcPr>
                    <a:noFill/>
                  </a:tcPr>
                </a:tc>
                <a:tc>
                  <a:txBody>
                    <a:bodyPr/>
                    <a:lstStyle/>
                    <a:p>
                      <a:pPr algn="ctr"/>
                      <a:r>
                        <a:rPr lang="en-US" dirty="0">
                          <a:solidFill>
                            <a:schemeClr val="tx1"/>
                          </a:solidFill>
                        </a:rPr>
                        <a:t>C</a:t>
                      </a:r>
                    </a:p>
                  </a:txBody>
                  <a:tcPr>
                    <a:noFill/>
                  </a:tcPr>
                </a:tc>
                <a:tc>
                  <a:txBody>
                    <a:bodyPr/>
                    <a:lstStyle/>
                    <a:p>
                      <a:pPr algn="ctr"/>
                      <a:r>
                        <a:rPr lang="en-US" dirty="0">
                          <a:solidFill>
                            <a:schemeClr val="tx1"/>
                          </a:solidFill>
                        </a:rPr>
                        <a:t>F</a:t>
                      </a:r>
                    </a:p>
                  </a:txBody>
                  <a:tcPr>
                    <a:noFill/>
                  </a:tcPr>
                </a:tc>
                <a:tc>
                  <a:txBody>
                    <a:bodyPr/>
                    <a:lstStyle/>
                    <a:p>
                      <a:pPr algn="ctr"/>
                      <a:r>
                        <a:rPr lang="en-US" dirty="0">
                          <a:solidFill>
                            <a:schemeClr val="tx1"/>
                          </a:solidFill>
                        </a:rPr>
                        <a:t>G</a:t>
                      </a:r>
                    </a:p>
                  </a:txBody>
                  <a:tcPr>
                    <a:noFill/>
                  </a:tcPr>
                </a:tc>
                <a:tc>
                  <a:txBody>
                    <a:bodyPr/>
                    <a:lstStyle/>
                    <a:p>
                      <a:endParaRPr lang="en-US" dirty="0"/>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graphicFrame>
        <p:nvGraphicFramePr>
          <p:cNvPr id="50" name="Table 49">
            <a:extLst>
              <a:ext uri="{FF2B5EF4-FFF2-40B4-BE49-F238E27FC236}">
                <a16:creationId xmlns:a16="http://schemas.microsoft.com/office/drawing/2014/main" id="{5E28ACED-AA95-4B5F-A16A-D993AF332B5C}"/>
              </a:ext>
            </a:extLst>
          </p:cNvPr>
          <p:cNvGraphicFramePr>
            <a:graphicFrameLocks noGrp="1"/>
          </p:cNvGraphicFramePr>
          <p:nvPr/>
        </p:nvGraphicFramePr>
        <p:xfrm>
          <a:off x="8658993" y="1862844"/>
          <a:ext cx="2132240" cy="4719320"/>
        </p:xfrm>
        <a:graphic>
          <a:graphicData uri="http://schemas.openxmlformats.org/drawingml/2006/table">
            <a:tbl>
              <a:tblPr firstRow="1" bandRow="1">
                <a:tableStyleId>{5C22544A-7EE6-4342-B048-85BDC9FD1C3A}</a:tableStyleId>
              </a:tblPr>
              <a:tblGrid>
                <a:gridCol w="847864">
                  <a:extLst>
                    <a:ext uri="{9D8B030D-6E8A-4147-A177-3AD203B41FA5}">
                      <a16:colId xmlns:a16="http://schemas.microsoft.com/office/drawing/2014/main" val="2989644895"/>
                    </a:ext>
                  </a:extLst>
                </a:gridCol>
                <a:gridCol w="1284376">
                  <a:extLst>
                    <a:ext uri="{9D8B030D-6E8A-4147-A177-3AD203B41FA5}">
                      <a16:colId xmlns:a16="http://schemas.microsoft.com/office/drawing/2014/main" val="4244960412"/>
                    </a:ext>
                  </a:extLst>
                </a:gridCol>
              </a:tblGrid>
              <a:tr h="370840">
                <a:tc>
                  <a:txBody>
                    <a:bodyPr/>
                    <a:lstStyle/>
                    <a:p>
                      <a:pPr algn="ctr"/>
                      <a:r>
                        <a:rPr lang="en-US" dirty="0"/>
                        <a:t>NODE</a:t>
                      </a:r>
                    </a:p>
                  </a:txBody>
                  <a:tcPr/>
                </a:tc>
                <a:tc>
                  <a:txBody>
                    <a:bodyPr/>
                    <a:lstStyle/>
                    <a:p>
                      <a:pPr algn="ctr"/>
                      <a:r>
                        <a:rPr lang="en-US" dirty="0"/>
                        <a:t>CHILDREN</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F,G</a:t>
                      </a:r>
                      <a:endParaRPr lang="en-US" b="1" dirty="0"/>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H,-</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-,I</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J,K</a:t>
                      </a:r>
                    </a:p>
                  </a:txBody>
                  <a:tcPr/>
                </a:tc>
                <a:extLst>
                  <a:ext uri="{0D108BD9-81ED-4DB2-BD59-A6C34878D82A}">
                    <a16:rowId xmlns:a16="http://schemas.microsoft.com/office/drawing/2014/main" val="1205733479"/>
                  </a:ext>
                </a:extLst>
              </a:tr>
              <a:tr h="370840">
                <a:tc>
                  <a:txBody>
                    <a:bodyPr/>
                    <a:lstStyle/>
                    <a:p>
                      <a:pPr algn="ctr"/>
                      <a:r>
                        <a:rPr lang="en-US" b="1" dirty="0"/>
                        <a: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987431379"/>
                  </a:ext>
                </a:extLst>
              </a:tr>
              <a:tr h="370840">
                <a:tc>
                  <a:txBody>
                    <a:bodyPr/>
                    <a:lstStyle/>
                    <a:p>
                      <a:pPr algn="ctr"/>
                      <a:r>
                        <a:rPr lang="en-US" b="1" dirty="0"/>
                        <a:t>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290039795"/>
                  </a:ext>
                </a:extLst>
              </a:tr>
              <a:tr h="370840">
                <a:tc>
                  <a:txBody>
                    <a:bodyPr/>
                    <a:lstStyle/>
                    <a:p>
                      <a:pPr algn="ctr"/>
                      <a:r>
                        <a:rPr lang="en-US" b="1" dirty="0"/>
                        <a:t>J</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873125107"/>
                  </a:ext>
                </a:extLst>
              </a:tr>
              <a:tr h="370840">
                <a:tc>
                  <a:txBody>
                    <a:bodyPr/>
                    <a:lstStyle/>
                    <a:p>
                      <a:pPr algn="ctr"/>
                      <a:r>
                        <a:rPr lang="en-US" b="1" dirty="0"/>
                        <a:t>K</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640632725"/>
                  </a:ext>
                </a:extLst>
              </a:tr>
            </a:tbl>
          </a:graphicData>
        </a:graphic>
      </p:graphicFrame>
    </p:spTree>
    <p:custDataLst>
      <p:tags r:id="rId1"/>
    </p:custDataLst>
    <p:extLst>
      <p:ext uri="{BB962C8B-B14F-4D97-AF65-F5344CB8AC3E}">
        <p14:creationId xmlns:p14="http://schemas.microsoft.com/office/powerpoint/2010/main" val="101054589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Straight Connector 45"/>
          <p:cNvCxnSpPr/>
          <p:nvPr/>
        </p:nvCxnSpPr>
        <p:spPr>
          <a:xfrm flipV="1">
            <a:off x="797123" y="4129201"/>
            <a:ext cx="542694" cy="82386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flipV="1">
            <a:off x="2838130" y="4019053"/>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ln>
            <a:noFill/>
          </a:ln>
        </p:spPr>
        <p:txBody>
          <a:bodyPr/>
          <a:lstStyle/>
          <a:p>
            <a:r>
              <a:rPr lang="en-US" dirty="0"/>
              <a:t>Depth-First Search</a:t>
            </a:r>
          </a:p>
        </p:txBody>
      </p:sp>
      <p:sp>
        <p:nvSpPr>
          <p:cNvPr id="3" name="Slide Number Placeholder 2">
            <a:extLst>
              <a:ext uri="{FF2B5EF4-FFF2-40B4-BE49-F238E27FC236}">
                <a16:creationId xmlns:a16="http://schemas.microsoft.com/office/drawing/2014/main" id="{E0BB5121-6D34-45BE-89B5-8D6183FF2094}"/>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65/110</a:t>
            </a:r>
          </a:p>
        </p:txBody>
      </p:sp>
      <p:cxnSp>
        <p:nvCxnSpPr>
          <p:cNvPr id="8" name="Straight Connector 7"/>
          <p:cNvCxnSpPr/>
          <p:nvPr/>
        </p:nvCxnSpPr>
        <p:spPr>
          <a:xfrm flipH="1" flipV="1">
            <a:off x="4129859" y="1873873"/>
            <a:ext cx="1853477" cy="11790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2127196" y="2004369"/>
            <a:ext cx="1804150" cy="10422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3895286" y="176439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8" name="Straight Connector 17"/>
          <p:cNvCxnSpPr/>
          <p:nvPr/>
        </p:nvCxnSpPr>
        <p:spPr>
          <a:xfrm flipH="1" flipV="1">
            <a:off x="2191623" y="2983419"/>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406709" y="3052968"/>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1922122" y="2896761"/>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Oval 16"/>
          <p:cNvSpPr>
            <a:spLocks noChangeArrowheads="1"/>
          </p:cNvSpPr>
          <p:nvPr/>
        </p:nvSpPr>
        <p:spPr bwMode="auto">
          <a:xfrm>
            <a:off x="1225864" y="378497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5" name="Oval 16"/>
          <p:cNvSpPr>
            <a:spLocks noChangeArrowheads="1"/>
          </p:cNvSpPr>
          <p:nvPr/>
        </p:nvSpPr>
        <p:spPr bwMode="auto">
          <a:xfrm>
            <a:off x="2572943" y="382819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4" name="Oval 16"/>
          <p:cNvSpPr>
            <a:spLocks noChangeArrowheads="1"/>
          </p:cNvSpPr>
          <p:nvPr/>
        </p:nvSpPr>
        <p:spPr bwMode="auto">
          <a:xfrm>
            <a:off x="3251450" y="480945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6" name="Oval 16"/>
          <p:cNvSpPr>
            <a:spLocks noChangeArrowheads="1"/>
          </p:cNvSpPr>
          <p:nvPr/>
        </p:nvSpPr>
        <p:spPr bwMode="auto">
          <a:xfrm>
            <a:off x="577751" y="4810837"/>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61" name="Straight Connector 60"/>
          <p:cNvCxnSpPr/>
          <p:nvPr/>
        </p:nvCxnSpPr>
        <p:spPr>
          <a:xfrm flipH="1" flipV="1">
            <a:off x="6681579" y="4037641"/>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6068720" y="4104906"/>
            <a:ext cx="457312" cy="8114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flipV="1">
            <a:off x="6035072" y="3002007"/>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5250158" y="3071556"/>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Oval 16"/>
          <p:cNvSpPr>
            <a:spLocks noChangeArrowheads="1"/>
          </p:cNvSpPr>
          <p:nvPr/>
        </p:nvSpPr>
        <p:spPr bwMode="auto">
          <a:xfrm>
            <a:off x="5765571" y="29153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6" name="Oval 16"/>
          <p:cNvSpPr>
            <a:spLocks noChangeArrowheads="1"/>
          </p:cNvSpPr>
          <p:nvPr/>
        </p:nvSpPr>
        <p:spPr bwMode="auto">
          <a:xfrm>
            <a:off x="5069313" y="380356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7" name="Oval 16"/>
          <p:cNvSpPr>
            <a:spLocks noChangeArrowheads="1"/>
          </p:cNvSpPr>
          <p:nvPr/>
        </p:nvSpPr>
        <p:spPr bwMode="auto">
          <a:xfrm>
            <a:off x="6416392" y="384678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8" name="Oval 16"/>
          <p:cNvSpPr>
            <a:spLocks noChangeArrowheads="1"/>
          </p:cNvSpPr>
          <p:nvPr/>
        </p:nvSpPr>
        <p:spPr bwMode="auto">
          <a:xfrm>
            <a:off x="5870482" y="482942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9" name="Oval 16"/>
          <p:cNvSpPr>
            <a:spLocks noChangeArrowheads="1"/>
          </p:cNvSpPr>
          <p:nvPr/>
        </p:nvSpPr>
        <p:spPr bwMode="auto">
          <a:xfrm>
            <a:off x="7094899" y="482803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76" name="TextBox 75"/>
          <p:cNvSpPr txBox="1"/>
          <p:nvPr/>
        </p:nvSpPr>
        <p:spPr>
          <a:xfrm>
            <a:off x="3944575" y="1786250"/>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82" name="TextBox 81"/>
          <p:cNvSpPr txBox="1"/>
          <p:nvPr/>
        </p:nvSpPr>
        <p:spPr>
          <a:xfrm>
            <a:off x="1967407" y="2929860"/>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83" name="TextBox 82"/>
          <p:cNvSpPr txBox="1"/>
          <p:nvPr/>
        </p:nvSpPr>
        <p:spPr>
          <a:xfrm>
            <a:off x="5833156" y="2937297"/>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84" name="Rectangle 83"/>
          <p:cNvSpPr/>
          <p:nvPr/>
        </p:nvSpPr>
        <p:spPr>
          <a:xfrm>
            <a:off x="1273931" y="3822650"/>
            <a:ext cx="343364" cy="369332"/>
          </a:xfrm>
          <a:prstGeom prst="rect">
            <a:avLst/>
          </a:prstGeom>
        </p:spPr>
        <p:txBody>
          <a:bodyPr wrap="none">
            <a:spAutoFit/>
          </a:bodyPr>
          <a:lstStyle/>
          <a:p>
            <a:r>
              <a:rPr lang="en-US" b="1" dirty="0">
                <a:solidFill>
                  <a:prstClr val="black"/>
                </a:solidFill>
              </a:rPr>
              <a:t>D</a:t>
            </a:r>
          </a:p>
        </p:txBody>
      </p:sp>
      <p:sp>
        <p:nvSpPr>
          <p:cNvPr id="85" name="Rectangle 84"/>
          <p:cNvSpPr/>
          <p:nvPr/>
        </p:nvSpPr>
        <p:spPr>
          <a:xfrm>
            <a:off x="5116299" y="3846782"/>
            <a:ext cx="304892" cy="369332"/>
          </a:xfrm>
          <a:prstGeom prst="rect">
            <a:avLst/>
          </a:prstGeom>
        </p:spPr>
        <p:txBody>
          <a:bodyPr wrap="none">
            <a:spAutoFit/>
          </a:bodyPr>
          <a:lstStyle/>
          <a:p>
            <a:r>
              <a:rPr lang="en-US" b="1" dirty="0">
                <a:solidFill>
                  <a:prstClr val="black"/>
                </a:solidFill>
              </a:rPr>
              <a:t>F</a:t>
            </a:r>
          </a:p>
        </p:txBody>
      </p:sp>
      <p:sp>
        <p:nvSpPr>
          <p:cNvPr id="86" name="Rectangle 85"/>
          <p:cNvSpPr/>
          <p:nvPr/>
        </p:nvSpPr>
        <p:spPr>
          <a:xfrm>
            <a:off x="6467363" y="3861983"/>
            <a:ext cx="340158" cy="369332"/>
          </a:xfrm>
          <a:prstGeom prst="rect">
            <a:avLst/>
          </a:prstGeom>
        </p:spPr>
        <p:txBody>
          <a:bodyPr wrap="none">
            <a:spAutoFit/>
          </a:bodyPr>
          <a:lstStyle/>
          <a:p>
            <a:r>
              <a:rPr lang="en-US" b="1" dirty="0">
                <a:solidFill>
                  <a:prstClr val="black"/>
                </a:solidFill>
              </a:rPr>
              <a:t>G</a:t>
            </a:r>
          </a:p>
        </p:txBody>
      </p:sp>
      <p:sp>
        <p:nvSpPr>
          <p:cNvPr id="87" name="Rectangle 86"/>
          <p:cNvSpPr/>
          <p:nvPr/>
        </p:nvSpPr>
        <p:spPr>
          <a:xfrm>
            <a:off x="5923779" y="4883500"/>
            <a:ext cx="277640" cy="369332"/>
          </a:xfrm>
          <a:prstGeom prst="rect">
            <a:avLst/>
          </a:prstGeom>
        </p:spPr>
        <p:txBody>
          <a:bodyPr wrap="none">
            <a:spAutoFit/>
          </a:bodyPr>
          <a:lstStyle/>
          <a:p>
            <a:r>
              <a:rPr lang="en-US" b="1" dirty="0">
                <a:solidFill>
                  <a:prstClr val="black"/>
                </a:solidFill>
              </a:rPr>
              <a:t>J</a:t>
            </a:r>
          </a:p>
        </p:txBody>
      </p:sp>
      <p:sp>
        <p:nvSpPr>
          <p:cNvPr id="88" name="Rectangle 87"/>
          <p:cNvSpPr/>
          <p:nvPr/>
        </p:nvSpPr>
        <p:spPr>
          <a:xfrm>
            <a:off x="7146697" y="4879786"/>
            <a:ext cx="330540" cy="369332"/>
          </a:xfrm>
          <a:prstGeom prst="rect">
            <a:avLst/>
          </a:prstGeom>
        </p:spPr>
        <p:txBody>
          <a:bodyPr wrap="none">
            <a:spAutoFit/>
          </a:bodyPr>
          <a:lstStyle/>
          <a:p>
            <a:r>
              <a:rPr lang="en-US" b="1" dirty="0">
                <a:solidFill>
                  <a:prstClr val="black"/>
                </a:solidFill>
              </a:rPr>
              <a:t>K</a:t>
            </a:r>
          </a:p>
        </p:txBody>
      </p:sp>
      <p:sp>
        <p:nvSpPr>
          <p:cNvPr id="89" name="Rectangle 88"/>
          <p:cNvSpPr/>
          <p:nvPr/>
        </p:nvSpPr>
        <p:spPr>
          <a:xfrm>
            <a:off x="3294991" y="4859128"/>
            <a:ext cx="248786" cy="369332"/>
          </a:xfrm>
          <a:prstGeom prst="rect">
            <a:avLst/>
          </a:prstGeom>
        </p:spPr>
        <p:txBody>
          <a:bodyPr wrap="none">
            <a:spAutoFit/>
          </a:bodyPr>
          <a:lstStyle/>
          <a:p>
            <a:r>
              <a:rPr lang="en-US" b="1" dirty="0">
                <a:solidFill>
                  <a:prstClr val="black"/>
                </a:solidFill>
              </a:rPr>
              <a:t>I</a:t>
            </a:r>
          </a:p>
        </p:txBody>
      </p:sp>
      <p:sp>
        <p:nvSpPr>
          <p:cNvPr id="91" name="Rectangle 90"/>
          <p:cNvSpPr/>
          <p:nvPr/>
        </p:nvSpPr>
        <p:spPr>
          <a:xfrm>
            <a:off x="641576" y="4852097"/>
            <a:ext cx="346570" cy="369332"/>
          </a:xfrm>
          <a:prstGeom prst="rect">
            <a:avLst/>
          </a:prstGeom>
        </p:spPr>
        <p:txBody>
          <a:bodyPr wrap="none">
            <a:spAutoFit/>
          </a:bodyPr>
          <a:lstStyle/>
          <a:p>
            <a:r>
              <a:rPr lang="en-US" b="1" dirty="0">
                <a:solidFill>
                  <a:prstClr val="black"/>
                </a:solidFill>
              </a:rPr>
              <a:t>H</a:t>
            </a:r>
          </a:p>
        </p:txBody>
      </p:sp>
      <p:sp>
        <p:nvSpPr>
          <p:cNvPr id="92" name="Rectangle 91"/>
          <p:cNvSpPr/>
          <p:nvPr/>
        </p:nvSpPr>
        <p:spPr>
          <a:xfrm>
            <a:off x="2632725" y="3853127"/>
            <a:ext cx="316112" cy="369332"/>
          </a:xfrm>
          <a:prstGeom prst="rect">
            <a:avLst/>
          </a:prstGeom>
        </p:spPr>
        <p:txBody>
          <a:bodyPr wrap="none">
            <a:spAutoFit/>
          </a:bodyPr>
          <a:lstStyle/>
          <a:p>
            <a:r>
              <a:rPr lang="en-US" b="1" dirty="0">
                <a:solidFill>
                  <a:prstClr val="black"/>
                </a:solidFill>
              </a:rPr>
              <a:t>E</a:t>
            </a:r>
          </a:p>
        </p:txBody>
      </p:sp>
      <p:graphicFrame>
        <p:nvGraphicFramePr>
          <p:cNvPr id="5" name="Table 4"/>
          <p:cNvGraphicFramePr>
            <a:graphicFrameLocks noGrp="1"/>
          </p:cNvGraphicFramePr>
          <p:nvPr>
            <p:extLst>
              <p:ext uri="{D42A27DB-BD31-4B8C-83A1-F6EECF244321}">
                <p14:modId xmlns:p14="http://schemas.microsoft.com/office/powerpoint/2010/main" val="3089969097"/>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K</a:t>
                      </a:r>
                    </a:p>
                  </a:txBody>
                  <a:tcPr>
                    <a:solidFill>
                      <a:schemeClr val="accent2">
                        <a:lumMod val="60000"/>
                        <a:lumOff val="40000"/>
                      </a:schemeClr>
                    </a:solidFill>
                  </a:tcPr>
                </a:tc>
                <a:tc>
                  <a:txBody>
                    <a:bodyPr/>
                    <a:lstStyle/>
                    <a:p>
                      <a:pPr algn="ctr"/>
                      <a:r>
                        <a:rPr lang="en-US" dirty="0">
                          <a:solidFill>
                            <a:schemeClr val="tx1"/>
                          </a:solidFill>
                        </a:rPr>
                        <a:t>J</a:t>
                      </a: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extLst>
                  <a:ext uri="{0D108BD9-81ED-4DB2-BD59-A6C34878D82A}">
                    <a16:rowId xmlns:a16="http://schemas.microsoft.com/office/drawing/2014/main" val="660647860"/>
                  </a:ext>
                </a:extLst>
              </a:tr>
            </a:tbl>
          </a:graphicData>
        </a:graphic>
      </p:graphicFrame>
      <p:sp>
        <p:nvSpPr>
          <p:cNvPr id="6" name="TextBox 5"/>
          <p:cNvSpPr txBox="1"/>
          <p:nvPr/>
        </p:nvSpPr>
        <p:spPr>
          <a:xfrm>
            <a:off x="965262" y="5554545"/>
            <a:ext cx="362600" cy="461665"/>
          </a:xfrm>
          <a:prstGeom prst="rect">
            <a:avLst/>
          </a:prstGeom>
          <a:noFill/>
        </p:spPr>
        <p:txBody>
          <a:bodyPr wrap="none" rtlCol="0">
            <a:spAutoFit/>
          </a:bodyPr>
          <a:lstStyle/>
          <a:p>
            <a:r>
              <a:rPr lang="en-US" sz="2400" b="1">
                <a:effectLst>
                  <a:outerShdw blurRad="38100" dist="38100" dir="2700000" algn="tl">
                    <a:srgbClr val="000000">
                      <a:alpha val="43137"/>
                    </a:srgbClr>
                  </a:outerShdw>
                </a:effectLst>
              </a:rPr>
              <a:t>S</a:t>
            </a:r>
          </a:p>
        </p:txBody>
      </p:sp>
      <p:cxnSp>
        <p:nvCxnSpPr>
          <p:cNvPr id="55" name="Straight Connector 54"/>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57" name="Table 56"/>
          <p:cNvGraphicFramePr>
            <a:graphicFrameLocks noGrp="1"/>
          </p:cNvGraphicFramePr>
          <p:nvPr/>
        </p:nvGraphicFramePr>
        <p:xfrm>
          <a:off x="1437550" y="6071671"/>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B</a:t>
                      </a:r>
                    </a:p>
                  </a:txBody>
                  <a:tcPr>
                    <a:noFill/>
                  </a:tcPr>
                </a:tc>
                <a:tc>
                  <a:txBody>
                    <a:bodyPr/>
                    <a:lstStyle/>
                    <a:p>
                      <a:pPr algn="ctr"/>
                      <a:r>
                        <a:rPr lang="en-US" dirty="0">
                          <a:solidFill>
                            <a:schemeClr val="tx1"/>
                          </a:solidFill>
                        </a:rPr>
                        <a:t>D</a:t>
                      </a:r>
                    </a:p>
                  </a:txBody>
                  <a:tcPr>
                    <a:noFill/>
                  </a:tcPr>
                </a:tc>
                <a:tc>
                  <a:txBody>
                    <a:bodyPr/>
                    <a:lstStyle/>
                    <a:p>
                      <a:pPr algn="ctr"/>
                      <a:r>
                        <a:rPr lang="en-US" dirty="0">
                          <a:solidFill>
                            <a:schemeClr val="tx1"/>
                          </a:solidFill>
                        </a:rPr>
                        <a:t>H</a:t>
                      </a:r>
                    </a:p>
                  </a:txBody>
                  <a:tcPr>
                    <a:noFill/>
                  </a:tcPr>
                </a:tc>
                <a:tc>
                  <a:txBody>
                    <a:bodyPr/>
                    <a:lstStyle/>
                    <a:p>
                      <a:pPr algn="ctr"/>
                      <a:r>
                        <a:rPr lang="en-US" dirty="0">
                          <a:solidFill>
                            <a:schemeClr val="tx1"/>
                          </a:solidFill>
                        </a:rPr>
                        <a:t>E</a:t>
                      </a:r>
                    </a:p>
                  </a:txBody>
                  <a:tcPr>
                    <a:noFill/>
                  </a:tcPr>
                </a:tc>
                <a:tc>
                  <a:txBody>
                    <a:bodyPr/>
                    <a:lstStyle/>
                    <a:p>
                      <a:pPr algn="ctr"/>
                      <a:r>
                        <a:rPr lang="en-US" dirty="0">
                          <a:solidFill>
                            <a:schemeClr val="tx1"/>
                          </a:solidFill>
                        </a:rPr>
                        <a:t>I</a:t>
                      </a:r>
                    </a:p>
                  </a:txBody>
                  <a:tcPr>
                    <a:noFill/>
                  </a:tcPr>
                </a:tc>
                <a:tc>
                  <a:txBody>
                    <a:bodyPr/>
                    <a:lstStyle/>
                    <a:p>
                      <a:pPr algn="ctr"/>
                      <a:r>
                        <a:rPr lang="en-US" dirty="0">
                          <a:solidFill>
                            <a:schemeClr val="tx1"/>
                          </a:solidFill>
                        </a:rPr>
                        <a:t>C</a:t>
                      </a:r>
                    </a:p>
                  </a:txBody>
                  <a:tcPr>
                    <a:noFill/>
                  </a:tcPr>
                </a:tc>
                <a:tc>
                  <a:txBody>
                    <a:bodyPr/>
                    <a:lstStyle/>
                    <a:p>
                      <a:pPr algn="ctr"/>
                      <a:r>
                        <a:rPr lang="en-US" dirty="0">
                          <a:solidFill>
                            <a:schemeClr val="tx1"/>
                          </a:solidFill>
                        </a:rPr>
                        <a:t>F</a:t>
                      </a:r>
                    </a:p>
                  </a:txBody>
                  <a:tcPr>
                    <a:noFill/>
                  </a:tcPr>
                </a:tc>
                <a:tc>
                  <a:txBody>
                    <a:bodyPr/>
                    <a:lstStyle/>
                    <a:p>
                      <a:pPr algn="ctr"/>
                      <a:r>
                        <a:rPr lang="en-US" dirty="0">
                          <a:solidFill>
                            <a:schemeClr val="tx1"/>
                          </a:solidFill>
                        </a:rPr>
                        <a:t>G</a:t>
                      </a:r>
                    </a:p>
                  </a:txBody>
                  <a:tcPr>
                    <a:noFill/>
                  </a:tcPr>
                </a:tc>
                <a:tc>
                  <a:txBody>
                    <a:bodyPr/>
                    <a:lstStyle/>
                    <a:p>
                      <a:endParaRPr lang="en-US" dirty="0"/>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graphicFrame>
        <p:nvGraphicFramePr>
          <p:cNvPr id="50" name="Table 49">
            <a:extLst>
              <a:ext uri="{FF2B5EF4-FFF2-40B4-BE49-F238E27FC236}">
                <a16:creationId xmlns:a16="http://schemas.microsoft.com/office/drawing/2014/main" id="{CBD70E73-7016-46FB-AAF7-EB3F2BCD937C}"/>
              </a:ext>
            </a:extLst>
          </p:cNvPr>
          <p:cNvGraphicFramePr>
            <a:graphicFrameLocks noGrp="1"/>
          </p:cNvGraphicFramePr>
          <p:nvPr/>
        </p:nvGraphicFramePr>
        <p:xfrm>
          <a:off x="8658993" y="1862844"/>
          <a:ext cx="2132240" cy="4719320"/>
        </p:xfrm>
        <a:graphic>
          <a:graphicData uri="http://schemas.openxmlformats.org/drawingml/2006/table">
            <a:tbl>
              <a:tblPr firstRow="1" bandRow="1">
                <a:tableStyleId>{5C22544A-7EE6-4342-B048-85BDC9FD1C3A}</a:tableStyleId>
              </a:tblPr>
              <a:tblGrid>
                <a:gridCol w="847864">
                  <a:extLst>
                    <a:ext uri="{9D8B030D-6E8A-4147-A177-3AD203B41FA5}">
                      <a16:colId xmlns:a16="http://schemas.microsoft.com/office/drawing/2014/main" val="2989644895"/>
                    </a:ext>
                  </a:extLst>
                </a:gridCol>
                <a:gridCol w="1284376">
                  <a:extLst>
                    <a:ext uri="{9D8B030D-6E8A-4147-A177-3AD203B41FA5}">
                      <a16:colId xmlns:a16="http://schemas.microsoft.com/office/drawing/2014/main" val="4244960412"/>
                    </a:ext>
                  </a:extLst>
                </a:gridCol>
              </a:tblGrid>
              <a:tr h="370840">
                <a:tc>
                  <a:txBody>
                    <a:bodyPr/>
                    <a:lstStyle/>
                    <a:p>
                      <a:pPr algn="ctr"/>
                      <a:r>
                        <a:rPr lang="en-US" dirty="0"/>
                        <a:t>NODE</a:t>
                      </a:r>
                    </a:p>
                  </a:txBody>
                  <a:tcPr/>
                </a:tc>
                <a:tc>
                  <a:txBody>
                    <a:bodyPr/>
                    <a:lstStyle/>
                    <a:p>
                      <a:pPr algn="ctr"/>
                      <a:r>
                        <a:rPr lang="en-US" dirty="0"/>
                        <a:t>CHILDREN</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F,G</a:t>
                      </a:r>
                      <a:endParaRPr lang="en-US" b="1" dirty="0"/>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H,-</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-,I</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J,K</a:t>
                      </a:r>
                    </a:p>
                  </a:txBody>
                  <a:tcPr/>
                </a:tc>
                <a:extLst>
                  <a:ext uri="{0D108BD9-81ED-4DB2-BD59-A6C34878D82A}">
                    <a16:rowId xmlns:a16="http://schemas.microsoft.com/office/drawing/2014/main" val="1205733479"/>
                  </a:ext>
                </a:extLst>
              </a:tr>
              <a:tr h="370840">
                <a:tc>
                  <a:txBody>
                    <a:bodyPr/>
                    <a:lstStyle/>
                    <a:p>
                      <a:pPr algn="ctr"/>
                      <a:r>
                        <a:rPr lang="en-US" b="1" dirty="0"/>
                        <a: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987431379"/>
                  </a:ext>
                </a:extLst>
              </a:tr>
              <a:tr h="370840">
                <a:tc>
                  <a:txBody>
                    <a:bodyPr/>
                    <a:lstStyle/>
                    <a:p>
                      <a:pPr algn="ctr"/>
                      <a:r>
                        <a:rPr lang="en-US" b="1" dirty="0"/>
                        <a:t>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290039795"/>
                  </a:ext>
                </a:extLst>
              </a:tr>
              <a:tr h="370840">
                <a:tc>
                  <a:txBody>
                    <a:bodyPr/>
                    <a:lstStyle/>
                    <a:p>
                      <a:pPr algn="ctr"/>
                      <a:r>
                        <a:rPr lang="en-US" b="1" dirty="0"/>
                        <a:t>J</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873125107"/>
                  </a:ext>
                </a:extLst>
              </a:tr>
              <a:tr h="370840">
                <a:tc>
                  <a:txBody>
                    <a:bodyPr/>
                    <a:lstStyle/>
                    <a:p>
                      <a:pPr algn="ctr"/>
                      <a:r>
                        <a:rPr lang="en-US" b="1" dirty="0"/>
                        <a:t>K</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640632725"/>
                  </a:ext>
                </a:extLst>
              </a:tr>
            </a:tbl>
          </a:graphicData>
        </a:graphic>
      </p:graphicFrame>
    </p:spTree>
    <p:custDataLst>
      <p:tags r:id="rId1"/>
    </p:custDataLst>
    <p:extLst>
      <p:ext uri="{BB962C8B-B14F-4D97-AF65-F5344CB8AC3E}">
        <p14:creationId xmlns:p14="http://schemas.microsoft.com/office/powerpoint/2010/main" val="294757971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Straight Connector 45"/>
          <p:cNvCxnSpPr/>
          <p:nvPr/>
        </p:nvCxnSpPr>
        <p:spPr>
          <a:xfrm flipV="1">
            <a:off x="797123" y="4129201"/>
            <a:ext cx="542694" cy="82386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flipV="1">
            <a:off x="2838130" y="4019053"/>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ln>
            <a:noFill/>
          </a:ln>
        </p:spPr>
        <p:txBody>
          <a:bodyPr/>
          <a:lstStyle/>
          <a:p>
            <a:r>
              <a:rPr lang="en-US" dirty="0"/>
              <a:t>Depth-First Search</a:t>
            </a:r>
          </a:p>
        </p:txBody>
      </p:sp>
      <p:sp>
        <p:nvSpPr>
          <p:cNvPr id="3" name="Slide Number Placeholder 2">
            <a:extLst>
              <a:ext uri="{FF2B5EF4-FFF2-40B4-BE49-F238E27FC236}">
                <a16:creationId xmlns:a16="http://schemas.microsoft.com/office/drawing/2014/main" id="{9397A36B-4928-46EA-9B90-67B02530D1BE}"/>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66/110</a:t>
            </a:r>
          </a:p>
        </p:txBody>
      </p:sp>
      <p:cxnSp>
        <p:nvCxnSpPr>
          <p:cNvPr id="8" name="Straight Connector 7"/>
          <p:cNvCxnSpPr/>
          <p:nvPr/>
        </p:nvCxnSpPr>
        <p:spPr>
          <a:xfrm flipH="1" flipV="1">
            <a:off x="4129859" y="1873873"/>
            <a:ext cx="1853477" cy="11790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2127196" y="2004369"/>
            <a:ext cx="1804150" cy="10422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3895286" y="176439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8" name="Straight Connector 17"/>
          <p:cNvCxnSpPr/>
          <p:nvPr/>
        </p:nvCxnSpPr>
        <p:spPr>
          <a:xfrm flipH="1" flipV="1">
            <a:off x="2191623" y="2983419"/>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406709" y="3052968"/>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1922122" y="2896761"/>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Oval 16"/>
          <p:cNvSpPr>
            <a:spLocks noChangeArrowheads="1"/>
          </p:cNvSpPr>
          <p:nvPr/>
        </p:nvSpPr>
        <p:spPr bwMode="auto">
          <a:xfrm>
            <a:off x="1225864" y="378497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5" name="Oval 16"/>
          <p:cNvSpPr>
            <a:spLocks noChangeArrowheads="1"/>
          </p:cNvSpPr>
          <p:nvPr/>
        </p:nvSpPr>
        <p:spPr bwMode="auto">
          <a:xfrm>
            <a:off x="2572943" y="382819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4" name="Oval 16"/>
          <p:cNvSpPr>
            <a:spLocks noChangeArrowheads="1"/>
          </p:cNvSpPr>
          <p:nvPr/>
        </p:nvSpPr>
        <p:spPr bwMode="auto">
          <a:xfrm>
            <a:off x="3251450" y="480945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6" name="Oval 16"/>
          <p:cNvSpPr>
            <a:spLocks noChangeArrowheads="1"/>
          </p:cNvSpPr>
          <p:nvPr/>
        </p:nvSpPr>
        <p:spPr bwMode="auto">
          <a:xfrm>
            <a:off x="577751" y="4810837"/>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61" name="Straight Connector 60"/>
          <p:cNvCxnSpPr/>
          <p:nvPr/>
        </p:nvCxnSpPr>
        <p:spPr>
          <a:xfrm flipH="1" flipV="1">
            <a:off x="6681579" y="4037641"/>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6068720" y="4104906"/>
            <a:ext cx="457312" cy="8114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flipV="1">
            <a:off x="6035072" y="3002007"/>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5250158" y="3071556"/>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Oval 16"/>
          <p:cNvSpPr>
            <a:spLocks noChangeArrowheads="1"/>
          </p:cNvSpPr>
          <p:nvPr/>
        </p:nvSpPr>
        <p:spPr bwMode="auto">
          <a:xfrm>
            <a:off x="5765571" y="29153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6" name="Oval 16"/>
          <p:cNvSpPr>
            <a:spLocks noChangeArrowheads="1"/>
          </p:cNvSpPr>
          <p:nvPr/>
        </p:nvSpPr>
        <p:spPr bwMode="auto">
          <a:xfrm>
            <a:off x="5069313" y="380356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7" name="Oval 16"/>
          <p:cNvSpPr>
            <a:spLocks noChangeArrowheads="1"/>
          </p:cNvSpPr>
          <p:nvPr/>
        </p:nvSpPr>
        <p:spPr bwMode="auto">
          <a:xfrm>
            <a:off x="6416392" y="384678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8" name="Oval 16"/>
          <p:cNvSpPr>
            <a:spLocks noChangeArrowheads="1"/>
          </p:cNvSpPr>
          <p:nvPr/>
        </p:nvSpPr>
        <p:spPr bwMode="auto">
          <a:xfrm>
            <a:off x="5870482" y="482942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9" name="Oval 16"/>
          <p:cNvSpPr>
            <a:spLocks noChangeArrowheads="1"/>
          </p:cNvSpPr>
          <p:nvPr/>
        </p:nvSpPr>
        <p:spPr bwMode="auto">
          <a:xfrm>
            <a:off x="7094899" y="482803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76" name="TextBox 75"/>
          <p:cNvSpPr txBox="1"/>
          <p:nvPr/>
        </p:nvSpPr>
        <p:spPr>
          <a:xfrm>
            <a:off x="3944575" y="1786250"/>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82" name="TextBox 81"/>
          <p:cNvSpPr txBox="1"/>
          <p:nvPr/>
        </p:nvSpPr>
        <p:spPr>
          <a:xfrm>
            <a:off x="1967407" y="2929860"/>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83" name="TextBox 82"/>
          <p:cNvSpPr txBox="1"/>
          <p:nvPr/>
        </p:nvSpPr>
        <p:spPr>
          <a:xfrm>
            <a:off x="5833156" y="2937297"/>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84" name="Rectangle 83"/>
          <p:cNvSpPr/>
          <p:nvPr/>
        </p:nvSpPr>
        <p:spPr>
          <a:xfrm>
            <a:off x="1273931" y="3822650"/>
            <a:ext cx="343364" cy="369332"/>
          </a:xfrm>
          <a:prstGeom prst="rect">
            <a:avLst/>
          </a:prstGeom>
        </p:spPr>
        <p:txBody>
          <a:bodyPr wrap="none">
            <a:spAutoFit/>
          </a:bodyPr>
          <a:lstStyle/>
          <a:p>
            <a:r>
              <a:rPr lang="en-US" b="1" dirty="0">
                <a:solidFill>
                  <a:prstClr val="black"/>
                </a:solidFill>
              </a:rPr>
              <a:t>D</a:t>
            </a:r>
          </a:p>
        </p:txBody>
      </p:sp>
      <p:sp>
        <p:nvSpPr>
          <p:cNvPr id="85" name="Rectangle 84"/>
          <p:cNvSpPr/>
          <p:nvPr/>
        </p:nvSpPr>
        <p:spPr>
          <a:xfrm>
            <a:off x="5116299" y="3846782"/>
            <a:ext cx="304892" cy="369332"/>
          </a:xfrm>
          <a:prstGeom prst="rect">
            <a:avLst/>
          </a:prstGeom>
        </p:spPr>
        <p:txBody>
          <a:bodyPr wrap="none">
            <a:spAutoFit/>
          </a:bodyPr>
          <a:lstStyle/>
          <a:p>
            <a:r>
              <a:rPr lang="en-US" b="1" dirty="0">
                <a:solidFill>
                  <a:prstClr val="black"/>
                </a:solidFill>
              </a:rPr>
              <a:t>F</a:t>
            </a:r>
          </a:p>
        </p:txBody>
      </p:sp>
      <p:sp>
        <p:nvSpPr>
          <p:cNvPr id="86" name="Rectangle 85"/>
          <p:cNvSpPr/>
          <p:nvPr/>
        </p:nvSpPr>
        <p:spPr>
          <a:xfrm>
            <a:off x="6467363" y="3861983"/>
            <a:ext cx="340158" cy="369332"/>
          </a:xfrm>
          <a:prstGeom prst="rect">
            <a:avLst/>
          </a:prstGeom>
        </p:spPr>
        <p:txBody>
          <a:bodyPr wrap="none">
            <a:spAutoFit/>
          </a:bodyPr>
          <a:lstStyle/>
          <a:p>
            <a:r>
              <a:rPr lang="en-US" b="1" dirty="0">
                <a:solidFill>
                  <a:prstClr val="black"/>
                </a:solidFill>
              </a:rPr>
              <a:t>G</a:t>
            </a:r>
          </a:p>
        </p:txBody>
      </p:sp>
      <p:sp>
        <p:nvSpPr>
          <p:cNvPr id="87" name="Rectangle 86"/>
          <p:cNvSpPr/>
          <p:nvPr/>
        </p:nvSpPr>
        <p:spPr>
          <a:xfrm>
            <a:off x="5923779" y="4883500"/>
            <a:ext cx="277640" cy="369332"/>
          </a:xfrm>
          <a:prstGeom prst="rect">
            <a:avLst/>
          </a:prstGeom>
        </p:spPr>
        <p:txBody>
          <a:bodyPr wrap="none">
            <a:spAutoFit/>
          </a:bodyPr>
          <a:lstStyle/>
          <a:p>
            <a:r>
              <a:rPr lang="en-US" b="1" dirty="0">
                <a:solidFill>
                  <a:prstClr val="black"/>
                </a:solidFill>
              </a:rPr>
              <a:t>J</a:t>
            </a:r>
          </a:p>
        </p:txBody>
      </p:sp>
      <p:sp>
        <p:nvSpPr>
          <p:cNvPr id="88" name="Rectangle 87"/>
          <p:cNvSpPr/>
          <p:nvPr/>
        </p:nvSpPr>
        <p:spPr>
          <a:xfrm>
            <a:off x="7146697" y="4879786"/>
            <a:ext cx="330540" cy="369332"/>
          </a:xfrm>
          <a:prstGeom prst="rect">
            <a:avLst/>
          </a:prstGeom>
        </p:spPr>
        <p:txBody>
          <a:bodyPr wrap="none">
            <a:spAutoFit/>
          </a:bodyPr>
          <a:lstStyle/>
          <a:p>
            <a:r>
              <a:rPr lang="en-US" b="1" dirty="0">
                <a:solidFill>
                  <a:prstClr val="black"/>
                </a:solidFill>
              </a:rPr>
              <a:t>K</a:t>
            </a:r>
          </a:p>
        </p:txBody>
      </p:sp>
      <p:sp>
        <p:nvSpPr>
          <p:cNvPr id="89" name="Rectangle 88"/>
          <p:cNvSpPr/>
          <p:nvPr/>
        </p:nvSpPr>
        <p:spPr>
          <a:xfrm>
            <a:off x="3294991" y="4859128"/>
            <a:ext cx="248786" cy="369332"/>
          </a:xfrm>
          <a:prstGeom prst="rect">
            <a:avLst/>
          </a:prstGeom>
        </p:spPr>
        <p:txBody>
          <a:bodyPr wrap="none">
            <a:spAutoFit/>
          </a:bodyPr>
          <a:lstStyle/>
          <a:p>
            <a:r>
              <a:rPr lang="en-US" b="1" dirty="0">
                <a:solidFill>
                  <a:prstClr val="black"/>
                </a:solidFill>
              </a:rPr>
              <a:t>I</a:t>
            </a:r>
          </a:p>
        </p:txBody>
      </p:sp>
      <p:sp>
        <p:nvSpPr>
          <p:cNvPr id="91" name="Rectangle 90"/>
          <p:cNvSpPr/>
          <p:nvPr/>
        </p:nvSpPr>
        <p:spPr>
          <a:xfrm>
            <a:off x="641576" y="4852097"/>
            <a:ext cx="346570" cy="369332"/>
          </a:xfrm>
          <a:prstGeom prst="rect">
            <a:avLst/>
          </a:prstGeom>
        </p:spPr>
        <p:txBody>
          <a:bodyPr wrap="none">
            <a:spAutoFit/>
          </a:bodyPr>
          <a:lstStyle/>
          <a:p>
            <a:r>
              <a:rPr lang="en-US" b="1" dirty="0">
                <a:solidFill>
                  <a:prstClr val="black"/>
                </a:solidFill>
              </a:rPr>
              <a:t>H</a:t>
            </a:r>
          </a:p>
        </p:txBody>
      </p:sp>
      <p:sp>
        <p:nvSpPr>
          <p:cNvPr id="92" name="Rectangle 91"/>
          <p:cNvSpPr/>
          <p:nvPr/>
        </p:nvSpPr>
        <p:spPr>
          <a:xfrm>
            <a:off x="2632725" y="3853127"/>
            <a:ext cx="316112" cy="369332"/>
          </a:xfrm>
          <a:prstGeom prst="rect">
            <a:avLst/>
          </a:prstGeom>
        </p:spPr>
        <p:txBody>
          <a:bodyPr wrap="none">
            <a:spAutoFit/>
          </a:bodyPr>
          <a:lstStyle/>
          <a:p>
            <a:r>
              <a:rPr lang="en-US" b="1" dirty="0">
                <a:solidFill>
                  <a:prstClr val="black"/>
                </a:solidFill>
              </a:rPr>
              <a:t>E</a:t>
            </a:r>
          </a:p>
        </p:txBody>
      </p:sp>
      <p:graphicFrame>
        <p:nvGraphicFramePr>
          <p:cNvPr id="5" name="Table 4"/>
          <p:cNvGraphicFramePr>
            <a:graphicFrameLocks noGrp="1"/>
          </p:cNvGraphicFramePr>
          <p:nvPr>
            <p:extLst>
              <p:ext uri="{D42A27DB-BD31-4B8C-83A1-F6EECF244321}">
                <p14:modId xmlns:p14="http://schemas.microsoft.com/office/powerpoint/2010/main" val="834338560"/>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K</a:t>
                      </a: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extLst>
                  <a:ext uri="{0D108BD9-81ED-4DB2-BD59-A6C34878D82A}">
                    <a16:rowId xmlns:a16="http://schemas.microsoft.com/office/drawing/2014/main" val="660647860"/>
                  </a:ext>
                </a:extLst>
              </a:tr>
            </a:tbl>
          </a:graphicData>
        </a:graphic>
      </p:graphicFrame>
      <p:sp>
        <p:nvSpPr>
          <p:cNvPr id="6" name="TextBox 5"/>
          <p:cNvSpPr txBox="1"/>
          <p:nvPr/>
        </p:nvSpPr>
        <p:spPr>
          <a:xfrm>
            <a:off x="965262" y="5554545"/>
            <a:ext cx="362600" cy="461665"/>
          </a:xfrm>
          <a:prstGeom prst="rect">
            <a:avLst/>
          </a:prstGeom>
          <a:noFill/>
        </p:spPr>
        <p:txBody>
          <a:bodyPr wrap="none" rtlCol="0">
            <a:spAutoFit/>
          </a:bodyPr>
          <a:lstStyle/>
          <a:p>
            <a:r>
              <a:rPr lang="en-US" sz="2400" b="1">
                <a:effectLst>
                  <a:outerShdw blurRad="38100" dist="38100" dir="2700000" algn="tl">
                    <a:srgbClr val="000000">
                      <a:alpha val="43137"/>
                    </a:srgbClr>
                  </a:outerShdw>
                </a:effectLst>
              </a:rPr>
              <a:t>S</a:t>
            </a:r>
          </a:p>
        </p:txBody>
      </p:sp>
      <p:cxnSp>
        <p:nvCxnSpPr>
          <p:cNvPr id="55" name="Straight Connector 54"/>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57" name="Table 56"/>
          <p:cNvGraphicFramePr>
            <a:graphicFrameLocks noGrp="1"/>
          </p:cNvGraphicFramePr>
          <p:nvPr/>
        </p:nvGraphicFramePr>
        <p:xfrm>
          <a:off x="1437550" y="6071671"/>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B</a:t>
                      </a:r>
                    </a:p>
                  </a:txBody>
                  <a:tcPr>
                    <a:noFill/>
                  </a:tcPr>
                </a:tc>
                <a:tc>
                  <a:txBody>
                    <a:bodyPr/>
                    <a:lstStyle/>
                    <a:p>
                      <a:pPr algn="ctr"/>
                      <a:r>
                        <a:rPr lang="en-US" dirty="0">
                          <a:solidFill>
                            <a:schemeClr val="tx1"/>
                          </a:solidFill>
                        </a:rPr>
                        <a:t>D</a:t>
                      </a:r>
                    </a:p>
                  </a:txBody>
                  <a:tcPr>
                    <a:noFill/>
                  </a:tcPr>
                </a:tc>
                <a:tc>
                  <a:txBody>
                    <a:bodyPr/>
                    <a:lstStyle/>
                    <a:p>
                      <a:pPr algn="ctr"/>
                      <a:r>
                        <a:rPr lang="en-US" dirty="0">
                          <a:solidFill>
                            <a:schemeClr val="tx1"/>
                          </a:solidFill>
                        </a:rPr>
                        <a:t>H</a:t>
                      </a:r>
                    </a:p>
                  </a:txBody>
                  <a:tcPr>
                    <a:noFill/>
                  </a:tcPr>
                </a:tc>
                <a:tc>
                  <a:txBody>
                    <a:bodyPr/>
                    <a:lstStyle/>
                    <a:p>
                      <a:pPr algn="ctr"/>
                      <a:r>
                        <a:rPr lang="en-US" dirty="0">
                          <a:solidFill>
                            <a:schemeClr val="tx1"/>
                          </a:solidFill>
                        </a:rPr>
                        <a:t>E</a:t>
                      </a:r>
                    </a:p>
                  </a:txBody>
                  <a:tcPr>
                    <a:noFill/>
                  </a:tcPr>
                </a:tc>
                <a:tc>
                  <a:txBody>
                    <a:bodyPr/>
                    <a:lstStyle/>
                    <a:p>
                      <a:pPr algn="ctr"/>
                      <a:r>
                        <a:rPr lang="en-US" dirty="0">
                          <a:solidFill>
                            <a:schemeClr val="tx1"/>
                          </a:solidFill>
                        </a:rPr>
                        <a:t>I</a:t>
                      </a:r>
                    </a:p>
                  </a:txBody>
                  <a:tcPr>
                    <a:noFill/>
                  </a:tcPr>
                </a:tc>
                <a:tc>
                  <a:txBody>
                    <a:bodyPr/>
                    <a:lstStyle/>
                    <a:p>
                      <a:pPr algn="ctr"/>
                      <a:r>
                        <a:rPr lang="en-US" dirty="0">
                          <a:solidFill>
                            <a:schemeClr val="tx1"/>
                          </a:solidFill>
                        </a:rPr>
                        <a:t>C</a:t>
                      </a:r>
                    </a:p>
                  </a:txBody>
                  <a:tcPr>
                    <a:noFill/>
                  </a:tcPr>
                </a:tc>
                <a:tc>
                  <a:txBody>
                    <a:bodyPr/>
                    <a:lstStyle/>
                    <a:p>
                      <a:pPr algn="ctr"/>
                      <a:r>
                        <a:rPr lang="en-US" dirty="0">
                          <a:solidFill>
                            <a:schemeClr val="tx1"/>
                          </a:solidFill>
                        </a:rPr>
                        <a:t>F</a:t>
                      </a:r>
                    </a:p>
                  </a:txBody>
                  <a:tcPr>
                    <a:noFill/>
                  </a:tcPr>
                </a:tc>
                <a:tc>
                  <a:txBody>
                    <a:bodyPr/>
                    <a:lstStyle/>
                    <a:p>
                      <a:pPr algn="ctr"/>
                      <a:r>
                        <a:rPr lang="en-US" dirty="0">
                          <a:solidFill>
                            <a:schemeClr val="tx1"/>
                          </a:solidFill>
                        </a:rPr>
                        <a:t>G</a:t>
                      </a:r>
                    </a:p>
                  </a:txBody>
                  <a:tcPr>
                    <a:noFill/>
                  </a:tcPr>
                </a:tc>
                <a:tc>
                  <a:txBody>
                    <a:bodyPr/>
                    <a:lstStyle/>
                    <a:p>
                      <a:pPr algn="ctr"/>
                      <a:r>
                        <a:rPr lang="en-US" dirty="0">
                          <a:solidFill>
                            <a:schemeClr val="tx1"/>
                          </a:solidFill>
                        </a:rPr>
                        <a:t>J</a:t>
                      </a:r>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graphicFrame>
        <p:nvGraphicFramePr>
          <p:cNvPr id="51" name="Table 50">
            <a:extLst>
              <a:ext uri="{FF2B5EF4-FFF2-40B4-BE49-F238E27FC236}">
                <a16:creationId xmlns:a16="http://schemas.microsoft.com/office/drawing/2014/main" id="{653F1A9C-4024-4275-8B6E-F1296824E562}"/>
              </a:ext>
            </a:extLst>
          </p:cNvPr>
          <p:cNvGraphicFramePr>
            <a:graphicFrameLocks noGrp="1"/>
          </p:cNvGraphicFramePr>
          <p:nvPr/>
        </p:nvGraphicFramePr>
        <p:xfrm>
          <a:off x="8658993" y="1862844"/>
          <a:ext cx="2132240" cy="4719320"/>
        </p:xfrm>
        <a:graphic>
          <a:graphicData uri="http://schemas.openxmlformats.org/drawingml/2006/table">
            <a:tbl>
              <a:tblPr firstRow="1" bandRow="1">
                <a:tableStyleId>{5C22544A-7EE6-4342-B048-85BDC9FD1C3A}</a:tableStyleId>
              </a:tblPr>
              <a:tblGrid>
                <a:gridCol w="847864">
                  <a:extLst>
                    <a:ext uri="{9D8B030D-6E8A-4147-A177-3AD203B41FA5}">
                      <a16:colId xmlns:a16="http://schemas.microsoft.com/office/drawing/2014/main" val="2989644895"/>
                    </a:ext>
                  </a:extLst>
                </a:gridCol>
                <a:gridCol w="1284376">
                  <a:extLst>
                    <a:ext uri="{9D8B030D-6E8A-4147-A177-3AD203B41FA5}">
                      <a16:colId xmlns:a16="http://schemas.microsoft.com/office/drawing/2014/main" val="4244960412"/>
                    </a:ext>
                  </a:extLst>
                </a:gridCol>
              </a:tblGrid>
              <a:tr h="370840">
                <a:tc>
                  <a:txBody>
                    <a:bodyPr/>
                    <a:lstStyle/>
                    <a:p>
                      <a:pPr algn="ctr"/>
                      <a:r>
                        <a:rPr lang="en-US" dirty="0"/>
                        <a:t>NODE</a:t>
                      </a:r>
                    </a:p>
                  </a:txBody>
                  <a:tcPr/>
                </a:tc>
                <a:tc>
                  <a:txBody>
                    <a:bodyPr/>
                    <a:lstStyle/>
                    <a:p>
                      <a:pPr algn="ctr"/>
                      <a:r>
                        <a:rPr lang="en-US" dirty="0"/>
                        <a:t>CHILDREN</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F,G</a:t>
                      </a:r>
                      <a:endParaRPr lang="en-US" b="1" dirty="0"/>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H,-</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-,I</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J,K</a:t>
                      </a:r>
                    </a:p>
                  </a:txBody>
                  <a:tcPr/>
                </a:tc>
                <a:extLst>
                  <a:ext uri="{0D108BD9-81ED-4DB2-BD59-A6C34878D82A}">
                    <a16:rowId xmlns:a16="http://schemas.microsoft.com/office/drawing/2014/main" val="1205733479"/>
                  </a:ext>
                </a:extLst>
              </a:tr>
              <a:tr h="370840">
                <a:tc>
                  <a:txBody>
                    <a:bodyPr/>
                    <a:lstStyle/>
                    <a:p>
                      <a:pPr algn="ctr"/>
                      <a:r>
                        <a:rPr lang="en-US" b="1" dirty="0"/>
                        <a: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987431379"/>
                  </a:ext>
                </a:extLst>
              </a:tr>
              <a:tr h="370840">
                <a:tc>
                  <a:txBody>
                    <a:bodyPr/>
                    <a:lstStyle/>
                    <a:p>
                      <a:pPr algn="ctr"/>
                      <a:r>
                        <a:rPr lang="en-US" b="1" dirty="0"/>
                        <a:t>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290039795"/>
                  </a:ext>
                </a:extLst>
              </a:tr>
              <a:tr h="370840">
                <a:tc>
                  <a:txBody>
                    <a:bodyPr/>
                    <a:lstStyle/>
                    <a:p>
                      <a:pPr algn="ctr"/>
                      <a:r>
                        <a:rPr lang="en-US" b="1" dirty="0"/>
                        <a:t>J</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873125107"/>
                  </a:ext>
                </a:extLst>
              </a:tr>
              <a:tr h="370840">
                <a:tc>
                  <a:txBody>
                    <a:bodyPr/>
                    <a:lstStyle/>
                    <a:p>
                      <a:pPr algn="ctr"/>
                      <a:r>
                        <a:rPr lang="en-US" b="1" dirty="0"/>
                        <a:t>K</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640632725"/>
                  </a:ext>
                </a:extLst>
              </a:tr>
            </a:tbl>
          </a:graphicData>
        </a:graphic>
      </p:graphicFrame>
    </p:spTree>
    <p:custDataLst>
      <p:tags r:id="rId1"/>
    </p:custDataLst>
    <p:extLst>
      <p:ext uri="{BB962C8B-B14F-4D97-AF65-F5344CB8AC3E}">
        <p14:creationId xmlns:p14="http://schemas.microsoft.com/office/powerpoint/2010/main" val="23067235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Straight Connector 45"/>
          <p:cNvCxnSpPr/>
          <p:nvPr/>
        </p:nvCxnSpPr>
        <p:spPr>
          <a:xfrm flipV="1">
            <a:off x="797123" y="4129201"/>
            <a:ext cx="542694" cy="82386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flipV="1">
            <a:off x="2838130" y="4019053"/>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ln>
            <a:noFill/>
          </a:ln>
        </p:spPr>
        <p:txBody>
          <a:bodyPr/>
          <a:lstStyle/>
          <a:p>
            <a:r>
              <a:rPr lang="en-US" dirty="0"/>
              <a:t>Depth-First Search</a:t>
            </a:r>
          </a:p>
        </p:txBody>
      </p:sp>
      <p:sp>
        <p:nvSpPr>
          <p:cNvPr id="4" name="Slide Number Placeholder 3">
            <a:extLst>
              <a:ext uri="{FF2B5EF4-FFF2-40B4-BE49-F238E27FC236}">
                <a16:creationId xmlns:a16="http://schemas.microsoft.com/office/drawing/2014/main" id="{272A7370-FE95-43C3-8924-B5C912ADCE9B}"/>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67/110</a:t>
            </a:r>
          </a:p>
        </p:txBody>
      </p:sp>
      <p:cxnSp>
        <p:nvCxnSpPr>
          <p:cNvPr id="8" name="Straight Connector 7"/>
          <p:cNvCxnSpPr/>
          <p:nvPr/>
        </p:nvCxnSpPr>
        <p:spPr>
          <a:xfrm flipH="1" flipV="1">
            <a:off x="4129859" y="1873873"/>
            <a:ext cx="1853477" cy="11790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2127196" y="2004369"/>
            <a:ext cx="1804150" cy="10422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3895286" y="176439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8" name="Straight Connector 17"/>
          <p:cNvCxnSpPr/>
          <p:nvPr/>
        </p:nvCxnSpPr>
        <p:spPr>
          <a:xfrm flipH="1" flipV="1">
            <a:off x="2191623" y="2983419"/>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406709" y="3052968"/>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1922122" y="2896761"/>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Oval 16"/>
          <p:cNvSpPr>
            <a:spLocks noChangeArrowheads="1"/>
          </p:cNvSpPr>
          <p:nvPr/>
        </p:nvSpPr>
        <p:spPr bwMode="auto">
          <a:xfrm>
            <a:off x="1225864" y="378497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5" name="Oval 16"/>
          <p:cNvSpPr>
            <a:spLocks noChangeArrowheads="1"/>
          </p:cNvSpPr>
          <p:nvPr/>
        </p:nvSpPr>
        <p:spPr bwMode="auto">
          <a:xfrm>
            <a:off x="2572943" y="382819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4" name="Oval 16"/>
          <p:cNvSpPr>
            <a:spLocks noChangeArrowheads="1"/>
          </p:cNvSpPr>
          <p:nvPr/>
        </p:nvSpPr>
        <p:spPr bwMode="auto">
          <a:xfrm>
            <a:off x="3251450" y="480945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6" name="Oval 16"/>
          <p:cNvSpPr>
            <a:spLocks noChangeArrowheads="1"/>
          </p:cNvSpPr>
          <p:nvPr/>
        </p:nvSpPr>
        <p:spPr bwMode="auto">
          <a:xfrm>
            <a:off x="577751" y="4810837"/>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61" name="Straight Connector 60"/>
          <p:cNvCxnSpPr/>
          <p:nvPr/>
        </p:nvCxnSpPr>
        <p:spPr>
          <a:xfrm flipH="1" flipV="1">
            <a:off x="6681579" y="4037641"/>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6068720" y="4104906"/>
            <a:ext cx="457312" cy="8114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flipV="1">
            <a:off x="6035072" y="3002007"/>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5250158" y="3071556"/>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Oval 16"/>
          <p:cNvSpPr>
            <a:spLocks noChangeArrowheads="1"/>
          </p:cNvSpPr>
          <p:nvPr/>
        </p:nvSpPr>
        <p:spPr bwMode="auto">
          <a:xfrm>
            <a:off x="5765571" y="29153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6" name="Oval 16"/>
          <p:cNvSpPr>
            <a:spLocks noChangeArrowheads="1"/>
          </p:cNvSpPr>
          <p:nvPr/>
        </p:nvSpPr>
        <p:spPr bwMode="auto">
          <a:xfrm>
            <a:off x="5069313" y="380356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7" name="Oval 16"/>
          <p:cNvSpPr>
            <a:spLocks noChangeArrowheads="1"/>
          </p:cNvSpPr>
          <p:nvPr/>
        </p:nvSpPr>
        <p:spPr bwMode="auto">
          <a:xfrm>
            <a:off x="6416392" y="384678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8" name="Oval 16"/>
          <p:cNvSpPr>
            <a:spLocks noChangeArrowheads="1"/>
          </p:cNvSpPr>
          <p:nvPr/>
        </p:nvSpPr>
        <p:spPr bwMode="auto">
          <a:xfrm>
            <a:off x="5870482" y="482942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9" name="Oval 16"/>
          <p:cNvSpPr>
            <a:spLocks noChangeArrowheads="1"/>
          </p:cNvSpPr>
          <p:nvPr/>
        </p:nvSpPr>
        <p:spPr bwMode="auto">
          <a:xfrm>
            <a:off x="7094899" y="482803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76" name="TextBox 75"/>
          <p:cNvSpPr txBox="1"/>
          <p:nvPr/>
        </p:nvSpPr>
        <p:spPr>
          <a:xfrm>
            <a:off x="3944575" y="1786250"/>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82" name="TextBox 81"/>
          <p:cNvSpPr txBox="1"/>
          <p:nvPr/>
        </p:nvSpPr>
        <p:spPr>
          <a:xfrm>
            <a:off x="1967407" y="2929860"/>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83" name="TextBox 82"/>
          <p:cNvSpPr txBox="1"/>
          <p:nvPr/>
        </p:nvSpPr>
        <p:spPr>
          <a:xfrm>
            <a:off x="5833156" y="2937297"/>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84" name="Rectangle 83"/>
          <p:cNvSpPr/>
          <p:nvPr/>
        </p:nvSpPr>
        <p:spPr>
          <a:xfrm>
            <a:off x="1273931" y="3822650"/>
            <a:ext cx="343364" cy="369332"/>
          </a:xfrm>
          <a:prstGeom prst="rect">
            <a:avLst/>
          </a:prstGeom>
        </p:spPr>
        <p:txBody>
          <a:bodyPr wrap="none">
            <a:spAutoFit/>
          </a:bodyPr>
          <a:lstStyle/>
          <a:p>
            <a:r>
              <a:rPr lang="en-US" b="1" dirty="0">
                <a:solidFill>
                  <a:prstClr val="black"/>
                </a:solidFill>
              </a:rPr>
              <a:t>D</a:t>
            </a:r>
          </a:p>
        </p:txBody>
      </p:sp>
      <p:sp>
        <p:nvSpPr>
          <p:cNvPr id="85" name="Rectangle 84"/>
          <p:cNvSpPr/>
          <p:nvPr/>
        </p:nvSpPr>
        <p:spPr>
          <a:xfrm>
            <a:off x="5116299" y="3846782"/>
            <a:ext cx="304892" cy="369332"/>
          </a:xfrm>
          <a:prstGeom prst="rect">
            <a:avLst/>
          </a:prstGeom>
        </p:spPr>
        <p:txBody>
          <a:bodyPr wrap="none">
            <a:spAutoFit/>
          </a:bodyPr>
          <a:lstStyle/>
          <a:p>
            <a:r>
              <a:rPr lang="en-US" b="1" dirty="0">
                <a:solidFill>
                  <a:prstClr val="black"/>
                </a:solidFill>
              </a:rPr>
              <a:t>F</a:t>
            </a:r>
          </a:p>
        </p:txBody>
      </p:sp>
      <p:sp>
        <p:nvSpPr>
          <p:cNvPr id="86" name="Rectangle 85"/>
          <p:cNvSpPr/>
          <p:nvPr/>
        </p:nvSpPr>
        <p:spPr>
          <a:xfrm>
            <a:off x="6467363" y="3861983"/>
            <a:ext cx="340158" cy="369332"/>
          </a:xfrm>
          <a:prstGeom prst="rect">
            <a:avLst/>
          </a:prstGeom>
        </p:spPr>
        <p:txBody>
          <a:bodyPr wrap="none">
            <a:spAutoFit/>
          </a:bodyPr>
          <a:lstStyle/>
          <a:p>
            <a:r>
              <a:rPr lang="en-US" b="1" dirty="0">
                <a:solidFill>
                  <a:prstClr val="black"/>
                </a:solidFill>
              </a:rPr>
              <a:t>G</a:t>
            </a:r>
          </a:p>
        </p:txBody>
      </p:sp>
      <p:sp>
        <p:nvSpPr>
          <p:cNvPr id="87" name="Rectangle 86"/>
          <p:cNvSpPr/>
          <p:nvPr/>
        </p:nvSpPr>
        <p:spPr>
          <a:xfrm>
            <a:off x="5923779" y="4883500"/>
            <a:ext cx="277640" cy="369332"/>
          </a:xfrm>
          <a:prstGeom prst="rect">
            <a:avLst/>
          </a:prstGeom>
        </p:spPr>
        <p:txBody>
          <a:bodyPr wrap="none">
            <a:spAutoFit/>
          </a:bodyPr>
          <a:lstStyle/>
          <a:p>
            <a:r>
              <a:rPr lang="en-US" b="1" dirty="0">
                <a:solidFill>
                  <a:prstClr val="black"/>
                </a:solidFill>
              </a:rPr>
              <a:t>J</a:t>
            </a:r>
          </a:p>
        </p:txBody>
      </p:sp>
      <p:sp>
        <p:nvSpPr>
          <p:cNvPr id="88" name="Rectangle 87"/>
          <p:cNvSpPr/>
          <p:nvPr/>
        </p:nvSpPr>
        <p:spPr>
          <a:xfrm>
            <a:off x="7146697" y="4879786"/>
            <a:ext cx="330540" cy="369332"/>
          </a:xfrm>
          <a:prstGeom prst="rect">
            <a:avLst/>
          </a:prstGeom>
        </p:spPr>
        <p:txBody>
          <a:bodyPr wrap="none">
            <a:spAutoFit/>
          </a:bodyPr>
          <a:lstStyle/>
          <a:p>
            <a:r>
              <a:rPr lang="en-US" b="1" dirty="0">
                <a:solidFill>
                  <a:prstClr val="black"/>
                </a:solidFill>
              </a:rPr>
              <a:t>K</a:t>
            </a:r>
          </a:p>
        </p:txBody>
      </p:sp>
      <p:sp>
        <p:nvSpPr>
          <p:cNvPr id="89" name="Rectangle 88"/>
          <p:cNvSpPr/>
          <p:nvPr/>
        </p:nvSpPr>
        <p:spPr>
          <a:xfrm>
            <a:off x="3294991" y="4859128"/>
            <a:ext cx="248786" cy="369332"/>
          </a:xfrm>
          <a:prstGeom prst="rect">
            <a:avLst/>
          </a:prstGeom>
        </p:spPr>
        <p:txBody>
          <a:bodyPr wrap="none">
            <a:spAutoFit/>
          </a:bodyPr>
          <a:lstStyle/>
          <a:p>
            <a:r>
              <a:rPr lang="en-US" b="1" dirty="0">
                <a:solidFill>
                  <a:prstClr val="black"/>
                </a:solidFill>
              </a:rPr>
              <a:t>I</a:t>
            </a:r>
          </a:p>
        </p:txBody>
      </p:sp>
      <p:sp>
        <p:nvSpPr>
          <p:cNvPr id="91" name="Rectangle 90"/>
          <p:cNvSpPr/>
          <p:nvPr/>
        </p:nvSpPr>
        <p:spPr>
          <a:xfrm>
            <a:off x="641576" y="4852097"/>
            <a:ext cx="346570" cy="369332"/>
          </a:xfrm>
          <a:prstGeom prst="rect">
            <a:avLst/>
          </a:prstGeom>
        </p:spPr>
        <p:txBody>
          <a:bodyPr wrap="none">
            <a:spAutoFit/>
          </a:bodyPr>
          <a:lstStyle/>
          <a:p>
            <a:r>
              <a:rPr lang="en-US" b="1" dirty="0">
                <a:solidFill>
                  <a:prstClr val="black"/>
                </a:solidFill>
              </a:rPr>
              <a:t>H</a:t>
            </a:r>
          </a:p>
        </p:txBody>
      </p:sp>
      <p:sp>
        <p:nvSpPr>
          <p:cNvPr id="92" name="Rectangle 91"/>
          <p:cNvSpPr/>
          <p:nvPr/>
        </p:nvSpPr>
        <p:spPr>
          <a:xfrm>
            <a:off x="2632725" y="3853127"/>
            <a:ext cx="316112" cy="369332"/>
          </a:xfrm>
          <a:prstGeom prst="rect">
            <a:avLst/>
          </a:prstGeom>
        </p:spPr>
        <p:txBody>
          <a:bodyPr wrap="none">
            <a:spAutoFit/>
          </a:bodyPr>
          <a:lstStyle/>
          <a:p>
            <a:r>
              <a:rPr lang="en-US" b="1" dirty="0">
                <a:solidFill>
                  <a:prstClr val="black"/>
                </a:solidFill>
              </a:rPr>
              <a:t>E</a:t>
            </a:r>
          </a:p>
        </p:txBody>
      </p:sp>
      <p:graphicFrame>
        <p:nvGraphicFramePr>
          <p:cNvPr id="5" name="Table 4"/>
          <p:cNvGraphicFramePr>
            <a:graphicFrameLocks noGrp="1"/>
          </p:cNvGraphicFramePr>
          <p:nvPr>
            <p:extLst>
              <p:ext uri="{D42A27DB-BD31-4B8C-83A1-F6EECF244321}">
                <p14:modId xmlns:p14="http://schemas.microsoft.com/office/powerpoint/2010/main" val="1700174335"/>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endParaRPr lang="en-US" dirty="0">
                        <a:solidFill>
                          <a:schemeClr val="tx1"/>
                        </a:solidFill>
                      </a:endParaRP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pPr algn="ctr"/>
                      <a:endParaRPr lang="en-US" dirty="0">
                        <a:solidFill>
                          <a:schemeClr val="tx1"/>
                        </a:solidFill>
                      </a:endParaRPr>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tc>
                  <a:txBody>
                    <a:bodyPr/>
                    <a:lstStyle/>
                    <a:p>
                      <a:endParaRPr lang="en-US" dirty="0"/>
                    </a:p>
                  </a:txBody>
                  <a:tcPr>
                    <a:solidFill>
                      <a:schemeClr val="accent2">
                        <a:lumMod val="60000"/>
                        <a:lumOff val="40000"/>
                      </a:schemeClr>
                    </a:solidFill>
                  </a:tcPr>
                </a:tc>
                <a:extLst>
                  <a:ext uri="{0D108BD9-81ED-4DB2-BD59-A6C34878D82A}">
                    <a16:rowId xmlns:a16="http://schemas.microsoft.com/office/drawing/2014/main" val="660647860"/>
                  </a:ext>
                </a:extLst>
              </a:tr>
            </a:tbl>
          </a:graphicData>
        </a:graphic>
      </p:graphicFrame>
      <p:sp>
        <p:nvSpPr>
          <p:cNvPr id="6" name="TextBox 5"/>
          <p:cNvSpPr txBox="1"/>
          <p:nvPr/>
        </p:nvSpPr>
        <p:spPr>
          <a:xfrm>
            <a:off x="965262" y="5554545"/>
            <a:ext cx="362600" cy="461665"/>
          </a:xfrm>
          <a:prstGeom prst="rect">
            <a:avLst/>
          </a:prstGeom>
          <a:noFill/>
        </p:spPr>
        <p:txBody>
          <a:bodyPr wrap="none" rtlCol="0">
            <a:spAutoFit/>
          </a:bodyPr>
          <a:lstStyle/>
          <a:p>
            <a:r>
              <a:rPr lang="en-US" sz="2400" b="1">
                <a:effectLst>
                  <a:outerShdw blurRad="38100" dist="38100" dir="2700000" algn="tl">
                    <a:srgbClr val="000000">
                      <a:alpha val="43137"/>
                    </a:srgbClr>
                  </a:outerShdw>
                </a:effectLst>
              </a:rPr>
              <a:t>S</a:t>
            </a:r>
          </a:p>
        </p:txBody>
      </p:sp>
      <p:cxnSp>
        <p:nvCxnSpPr>
          <p:cNvPr id="55" name="Straight Connector 54"/>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57" name="Table 56"/>
          <p:cNvGraphicFramePr>
            <a:graphicFrameLocks noGrp="1"/>
          </p:cNvGraphicFramePr>
          <p:nvPr/>
        </p:nvGraphicFramePr>
        <p:xfrm>
          <a:off x="1437550" y="6071671"/>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B</a:t>
                      </a:r>
                    </a:p>
                  </a:txBody>
                  <a:tcPr>
                    <a:noFill/>
                  </a:tcPr>
                </a:tc>
                <a:tc>
                  <a:txBody>
                    <a:bodyPr/>
                    <a:lstStyle/>
                    <a:p>
                      <a:pPr algn="ctr"/>
                      <a:r>
                        <a:rPr lang="en-US" dirty="0">
                          <a:solidFill>
                            <a:schemeClr val="tx1"/>
                          </a:solidFill>
                        </a:rPr>
                        <a:t>D</a:t>
                      </a:r>
                    </a:p>
                  </a:txBody>
                  <a:tcPr>
                    <a:noFill/>
                  </a:tcPr>
                </a:tc>
                <a:tc>
                  <a:txBody>
                    <a:bodyPr/>
                    <a:lstStyle/>
                    <a:p>
                      <a:pPr algn="ctr"/>
                      <a:r>
                        <a:rPr lang="en-US" dirty="0">
                          <a:solidFill>
                            <a:schemeClr val="tx1"/>
                          </a:solidFill>
                        </a:rPr>
                        <a:t>H</a:t>
                      </a:r>
                    </a:p>
                  </a:txBody>
                  <a:tcPr>
                    <a:noFill/>
                  </a:tcPr>
                </a:tc>
                <a:tc>
                  <a:txBody>
                    <a:bodyPr/>
                    <a:lstStyle/>
                    <a:p>
                      <a:pPr algn="ctr"/>
                      <a:r>
                        <a:rPr lang="en-US" dirty="0">
                          <a:solidFill>
                            <a:schemeClr val="tx1"/>
                          </a:solidFill>
                        </a:rPr>
                        <a:t>E</a:t>
                      </a:r>
                    </a:p>
                  </a:txBody>
                  <a:tcPr>
                    <a:noFill/>
                  </a:tcPr>
                </a:tc>
                <a:tc>
                  <a:txBody>
                    <a:bodyPr/>
                    <a:lstStyle/>
                    <a:p>
                      <a:pPr algn="ctr"/>
                      <a:r>
                        <a:rPr lang="en-US" dirty="0">
                          <a:solidFill>
                            <a:schemeClr val="tx1"/>
                          </a:solidFill>
                        </a:rPr>
                        <a:t>I</a:t>
                      </a:r>
                    </a:p>
                  </a:txBody>
                  <a:tcPr>
                    <a:noFill/>
                  </a:tcPr>
                </a:tc>
                <a:tc>
                  <a:txBody>
                    <a:bodyPr/>
                    <a:lstStyle/>
                    <a:p>
                      <a:pPr algn="ctr"/>
                      <a:r>
                        <a:rPr lang="en-US" dirty="0">
                          <a:solidFill>
                            <a:schemeClr val="tx1"/>
                          </a:solidFill>
                        </a:rPr>
                        <a:t>C</a:t>
                      </a:r>
                    </a:p>
                  </a:txBody>
                  <a:tcPr>
                    <a:noFill/>
                  </a:tcPr>
                </a:tc>
                <a:tc>
                  <a:txBody>
                    <a:bodyPr/>
                    <a:lstStyle/>
                    <a:p>
                      <a:pPr algn="ctr"/>
                      <a:r>
                        <a:rPr lang="en-US" dirty="0">
                          <a:solidFill>
                            <a:schemeClr val="tx1"/>
                          </a:solidFill>
                        </a:rPr>
                        <a:t>F</a:t>
                      </a:r>
                    </a:p>
                  </a:txBody>
                  <a:tcPr>
                    <a:noFill/>
                  </a:tcPr>
                </a:tc>
                <a:tc>
                  <a:txBody>
                    <a:bodyPr/>
                    <a:lstStyle/>
                    <a:p>
                      <a:pPr algn="ctr"/>
                      <a:r>
                        <a:rPr lang="en-US" dirty="0">
                          <a:solidFill>
                            <a:schemeClr val="tx1"/>
                          </a:solidFill>
                        </a:rPr>
                        <a:t>G</a:t>
                      </a:r>
                    </a:p>
                  </a:txBody>
                  <a:tcPr>
                    <a:noFill/>
                  </a:tcPr>
                </a:tc>
                <a:tc>
                  <a:txBody>
                    <a:bodyPr/>
                    <a:lstStyle/>
                    <a:p>
                      <a:pPr algn="ctr"/>
                      <a:r>
                        <a:rPr lang="en-US" dirty="0">
                          <a:solidFill>
                            <a:schemeClr val="tx1"/>
                          </a:solidFill>
                        </a:rPr>
                        <a:t>J         </a:t>
                      </a:r>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graphicFrame>
        <p:nvGraphicFramePr>
          <p:cNvPr id="52" name="Table 51">
            <a:extLst>
              <a:ext uri="{FF2B5EF4-FFF2-40B4-BE49-F238E27FC236}">
                <a16:creationId xmlns:a16="http://schemas.microsoft.com/office/drawing/2014/main" id="{C0D86AD6-33D5-4263-8DB3-B41976EE80D4}"/>
              </a:ext>
            </a:extLst>
          </p:cNvPr>
          <p:cNvGraphicFramePr>
            <a:graphicFrameLocks noGrp="1"/>
          </p:cNvGraphicFramePr>
          <p:nvPr/>
        </p:nvGraphicFramePr>
        <p:xfrm>
          <a:off x="8658993" y="1862844"/>
          <a:ext cx="2132240" cy="4719320"/>
        </p:xfrm>
        <a:graphic>
          <a:graphicData uri="http://schemas.openxmlformats.org/drawingml/2006/table">
            <a:tbl>
              <a:tblPr firstRow="1" bandRow="1">
                <a:tableStyleId>{5C22544A-7EE6-4342-B048-85BDC9FD1C3A}</a:tableStyleId>
              </a:tblPr>
              <a:tblGrid>
                <a:gridCol w="847864">
                  <a:extLst>
                    <a:ext uri="{9D8B030D-6E8A-4147-A177-3AD203B41FA5}">
                      <a16:colId xmlns:a16="http://schemas.microsoft.com/office/drawing/2014/main" val="2989644895"/>
                    </a:ext>
                  </a:extLst>
                </a:gridCol>
                <a:gridCol w="1284376">
                  <a:extLst>
                    <a:ext uri="{9D8B030D-6E8A-4147-A177-3AD203B41FA5}">
                      <a16:colId xmlns:a16="http://schemas.microsoft.com/office/drawing/2014/main" val="4244960412"/>
                    </a:ext>
                  </a:extLst>
                </a:gridCol>
              </a:tblGrid>
              <a:tr h="370840">
                <a:tc>
                  <a:txBody>
                    <a:bodyPr/>
                    <a:lstStyle/>
                    <a:p>
                      <a:pPr algn="ctr"/>
                      <a:r>
                        <a:rPr lang="en-US" dirty="0"/>
                        <a:t>NODE</a:t>
                      </a:r>
                    </a:p>
                  </a:txBody>
                  <a:tcPr/>
                </a:tc>
                <a:tc>
                  <a:txBody>
                    <a:bodyPr/>
                    <a:lstStyle/>
                    <a:p>
                      <a:pPr algn="ctr"/>
                      <a:r>
                        <a:rPr lang="en-US" dirty="0"/>
                        <a:t>CHILDREN</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F,G</a:t>
                      </a:r>
                      <a:endParaRPr lang="en-US" b="1" dirty="0"/>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H,-</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-,I</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J,K</a:t>
                      </a:r>
                    </a:p>
                  </a:txBody>
                  <a:tcPr/>
                </a:tc>
                <a:extLst>
                  <a:ext uri="{0D108BD9-81ED-4DB2-BD59-A6C34878D82A}">
                    <a16:rowId xmlns:a16="http://schemas.microsoft.com/office/drawing/2014/main" val="1205733479"/>
                  </a:ext>
                </a:extLst>
              </a:tr>
              <a:tr h="370840">
                <a:tc>
                  <a:txBody>
                    <a:bodyPr/>
                    <a:lstStyle/>
                    <a:p>
                      <a:pPr algn="ctr"/>
                      <a:r>
                        <a:rPr lang="en-US" b="1" dirty="0"/>
                        <a: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987431379"/>
                  </a:ext>
                </a:extLst>
              </a:tr>
              <a:tr h="370840">
                <a:tc>
                  <a:txBody>
                    <a:bodyPr/>
                    <a:lstStyle/>
                    <a:p>
                      <a:pPr algn="ctr"/>
                      <a:r>
                        <a:rPr lang="en-US" b="1" dirty="0"/>
                        <a:t>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290039795"/>
                  </a:ext>
                </a:extLst>
              </a:tr>
              <a:tr h="370840">
                <a:tc>
                  <a:txBody>
                    <a:bodyPr/>
                    <a:lstStyle/>
                    <a:p>
                      <a:pPr algn="ctr"/>
                      <a:r>
                        <a:rPr lang="en-US" b="1" dirty="0"/>
                        <a:t>J</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873125107"/>
                  </a:ext>
                </a:extLst>
              </a:tr>
              <a:tr h="370840">
                <a:tc>
                  <a:txBody>
                    <a:bodyPr/>
                    <a:lstStyle/>
                    <a:p>
                      <a:pPr algn="ctr"/>
                      <a:r>
                        <a:rPr lang="en-US" b="1" dirty="0"/>
                        <a:t>K</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640632725"/>
                  </a:ext>
                </a:extLst>
              </a:tr>
            </a:tbl>
          </a:graphicData>
        </a:graphic>
      </p:graphicFrame>
      <p:sp>
        <p:nvSpPr>
          <p:cNvPr id="3" name="Rectangle 2">
            <a:extLst>
              <a:ext uri="{FF2B5EF4-FFF2-40B4-BE49-F238E27FC236}">
                <a16:creationId xmlns:a16="http://schemas.microsoft.com/office/drawing/2014/main" id="{3B6D2D7D-83F8-4C1D-8C88-FD7D85611675}"/>
              </a:ext>
            </a:extLst>
          </p:cNvPr>
          <p:cNvSpPr/>
          <p:nvPr/>
        </p:nvSpPr>
        <p:spPr>
          <a:xfrm>
            <a:off x="6857307" y="6073179"/>
            <a:ext cx="330540" cy="369332"/>
          </a:xfrm>
          <a:prstGeom prst="rect">
            <a:avLst/>
          </a:prstGeom>
        </p:spPr>
        <p:txBody>
          <a:bodyPr wrap="none">
            <a:spAutoFit/>
          </a:bodyPr>
          <a:lstStyle/>
          <a:p>
            <a:r>
              <a:rPr lang="en-US" b="1" dirty="0"/>
              <a:t>K</a:t>
            </a:r>
            <a:endParaRPr lang="en-US" dirty="0"/>
          </a:p>
        </p:txBody>
      </p:sp>
    </p:spTree>
    <p:custDataLst>
      <p:tags r:id="rId1"/>
    </p:custDataLst>
    <p:extLst>
      <p:ext uri="{BB962C8B-B14F-4D97-AF65-F5344CB8AC3E}">
        <p14:creationId xmlns:p14="http://schemas.microsoft.com/office/powerpoint/2010/main" val="398686678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DFS: Algorithm and Time Complexity</a:t>
            </a:r>
          </a:p>
        </p:txBody>
      </p:sp>
      <p:sp>
        <p:nvSpPr>
          <p:cNvPr id="4" name="Slide Number Placeholder 3">
            <a:extLst>
              <a:ext uri="{FF2B5EF4-FFF2-40B4-BE49-F238E27FC236}">
                <a16:creationId xmlns:a16="http://schemas.microsoft.com/office/drawing/2014/main" id="{5BD31246-39B3-4195-B0AC-1205A89B4984}"/>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68/110</a:t>
            </a:r>
          </a:p>
        </p:txBody>
      </p:sp>
      <p:sp>
        <p:nvSpPr>
          <p:cNvPr id="3" name="TextBox 2"/>
          <p:cNvSpPr txBox="1"/>
          <p:nvPr/>
        </p:nvSpPr>
        <p:spPr>
          <a:xfrm>
            <a:off x="4161065" y="2129973"/>
            <a:ext cx="4215492" cy="2862322"/>
          </a:xfrm>
          <a:prstGeom prst="rect">
            <a:avLst/>
          </a:prstGeom>
          <a:noFill/>
          <a:ln w="38100" cmpd="thickThin">
            <a:solidFill>
              <a:srgbClr val="F6B000"/>
            </a:solidFill>
          </a:ln>
        </p:spPr>
        <p:txBody>
          <a:bodyPr wrap="square" rtlCol="0">
            <a:spAutoFit/>
          </a:bodyPr>
          <a:lstStyle/>
          <a:p>
            <a:r>
              <a:rPr lang="en-US" dirty="0">
                <a:latin typeface="Consolas" panose="020B0609020204030204" pitchFamily="49" charset="0"/>
              </a:rPr>
              <a:t>DFS(Root)</a:t>
            </a:r>
          </a:p>
          <a:p>
            <a:r>
              <a:rPr lang="en-US" dirty="0">
                <a:latin typeface="Consolas" panose="020B0609020204030204" pitchFamily="49" charset="0"/>
              </a:rPr>
              <a:t>    Stack S</a:t>
            </a:r>
          </a:p>
          <a:p>
            <a:r>
              <a:rPr lang="en-US" dirty="0">
                <a:latin typeface="Consolas" panose="020B0609020204030204" pitchFamily="49" charset="0"/>
              </a:rPr>
              <a:t>    </a:t>
            </a:r>
            <a:r>
              <a:rPr lang="en-US" dirty="0" err="1">
                <a:latin typeface="Consolas" panose="020B0609020204030204" pitchFamily="49" charset="0"/>
              </a:rPr>
              <a:t>S.push</a:t>
            </a:r>
            <a:r>
              <a:rPr lang="en-US" dirty="0">
                <a:latin typeface="Consolas" panose="020B0609020204030204" pitchFamily="49" charset="0"/>
              </a:rPr>
              <a:t>(Root)</a:t>
            </a:r>
          </a:p>
          <a:p>
            <a:endParaRPr lang="en-US" dirty="0">
              <a:latin typeface="Consolas" panose="020B0609020204030204" pitchFamily="49" charset="0"/>
            </a:endParaRPr>
          </a:p>
          <a:p>
            <a:r>
              <a:rPr lang="en-US" dirty="0">
                <a:latin typeface="Consolas" panose="020B0609020204030204" pitchFamily="49" charset="0"/>
              </a:rPr>
              <a:t>    while S is not empty do</a:t>
            </a:r>
          </a:p>
          <a:p>
            <a:r>
              <a:rPr lang="en-US" dirty="0">
                <a:latin typeface="Consolas" panose="020B0609020204030204" pitchFamily="49" charset="0"/>
              </a:rPr>
              <a:t>        v ← </a:t>
            </a:r>
            <a:r>
              <a:rPr lang="en-US" dirty="0" err="1">
                <a:latin typeface="Consolas" panose="020B0609020204030204" pitchFamily="49" charset="0"/>
              </a:rPr>
              <a:t>S.pop</a:t>
            </a:r>
            <a:r>
              <a:rPr lang="en-US" dirty="0">
                <a:latin typeface="Consolas" panose="020B0609020204030204" pitchFamily="49" charset="0"/>
              </a:rPr>
              <a:t>()</a:t>
            </a:r>
          </a:p>
          <a:p>
            <a:r>
              <a:rPr lang="en-US" dirty="0">
                <a:latin typeface="Consolas" panose="020B0609020204030204" pitchFamily="49" charset="0"/>
              </a:rPr>
              <a:t>        Print v</a:t>
            </a:r>
          </a:p>
          <a:p>
            <a:endParaRPr lang="en-US" dirty="0">
              <a:latin typeface="Consolas" panose="020B0609020204030204" pitchFamily="49" charset="0"/>
            </a:endParaRPr>
          </a:p>
          <a:p>
            <a:r>
              <a:rPr lang="en-US" dirty="0">
                <a:latin typeface="Consolas" panose="020B0609020204030204" pitchFamily="49" charset="0"/>
              </a:rPr>
              <a:t>        for each child w of v do</a:t>
            </a:r>
          </a:p>
          <a:p>
            <a:r>
              <a:rPr lang="en-US" dirty="0">
                <a:latin typeface="Consolas" panose="020B0609020204030204" pitchFamily="49" charset="0"/>
              </a:rPr>
              <a:t>            </a:t>
            </a:r>
            <a:r>
              <a:rPr lang="en-US" dirty="0" err="1">
                <a:latin typeface="Consolas" panose="020B0609020204030204" pitchFamily="49" charset="0"/>
              </a:rPr>
              <a:t>S.push</a:t>
            </a:r>
            <a:r>
              <a:rPr lang="en-US" dirty="0">
                <a:latin typeface="Consolas" panose="020B0609020204030204" pitchFamily="49" charset="0"/>
              </a:rPr>
              <a:t>(w)</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4D78C8B-40CA-4774-AACF-5A2298FAE979}"/>
                  </a:ext>
                </a:extLst>
              </p:cNvPr>
              <p:cNvSpPr txBox="1"/>
              <p:nvPr/>
            </p:nvSpPr>
            <p:spPr>
              <a:xfrm>
                <a:off x="5117278" y="5302623"/>
                <a:ext cx="230306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D012C2"/>
                          </a:solidFill>
                          <a:latin typeface="Cambria Math" panose="02040503050406030204" pitchFamily="18" charset="0"/>
                        </a:rPr>
                        <m:t>𝑂</m:t>
                      </m:r>
                      <m:d>
                        <m:dPr>
                          <m:ctrlPr>
                            <a:rPr lang="en-US" i="1" dirty="0" smtClean="0">
                              <a:solidFill>
                                <a:srgbClr val="D012C2"/>
                              </a:solidFill>
                              <a:latin typeface="Cambria Math" panose="02040503050406030204" pitchFamily="18" charset="0"/>
                            </a:rPr>
                          </m:ctrlPr>
                        </m:dPr>
                        <m:e>
                          <m:d>
                            <m:dPr>
                              <m:begChr m:val="|"/>
                              <m:endChr m:val="|"/>
                              <m:ctrlPr>
                                <a:rPr lang="en-US" i="1" dirty="0" smtClean="0">
                                  <a:solidFill>
                                    <a:srgbClr val="D012C2"/>
                                  </a:solidFill>
                                  <a:latin typeface="Cambria Math" panose="02040503050406030204" pitchFamily="18" charset="0"/>
                                </a:rPr>
                              </m:ctrlPr>
                            </m:dPr>
                            <m:e>
                              <m:r>
                                <a:rPr lang="en-US" i="1" dirty="0" smtClean="0">
                                  <a:solidFill>
                                    <a:srgbClr val="D012C2"/>
                                  </a:solidFill>
                                  <a:latin typeface="Cambria Math" panose="02040503050406030204" pitchFamily="18" charset="0"/>
                                </a:rPr>
                                <m:t>𝐸</m:t>
                              </m:r>
                            </m:e>
                          </m:d>
                          <m:r>
                            <a:rPr lang="en-US" b="0" i="1" dirty="0" smtClean="0">
                              <a:solidFill>
                                <a:srgbClr val="D012C2"/>
                              </a:solidFill>
                              <a:latin typeface="Cambria Math" panose="02040503050406030204" pitchFamily="18" charset="0"/>
                            </a:rPr>
                            <m:t>+</m:t>
                          </m:r>
                          <m:d>
                            <m:dPr>
                              <m:begChr m:val="|"/>
                              <m:endChr m:val="|"/>
                              <m:ctrlPr>
                                <a:rPr lang="en-US" b="0" i="1" dirty="0" smtClean="0">
                                  <a:solidFill>
                                    <a:srgbClr val="D012C2"/>
                                  </a:solidFill>
                                  <a:latin typeface="Cambria Math" panose="02040503050406030204" pitchFamily="18" charset="0"/>
                                </a:rPr>
                              </m:ctrlPr>
                            </m:dPr>
                            <m:e>
                              <m:r>
                                <a:rPr lang="en-US" b="0" i="1" dirty="0" smtClean="0">
                                  <a:solidFill>
                                    <a:srgbClr val="D012C2"/>
                                  </a:solidFill>
                                  <a:latin typeface="Cambria Math" panose="02040503050406030204" pitchFamily="18" charset="0"/>
                                </a:rPr>
                                <m:t>𝑉</m:t>
                              </m:r>
                            </m:e>
                          </m:d>
                        </m:e>
                      </m:d>
                      <m:r>
                        <a:rPr lang="en-US" b="0" i="1" dirty="0" smtClean="0">
                          <a:solidFill>
                            <a:srgbClr val="D012C2"/>
                          </a:solidFill>
                          <a:latin typeface="Cambria Math" panose="02040503050406030204" pitchFamily="18" charset="0"/>
                        </a:rPr>
                        <m:t>=</m:t>
                      </m:r>
                      <m:r>
                        <a:rPr lang="en-US" b="0" i="1" dirty="0" smtClean="0">
                          <a:solidFill>
                            <a:srgbClr val="D012C2"/>
                          </a:solidFill>
                          <a:latin typeface="Cambria Math" panose="02040503050406030204" pitchFamily="18" charset="0"/>
                        </a:rPr>
                        <m:t>𝑂</m:t>
                      </m:r>
                      <m:r>
                        <a:rPr lang="en-US" b="0" i="1" dirty="0" smtClean="0">
                          <a:solidFill>
                            <a:srgbClr val="D012C2"/>
                          </a:solidFill>
                          <a:latin typeface="Cambria Math" panose="02040503050406030204" pitchFamily="18" charset="0"/>
                        </a:rPr>
                        <m:t>(</m:t>
                      </m:r>
                      <m:r>
                        <a:rPr lang="en-US" b="0" i="1" dirty="0" smtClean="0">
                          <a:solidFill>
                            <a:srgbClr val="D012C2"/>
                          </a:solidFill>
                          <a:latin typeface="Cambria Math" panose="02040503050406030204" pitchFamily="18" charset="0"/>
                        </a:rPr>
                        <m:t>𝑛</m:t>
                      </m:r>
                      <m:r>
                        <a:rPr lang="en-US" b="0" i="1" dirty="0" smtClean="0">
                          <a:solidFill>
                            <a:srgbClr val="D012C2"/>
                          </a:solidFill>
                          <a:latin typeface="Cambria Math" panose="02040503050406030204" pitchFamily="18" charset="0"/>
                        </a:rPr>
                        <m:t>)</m:t>
                      </m:r>
                    </m:oMath>
                  </m:oMathPara>
                </a14:m>
                <a:endParaRPr lang="en-US" dirty="0">
                  <a:solidFill>
                    <a:srgbClr val="D012C2"/>
                  </a:solidFill>
                </a:endParaRPr>
              </a:p>
            </p:txBody>
          </p:sp>
        </mc:Choice>
        <mc:Fallback xmlns="">
          <p:sp>
            <p:nvSpPr>
              <p:cNvPr id="7" name="TextBox 6">
                <a:extLst>
                  <a:ext uri="{FF2B5EF4-FFF2-40B4-BE49-F238E27FC236}">
                    <a16:creationId xmlns:a16="http://schemas.microsoft.com/office/drawing/2014/main" id="{44D78C8B-40CA-4774-AACF-5A2298FAE979}"/>
                  </a:ext>
                </a:extLst>
              </p:cNvPr>
              <p:cNvSpPr txBox="1">
                <a:spLocks noRot="1" noChangeAspect="1" noMove="1" noResize="1" noEditPoints="1" noAdjustHandles="1" noChangeArrowheads="1" noChangeShapeType="1" noTextEdit="1"/>
              </p:cNvSpPr>
              <p:nvPr/>
            </p:nvSpPr>
            <p:spPr>
              <a:xfrm>
                <a:off x="5117278" y="5302623"/>
                <a:ext cx="2303066" cy="369332"/>
              </a:xfrm>
              <a:prstGeom prst="rect">
                <a:avLst/>
              </a:prstGeom>
              <a:blipFill>
                <a:blip r:embed="rId4"/>
                <a:stretch>
                  <a:fillRect b="-15000"/>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1156275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Straight Connector 45"/>
          <p:cNvCxnSpPr/>
          <p:nvPr/>
        </p:nvCxnSpPr>
        <p:spPr>
          <a:xfrm flipV="1">
            <a:off x="797123" y="4129201"/>
            <a:ext cx="542694" cy="82386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flipV="1">
            <a:off x="2838130" y="4019053"/>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ln>
            <a:noFill/>
          </a:ln>
        </p:spPr>
        <p:txBody>
          <a:bodyPr/>
          <a:lstStyle/>
          <a:p>
            <a:r>
              <a:rPr lang="en-US" dirty="0"/>
              <a:t>Breadth-First Search</a:t>
            </a:r>
          </a:p>
        </p:txBody>
      </p:sp>
      <p:sp>
        <p:nvSpPr>
          <p:cNvPr id="3" name="Slide Number Placeholder 2">
            <a:extLst>
              <a:ext uri="{FF2B5EF4-FFF2-40B4-BE49-F238E27FC236}">
                <a16:creationId xmlns:a16="http://schemas.microsoft.com/office/drawing/2014/main" id="{68F68D52-83C9-4BD4-A3E1-F2D6B6E0CDB0}"/>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69/110</a:t>
            </a:r>
          </a:p>
        </p:txBody>
      </p:sp>
      <p:cxnSp>
        <p:nvCxnSpPr>
          <p:cNvPr id="8" name="Straight Connector 7"/>
          <p:cNvCxnSpPr/>
          <p:nvPr/>
        </p:nvCxnSpPr>
        <p:spPr>
          <a:xfrm flipH="1" flipV="1">
            <a:off x="4129859" y="1873873"/>
            <a:ext cx="1853477" cy="11790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2127196" y="2004369"/>
            <a:ext cx="1804150" cy="10422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3895286" y="176439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8" name="Straight Connector 17"/>
          <p:cNvCxnSpPr/>
          <p:nvPr/>
        </p:nvCxnSpPr>
        <p:spPr>
          <a:xfrm flipH="1" flipV="1">
            <a:off x="2191623" y="2983419"/>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406709" y="3052968"/>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1922122" y="2896761"/>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Oval 16"/>
          <p:cNvSpPr>
            <a:spLocks noChangeArrowheads="1"/>
          </p:cNvSpPr>
          <p:nvPr/>
        </p:nvSpPr>
        <p:spPr bwMode="auto">
          <a:xfrm>
            <a:off x="1225864" y="378497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5" name="Oval 16"/>
          <p:cNvSpPr>
            <a:spLocks noChangeArrowheads="1"/>
          </p:cNvSpPr>
          <p:nvPr/>
        </p:nvSpPr>
        <p:spPr bwMode="auto">
          <a:xfrm>
            <a:off x="2572943" y="382819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4" name="Oval 16"/>
          <p:cNvSpPr>
            <a:spLocks noChangeArrowheads="1"/>
          </p:cNvSpPr>
          <p:nvPr/>
        </p:nvSpPr>
        <p:spPr bwMode="auto">
          <a:xfrm>
            <a:off x="3251450" y="480945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6" name="Oval 16"/>
          <p:cNvSpPr>
            <a:spLocks noChangeArrowheads="1"/>
          </p:cNvSpPr>
          <p:nvPr/>
        </p:nvSpPr>
        <p:spPr bwMode="auto">
          <a:xfrm>
            <a:off x="577751" y="4810837"/>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61" name="Straight Connector 60"/>
          <p:cNvCxnSpPr/>
          <p:nvPr/>
        </p:nvCxnSpPr>
        <p:spPr>
          <a:xfrm flipH="1" flipV="1">
            <a:off x="6681579" y="4037641"/>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6068720" y="4104906"/>
            <a:ext cx="457312" cy="8114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flipV="1">
            <a:off x="6035072" y="3002007"/>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5250158" y="3071556"/>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Oval 16"/>
          <p:cNvSpPr>
            <a:spLocks noChangeArrowheads="1"/>
          </p:cNvSpPr>
          <p:nvPr/>
        </p:nvSpPr>
        <p:spPr bwMode="auto">
          <a:xfrm>
            <a:off x="5765571" y="29153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6" name="Oval 16"/>
          <p:cNvSpPr>
            <a:spLocks noChangeArrowheads="1"/>
          </p:cNvSpPr>
          <p:nvPr/>
        </p:nvSpPr>
        <p:spPr bwMode="auto">
          <a:xfrm>
            <a:off x="5069313" y="380356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7" name="Oval 16"/>
          <p:cNvSpPr>
            <a:spLocks noChangeArrowheads="1"/>
          </p:cNvSpPr>
          <p:nvPr/>
        </p:nvSpPr>
        <p:spPr bwMode="auto">
          <a:xfrm>
            <a:off x="6416392" y="384678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8" name="Oval 16"/>
          <p:cNvSpPr>
            <a:spLocks noChangeArrowheads="1"/>
          </p:cNvSpPr>
          <p:nvPr/>
        </p:nvSpPr>
        <p:spPr bwMode="auto">
          <a:xfrm>
            <a:off x="5870482" y="482942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9" name="Oval 16"/>
          <p:cNvSpPr>
            <a:spLocks noChangeArrowheads="1"/>
          </p:cNvSpPr>
          <p:nvPr/>
        </p:nvSpPr>
        <p:spPr bwMode="auto">
          <a:xfrm>
            <a:off x="7094899" y="482803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76" name="TextBox 75"/>
          <p:cNvSpPr txBox="1"/>
          <p:nvPr/>
        </p:nvSpPr>
        <p:spPr>
          <a:xfrm>
            <a:off x="3944575" y="1786250"/>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82" name="TextBox 81"/>
          <p:cNvSpPr txBox="1"/>
          <p:nvPr/>
        </p:nvSpPr>
        <p:spPr>
          <a:xfrm>
            <a:off x="1967407" y="2929860"/>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83" name="TextBox 82"/>
          <p:cNvSpPr txBox="1"/>
          <p:nvPr/>
        </p:nvSpPr>
        <p:spPr>
          <a:xfrm>
            <a:off x="5833156" y="2937297"/>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84" name="Rectangle 83"/>
          <p:cNvSpPr/>
          <p:nvPr/>
        </p:nvSpPr>
        <p:spPr>
          <a:xfrm>
            <a:off x="1273931" y="3822650"/>
            <a:ext cx="343364" cy="369332"/>
          </a:xfrm>
          <a:prstGeom prst="rect">
            <a:avLst/>
          </a:prstGeom>
        </p:spPr>
        <p:txBody>
          <a:bodyPr wrap="none">
            <a:spAutoFit/>
          </a:bodyPr>
          <a:lstStyle/>
          <a:p>
            <a:r>
              <a:rPr lang="en-US" b="1" dirty="0">
                <a:solidFill>
                  <a:prstClr val="black"/>
                </a:solidFill>
              </a:rPr>
              <a:t>D</a:t>
            </a:r>
          </a:p>
        </p:txBody>
      </p:sp>
      <p:sp>
        <p:nvSpPr>
          <p:cNvPr id="85" name="Rectangle 84"/>
          <p:cNvSpPr/>
          <p:nvPr/>
        </p:nvSpPr>
        <p:spPr>
          <a:xfrm>
            <a:off x="5116299" y="3846782"/>
            <a:ext cx="304892" cy="369332"/>
          </a:xfrm>
          <a:prstGeom prst="rect">
            <a:avLst/>
          </a:prstGeom>
        </p:spPr>
        <p:txBody>
          <a:bodyPr wrap="none">
            <a:spAutoFit/>
          </a:bodyPr>
          <a:lstStyle/>
          <a:p>
            <a:r>
              <a:rPr lang="en-US" b="1" dirty="0">
                <a:solidFill>
                  <a:prstClr val="black"/>
                </a:solidFill>
              </a:rPr>
              <a:t>F</a:t>
            </a:r>
          </a:p>
        </p:txBody>
      </p:sp>
      <p:sp>
        <p:nvSpPr>
          <p:cNvPr id="86" name="Rectangle 85"/>
          <p:cNvSpPr/>
          <p:nvPr/>
        </p:nvSpPr>
        <p:spPr>
          <a:xfrm>
            <a:off x="6467363" y="3861983"/>
            <a:ext cx="340158" cy="369332"/>
          </a:xfrm>
          <a:prstGeom prst="rect">
            <a:avLst/>
          </a:prstGeom>
        </p:spPr>
        <p:txBody>
          <a:bodyPr wrap="none">
            <a:spAutoFit/>
          </a:bodyPr>
          <a:lstStyle/>
          <a:p>
            <a:r>
              <a:rPr lang="en-US" b="1" dirty="0">
                <a:solidFill>
                  <a:prstClr val="black"/>
                </a:solidFill>
              </a:rPr>
              <a:t>G</a:t>
            </a:r>
          </a:p>
        </p:txBody>
      </p:sp>
      <p:sp>
        <p:nvSpPr>
          <p:cNvPr id="87" name="Rectangle 86"/>
          <p:cNvSpPr/>
          <p:nvPr/>
        </p:nvSpPr>
        <p:spPr>
          <a:xfrm>
            <a:off x="5923779" y="4883500"/>
            <a:ext cx="277640" cy="369332"/>
          </a:xfrm>
          <a:prstGeom prst="rect">
            <a:avLst/>
          </a:prstGeom>
        </p:spPr>
        <p:txBody>
          <a:bodyPr wrap="none">
            <a:spAutoFit/>
          </a:bodyPr>
          <a:lstStyle/>
          <a:p>
            <a:r>
              <a:rPr lang="en-US" b="1" dirty="0">
                <a:solidFill>
                  <a:prstClr val="black"/>
                </a:solidFill>
              </a:rPr>
              <a:t>J</a:t>
            </a:r>
          </a:p>
        </p:txBody>
      </p:sp>
      <p:sp>
        <p:nvSpPr>
          <p:cNvPr id="88" name="Rectangle 87"/>
          <p:cNvSpPr/>
          <p:nvPr/>
        </p:nvSpPr>
        <p:spPr>
          <a:xfrm>
            <a:off x="7146697" y="4879786"/>
            <a:ext cx="330540" cy="369332"/>
          </a:xfrm>
          <a:prstGeom prst="rect">
            <a:avLst/>
          </a:prstGeom>
        </p:spPr>
        <p:txBody>
          <a:bodyPr wrap="none">
            <a:spAutoFit/>
          </a:bodyPr>
          <a:lstStyle/>
          <a:p>
            <a:r>
              <a:rPr lang="en-US" b="1" dirty="0">
                <a:solidFill>
                  <a:prstClr val="black"/>
                </a:solidFill>
              </a:rPr>
              <a:t>K</a:t>
            </a:r>
          </a:p>
        </p:txBody>
      </p:sp>
      <p:sp>
        <p:nvSpPr>
          <p:cNvPr id="89" name="Rectangle 88"/>
          <p:cNvSpPr/>
          <p:nvPr/>
        </p:nvSpPr>
        <p:spPr>
          <a:xfrm>
            <a:off x="3294991" y="4859128"/>
            <a:ext cx="248786" cy="369332"/>
          </a:xfrm>
          <a:prstGeom prst="rect">
            <a:avLst/>
          </a:prstGeom>
        </p:spPr>
        <p:txBody>
          <a:bodyPr wrap="none">
            <a:spAutoFit/>
          </a:bodyPr>
          <a:lstStyle/>
          <a:p>
            <a:r>
              <a:rPr lang="en-US" b="1" dirty="0">
                <a:solidFill>
                  <a:prstClr val="black"/>
                </a:solidFill>
              </a:rPr>
              <a:t>I</a:t>
            </a:r>
          </a:p>
        </p:txBody>
      </p:sp>
      <p:sp>
        <p:nvSpPr>
          <p:cNvPr id="91" name="Rectangle 90"/>
          <p:cNvSpPr/>
          <p:nvPr/>
        </p:nvSpPr>
        <p:spPr>
          <a:xfrm>
            <a:off x="641576" y="4852097"/>
            <a:ext cx="346570" cy="369332"/>
          </a:xfrm>
          <a:prstGeom prst="rect">
            <a:avLst/>
          </a:prstGeom>
        </p:spPr>
        <p:txBody>
          <a:bodyPr wrap="none">
            <a:spAutoFit/>
          </a:bodyPr>
          <a:lstStyle/>
          <a:p>
            <a:r>
              <a:rPr lang="en-US" b="1" dirty="0">
                <a:solidFill>
                  <a:prstClr val="black"/>
                </a:solidFill>
              </a:rPr>
              <a:t>H</a:t>
            </a:r>
          </a:p>
        </p:txBody>
      </p:sp>
      <p:sp>
        <p:nvSpPr>
          <p:cNvPr id="92" name="Rectangle 91"/>
          <p:cNvSpPr/>
          <p:nvPr/>
        </p:nvSpPr>
        <p:spPr>
          <a:xfrm>
            <a:off x="2632725" y="3853127"/>
            <a:ext cx="316112" cy="369332"/>
          </a:xfrm>
          <a:prstGeom prst="rect">
            <a:avLst/>
          </a:prstGeom>
        </p:spPr>
        <p:txBody>
          <a:bodyPr wrap="none">
            <a:spAutoFit/>
          </a:bodyPr>
          <a:lstStyle/>
          <a:p>
            <a:r>
              <a:rPr lang="en-US" b="1" dirty="0">
                <a:solidFill>
                  <a:prstClr val="black"/>
                </a:solidFill>
              </a:rPr>
              <a:t>E</a:t>
            </a:r>
          </a:p>
        </p:txBody>
      </p:sp>
      <p:graphicFrame>
        <p:nvGraphicFramePr>
          <p:cNvPr id="5" name="Table 4"/>
          <p:cNvGraphicFramePr>
            <a:graphicFrameLocks noGrp="1"/>
          </p:cNvGraphicFramePr>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2353885934"/>
                    </a:ext>
                  </a:extLst>
                </a:gridCol>
              </a:tblGrid>
              <a:tr h="370840">
                <a:tc>
                  <a:txBody>
                    <a:bodyPr/>
                    <a:lstStyle/>
                    <a:p>
                      <a:pPr algn="ctr"/>
                      <a:r>
                        <a:rPr lang="en-US" b="1" dirty="0">
                          <a:solidFill>
                            <a:prstClr val="black"/>
                          </a:solidFill>
                          <a:latin typeface="+mn-lt"/>
                        </a:rPr>
                        <a:t>A</a:t>
                      </a:r>
                      <a:endParaRPr lang="en-US" dirty="0"/>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dirty="0"/>
                    </a:p>
                  </a:txBody>
                  <a:tcPr>
                    <a:solidFill>
                      <a:schemeClr val="accent6">
                        <a:lumMod val="60000"/>
                        <a:lumOff val="40000"/>
                      </a:schemeClr>
                    </a:solidFill>
                  </a:tcPr>
                </a:tc>
                <a:tc>
                  <a:txBody>
                    <a:bodyPr/>
                    <a:lstStyle/>
                    <a:p>
                      <a:endParaRPr lang="en-US" dirty="0"/>
                    </a:p>
                  </a:txBody>
                  <a:tcPr>
                    <a:solidFill>
                      <a:schemeClr val="accent6">
                        <a:lumMod val="60000"/>
                        <a:lumOff val="40000"/>
                      </a:schemeClr>
                    </a:solidFill>
                  </a:tcPr>
                </a:tc>
                <a:extLst>
                  <a:ext uri="{0D108BD9-81ED-4DB2-BD59-A6C34878D82A}">
                    <a16:rowId xmlns:a16="http://schemas.microsoft.com/office/drawing/2014/main" val="660647860"/>
                  </a:ext>
                </a:extLst>
              </a:tr>
            </a:tbl>
          </a:graphicData>
        </a:graphic>
      </p:graphicFrame>
      <p:sp>
        <p:nvSpPr>
          <p:cNvPr id="6" name="TextBox 5"/>
          <p:cNvSpPr txBox="1"/>
          <p:nvPr/>
        </p:nvSpPr>
        <p:spPr>
          <a:xfrm>
            <a:off x="965262" y="5554545"/>
            <a:ext cx="418704" cy="461665"/>
          </a:xfrm>
          <a:prstGeom prst="rect">
            <a:avLst/>
          </a:prstGeom>
          <a:noFill/>
        </p:spPr>
        <p:txBody>
          <a:bodyPr wrap="none" rtlCol="0">
            <a:spAutoFit/>
          </a:bodyPr>
          <a:lstStyle/>
          <a:p>
            <a:r>
              <a:rPr lang="en-US" sz="2400" b="1" dirty="0">
                <a:effectLst>
                  <a:outerShdw blurRad="38100" dist="38100" dir="2700000" algn="tl">
                    <a:srgbClr val="000000">
                      <a:alpha val="43137"/>
                    </a:srgbClr>
                  </a:outerShdw>
                </a:effectLst>
              </a:rPr>
              <a:t>Q</a:t>
            </a:r>
          </a:p>
        </p:txBody>
      </p:sp>
      <p:cxnSp>
        <p:nvCxnSpPr>
          <p:cNvPr id="39" name="Straight Connector 38"/>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41" name="Table 40">
            <a:extLst>
              <a:ext uri="{FF2B5EF4-FFF2-40B4-BE49-F238E27FC236}">
                <a16:creationId xmlns:a16="http://schemas.microsoft.com/office/drawing/2014/main" id="{D34C2DB1-E21F-4604-B9FF-7537439AAA03}"/>
              </a:ext>
            </a:extLst>
          </p:cNvPr>
          <p:cNvGraphicFramePr>
            <a:graphicFrameLocks noGrp="1"/>
          </p:cNvGraphicFramePr>
          <p:nvPr/>
        </p:nvGraphicFramePr>
        <p:xfrm>
          <a:off x="8658993" y="1862844"/>
          <a:ext cx="2132240" cy="4719320"/>
        </p:xfrm>
        <a:graphic>
          <a:graphicData uri="http://schemas.openxmlformats.org/drawingml/2006/table">
            <a:tbl>
              <a:tblPr firstRow="1" bandRow="1">
                <a:tableStyleId>{5C22544A-7EE6-4342-B048-85BDC9FD1C3A}</a:tableStyleId>
              </a:tblPr>
              <a:tblGrid>
                <a:gridCol w="847864">
                  <a:extLst>
                    <a:ext uri="{9D8B030D-6E8A-4147-A177-3AD203B41FA5}">
                      <a16:colId xmlns:a16="http://schemas.microsoft.com/office/drawing/2014/main" val="2989644895"/>
                    </a:ext>
                  </a:extLst>
                </a:gridCol>
                <a:gridCol w="1284376">
                  <a:extLst>
                    <a:ext uri="{9D8B030D-6E8A-4147-A177-3AD203B41FA5}">
                      <a16:colId xmlns:a16="http://schemas.microsoft.com/office/drawing/2014/main" val="4244960412"/>
                    </a:ext>
                  </a:extLst>
                </a:gridCol>
              </a:tblGrid>
              <a:tr h="370840">
                <a:tc>
                  <a:txBody>
                    <a:bodyPr/>
                    <a:lstStyle/>
                    <a:p>
                      <a:pPr algn="ctr"/>
                      <a:r>
                        <a:rPr lang="en-US" dirty="0"/>
                        <a:t>NODE</a:t>
                      </a:r>
                    </a:p>
                  </a:txBody>
                  <a:tcPr/>
                </a:tc>
                <a:tc>
                  <a:txBody>
                    <a:bodyPr/>
                    <a:lstStyle/>
                    <a:p>
                      <a:pPr algn="ctr"/>
                      <a:r>
                        <a:rPr lang="en-US" dirty="0"/>
                        <a:t>CHILDREN</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F,G</a:t>
                      </a:r>
                      <a:endParaRPr lang="en-US" b="1" dirty="0"/>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H,-</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-,I</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J,K</a:t>
                      </a:r>
                    </a:p>
                  </a:txBody>
                  <a:tcPr/>
                </a:tc>
                <a:extLst>
                  <a:ext uri="{0D108BD9-81ED-4DB2-BD59-A6C34878D82A}">
                    <a16:rowId xmlns:a16="http://schemas.microsoft.com/office/drawing/2014/main" val="1205733479"/>
                  </a:ext>
                </a:extLst>
              </a:tr>
              <a:tr h="370840">
                <a:tc>
                  <a:txBody>
                    <a:bodyPr/>
                    <a:lstStyle/>
                    <a:p>
                      <a:pPr algn="ctr"/>
                      <a:r>
                        <a:rPr lang="en-US" b="1" dirty="0"/>
                        <a: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987431379"/>
                  </a:ext>
                </a:extLst>
              </a:tr>
              <a:tr h="370840">
                <a:tc>
                  <a:txBody>
                    <a:bodyPr/>
                    <a:lstStyle/>
                    <a:p>
                      <a:pPr algn="ctr"/>
                      <a:r>
                        <a:rPr lang="en-US" b="1" dirty="0"/>
                        <a:t>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290039795"/>
                  </a:ext>
                </a:extLst>
              </a:tr>
              <a:tr h="370840">
                <a:tc>
                  <a:txBody>
                    <a:bodyPr/>
                    <a:lstStyle/>
                    <a:p>
                      <a:pPr algn="ctr"/>
                      <a:r>
                        <a:rPr lang="en-US" b="1" dirty="0"/>
                        <a:t>J</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873125107"/>
                  </a:ext>
                </a:extLst>
              </a:tr>
              <a:tr h="370840">
                <a:tc>
                  <a:txBody>
                    <a:bodyPr/>
                    <a:lstStyle/>
                    <a:p>
                      <a:pPr algn="ctr"/>
                      <a:r>
                        <a:rPr lang="en-US" b="1" dirty="0"/>
                        <a:t>K</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640632725"/>
                  </a:ext>
                </a:extLst>
              </a:tr>
            </a:tbl>
          </a:graphicData>
        </a:graphic>
      </p:graphicFrame>
    </p:spTree>
    <p:custDataLst>
      <p:tags r:id="rId1"/>
    </p:custDataLst>
    <p:extLst>
      <p:ext uri="{BB962C8B-B14F-4D97-AF65-F5344CB8AC3E}">
        <p14:creationId xmlns:p14="http://schemas.microsoft.com/office/powerpoint/2010/main" val="356806640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Straight Connector 45"/>
          <p:cNvCxnSpPr/>
          <p:nvPr/>
        </p:nvCxnSpPr>
        <p:spPr>
          <a:xfrm flipV="1">
            <a:off x="797123" y="4129201"/>
            <a:ext cx="542694" cy="82386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flipV="1">
            <a:off x="2838130" y="4019053"/>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ln>
            <a:noFill/>
          </a:ln>
        </p:spPr>
        <p:txBody>
          <a:bodyPr/>
          <a:lstStyle/>
          <a:p>
            <a:r>
              <a:rPr lang="en-US" dirty="0"/>
              <a:t>Breadth-First Search</a:t>
            </a:r>
          </a:p>
        </p:txBody>
      </p:sp>
      <p:sp>
        <p:nvSpPr>
          <p:cNvPr id="3" name="Slide Number Placeholder 2">
            <a:extLst>
              <a:ext uri="{FF2B5EF4-FFF2-40B4-BE49-F238E27FC236}">
                <a16:creationId xmlns:a16="http://schemas.microsoft.com/office/drawing/2014/main" id="{75BD4C0D-22E3-4DC0-AE70-10D43FBF2853}"/>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70/110</a:t>
            </a:r>
          </a:p>
        </p:txBody>
      </p:sp>
      <p:cxnSp>
        <p:nvCxnSpPr>
          <p:cNvPr id="8" name="Straight Connector 7"/>
          <p:cNvCxnSpPr/>
          <p:nvPr/>
        </p:nvCxnSpPr>
        <p:spPr>
          <a:xfrm flipH="1" flipV="1">
            <a:off x="4129859" y="1873873"/>
            <a:ext cx="1853477" cy="11790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2127196" y="2004369"/>
            <a:ext cx="1804150" cy="10422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3895286" y="176439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8" name="Straight Connector 17"/>
          <p:cNvCxnSpPr/>
          <p:nvPr/>
        </p:nvCxnSpPr>
        <p:spPr>
          <a:xfrm flipH="1" flipV="1">
            <a:off x="2191623" y="2983419"/>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406709" y="3052968"/>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1922122" y="2896761"/>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Oval 16"/>
          <p:cNvSpPr>
            <a:spLocks noChangeArrowheads="1"/>
          </p:cNvSpPr>
          <p:nvPr/>
        </p:nvSpPr>
        <p:spPr bwMode="auto">
          <a:xfrm>
            <a:off x="1225864" y="378497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5" name="Oval 16"/>
          <p:cNvSpPr>
            <a:spLocks noChangeArrowheads="1"/>
          </p:cNvSpPr>
          <p:nvPr/>
        </p:nvSpPr>
        <p:spPr bwMode="auto">
          <a:xfrm>
            <a:off x="2572943" y="382819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4" name="Oval 16"/>
          <p:cNvSpPr>
            <a:spLocks noChangeArrowheads="1"/>
          </p:cNvSpPr>
          <p:nvPr/>
        </p:nvSpPr>
        <p:spPr bwMode="auto">
          <a:xfrm>
            <a:off x="3251450" y="480945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6" name="Oval 16"/>
          <p:cNvSpPr>
            <a:spLocks noChangeArrowheads="1"/>
          </p:cNvSpPr>
          <p:nvPr/>
        </p:nvSpPr>
        <p:spPr bwMode="auto">
          <a:xfrm>
            <a:off x="577751" y="4810837"/>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61" name="Straight Connector 60"/>
          <p:cNvCxnSpPr/>
          <p:nvPr/>
        </p:nvCxnSpPr>
        <p:spPr>
          <a:xfrm flipH="1" flipV="1">
            <a:off x="6681579" y="4037641"/>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6068720" y="4104906"/>
            <a:ext cx="457312" cy="8114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flipV="1">
            <a:off x="6035072" y="3002007"/>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5250158" y="3071556"/>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Oval 16"/>
          <p:cNvSpPr>
            <a:spLocks noChangeArrowheads="1"/>
          </p:cNvSpPr>
          <p:nvPr/>
        </p:nvSpPr>
        <p:spPr bwMode="auto">
          <a:xfrm>
            <a:off x="5765571" y="29153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6" name="Oval 16"/>
          <p:cNvSpPr>
            <a:spLocks noChangeArrowheads="1"/>
          </p:cNvSpPr>
          <p:nvPr/>
        </p:nvSpPr>
        <p:spPr bwMode="auto">
          <a:xfrm>
            <a:off x="5069313" y="380356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7" name="Oval 16"/>
          <p:cNvSpPr>
            <a:spLocks noChangeArrowheads="1"/>
          </p:cNvSpPr>
          <p:nvPr/>
        </p:nvSpPr>
        <p:spPr bwMode="auto">
          <a:xfrm>
            <a:off x="6416392" y="384678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8" name="Oval 16"/>
          <p:cNvSpPr>
            <a:spLocks noChangeArrowheads="1"/>
          </p:cNvSpPr>
          <p:nvPr/>
        </p:nvSpPr>
        <p:spPr bwMode="auto">
          <a:xfrm>
            <a:off x="5870482" y="482942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9" name="Oval 16"/>
          <p:cNvSpPr>
            <a:spLocks noChangeArrowheads="1"/>
          </p:cNvSpPr>
          <p:nvPr/>
        </p:nvSpPr>
        <p:spPr bwMode="auto">
          <a:xfrm>
            <a:off x="7094899" y="482803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76" name="TextBox 75"/>
          <p:cNvSpPr txBox="1"/>
          <p:nvPr/>
        </p:nvSpPr>
        <p:spPr>
          <a:xfrm>
            <a:off x="3944575" y="1786250"/>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82" name="TextBox 81"/>
          <p:cNvSpPr txBox="1"/>
          <p:nvPr/>
        </p:nvSpPr>
        <p:spPr>
          <a:xfrm>
            <a:off x="1967407" y="2929860"/>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83" name="TextBox 82"/>
          <p:cNvSpPr txBox="1"/>
          <p:nvPr/>
        </p:nvSpPr>
        <p:spPr>
          <a:xfrm>
            <a:off x="5833156" y="2937297"/>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84" name="Rectangle 83"/>
          <p:cNvSpPr/>
          <p:nvPr/>
        </p:nvSpPr>
        <p:spPr>
          <a:xfrm>
            <a:off x="1273931" y="3822650"/>
            <a:ext cx="343364" cy="369332"/>
          </a:xfrm>
          <a:prstGeom prst="rect">
            <a:avLst/>
          </a:prstGeom>
        </p:spPr>
        <p:txBody>
          <a:bodyPr wrap="none">
            <a:spAutoFit/>
          </a:bodyPr>
          <a:lstStyle/>
          <a:p>
            <a:r>
              <a:rPr lang="en-US" b="1" dirty="0">
                <a:solidFill>
                  <a:prstClr val="black"/>
                </a:solidFill>
              </a:rPr>
              <a:t>D</a:t>
            </a:r>
          </a:p>
        </p:txBody>
      </p:sp>
      <p:sp>
        <p:nvSpPr>
          <p:cNvPr id="85" name="Rectangle 84"/>
          <p:cNvSpPr/>
          <p:nvPr/>
        </p:nvSpPr>
        <p:spPr>
          <a:xfrm>
            <a:off x="5116299" y="3846782"/>
            <a:ext cx="304892" cy="369332"/>
          </a:xfrm>
          <a:prstGeom prst="rect">
            <a:avLst/>
          </a:prstGeom>
        </p:spPr>
        <p:txBody>
          <a:bodyPr wrap="none">
            <a:spAutoFit/>
          </a:bodyPr>
          <a:lstStyle/>
          <a:p>
            <a:r>
              <a:rPr lang="en-US" b="1" dirty="0">
                <a:solidFill>
                  <a:prstClr val="black"/>
                </a:solidFill>
              </a:rPr>
              <a:t>F</a:t>
            </a:r>
          </a:p>
        </p:txBody>
      </p:sp>
      <p:sp>
        <p:nvSpPr>
          <p:cNvPr id="86" name="Rectangle 85"/>
          <p:cNvSpPr/>
          <p:nvPr/>
        </p:nvSpPr>
        <p:spPr>
          <a:xfrm>
            <a:off x="6467363" y="3861983"/>
            <a:ext cx="340158" cy="369332"/>
          </a:xfrm>
          <a:prstGeom prst="rect">
            <a:avLst/>
          </a:prstGeom>
        </p:spPr>
        <p:txBody>
          <a:bodyPr wrap="none">
            <a:spAutoFit/>
          </a:bodyPr>
          <a:lstStyle/>
          <a:p>
            <a:r>
              <a:rPr lang="en-US" b="1" dirty="0">
                <a:solidFill>
                  <a:prstClr val="black"/>
                </a:solidFill>
              </a:rPr>
              <a:t>G</a:t>
            </a:r>
          </a:p>
        </p:txBody>
      </p:sp>
      <p:sp>
        <p:nvSpPr>
          <p:cNvPr id="87" name="Rectangle 86"/>
          <p:cNvSpPr/>
          <p:nvPr/>
        </p:nvSpPr>
        <p:spPr>
          <a:xfrm>
            <a:off x="5923779" y="4883500"/>
            <a:ext cx="277640" cy="369332"/>
          </a:xfrm>
          <a:prstGeom prst="rect">
            <a:avLst/>
          </a:prstGeom>
        </p:spPr>
        <p:txBody>
          <a:bodyPr wrap="none">
            <a:spAutoFit/>
          </a:bodyPr>
          <a:lstStyle/>
          <a:p>
            <a:r>
              <a:rPr lang="en-US" b="1" dirty="0">
                <a:solidFill>
                  <a:prstClr val="black"/>
                </a:solidFill>
              </a:rPr>
              <a:t>J</a:t>
            </a:r>
          </a:p>
        </p:txBody>
      </p:sp>
      <p:sp>
        <p:nvSpPr>
          <p:cNvPr id="88" name="Rectangle 87"/>
          <p:cNvSpPr/>
          <p:nvPr/>
        </p:nvSpPr>
        <p:spPr>
          <a:xfrm>
            <a:off x="7146697" y="4879786"/>
            <a:ext cx="330540" cy="369332"/>
          </a:xfrm>
          <a:prstGeom prst="rect">
            <a:avLst/>
          </a:prstGeom>
        </p:spPr>
        <p:txBody>
          <a:bodyPr wrap="none">
            <a:spAutoFit/>
          </a:bodyPr>
          <a:lstStyle/>
          <a:p>
            <a:r>
              <a:rPr lang="en-US" b="1" dirty="0">
                <a:solidFill>
                  <a:prstClr val="black"/>
                </a:solidFill>
              </a:rPr>
              <a:t>K</a:t>
            </a:r>
          </a:p>
        </p:txBody>
      </p:sp>
      <p:sp>
        <p:nvSpPr>
          <p:cNvPr id="89" name="Rectangle 88"/>
          <p:cNvSpPr/>
          <p:nvPr/>
        </p:nvSpPr>
        <p:spPr>
          <a:xfrm>
            <a:off x="3294991" y="4859128"/>
            <a:ext cx="248786" cy="369332"/>
          </a:xfrm>
          <a:prstGeom prst="rect">
            <a:avLst/>
          </a:prstGeom>
        </p:spPr>
        <p:txBody>
          <a:bodyPr wrap="none">
            <a:spAutoFit/>
          </a:bodyPr>
          <a:lstStyle/>
          <a:p>
            <a:r>
              <a:rPr lang="en-US" b="1" dirty="0">
                <a:solidFill>
                  <a:prstClr val="black"/>
                </a:solidFill>
              </a:rPr>
              <a:t>I</a:t>
            </a:r>
          </a:p>
        </p:txBody>
      </p:sp>
      <p:sp>
        <p:nvSpPr>
          <p:cNvPr id="91" name="Rectangle 90"/>
          <p:cNvSpPr/>
          <p:nvPr/>
        </p:nvSpPr>
        <p:spPr>
          <a:xfrm>
            <a:off x="641576" y="4852097"/>
            <a:ext cx="346570" cy="369332"/>
          </a:xfrm>
          <a:prstGeom prst="rect">
            <a:avLst/>
          </a:prstGeom>
        </p:spPr>
        <p:txBody>
          <a:bodyPr wrap="none">
            <a:spAutoFit/>
          </a:bodyPr>
          <a:lstStyle/>
          <a:p>
            <a:r>
              <a:rPr lang="en-US" b="1" dirty="0">
                <a:solidFill>
                  <a:prstClr val="black"/>
                </a:solidFill>
              </a:rPr>
              <a:t>H</a:t>
            </a:r>
          </a:p>
        </p:txBody>
      </p:sp>
      <p:sp>
        <p:nvSpPr>
          <p:cNvPr id="92" name="Rectangle 91"/>
          <p:cNvSpPr/>
          <p:nvPr/>
        </p:nvSpPr>
        <p:spPr>
          <a:xfrm>
            <a:off x="2632725" y="3853127"/>
            <a:ext cx="316112" cy="369332"/>
          </a:xfrm>
          <a:prstGeom prst="rect">
            <a:avLst/>
          </a:prstGeom>
        </p:spPr>
        <p:txBody>
          <a:bodyPr wrap="none">
            <a:spAutoFit/>
          </a:bodyPr>
          <a:lstStyle/>
          <a:p>
            <a:r>
              <a:rPr lang="en-US" b="1" dirty="0">
                <a:solidFill>
                  <a:prstClr val="black"/>
                </a:solidFill>
              </a:rPr>
              <a:t>E</a:t>
            </a:r>
          </a:p>
        </p:txBody>
      </p:sp>
      <p:graphicFrame>
        <p:nvGraphicFramePr>
          <p:cNvPr id="5" name="Table 4"/>
          <p:cNvGraphicFramePr>
            <a:graphicFrameLocks noGrp="1"/>
          </p:cNvGraphicFramePr>
          <p:nvPr>
            <p:extLst>
              <p:ext uri="{D42A27DB-BD31-4B8C-83A1-F6EECF244321}">
                <p14:modId xmlns:p14="http://schemas.microsoft.com/office/powerpoint/2010/main" val="2470624338"/>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2353885934"/>
                    </a:ext>
                  </a:extLst>
                </a:gridCol>
              </a:tblGrid>
              <a:tr h="370840">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r>
                        <a:rPr lang="en-US" dirty="0">
                          <a:solidFill>
                            <a:schemeClr val="tx1"/>
                          </a:solidFill>
                        </a:rPr>
                        <a:t>B</a:t>
                      </a:r>
                    </a:p>
                  </a:txBody>
                  <a:tcPr>
                    <a:solidFill>
                      <a:schemeClr val="accent6">
                        <a:lumMod val="60000"/>
                        <a:lumOff val="40000"/>
                      </a:schemeClr>
                    </a:solidFill>
                  </a:tcPr>
                </a:tc>
                <a:tc>
                  <a:txBody>
                    <a:bodyPr/>
                    <a:lstStyle/>
                    <a:p>
                      <a:pPr algn="ctr"/>
                      <a:r>
                        <a:rPr lang="en-US" dirty="0">
                          <a:solidFill>
                            <a:schemeClr val="tx1"/>
                          </a:solidFill>
                        </a:rPr>
                        <a:t>C</a:t>
                      </a:r>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dirty="0"/>
                    </a:p>
                  </a:txBody>
                  <a:tcPr>
                    <a:solidFill>
                      <a:schemeClr val="accent6">
                        <a:lumMod val="60000"/>
                        <a:lumOff val="40000"/>
                      </a:schemeClr>
                    </a:solidFill>
                  </a:tcPr>
                </a:tc>
                <a:tc>
                  <a:txBody>
                    <a:bodyPr/>
                    <a:lstStyle/>
                    <a:p>
                      <a:endParaRPr lang="en-US" dirty="0"/>
                    </a:p>
                  </a:txBody>
                  <a:tcPr>
                    <a:solidFill>
                      <a:schemeClr val="accent6">
                        <a:lumMod val="60000"/>
                        <a:lumOff val="40000"/>
                      </a:schemeClr>
                    </a:solidFill>
                  </a:tcPr>
                </a:tc>
                <a:extLst>
                  <a:ext uri="{0D108BD9-81ED-4DB2-BD59-A6C34878D82A}">
                    <a16:rowId xmlns:a16="http://schemas.microsoft.com/office/drawing/2014/main" val="660647860"/>
                  </a:ext>
                </a:extLst>
              </a:tr>
            </a:tbl>
          </a:graphicData>
        </a:graphic>
      </p:graphicFrame>
      <p:sp>
        <p:nvSpPr>
          <p:cNvPr id="6" name="TextBox 5"/>
          <p:cNvSpPr txBox="1"/>
          <p:nvPr/>
        </p:nvSpPr>
        <p:spPr>
          <a:xfrm>
            <a:off x="965262" y="5554545"/>
            <a:ext cx="418704" cy="461665"/>
          </a:xfrm>
          <a:prstGeom prst="rect">
            <a:avLst/>
          </a:prstGeom>
          <a:noFill/>
        </p:spPr>
        <p:txBody>
          <a:bodyPr wrap="none" rtlCol="0">
            <a:spAutoFit/>
          </a:bodyPr>
          <a:lstStyle/>
          <a:p>
            <a:r>
              <a:rPr lang="en-US" sz="2400" b="1" dirty="0">
                <a:effectLst>
                  <a:outerShdw blurRad="38100" dist="38100" dir="2700000" algn="tl">
                    <a:srgbClr val="000000">
                      <a:alpha val="43137"/>
                    </a:srgbClr>
                  </a:outerShdw>
                </a:effectLst>
              </a:rPr>
              <a:t>Q</a:t>
            </a:r>
          </a:p>
        </p:txBody>
      </p:sp>
      <p:cxnSp>
        <p:nvCxnSpPr>
          <p:cNvPr id="39" name="Straight Connector 38"/>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41" name="Table 40"/>
          <p:cNvGraphicFramePr>
            <a:graphicFrameLocks noGrp="1"/>
          </p:cNvGraphicFramePr>
          <p:nvPr/>
        </p:nvGraphicFramePr>
        <p:xfrm>
          <a:off x="1437550" y="6028129"/>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graphicFrame>
        <p:nvGraphicFramePr>
          <p:cNvPr id="42" name="Table 41">
            <a:extLst>
              <a:ext uri="{FF2B5EF4-FFF2-40B4-BE49-F238E27FC236}">
                <a16:creationId xmlns:a16="http://schemas.microsoft.com/office/drawing/2014/main" id="{680F8345-0B59-4EB9-B4CF-F06E733D6370}"/>
              </a:ext>
            </a:extLst>
          </p:cNvPr>
          <p:cNvGraphicFramePr>
            <a:graphicFrameLocks noGrp="1"/>
          </p:cNvGraphicFramePr>
          <p:nvPr/>
        </p:nvGraphicFramePr>
        <p:xfrm>
          <a:off x="8658993" y="1862844"/>
          <a:ext cx="2132240" cy="4719320"/>
        </p:xfrm>
        <a:graphic>
          <a:graphicData uri="http://schemas.openxmlformats.org/drawingml/2006/table">
            <a:tbl>
              <a:tblPr firstRow="1" bandRow="1">
                <a:tableStyleId>{5C22544A-7EE6-4342-B048-85BDC9FD1C3A}</a:tableStyleId>
              </a:tblPr>
              <a:tblGrid>
                <a:gridCol w="847864">
                  <a:extLst>
                    <a:ext uri="{9D8B030D-6E8A-4147-A177-3AD203B41FA5}">
                      <a16:colId xmlns:a16="http://schemas.microsoft.com/office/drawing/2014/main" val="2989644895"/>
                    </a:ext>
                  </a:extLst>
                </a:gridCol>
                <a:gridCol w="1284376">
                  <a:extLst>
                    <a:ext uri="{9D8B030D-6E8A-4147-A177-3AD203B41FA5}">
                      <a16:colId xmlns:a16="http://schemas.microsoft.com/office/drawing/2014/main" val="4244960412"/>
                    </a:ext>
                  </a:extLst>
                </a:gridCol>
              </a:tblGrid>
              <a:tr h="370840">
                <a:tc>
                  <a:txBody>
                    <a:bodyPr/>
                    <a:lstStyle/>
                    <a:p>
                      <a:pPr algn="ctr"/>
                      <a:r>
                        <a:rPr lang="en-US" dirty="0"/>
                        <a:t>NODE</a:t>
                      </a:r>
                    </a:p>
                  </a:txBody>
                  <a:tcPr/>
                </a:tc>
                <a:tc>
                  <a:txBody>
                    <a:bodyPr/>
                    <a:lstStyle/>
                    <a:p>
                      <a:pPr algn="ctr"/>
                      <a:r>
                        <a:rPr lang="en-US" dirty="0"/>
                        <a:t>CHILDREN</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F,G</a:t>
                      </a:r>
                      <a:endParaRPr lang="en-US" b="1" dirty="0"/>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H,-</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-,I</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J,K</a:t>
                      </a:r>
                    </a:p>
                  </a:txBody>
                  <a:tcPr/>
                </a:tc>
                <a:extLst>
                  <a:ext uri="{0D108BD9-81ED-4DB2-BD59-A6C34878D82A}">
                    <a16:rowId xmlns:a16="http://schemas.microsoft.com/office/drawing/2014/main" val="1205733479"/>
                  </a:ext>
                </a:extLst>
              </a:tr>
              <a:tr h="370840">
                <a:tc>
                  <a:txBody>
                    <a:bodyPr/>
                    <a:lstStyle/>
                    <a:p>
                      <a:pPr algn="ctr"/>
                      <a:r>
                        <a:rPr lang="en-US" b="1" dirty="0"/>
                        <a: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987431379"/>
                  </a:ext>
                </a:extLst>
              </a:tr>
              <a:tr h="370840">
                <a:tc>
                  <a:txBody>
                    <a:bodyPr/>
                    <a:lstStyle/>
                    <a:p>
                      <a:pPr algn="ctr"/>
                      <a:r>
                        <a:rPr lang="en-US" b="1" dirty="0"/>
                        <a:t>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290039795"/>
                  </a:ext>
                </a:extLst>
              </a:tr>
              <a:tr h="370840">
                <a:tc>
                  <a:txBody>
                    <a:bodyPr/>
                    <a:lstStyle/>
                    <a:p>
                      <a:pPr algn="ctr"/>
                      <a:r>
                        <a:rPr lang="en-US" b="1" dirty="0"/>
                        <a:t>J</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873125107"/>
                  </a:ext>
                </a:extLst>
              </a:tr>
              <a:tr h="370840">
                <a:tc>
                  <a:txBody>
                    <a:bodyPr/>
                    <a:lstStyle/>
                    <a:p>
                      <a:pPr algn="ctr"/>
                      <a:r>
                        <a:rPr lang="en-US" b="1" dirty="0"/>
                        <a:t>K</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640632725"/>
                  </a:ext>
                </a:extLst>
              </a:tr>
            </a:tbl>
          </a:graphicData>
        </a:graphic>
      </p:graphicFrame>
      <p:grpSp>
        <p:nvGrpSpPr>
          <p:cNvPr id="43" name="Group 42">
            <a:extLst>
              <a:ext uri="{FF2B5EF4-FFF2-40B4-BE49-F238E27FC236}">
                <a16:creationId xmlns:a16="http://schemas.microsoft.com/office/drawing/2014/main" id="{D8E80BF6-328C-44B1-9067-2ADCE53635E9}"/>
              </a:ext>
            </a:extLst>
          </p:cNvPr>
          <p:cNvGrpSpPr/>
          <p:nvPr/>
        </p:nvGrpSpPr>
        <p:grpSpPr>
          <a:xfrm>
            <a:off x="1437550" y="5599958"/>
            <a:ext cx="511370" cy="356179"/>
            <a:chOff x="1437550" y="5599958"/>
            <a:chExt cx="511370" cy="356179"/>
          </a:xfrm>
        </p:grpSpPr>
        <p:cxnSp>
          <p:nvCxnSpPr>
            <p:cNvPr id="44" name="Straight Connector 43">
              <a:extLst>
                <a:ext uri="{FF2B5EF4-FFF2-40B4-BE49-F238E27FC236}">
                  <a16:creationId xmlns:a16="http://schemas.microsoft.com/office/drawing/2014/main" id="{BDCB6887-54AB-4F0D-98E0-9A7ABFDC2636}"/>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30C35A56-7C4E-4C3C-A0D5-95A1D9D6C8A3}"/>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291280805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Straight Connector 45"/>
          <p:cNvCxnSpPr/>
          <p:nvPr/>
        </p:nvCxnSpPr>
        <p:spPr>
          <a:xfrm flipV="1">
            <a:off x="797123" y="4129201"/>
            <a:ext cx="542694" cy="82386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flipV="1">
            <a:off x="2838130" y="4019053"/>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ln>
            <a:noFill/>
          </a:ln>
        </p:spPr>
        <p:txBody>
          <a:bodyPr/>
          <a:lstStyle/>
          <a:p>
            <a:r>
              <a:rPr lang="en-US" dirty="0"/>
              <a:t>Breadth-First Search</a:t>
            </a:r>
          </a:p>
        </p:txBody>
      </p:sp>
      <p:sp>
        <p:nvSpPr>
          <p:cNvPr id="3" name="Slide Number Placeholder 2">
            <a:extLst>
              <a:ext uri="{FF2B5EF4-FFF2-40B4-BE49-F238E27FC236}">
                <a16:creationId xmlns:a16="http://schemas.microsoft.com/office/drawing/2014/main" id="{B80F375D-3026-4C9E-92D1-6D61EF71EA07}"/>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71/110</a:t>
            </a:r>
          </a:p>
        </p:txBody>
      </p:sp>
      <p:cxnSp>
        <p:nvCxnSpPr>
          <p:cNvPr id="8" name="Straight Connector 7"/>
          <p:cNvCxnSpPr/>
          <p:nvPr/>
        </p:nvCxnSpPr>
        <p:spPr>
          <a:xfrm flipH="1" flipV="1">
            <a:off x="4129859" y="1873873"/>
            <a:ext cx="1853477" cy="11790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2127196" y="2004369"/>
            <a:ext cx="1804150" cy="10422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3895286" y="176439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8" name="Straight Connector 17"/>
          <p:cNvCxnSpPr/>
          <p:nvPr/>
        </p:nvCxnSpPr>
        <p:spPr>
          <a:xfrm flipH="1" flipV="1">
            <a:off x="2191623" y="2983419"/>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406709" y="3052968"/>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1922122" y="2896761"/>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Oval 16"/>
          <p:cNvSpPr>
            <a:spLocks noChangeArrowheads="1"/>
          </p:cNvSpPr>
          <p:nvPr/>
        </p:nvSpPr>
        <p:spPr bwMode="auto">
          <a:xfrm>
            <a:off x="1225864" y="378497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5" name="Oval 16"/>
          <p:cNvSpPr>
            <a:spLocks noChangeArrowheads="1"/>
          </p:cNvSpPr>
          <p:nvPr/>
        </p:nvSpPr>
        <p:spPr bwMode="auto">
          <a:xfrm>
            <a:off x="2572943" y="382819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4" name="Oval 16"/>
          <p:cNvSpPr>
            <a:spLocks noChangeArrowheads="1"/>
          </p:cNvSpPr>
          <p:nvPr/>
        </p:nvSpPr>
        <p:spPr bwMode="auto">
          <a:xfrm>
            <a:off x="3251450" y="480945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6" name="Oval 16"/>
          <p:cNvSpPr>
            <a:spLocks noChangeArrowheads="1"/>
          </p:cNvSpPr>
          <p:nvPr/>
        </p:nvSpPr>
        <p:spPr bwMode="auto">
          <a:xfrm>
            <a:off x="577751" y="4810837"/>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61" name="Straight Connector 60"/>
          <p:cNvCxnSpPr/>
          <p:nvPr/>
        </p:nvCxnSpPr>
        <p:spPr>
          <a:xfrm flipH="1" flipV="1">
            <a:off x="6681579" y="4037641"/>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6068720" y="4104906"/>
            <a:ext cx="457312" cy="8114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flipV="1">
            <a:off x="6035072" y="3002007"/>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5250158" y="3071556"/>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Oval 16"/>
          <p:cNvSpPr>
            <a:spLocks noChangeArrowheads="1"/>
          </p:cNvSpPr>
          <p:nvPr/>
        </p:nvSpPr>
        <p:spPr bwMode="auto">
          <a:xfrm>
            <a:off x="5765571" y="29153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6" name="Oval 16"/>
          <p:cNvSpPr>
            <a:spLocks noChangeArrowheads="1"/>
          </p:cNvSpPr>
          <p:nvPr/>
        </p:nvSpPr>
        <p:spPr bwMode="auto">
          <a:xfrm>
            <a:off x="5069313" y="380356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7" name="Oval 16"/>
          <p:cNvSpPr>
            <a:spLocks noChangeArrowheads="1"/>
          </p:cNvSpPr>
          <p:nvPr/>
        </p:nvSpPr>
        <p:spPr bwMode="auto">
          <a:xfrm>
            <a:off x="6416392" y="384678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8" name="Oval 16"/>
          <p:cNvSpPr>
            <a:spLocks noChangeArrowheads="1"/>
          </p:cNvSpPr>
          <p:nvPr/>
        </p:nvSpPr>
        <p:spPr bwMode="auto">
          <a:xfrm>
            <a:off x="5870482" y="482942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9" name="Oval 16"/>
          <p:cNvSpPr>
            <a:spLocks noChangeArrowheads="1"/>
          </p:cNvSpPr>
          <p:nvPr/>
        </p:nvSpPr>
        <p:spPr bwMode="auto">
          <a:xfrm>
            <a:off x="7094899" y="482803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76" name="TextBox 75"/>
          <p:cNvSpPr txBox="1"/>
          <p:nvPr/>
        </p:nvSpPr>
        <p:spPr>
          <a:xfrm>
            <a:off x="3944575" y="1786250"/>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82" name="TextBox 81"/>
          <p:cNvSpPr txBox="1"/>
          <p:nvPr/>
        </p:nvSpPr>
        <p:spPr>
          <a:xfrm>
            <a:off x="1967407" y="2929860"/>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83" name="TextBox 82"/>
          <p:cNvSpPr txBox="1"/>
          <p:nvPr/>
        </p:nvSpPr>
        <p:spPr>
          <a:xfrm>
            <a:off x="5833156" y="2937297"/>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84" name="Rectangle 83"/>
          <p:cNvSpPr/>
          <p:nvPr/>
        </p:nvSpPr>
        <p:spPr>
          <a:xfrm>
            <a:off x="1273931" y="3822650"/>
            <a:ext cx="343364" cy="369332"/>
          </a:xfrm>
          <a:prstGeom prst="rect">
            <a:avLst/>
          </a:prstGeom>
        </p:spPr>
        <p:txBody>
          <a:bodyPr wrap="none">
            <a:spAutoFit/>
          </a:bodyPr>
          <a:lstStyle/>
          <a:p>
            <a:r>
              <a:rPr lang="en-US" b="1" dirty="0">
                <a:solidFill>
                  <a:prstClr val="black"/>
                </a:solidFill>
              </a:rPr>
              <a:t>D</a:t>
            </a:r>
          </a:p>
        </p:txBody>
      </p:sp>
      <p:sp>
        <p:nvSpPr>
          <p:cNvPr id="85" name="Rectangle 84"/>
          <p:cNvSpPr/>
          <p:nvPr/>
        </p:nvSpPr>
        <p:spPr>
          <a:xfrm>
            <a:off x="5116299" y="3846782"/>
            <a:ext cx="304892" cy="369332"/>
          </a:xfrm>
          <a:prstGeom prst="rect">
            <a:avLst/>
          </a:prstGeom>
        </p:spPr>
        <p:txBody>
          <a:bodyPr wrap="none">
            <a:spAutoFit/>
          </a:bodyPr>
          <a:lstStyle/>
          <a:p>
            <a:r>
              <a:rPr lang="en-US" b="1" dirty="0">
                <a:solidFill>
                  <a:prstClr val="black"/>
                </a:solidFill>
              </a:rPr>
              <a:t>F</a:t>
            </a:r>
          </a:p>
        </p:txBody>
      </p:sp>
      <p:sp>
        <p:nvSpPr>
          <p:cNvPr id="86" name="Rectangle 85"/>
          <p:cNvSpPr/>
          <p:nvPr/>
        </p:nvSpPr>
        <p:spPr>
          <a:xfrm>
            <a:off x="6467363" y="3861983"/>
            <a:ext cx="340158" cy="369332"/>
          </a:xfrm>
          <a:prstGeom prst="rect">
            <a:avLst/>
          </a:prstGeom>
        </p:spPr>
        <p:txBody>
          <a:bodyPr wrap="none">
            <a:spAutoFit/>
          </a:bodyPr>
          <a:lstStyle/>
          <a:p>
            <a:r>
              <a:rPr lang="en-US" b="1" dirty="0">
                <a:solidFill>
                  <a:prstClr val="black"/>
                </a:solidFill>
              </a:rPr>
              <a:t>G</a:t>
            </a:r>
          </a:p>
        </p:txBody>
      </p:sp>
      <p:sp>
        <p:nvSpPr>
          <p:cNvPr id="87" name="Rectangle 86"/>
          <p:cNvSpPr/>
          <p:nvPr/>
        </p:nvSpPr>
        <p:spPr>
          <a:xfrm>
            <a:off x="5923779" y="4883500"/>
            <a:ext cx="277640" cy="369332"/>
          </a:xfrm>
          <a:prstGeom prst="rect">
            <a:avLst/>
          </a:prstGeom>
        </p:spPr>
        <p:txBody>
          <a:bodyPr wrap="none">
            <a:spAutoFit/>
          </a:bodyPr>
          <a:lstStyle/>
          <a:p>
            <a:r>
              <a:rPr lang="en-US" b="1" dirty="0">
                <a:solidFill>
                  <a:prstClr val="black"/>
                </a:solidFill>
              </a:rPr>
              <a:t>J</a:t>
            </a:r>
          </a:p>
        </p:txBody>
      </p:sp>
      <p:sp>
        <p:nvSpPr>
          <p:cNvPr id="88" name="Rectangle 87"/>
          <p:cNvSpPr/>
          <p:nvPr/>
        </p:nvSpPr>
        <p:spPr>
          <a:xfrm>
            <a:off x="7146697" y="4879786"/>
            <a:ext cx="330540" cy="369332"/>
          </a:xfrm>
          <a:prstGeom prst="rect">
            <a:avLst/>
          </a:prstGeom>
        </p:spPr>
        <p:txBody>
          <a:bodyPr wrap="none">
            <a:spAutoFit/>
          </a:bodyPr>
          <a:lstStyle/>
          <a:p>
            <a:r>
              <a:rPr lang="en-US" b="1" dirty="0">
                <a:solidFill>
                  <a:prstClr val="black"/>
                </a:solidFill>
              </a:rPr>
              <a:t>K</a:t>
            </a:r>
          </a:p>
        </p:txBody>
      </p:sp>
      <p:sp>
        <p:nvSpPr>
          <p:cNvPr id="89" name="Rectangle 88"/>
          <p:cNvSpPr/>
          <p:nvPr/>
        </p:nvSpPr>
        <p:spPr>
          <a:xfrm>
            <a:off x="3294991" y="4859128"/>
            <a:ext cx="248786" cy="369332"/>
          </a:xfrm>
          <a:prstGeom prst="rect">
            <a:avLst/>
          </a:prstGeom>
        </p:spPr>
        <p:txBody>
          <a:bodyPr wrap="none">
            <a:spAutoFit/>
          </a:bodyPr>
          <a:lstStyle/>
          <a:p>
            <a:r>
              <a:rPr lang="en-US" b="1" dirty="0">
                <a:solidFill>
                  <a:prstClr val="black"/>
                </a:solidFill>
              </a:rPr>
              <a:t>I</a:t>
            </a:r>
          </a:p>
        </p:txBody>
      </p:sp>
      <p:sp>
        <p:nvSpPr>
          <p:cNvPr id="91" name="Rectangle 90"/>
          <p:cNvSpPr/>
          <p:nvPr/>
        </p:nvSpPr>
        <p:spPr>
          <a:xfrm>
            <a:off x="641576" y="4852097"/>
            <a:ext cx="346570" cy="369332"/>
          </a:xfrm>
          <a:prstGeom prst="rect">
            <a:avLst/>
          </a:prstGeom>
        </p:spPr>
        <p:txBody>
          <a:bodyPr wrap="none">
            <a:spAutoFit/>
          </a:bodyPr>
          <a:lstStyle/>
          <a:p>
            <a:r>
              <a:rPr lang="en-US" b="1" dirty="0">
                <a:solidFill>
                  <a:prstClr val="black"/>
                </a:solidFill>
              </a:rPr>
              <a:t>H</a:t>
            </a:r>
          </a:p>
        </p:txBody>
      </p:sp>
      <p:sp>
        <p:nvSpPr>
          <p:cNvPr id="92" name="Rectangle 91"/>
          <p:cNvSpPr/>
          <p:nvPr/>
        </p:nvSpPr>
        <p:spPr>
          <a:xfrm>
            <a:off x="2632725" y="3853127"/>
            <a:ext cx="316112" cy="369332"/>
          </a:xfrm>
          <a:prstGeom prst="rect">
            <a:avLst/>
          </a:prstGeom>
        </p:spPr>
        <p:txBody>
          <a:bodyPr wrap="none">
            <a:spAutoFit/>
          </a:bodyPr>
          <a:lstStyle/>
          <a:p>
            <a:r>
              <a:rPr lang="en-US" b="1" dirty="0">
                <a:solidFill>
                  <a:prstClr val="black"/>
                </a:solidFill>
              </a:rPr>
              <a:t>E</a:t>
            </a:r>
          </a:p>
        </p:txBody>
      </p:sp>
      <p:graphicFrame>
        <p:nvGraphicFramePr>
          <p:cNvPr id="5" name="Table 4"/>
          <p:cNvGraphicFramePr>
            <a:graphicFrameLocks noGrp="1"/>
          </p:cNvGraphicFramePr>
          <p:nvPr>
            <p:extLst>
              <p:ext uri="{D42A27DB-BD31-4B8C-83A1-F6EECF244321}">
                <p14:modId xmlns:p14="http://schemas.microsoft.com/office/powerpoint/2010/main" val="1589542206"/>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2353885934"/>
                    </a:ext>
                  </a:extLst>
                </a:gridCol>
              </a:tblGrid>
              <a:tr h="370840">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r>
                        <a:rPr lang="en-US" dirty="0">
                          <a:solidFill>
                            <a:schemeClr val="tx1"/>
                          </a:solidFill>
                        </a:rPr>
                        <a:t>C</a:t>
                      </a:r>
                    </a:p>
                  </a:txBody>
                  <a:tcPr>
                    <a:solidFill>
                      <a:schemeClr val="accent6">
                        <a:lumMod val="60000"/>
                        <a:lumOff val="40000"/>
                      </a:schemeClr>
                    </a:solidFill>
                  </a:tcPr>
                </a:tc>
                <a:tc>
                  <a:txBody>
                    <a:bodyPr/>
                    <a:lstStyle/>
                    <a:p>
                      <a:pPr algn="ctr"/>
                      <a:r>
                        <a:rPr lang="en-US" dirty="0">
                          <a:solidFill>
                            <a:schemeClr val="tx1"/>
                          </a:solidFill>
                        </a:rPr>
                        <a:t>D</a:t>
                      </a:r>
                    </a:p>
                  </a:txBody>
                  <a:tcPr>
                    <a:solidFill>
                      <a:schemeClr val="accent6">
                        <a:lumMod val="60000"/>
                        <a:lumOff val="40000"/>
                      </a:schemeClr>
                    </a:solidFill>
                  </a:tcPr>
                </a:tc>
                <a:tc>
                  <a:txBody>
                    <a:bodyPr/>
                    <a:lstStyle/>
                    <a:p>
                      <a:pPr algn="ctr"/>
                      <a:r>
                        <a:rPr lang="en-US" dirty="0">
                          <a:solidFill>
                            <a:schemeClr val="tx1"/>
                          </a:solidFill>
                        </a:rPr>
                        <a:t>E</a:t>
                      </a:r>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dirty="0"/>
                    </a:p>
                  </a:txBody>
                  <a:tcPr>
                    <a:solidFill>
                      <a:schemeClr val="accent6">
                        <a:lumMod val="60000"/>
                        <a:lumOff val="40000"/>
                      </a:schemeClr>
                    </a:solidFill>
                  </a:tcPr>
                </a:tc>
                <a:tc>
                  <a:txBody>
                    <a:bodyPr/>
                    <a:lstStyle/>
                    <a:p>
                      <a:endParaRPr lang="en-US" dirty="0"/>
                    </a:p>
                  </a:txBody>
                  <a:tcPr>
                    <a:solidFill>
                      <a:schemeClr val="accent6">
                        <a:lumMod val="60000"/>
                        <a:lumOff val="40000"/>
                      </a:schemeClr>
                    </a:solidFill>
                  </a:tcPr>
                </a:tc>
                <a:extLst>
                  <a:ext uri="{0D108BD9-81ED-4DB2-BD59-A6C34878D82A}">
                    <a16:rowId xmlns:a16="http://schemas.microsoft.com/office/drawing/2014/main" val="660647860"/>
                  </a:ext>
                </a:extLst>
              </a:tr>
            </a:tbl>
          </a:graphicData>
        </a:graphic>
      </p:graphicFrame>
      <p:sp>
        <p:nvSpPr>
          <p:cNvPr id="6" name="TextBox 5"/>
          <p:cNvSpPr txBox="1"/>
          <p:nvPr/>
        </p:nvSpPr>
        <p:spPr>
          <a:xfrm>
            <a:off x="965262" y="5554545"/>
            <a:ext cx="418704" cy="461665"/>
          </a:xfrm>
          <a:prstGeom prst="rect">
            <a:avLst/>
          </a:prstGeom>
          <a:noFill/>
        </p:spPr>
        <p:txBody>
          <a:bodyPr wrap="none" rtlCol="0">
            <a:spAutoFit/>
          </a:bodyPr>
          <a:lstStyle/>
          <a:p>
            <a:r>
              <a:rPr lang="en-US" sz="2400" b="1" dirty="0">
                <a:effectLst>
                  <a:outerShdw blurRad="38100" dist="38100" dir="2700000" algn="tl">
                    <a:srgbClr val="000000">
                      <a:alpha val="43137"/>
                    </a:srgbClr>
                  </a:outerShdw>
                </a:effectLst>
              </a:rPr>
              <a:t>Q</a:t>
            </a:r>
          </a:p>
        </p:txBody>
      </p:sp>
      <p:cxnSp>
        <p:nvCxnSpPr>
          <p:cNvPr id="39" name="Straight Connector 38"/>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41" name="Table 40"/>
          <p:cNvGraphicFramePr>
            <a:graphicFrameLocks noGrp="1"/>
          </p:cNvGraphicFramePr>
          <p:nvPr/>
        </p:nvGraphicFramePr>
        <p:xfrm>
          <a:off x="1437550" y="6028129"/>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B</a:t>
                      </a: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graphicFrame>
        <p:nvGraphicFramePr>
          <p:cNvPr id="44" name="Table 43">
            <a:extLst>
              <a:ext uri="{FF2B5EF4-FFF2-40B4-BE49-F238E27FC236}">
                <a16:creationId xmlns:a16="http://schemas.microsoft.com/office/drawing/2014/main" id="{FF5D582B-24CA-4AAD-AA04-CB9DD91551D2}"/>
              </a:ext>
            </a:extLst>
          </p:cNvPr>
          <p:cNvGraphicFramePr>
            <a:graphicFrameLocks noGrp="1"/>
          </p:cNvGraphicFramePr>
          <p:nvPr/>
        </p:nvGraphicFramePr>
        <p:xfrm>
          <a:off x="8658993" y="1862844"/>
          <a:ext cx="2132240" cy="4719320"/>
        </p:xfrm>
        <a:graphic>
          <a:graphicData uri="http://schemas.openxmlformats.org/drawingml/2006/table">
            <a:tbl>
              <a:tblPr firstRow="1" bandRow="1">
                <a:tableStyleId>{5C22544A-7EE6-4342-B048-85BDC9FD1C3A}</a:tableStyleId>
              </a:tblPr>
              <a:tblGrid>
                <a:gridCol w="847864">
                  <a:extLst>
                    <a:ext uri="{9D8B030D-6E8A-4147-A177-3AD203B41FA5}">
                      <a16:colId xmlns:a16="http://schemas.microsoft.com/office/drawing/2014/main" val="2989644895"/>
                    </a:ext>
                  </a:extLst>
                </a:gridCol>
                <a:gridCol w="1284376">
                  <a:extLst>
                    <a:ext uri="{9D8B030D-6E8A-4147-A177-3AD203B41FA5}">
                      <a16:colId xmlns:a16="http://schemas.microsoft.com/office/drawing/2014/main" val="4244960412"/>
                    </a:ext>
                  </a:extLst>
                </a:gridCol>
              </a:tblGrid>
              <a:tr h="370840">
                <a:tc>
                  <a:txBody>
                    <a:bodyPr/>
                    <a:lstStyle/>
                    <a:p>
                      <a:pPr algn="ctr"/>
                      <a:r>
                        <a:rPr lang="en-US" dirty="0"/>
                        <a:t>NODE</a:t>
                      </a:r>
                    </a:p>
                  </a:txBody>
                  <a:tcPr/>
                </a:tc>
                <a:tc>
                  <a:txBody>
                    <a:bodyPr/>
                    <a:lstStyle/>
                    <a:p>
                      <a:pPr algn="ctr"/>
                      <a:r>
                        <a:rPr lang="en-US" dirty="0"/>
                        <a:t>CHILDREN</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F,G</a:t>
                      </a:r>
                      <a:endParaRPr lang="en-US" b="1" dirty="0"/>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H,-</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-,I</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J,K</a:t>
                      </a:r>
                    </a:p>
                  </a:txBody>
                  <a:tcPr/>
                </a:tc>
                <a:extLst>
                  <a:ext uri="{0D108BD9-81ED-4DB2-BD59-A6C34878D82A}">
                    <a16:rowId xmlns:a16="http://schemas.microsoft.com/office/drawing/2014/main" val="1205733479"/>
                  </a:ext>
                </a:extLst>
              </a:tr>
              <a:tr h="370840">
                <a:tc>
                  <a:txBody>
                    <a:bodyPr/>
                    <a:lstStyle/>
                    <a:p>
                      <a:pPr algn="ctr"/>
                      <a:r>
                        <a:rPr lang="en-US" b="1" dirty="0"/>
                        <a: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987431379"/>
                  </a:ext>
                </a:extLst>
              </a:tr>
              <a:tr h="370840">
                <a:tc>
                  <a:txBody>
                    <a:bodyPr/>
                    <a:lstStyle/>
                    <a:p>
                      <a:pPr algn="ctr"/>
                      <a:r>
                        <a:rPr lang="en-US" b="1" dirty="0"/>
                        <a:t>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290039795"/>
                  </a:ext>
                </a:extLst>
              </a:tr>
              <a:tr h="370840">
                <a:tc>
                  <a:txBody>
                    <a:bodyPr/>
                    <a:lstStyle/>
                    <a:p>
                      <a:pPr algn="ctr"/>
                      <a:r>
                        <a:rPr lang="en-US" b="1" dirty="0"/>
                        <a:t>J</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873125107"/>
                  </a:ext>
                </a:extLst>
              </a:tr>
              <a:tr h="370840">
                <a:tc>
                  <a:txBody>
                    <a:bodyPr/>
                    <a:lstStyle/>
                    <a:p>
                      <a:pPr algn="ctr"/>
                      <a:r>
                        <a:rPr lang="en-US" b="1" dirty="0"/>
                        <a:t>K</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640632725"/>
                  </a:ext>
                </a:extLst>
              </a:tr>
            </a:tbl>
          </a:graphicData>
        </a:graphic>
      </p:graphicFrame>
      <p:grpSp>
        <p:nvGrpSpPr>
          <p:cNvPr id="42" name="Group 41">
            <a:extLst>
              <a:ext uri="{FF2B5EF4-FFF2-40B4-BE49-F238E27FC236}">
                <a16:creationId xmlns:a16="http://schemas.microsoft.com/office/drawing/2014/main" id="{8B843AC9-2848-41D5-B365-CF6694A0EC50}"/>
              </a:ext>
            </a:extLst>
          </p:cNvPr>
          <p:cNvGrpSpPr/>
          <p:nvPr/>
        </p:nvGrpSpPr>
        <p:grpSpPr>
          <a:xfrm>
            <a:off x="1437550" y="5599958"/>
            <a:ext cx="511370" cy="356179"/>
            <a:chOff x="1437550" y="5599958"/>
            <a:chExt cx="511370" cy="356179"/>
          </a:xfrm>
        </p:grpSpPr>
        <p:cxnSp>
          <p:nvCxnSpPr>
            <p:cNvPr id="43" name="Straight Connector 42">
              <a:extLst>
                <a:ext uri="{FF2B5EF4-FFF2-40B4-BE49-F238E27FC236}">
                  <a16:creationId xmlns:a16="http://schemas.microsoft.com/office/drawing/2014/main" id="{D7C3AC8E-4BFD-4067-92FC-1D5ED2A4C512}"/>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DE38F63C-19D3-4ADC-BD09-9740952BBCF5}"/>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47" name="Group 46">
            <a:extLst>
              <a:ext uri="{FF2B5EF4-FFF2-40B4-BE49-F238E27FC236}">
                <a16:creationId xmlns:a16="http://schemas.microsoft.com/office/drawing/2014/main" id="{76C63BD3-0905-451E-AF95-D2CFA2642BF4}"/>
              </a:ext>
            </a:extLst>
          </p:cNvPr>
          <p:cNvGrpSpPr/>
          <p:nvPr/>
        </p:nvGrpSpPr>
        <p:grpSpPr>
          <a:xfrm>
            <a:off x="1995249" y="5599958"/>
            <a:ext cx="511370" cy="356179"/>
            <a:chOff x="1437550" y="5599958"/>
            <a:chExt cx="511370" cy="356179"/>
          </a:xfrm>
        </p:grpSpPr>
        <p:cxnSp>
          <p:nvCxnSpPr>
            <p:cNvPr id="48" name="Straight Connector 47">
              <a:extLst>
                <a:ext uri="{FF2B5EF4-FFF2-40B4-BE49-F238E27FC236}">
                  <a16:creationId xmlns:a16="http://schemas.microsoft.com/office/drawing/2014/main" id="{6B087862-E3C5-40C2-888B-8AF18C11EFCB}"/>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152994A6-31C3-4806-93A0-BE95FECB7708}"/>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90532294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Straight Connector 45"/>
          <p:cNvCxnSpPr/>
          <p:nvPr/>
        </p:nvCxnSpPr>
        <p:spPr>
          <a:xfrm flipV="1">
            <a:off x="797123" y="4129201"/>
            <a:ext cx="542694" cy="82386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flipV="1">
            <a:off x="2838130" y="4019053"/>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ln>
            <a:noFill/>
          </a:ln>
        </p:spPr>
        <p:txBody>
          <a:bodyPr/>
          <a:lstStyle/>
          <a:p>
            <a:r>
              <a:rPr lang="en-US" dirty="0"/>
              <a:t>Breadth-First Search</a:t>
            </a:r>
          </a:p>
        </p:txBody>
      </p:sp>
      <p:sp>
        <p:nvSpPr>
          <p:cNvPr id="3" name="Slide Number Placeholder 2">
            <a:extLst>
              <a:ext uri="{FF2B5EF4-FFF2-40B4-BE49-F238E27FC236}">
                <a16:creationId xmlns:a16="http://schemas.microsoft.com/office/drawing/2014/main" id="{192112D1-F73E-41B9-AA48-3B9992F027E1}"/>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72/110</a:t>
            </a:r>
          </a:p>
        </p:txBody>
      </p:sp>
      <p:cxnSp>
        <p:nvCxnSpPr>
          <p:cNvPr id="8" name="Straight Connector 7"/>
          <p:cNvCxnSpPr/>
          <p:nvPr/>
        </p:nvCxnSpPr>
        <p:spPr>
          <a:xfrm flipH="1" flipV="1">
            <a:off x="4129859" y="1873873"/>
            <a:ext cx="1853477" cy="11790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2127196" y="2004369"/>
            <a:ext cx="1804150" cy="10422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3895286" y="176439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8" name="Straight Connector 17"/>
          <p:cNvCxnSpPr/>
          <p:nvPr/>
        </p:nvCxnSpPr>
        <p:spPr>
          <a:xfrm flipH="1" flipV="1">
            <a:off x="2191623" y="2983419"/>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406709" y="3052968"/>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1922122" y="2896761"/>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Oval 16"/>
          <p:cNvSpPr>
            <a:spLocks noChangeArrowheads="1"/>
          </p:cNvSpPr>
          <p:nvPr/>
        </p:nvSpPr>
        <p:spPr bwMode="auto">
          <a:xfrm>
            <a:off x="1225864" y="378497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5" name="Oval 16"/>
          <p:cNvSpPr>
            <a:spLocks noChangeArrowheads="1"/>
          </p:cNvSpPr>
          <p:nvPr/>
        </p:nvSpPr>
        <p:spPr bwMode="auto">
          <a:xfrm>
            <a:off x="2572943" y="382819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4" name="Oval 16"/>
          <p:cNvSpPr>
            <a:spLocks noChangeArrowheads="1"/>
          </p:cNvSpPr>
          <p:nvPr/>
        </p:nvSpPr>
        <p:spPr bwMode="auto">
          <a:xfrm>
            <a:off x="3251450" y="480945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6" name="Oval 16"/>
          <p:cNvSpPr>
            <a:spLocks noChangeArrowheads="1"/>
          </p:cNvSpPr>
          <p:nvPr/>
        </p:nvSpPr>
        <p:spPr bwMode="auto">
          <a:xfrm>
            <a:off x="577751" y="4810837"/>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61" name="Straight Connector 60"/>
          <p:cNvCxnSpPr/>
          <p:nvPr/>
        </p:nvCxnSpPr>
        <p:spPr>
          <a:xfrm flipH="1" flipV="1">
            <a:off x="6681579" y="4037641"/>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6068720" y="4104906"/>
            <a:ext cx="457312" cy="8114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flipV="1">
            <a:off x="6035072" y="3002007"/>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5250158" y="3071556"/>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Oval 16"/>
          <p:cNvSpPr>
            <a:spLocks noChangeArrowheads="1"/>
          </p:cNvSpPr>
          <p:nvPr/>
        </p:nvSpPr>
        <p:spPr bwMode="auto">
          <a:xfrm>
            <a:off x="5765571" y="29153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6" name="Oval 16"/>
          <p:cNvSpPr>
            <a:spLocks noChangeArrowheads="1"/>
          </p:cNvSpPr>
          <p:nvPr/>
        </p:nvSpPr>
        <p:spPr bwMode="auto">
          <a:xfrm>
            <a:off x="5069313" y="380356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7" name="Oval 16"/>
          <p:cNvSpPr>
            <a:spLocks noChangeArrowheads="1"/>
          </p:cNvSpPr>
          <p:nvPr/>
        </p:nvSpPr>
        <p:spPr bwMode="auto">
          <a:xfrm>
            <a:off x="6416392" y="384678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8" name="Oval 16"/>
          <p:cNvSpPr>
            <a:spLocks noChangeArrowheads="1"/>
          </p:cNvSpPr>
          <p:nvPr/>
        </p:nvSpPr>
        <p:spPr bwMode="auto">
          <a:xfrm>
            <a:off x="5870482" y="482942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9" name="Oval 16"/>
          <p:cNvSpPr>
            <a:spLocks noChangeArrowheads="1"/>
          </p:cNvSpPr>
          <p:nvPr/>
        </p:nvSpPr>
        <p:spPr bwMode="auto">
          <a:xfrm>
            <a:off x="7094899" y="482803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76" name="TextBox 75"/>
          <p:cNvSpPr txBox="1"/>
          <p:nvPr/>
        </p:nvSpPr>
        <p:spPr>
          <a:xfrm>
            <a:off x="3944575" y="1786250"/>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82" name="TextBox 81"/>
          <p:cNvSpPr txBox="1"/>
          <p:nvPr/>
        </p:nvSpPr>
        <p:spPr>
          <a:xfrm>
            <a:off x="1967407" y="2929860"/>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83" name="TextBox 82"/>
          <p:cNvSpPr txBox="1"/>
          <p:nvPr/>
        </p:nvSpPr>
        <p:spPr>
          <a:xfrm>
            <a:off x="5833156" y="2937297"/>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84" name="Rectangle 83"/>
          <p:cNvSpPr/>
          <p:nvPr/>
        </p:nvSpPr>
        <p:spPr>
          <a:xfrm>
            <a:off x="1273931" y="3822650"/>
            <a:ext cx="343364" cy="369332"/>
          </a:xfrm>
          <a:prstGeom prst="rect">
            <a:avLst/>
          </a:prstGeom>
        </p:spPr>
        <p:txBody>
          <a:bodyPr wrap="none">
            <a:spAutoFit/>
          </a:bodyPr>
          <a:lstStyle/>
          <a:p>
            <a:r>
              <a:rPr lang="en-US" b="1" dirty="0">
                <a:solidFill>
                  <a:prstClr val="black"/>
                </a:solidFill>
              </a:rPr>
              <a:t>D</a:t>
            </a:r>
          </a:p>
        </p:txBody>
      </p:sp>
      <p:sp>
        <p:nvSpPr>
          <p:cNvPr id="85" name="Rectangle 84"/>
          <p:cNvSpPr/>
          <p:nvPr/>
        </p:nvSpPr>
        <p:spPr>
          <a:xfrm>
            <a:off x="5116299" y="3846782"/>
            <a:ext cx="304892" cy="369332"/>
          </a:xfrm>
          <a:prstGeom prst="rect">
            <a:avLst/>
          </a:prstGeom>
        </p:spPr>
        <p:txBody>
          <a:bodyPr wrap="none">
            <a:spAutoFit/>
          </a:bodyPr>
          <a:lstStyle/>
          <a:p>
            <a:r>
              <a:rPr lang="en-US" b="1" dirty="0">
                <a:solidFill>
                  <a:prstClr val="black"/>
                </a:solidFill>
              </a:rPr>
              <a:t>F</a:t>
            </a:r>
          </a:p>
        </p:txBody>
      </p:sp>
      <p:sp>
        <p:nvSpPr>
          <p:cNvPr id="86" name="Rectangle 85"/>
          <p:cNvSpPr/>
          <p:nvPr/>
        </p:nvSpPr>
        <p:spPr>
          <a:xfrm>
            <a:off x="6467363" y="3861983"/>
            <a:ext cx="340158" cy="369332"/>
          </a:xfrm>
          <a:prstGeom prst="rect">
            <a:avLst/>
          </a:prstGeom>
        </p:spPr>
        <p:txBody>
          <a:bodyPr wrap="none">
            <a:spAutoFit/>
          </a:bodyPr>
          <a:lstStyle/>
          <a:p>
            <a:r>
              <a:rPr lang="en-US" b="1" dirty="0">
                <a:solidFill>
                  <a:prstClr val="black"/>
                </a:solidFill>
              </a:rPr>
              <a:t>G</a:t>
            </a:r>
          </a:p>
        </p:txBody>
      </p:sp>
      <p:sp>
        <p:nvSpPr>
          <p:cNvPr id="87" name="Rectangle 86"/>
          <p:cNvSpPr/>
          <p:nvPr/>
        </p:nvSpPr>
        <p:spPr>
          <a:xfrm>
            <a:off x="5923779" y="4883500"/>
            <a:ext cx="277640" cy="369332"/>
          </a:xfrm>
          <a:prstGeom prst="rect">
            <a:avLst/>
          </a:prstGeom>
        </p:spPr>
        <p:txBody>
          <a:bodyPr wrap="none">
            <a:spAutoFit/>
          </a:bodyPr>
          <a:lstStyle/>
          <a:p>
            <a:r>
              <a:rPr lang="en-US" b="1" dirty="0">
                <a:solidFill>
                  <a:prstClr val="black"/>
                </a:solidFill>
              </a:rPr>
              <a:t>J</a:t>
            </a:r>
          </a:p>
        </p:txBody>
      </p:sp>
      <p:sp>
        <p:nvSpPr>
          <p:cNvPr id="88" name="Rectangle 87"/>
          <p:cNvSpPr/>
          <p:nvPr/>
        </p:nvSpPr>
        <p:spPr>
          <a:xfrm>
            <a:off x="7146697" y="4879786"/>
            <a:ext cx="330540" cy="369332"/>
          </a:xfrm>
          <a:prstGeom prst="rect">
            <a:avLst/>
          </a:prstGeom>
        </p:spPr>
        <p:txBody>
          <a:bodyPr wrap="none">
            <a:spAutoFit/>
          </a:bodyPr>
          <a:lstStyle/>
          <a:p>
            <a:r>
              <a:rPr lang="en-US" b="1" dirty="0">
                <a:solidFill>
                  <a:prstClr val="black"/>
                </a:solidFill>
              </a:rPr>
              <a:t>K</a:t>
            </a:r>
          </a:p>
        </p:txBody>
      </p:sp>
      <p:sp>
        <p:nvSpPr>
          <p:cNvPr id="89" name="Rectangle 88"/>
          <p:cNvSpPr/>
          <p:nvPr/>
        </p:nvSpPr>
        <p:spPr>
          <a:xfrm>
            <a:off x="3294991" y="4859128"/>
            <a:ext cx="248786" cy="369332"/>
          </a:xfrm>
          <a:prstGeom prst="rect">
            <a:avLst/>
          </a:prstGeom>
        </p:spPr>
        <p:txBody>
          <a:bodyPr wrap="none">
            <a:spAutoFit/>
          </a:bodyPr>
          <a:lstStyle/>
          <a:p>
            <a:r>
              <a:rPr lang="en-US" b="1" dirty="0">
                <a:solidFill>
                  <a:prstClr val="black"/>
                </a:solidFill>
              </a:rPr>
              <a:t>I</a:t>
            </a:r>
          </a:p>
        </p:txBody>
      </p:sp>
      <p:sp>
        <p:nvSpPr>
          <p:cNvPr id="91" name="Rectangle 90"/>
          <p:cNvSpPr/>
          <p:nvPr/>
        </p:nvSpPr>
        <p:spPr>
          <a:xfrm>
            <a:off x="641576" y="4852097"/>
            <a:ext cx="346570" cy="369332"/>
          </a:xfrm>
          <a:prstGeom prst="rect">
            <a:avLst/>
          </a:prstGeom>
        </p:spPr>
        <p:txBody>
          <a:bodyPr wrap="none">
            <a:spAutoFit/>
          </a:bodyPr>
          <a:lstStyle/>
          <a:p>
            <a:r>
              <a:rPr lang="en-US" b="1" dirty="0">
                <a:solidFill>
                  <a:prstClr val="black"/>
                </a:solidFill>
              </a:rPr>
              <a:t>H</a:t>
            </a:r>
          </a:p>
        </p:txBody>
      </p:sp>
      <p:sp>
        <p:nvSpPr>
          <p:cNvPr id="92" name="Rectangle 91"/>
          <p:cNvSpPr/>
          <p:nvPr/>
        </p:nvSpPr>
        <p:spPr>
          <a:xfrm>
            <a:off x="2632725" y="3853127"/>
            <a:ext cx="316112" cy="369332"/>
          </a:xfrm>
          <a:prstGeom prst="rect">
            <a:avLst/>
          </a:prstGeom>
        </p:spPr>
        <p:txBody>
          <a:bodyPr wrap="none">
            <a:spAutoFit/>
          </a:bodyPr>
          <a:lstStyle/>
          <a:p>
            <a:r>
              <a:rPr lang="en-US" b="1" dirty="0">
                <a:solidFill>
                  <a:prstClr val="black"/>
                </a:solidFill>
              </a:rPr>
              <a:t>E</a:t>
            </a:r>
          </a:p>
        </p:txBody>
      </p:sp>
      <p:graphicFrame>
        <p:nvGraphicFramePr>
          <p:cNvPr id="5" name="Table 4"/>
          <p:cNvGraphicFramePr>
            <a:graphicFrameLocks noGrp="1"/>
          </p:cNvGraphicFramePr>
          <p:nvPr>
            <p:extLst>
              <p:ext uri="{D42A27DB-BD31-4B8C-83A1-F6EECF244321}">
                <p14:modId xmlns:p14="http://schemas.microsoft.com/office/powerpoint/2010/main" val="2641556576"/>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2353885934"/>
                    </a:ext>
                  </a:extLst>
                </a:gridCol>
              </a:tblGrid>
              <a:tr h="370840">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r>
                        <a:rPr lang="en-US" dirty="0">
                          <a:solidFill>
                            <a:schemeClr val="tx1"/>
                          </a:solidFill>
                        </a:rPr>
                        <a:t>D</a:t>
                      </a:r>
                    </a:p>
                  </a:txBody>
                  <a:tcPr>
                    <a:solidFill>
                      <a:schemeClr val="accent6">
                        <a:lumMod val="60000"/>
                        <a:lumOff val="40000"/>
                      </a:schemeClr>
                    </a:solidFill>
                  </a:tcPr>
                </a:tc>
                <a:tc>
                  <a:txBody>
                    <a:bodyPr/>
                    <a:lstStyle/>
                    <a:p>
                      <a:pPr algn="ctr"/>
                      <a:r>
                        <a:rPr lang="en-US" dirty="0">
                          <a:solidFill>
                            <a:schemeClr val="tx1"/>
                          </a:solidFill>
                        </a:rPr>
                        <a:t>E</a:t>
                      </a:r>
                    </a:p>
                  </a:txBody>
                  <a:tcPr>
                    <a:solidFill>
                      <a:schemeClr val="accent6">
                        <a:lumMod val="60000"/>
                        <a:lumOff val="40000"/>
                      </a:schemeClr>
                    </a:solidFill>
                  </a:tcPr>
                </a:tc>
                <a:tc>
                  <a:txBody>
                    <a:bodyPr/>
                    <a:lstStyle/>
                    <a:p>
                      <a:pPr algn="ctr"/>
                      <a:r>
                        <a:rPr lang="en-US" dirty="0">
                          <a:solidFill>
                            <a:schemeClr val="tx1"/>
                          </a:solidFill>
                        </a:rPr>
                        <a:t>F</a:t>
                      </a:r>
                    </a:p>
                  </a:txBody>
                  <a:tcPr>
                    <a:solidFill>
                      <a:schemeClr val="accent6">
                        <a:lumMod val="60000"/>
                        <a:lumOff val="40000"/>
                      </a:schemeClr>
                    </a:solidFill>
                  </a:tcPr>
                </a:tc>
                <a:tc>
                  <a:txBody>
                    <a:bodyPr/>
                    <a:lstStyle/>
                    <a:p>
                      <a:pPr algn="ctr"/>
                      <a:r>
                        <a:rPr lang="en-US" dirty="0"/>
                        <a:t> </a:t>
                      </a:r>
                      <a:r>
                        <a:rPr lang="en-US" dirty="0">
                          <a:solidFill>
                            <a:schemeClr val="tx1"/>
                          </a:solidFill>
                        </a:rPr>
                        <a:t>G</a:t>
                      </a:r>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a:p>
                  </a:txBody>
                  <a:tcPr>
                    <a:solidFill>
                      <a:schemeClr val="accent6">
                        <a:lumMod val="60000"/>
                        <a:lumOff val="40000"/>
                      </a:schemeClr>
                    </a:solidFill>
                  </a:tcPr>
                </a:tc>
                <a:tc>
                  <a:txBody>
                    <a:bodyPr/>
                    <a:lstStyle/>
                    <a:p>
                      <a:endParaRPr lang="en-US" dirty="0"/>
                    </a:p>
                  </a:txBody>
                  <a:tcPr>
                    <a:solidFill>
                      <a:schemeClr val="accent6">
                        <a:lumMod val="60000"/>
                        <a:lumOff val="40000"/>
                      </a:schemeClr>
                    </a:solidFill>
                  </a:tcPr>
                </a:tc>
                <a:tc>
                  <a:txBody>
                    <a:bodyPr/>
                    <a:lstStyle/>
                    <a:p>
                      <a:endParaRPr lang="en-US" dirty="0"/>
                    </a:p>
                  </a:txBody>
                  <a:tcPr>
                    <a:solidFill>
                      <a:schemeClr val="accent6">
                        <a:lumMod val="60000"/>
                        <a:lumOff val="40000"/>
                      </a:schemeClr>
                    </a:solidFill>
                  </a:tcPr>
                </a:tc>
                <a:extLst>
                  <a:ext uri="{0D108BD9-81ED-4DB2-BD59-A6C34878D82A}">
                    <a16:rowId xmlns:a16="http://schemas.microsoft.com/office/drawing/2014/main" val="660647860"/>
                  </a:ext>
                </a:extLst>
              </a:tr>
            </a:tbl>
          </a:graphicData>
        </a:graphic>
      </p:graphicFrame>
      <p:sp>
        <p:nvSpPr>
          <p:cNvPr id="6" name="TextBox 5"/>
          <p:cNvSpPr txBox="1"/>
          <p:nvPr/>
        </p:nvSpPr>
        <p:spPr>
          <a:xfrm>
            <a:off x="965262" y="5554545"/>
            <a:ext cx="418704" cy="461665"/>
          </a:xfrm>
          <a:prstGeom prst="rect">
            <a:avLst/>
          </a:prstGeom>
          <a:noFill/>
        </p:spPr>
        <p:txBody>
          <a:bodyPr wrap="none" rtlCol="0">
            <a:spAutoFit/>
          </a:bodyPr>
          <a:lstStyle/>
          <a:p>
            <a:r>
              <a:rPr lang="en-US" sz="2400" b="1" dirty="0">
                <a:effectLst>
                  <a:outerShdw blurRad="38100" dist="38100" dir="2700000" algn="tl">
                    <a:srgbClr val="000000">
                      <a:alpha val="43137"/>
                    </a:srgbClr>
                  </a:outerShdw>
                </a:effectLst>
              </a:rPr>
              <a:t>Q</a:t>
            </a:r>
          </a:p>
        </p:txBody>
      </p:sp>
      <p:cxnSp>
        <p:nvCxnSpPr>
          <p:cNvPr id="39" name="Straight Connector 38"/>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41" name="Table 40"/>
          <p:cNvGraphicFramePr>
            <a:graphicFrameLocks noGrp="1"/>
          </p:cNvGraphicFramePr>
          <p:nvPr/>
        </p:nvGraphicFramePr>
        <p:xfrm>
          <a:off x="1437550" y="6028129"/>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B</a:t>
                      </a:r>
                    </a:p>
                  </a:txBody>
                  <a:tcPr>
                    <a:noFill/>
                  </a:tcPr>
                </a:tc>
                <a:tc>
                  <a:txBody>
                    <a:bodyPr/>
                    <a:lstStyle/>
                    <a:p>
                      <a:pPr algn="ctr"/>
                      <a:r>
                        <a:rPr lang="en-US" dirty="0">
                          <a:solidFill>
                            <a:schemeClr val="tx1"/>
                          </a:solidFill>
                        </a:rPr>
                        <a:t>C</a:t>
                      </a: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graphicFrame>
        <p:nvGraphicFramePr>
          <p:cNvPr id="45" name="Table 44">
            <a:extLst>
              <a:ext uri="{FF2B5EF4-FFF2-40B4-BE49-F238E27FC236}">
                <a16:creationId xmlns:a16="http://schemas.microsoft.com/office/drawing/2014/main" id="{C0ABBD85-2053-4440-A7C4-8455B9D481FD}"/>
              </a:ext>
            </a:extLst>
          </p:cNvPr>
          <p:cNvGraphicFramePr>
            <a:graphicFrameLocks noGrp="1"/>
          </p:cNvGraphicFramePr>
          <p:nvPr/>
        </p:nvGraphicFramePr>
        <p:xfrm>
          <a:off x="8658993" y="1862844"/>
          <a:ext cx="2132240" cy="4719320"/>
        </p:xfrm>
        <a:graphic>
          <a:graphicData uri="http://schemas.openxmlformats.org/drawingml/2006/table">
            <a:tbl>
              <a:tblPr firstRow="1" bandRow="1">
                <a:tableStyleId>{5C22544A-7EE6-4342-B048-85BDC9FD1C3A}</a:tableStyleId>
              </a:tblPr>
              <a:tblGrid>
                <a:gridCol w="847864">
                  <a:extLst>
                    <a:ext uri="{9D8B030D-6E8A-4147-A177-3AD203B41FA5}">
                      <a16:colId xmlns:a16="http://schemas.microsoft.com/office/drawing/2014/main" val="2989644895"/>
                    </a:ext>
                  </a:extLst>
                </a:gridCol>
                <a:gridCol w="1284376">
                  <a:extLst>
                    <a:ext uri="{9D8B030D-6E8A-4147-A177-3AD203B41FA5}">
                      <a16:colId xmlns:a16="http://schemas.microsoft.com/office/drawing/2014/main" val="4244960412"/>
                    </a:ext>
                  </a:extLst>
                </a:gridCol>
              </a:tblGrid>
              <a:tr h="370840">
                <a:tc>
                  <a:txBody>
                    <a:bodyPr/>
                    <a:lstStyle/>
                    <a:p>
                      <a:pPr algn="ctr"/>
                      <a:r>
                        <a:rPr lang="en-US" dirty="0"/>
                        <a:t>NODE</a:t>
                      </a:r>
                    </a:p>
                  </a:txBody>
                  <a:tcPr/>
                </a:tc>
                <a:tc>
                  <a:txBody>
                    <a:bodyPr/>
                    <a:lstStyle/>
                    <a:p>
                      <a:pPr algn="ctr"/>
                      <a:r>
                        <a:rPr lang="en-US" dirty="0"/>
                        <a:t>CHILDREN</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F,G</a:t>
                      </a:r>
                      <a:endParaRPr lang="en-US" b="1" dirty="0"/>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H,-</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-,I</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J,K</a:t>
                      </a:r>
                    </a:p>
                  </a:txBody>
                  <a:tcPr/>
                </a:tc>
                <a:extLst>
                  <a:ext uri="{0D108BD9-81ED-4DB2-BD59-A6C34878D82A}">
                    <a16:rowId xmlns:a16="http://schemas.microsoft.com/office/drawing/2014/main" val="1205733479"/>
                  </a:ext>
                </a:extLst>
              </a:tr>
              <a:tr h="370840">
                <a:tc>
                  <a:txBody>
                    <a:bodyPr/>
                    <a:lstStyle/>
                    <a:p>
                      <a:pPr algn="ctr"/>
                      <a:r>
                        <a:rPr lang="en-US" b="1" dirty="0"/>
                        <a: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987431379"/>
                  </a:ext>
                </a:extLst>
              </a:tr>
              <a:tr h="370840">
                <a:tc>
                  <a:txBody>
                    <a:bodyPr/>
                    <a:lstStyle/>
                    <a:p>
                      <a:pPr algn="ctr"/>
                      <a:r>
                        <a:rPr lang="en-US" b="1" dirty="0"/>
                        <a:t>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290039795"/>
                  </a:ext>
                </a:extLst>
              </a:tr>
              <a:tr h="370840">
                <a:tc>
                  <a:txBody>
                    <a:bodyPr/>
                    <a:lstStyle/>
                    <a:p>
                      <a:pPr algn="ctr"/>
                      <a:r>
                        <a:rPr lang="en-US" b="1" dirty="0"/>
                        <a:t>J</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873125107"/>
                  </a:ext>
                </a:extLst>
              </a:tr>
              <a:tr h="370840">
                <a:tc>
                  <a:txBody>
                    <a:bodyPr/>
                    <a:lstStyle/>
                    <a:p>
                      <a:pPr algn="ctr"/>
                      <a:r>
                        <a:rPr lang="en-US" b="1" dirty="0"/>
                        <a:t>K</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640632725"/>
                  </a:ext>
                </a:extLst>
              </a:tr>
            </a:tbl>
          </a:graphicData>
        </a:graphic>
      </p:graphicFrame>
      <p:grpSp>
        <p:nvGrpSpPr>
          <p:cNvPr id="42" name="Group 41">
            <a:extLst>
              <a:ext uri="{FF2B5EF4-FFF2-40B4-BE49-F238E27FC236}">
                <a16:creationId xmlns:a16="http://schemas.microsoft.com/office/drawing/2014/main" id="{3FE64C01-FDD5-4D29-92F7-7508F398D38A}"/>
              </a:ext>
            </a:extLst>
          </p:cNvPr>
          <p:cNvGrpSpPr/>
          <p:nvPr/>
        </p:nvGrpSpPr>
        <p:grpSpPr>
          <a:xfrm>
            <a:off x="1437550" y="5599958"/>
            <a:ext cx="511370" cy="356179"/>
            <a:chOff x="1437550" y="5599958"/>
            <a:chExt cx="511370" cy="356179"/>
          </a:xfrm>
        </p:grpSpPr>
        <p:cxnSp>
          <p:nvCxnSpPr>
            <p:cNvPr id="43" name="Straight Connector 42">
              <a:extLst>
                <a:ext uri="{FF2B5EF4-FFF2-40B4-BE49-F238E27FC236}">
                  <a16:creationId xmlns:a16="http://schemas.microsoft.com/office/drawing/2014/main" id="{34417AEA-73BC-4B2B-A2FD-CC92E849508A}"/>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070BF146-53DD-4F37-8792-1999B08C75EA}"/>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47" name="Group 46">
            <a:extLst>
              <a:ext uri="{FF2B5EF4-FFF2-40B4-BE49-F238E27FC236}">
                <a16:creationId xmlns:a16="http://schemas.microsoft.com/office/drawing/2014/main" id="{7981B093-AB33-4D93-8BFB-2C976D7197E1}"/>
              </a:ext>
            </a:extLst>
          </p:cNvPr>
          <p:cNvGrpSpPr/>
          <p:nvPr/>
        </p:nvGrpSpPr>
        <p:grpSpPr>
          <a:xfrm>
            <a:off x="1995249" y="5599958"/>
            <a:ext cx="511370" cy="356179"/>
            <a:chOff x="1437550" y="5599958"/>
            <a:chExt cx="511370" cy="356179"/>
          </a:xfrm>
        </p:grpSpPr>
        <p:cxnSp>
          <p:nvCxnSpPr>
            <p:cNvPr id="48" name="Straight Connector 47">
              <a:extLst>
                <a:ext uri="{FF2B5EF4-FFF2-40B4-BE49-F238E27FC236}">
                  <a16:creationId xmlns:a16="http://schemas.microsoft.com/office/drawing/2014/main" id="{A6D4CE7B-2913-4AD8-92B8-0226F87FDBF5}"/>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3A65D39-7BB5-441F-BE1F-CCB3FE54DA1A}"/>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50" name="Group 49">
            <a:extLst>
              <a:ext uri="{FF2B5EF4-FFF2-40B4-BE49-F238E27FC236}">
                <a16:creationId xmlns:a16="http://schemas.microsoft.com/office/drawing/2014/main" id="{3FBB3BA2-E7E6-4EAD-9F81-61734B6D855B}"/>
              </a:ext>
            </a:extLst>
          </p:cNvPr>
          <p:cNvGrpSpPr/>
          <p:nvPr/>
        </p:nvGrpSpPr>
        <p:grpSpPr>
          <a:xfrm>
            <a:off x="2497104" y="5620871"/>
            <a:ext cx="511370" cy="356179"/>
            <a:chOff x="1437550" y="5599958"/>
            <a:chExt cx="511370" cy="356179"/>
          </a:xfrm>
        </p:grpSpPr>
        <p:cxnSp>
          <p:nvCxnSpPr>
            <p:cNvPr id="51" name="Straight Connector 50">
              <a:extLst>
                <a:ext uri="{FF2B5EF4-FFF2-40B4-BE49-F238E27FC236}">
                  <a16:creationId xmlns:a16="http://schemas.microsoft.com/office/drawing/2014/main" id="{336F2535-8057-4C38-AE72-30337F7E4014}"/>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D7296F44-C85A-44BD-A20F-EDBB1FCCC6BF}"/>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386341141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Straight Connector 45"/>
          <p:cNvCxnSpPr/>
          <p:nvPr/>
        </p:nvCxnSpPr>
        <p:spPr>
          <a:xfrm flipV="1">
            <a:off x="797123" y="4129201"/>
            <a:ext cx="542694" cy="82386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flipV="1">
            <a:off x="2838130" y="4019053"/>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ln>
            <a:noFill/>
          </a:ln>
        </p:spPr>
        <p:txBody>
          <a:bodyPr/>
          <a:lstStyle/>
          <a:p>
            <a:r>
              <a:rPr lang="en-US" dirty="0"/>
              <a:t>Breadth-First Search</a:t>
            </a:r>
          </a:p>
        </p:txBody>
      </p:sp>
      <p:sp>
        <p:nvSpPr>
          <p:cNvPr id="3" name="Slide Number Placeholder 2">
            <a:extLst>
              <a:ext uri="{FF2B5EF4-FFF2-40B4-BE49-F238E27FC236}">
                <a16:creationId xmlns:a16="http://schemas.microsoft.com/office/drawing/2014/main" id="{E8A8008A-734E-41E1-85D7-216AC01B8557}"/>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73/110</a:t>
            </a:r>
          </a:p>
        </p:txBody>
      </p:sp>
      <p:cxnSp>
        <p:nvCxnSpPr>
          <p:cNvPr id="8" name="Straight Connector 7"/>
          <p:cNvCxnSpPr/>
          <p:nvPr/>
        </p:nvCxnSpPr>
        <p:spPr>
          <a:xfrm flipH="1" flipV="1">
            <a:off x="4129859" y="1873873"/>
            <a:ext cx="1853477" cy="11790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2127196" y="2004369"/>
            <a:ext cx="1804150" cy="10422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3895286" y="176439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8" name="Straight Connector 17"/>
          <p:cNvCxnSpPr/>
          <p:nvPr/>
        </p:nvCxnSpPr>
        <p:spPr>
          <a:xfrm flipH="1" flipV="1">
            <a:off x="2191623" y="2983419"/>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406709" y="3052968"/>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1922122" y="2896761"/>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Oval 16"/>
          <p:cNvSpPr>
            <a:spLocks noChangeArrowheads="1"/>
          </p:cNvSpPr>
          <p:nvPr/>
        </p:nvSpPr>
        <p:spPr bwMode="auto">
          <a:xfrm>
            <a:off x="1225864" y="378497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5" name="Oval 16"/>
          <p:cNvSpPr>
            <a:spLocks noChangeArrowheads="1"/>
          </p:cNvSpPr>
          <p:nvPr/>
        </p:nvSpPr>
        <p:spPr bwMode="auto">
          <a:xfrm>
            <a:off x="2572943" y="382819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4" name="Oval 16"/>
          <p:cNvSpPr>
            <a:spLocks noChangeArrowheads="1"/>
          </p:cNvSpPr>
          <p:nvPr/>
        </p:nvSpPr>
        <p:spPr bwMode="auto">
          <a:xfrm>
            <a:off x="3251450" y="480945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6" name="Oval 16"/>
          <p:cNvSpPr>
            <a:spLocks noChangeArrowheads="1"/>
          </p:cNvSpPr>
          <p:nvPr/>
        </p:nvSpPr>
        <p:spPr bwMode="auto">
          <a:xfrm>
            <a:off x="577751" y="4810837"/>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61" name="Straight Connector 60"/>
          <p:cNvCxnSpPr/>
          <p:nvPr/>
        </p:nvCxnSpPr>
        <p:spPr>
          <a:xfrm flipH="1" flipV="1">
            <a:off x="6681579" y="4037641"/>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6068720" y="4104906"/>
            <a:ext cx="457312" cy="8114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flipV="1">
            <a:off x="6035072" y="3002007"/>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5250158" y="3071556"/>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Oval 16"/>
          <p:cNvSpPr>
            <a:spLocks noChangeArrowheads="1"/>
          </p:cNvSpPr>
          <p:nvPr/>
        </p:nvSpPr>
        <p:spPr bwMode="auto">
          <a:xfrm>
            <a:off x="5765571" y="29153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6" name="Oval 16"/>
          <p:cNvSpPr>
            <a:spLocks noChangeArrowheads="1"/>
          </p:cNvSpPr>
          <p:nvPr/>
        </p:nvSpPr>
        <p:spPr bwMode="auto">
          <a:xfrm>
            <a:off x="5069313" y="380356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7" name="Oval 16"/>
          <p:cNvSpPr>
            <a:spLocks noChangeArrowheads="1"/>
          </p:cNvSpPr>
          <p:nvPr/>
        </p:nvSpPr>
        <p:spPr bwMode="auto">
          <a:xfrm>
            <a:off x="6416392" y="384678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8" name="Oval 16"/>
          <p:cNvSpPr>
            <a:spLocks noChangeArrowheads="1"/>
          </p:cNvSpPr>
          <p:nvPr/>
        </p:nvSpPr>
        <p:spPr bwMode="auto">
          <a:xfrm>
            <a:off x="5870482" y="482942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9" name="Oval 16"/>
          <p:cNvSpPr>
            <a:spLocks noChangeArrowheads="1"/>
          </p:cNvSpPr>
          <p:nvPr/>
        </p:nvSpPr>
        <p:spPr bwMode="auto">
          <a:xfrm>
            <a:off x="7094899" y="482803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76" name="TextBox 75"/>
          <p:cNvSpPr txBox="1"/>
          <p:nvPr/>
        </p:nvSpPr>
        <p:spPr>
          <a:xfrm>
            <a:off x="3944575" y="1786250"/>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82" name="TextBox 81"/>
          <p:cNvSpPr txBox="1"/>
          <p:nvPr/>
        </p:nvSpPr>
        <p:spPr>
          <a:xfrm>
            <a:off x="1967407" y="2929860"/>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83" name="TextBox 82"/>
          <p:cNvSpPr txBox="1"/>
          <p:nvPr/>
        </p:nvSpPr>
        <p:spPr>
          <a:xfrm>
            <a:off x="5833156" y="2937297"/>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84" name="Rectangle 83"/>
          <p:cNvSpPr/>
          <p:nvPr/>
        </p:nvSpPr>
        <p:spPr>
          <a:xfrm>
            <a:off x="1273931" y="3822650"/>
            <a:ext cx="343364" cy="369332"/>
          </a:xfrm>
          <a:prstGeom prst="rect">
            <a:avLst/>
          </a:prstGeom>
        </p:spPr>
        <p:txBody>
          <a:bodyPr wrap="none">
            <a:spAutoFit/>
          </a:bodyPr>
          <a:lstStyle/>
          <a:p>
            <a:r>
              <a:rPr lang="en-US" b="1" dirty="0">
                <a:solidFill>
                  <a:prstClr val="black"/>
                </a:solidFill>
              </a:rPr>
              <a:t>D</a:t>
            </a:r>
          </a:p>
        </p:txBody>
      </p:sp>
      <p:sp>
        <p:nvSpPr>
          <p:cNvPr id="85" name="Rectangle 84"/>
          <p:cNvSpPr/>
          <p:nvPr/>
        </p:nvSpPr>
        <p:spPr>
          <a:xfrm>
            <a:off x="5116299" y="3846782"/>
            <a:ext cx="304892" cy="369332"/>
          </a:xfrm>
          <a:prstGeom prst="rect">
            <a:avLst/>
          </a:prstGeom>
        </p:spPr>
        <p:txBody>
          <a:bodyPr wrap="none">
            <a:spAutoFit/>
          </a:bodyPr>
          <a:lstStyle/>
          <a:p>
            <a:r>
              <a:rPr lang="en-US" b="1" dirty="0">
                <a:solidFill>
                  <a:prstClr val="black"/>
                </a:solidFill>
              </a:rPr>
              <a:t>F</a:t>
            </a:r>
          </a:p>
        </p:txBody>
      </p:sp>
      <p:sp>
        <p:nvSpPr>
          <p:cNvPr id="86" name="Rectangle 85"/>
          <p:cNvSpPr/>
          <p:nvPr/>
        </p:nvSpPr>
        <p:spPr>
          <a:xfrm>
            <a:off x="6467363" y="3861983"/>
            <a:ext cx="340158" cy="369332"/>
          </a:xfrm>
          <a:prstGeom prst="rect">
            <a:avLst/>
          </a:prstGeom>
        </p:spPr>
        <p:txBody>
          <a:bodyPr wrap="none">
            <a:spAutoFit/>
          </a:bodyPr>
          <a:lstStyle/>
          <a:p>
            <a:r>
              <a:rPr lang="en-US" b="1" dirty="0">
                <a:solidFill>
                  <a:prstClr val="black"/>
                </a:solidFill>
              </a:rPr>
              <a:t>G</a:t>
            </a:r>
          </a:p>
        </p:txBody>
      </p:sp>
      <p:sp>
        <p:nvSpPr>
          <p:cNvPr id="87" name="Rectangle 86"/>
          <p:cNvSpPr/>
          <p:nvPr/>
        </p:nvSpPr>
        <p:spPr>
          <a:xfrm>
            <a:off x="5923779" y="4883500"/>
            <a:ext cx="277640" cy="369332"/>
          </a:xfrm>
          <a:prstGeom prst="rect">
            <a:avLst/>
          </a:prstGeom>
        </p:spPr>
        <p:txBody>
          <a:bodyPr wrap="none">
            <a:spAutoFit/>
          </a:bodyPr>
          <a:lstStyle/>
          <a:p>
            <a:r>
              <a:rPr lang="en-US" b="1" dirty="0">
                <a:solidFill>
                  <a:prstClr val="black"/>
                </a:solidFill>
              </a:rPr>
              <a:t>J</a:t>
            </a:r>
          </a:p>
        </p:txBody>
      </p:sp>
      <p:sp>
        <p:nvSpPr>
          <p:cNvPr id="88" name="Rectangle 87"/>
          <p:cNvSpPr/>
          <p:nvPr/>
        </p:nvSpPr>
        <p:spPr>
          <a:xfrm>
            <a:off x="7146697" y="4879786"/>
            <a:ext cx="330540" cy="369332"/>
          </a:xfrm>
          <a:prstGeom prst="rect">
            <a:avLst/>
          </a:prstGeom>
        </p:spPr>
        <p:txBody>
          <a:bodyPr wrap="none">
            <a:spAutoFit/>
          </a:bodyPr>
          <a:lstStyle/>
          <a:p>
            <a:r>
              <a:rPr lang="en-US" b="1" dirty="0">
                <a:solidFill>
                  <a:prstClr val="black"/>
                </a:solidFill>
              </a:rPr>
              <a:t>K</a:t>
            </a:r>
          </a:p>
        </p:txBody>
      </p:sp>
      <p:sp>
        <p:nvSpPr>
          <p:cNvPr id="89" name="Rectangle 88"/>
          <p:cNvSpPr/>
          <p:nvPr/>
        </p:nvSpPr>
        <p:spPr>
          <a:xfrm>
            <a:off x="3294991" y="4859128"/>
            <a:ext cx="248786" cy="369332"/>
          </a:xfrm>
          <a:prstGeom prst="rect">
            <a:avLst/>
          </a:prstGeom>
        </p:spPr>
        <p:txBody>
          <a:bodyPr wrap="none">
            <a:spAutoFit/>
          </a:bodyPr>
          <a:lstStyle/>
          <a:p>
            <a:r>
              <a:rPr lang="en-US" b="1" dirty="0">
                <a:solidFill>
                  <a:prstClr val="black"/>
                </a:solidFill>
              </a:rPr>
              <a:t>I</a:t>
            </a:r>
          </a:p>
        </p:txBody>
      </p:sp>
      <p:sp>
        <p:nvSpPr>
          <p:cNvPr id="91" name="Rectangle 90"/>
          <p:cNvSpPr/>
          <p:nvPr/>
        </p:nvSpPr>
        <p:spPr>
          <a:xfrm>
            <a:off x="641576" y="4852097"/>
            <a:ext cx="346570" cy="369332"/>
          </a:xfrm>
          <a:prstGeom prst="rect">
            <a:avLst/>
          </a:prstGeom>
        </p:spPr>
        <p:txBody>
          <a:bodyPr wrap="none">
            <a:spAutoFit/>
          </a:bodyPr>
          <a:lstStyle/>
          <a:p>
            <a:r>
              <a:rPr lang="en-US" b="1" dirty="0">
                <a:solidFill>
                  <a:prstClr val="black"/>
                </a:solidFill>
              </a:rPr>
              <a:t>H</a:t>
            </a:r>
          </a:p>
        </p:txBody>
      </p:sp>
      <p:sp>
        <p:nvSpPr>
          <p:cNvPr id="92" name="Rectangle 91"/>
          <p:cNvSpPr/>
          <p:nvPr/>
        </p:nvSpPr>
        <p:spPr>
          <a:xfrm>
            <a:off x="2632725" y="3853127"/>
            <a:ext cx="316112" cy="369332"/>
          </a:xfrm>
          <a:prstGeom prst="rect">
            <a:avLst/>
          </a:prstGeom>
        </p:spPr>
        <p:txBody>
          <a:bodyPr wrap="none">
            <a:spAutoFit/>
          </a:bodyPr>
          <a:lstStyle/>
          <a:p>
            <a:r>
              <a:rPr lang="en-US" b="1" dirty="0">
                <a:solidFill>
                  <a:prstClr val="black"/>
                </a:solidFill>
              </a:rPr>
              <a:t>E</a:t>
            </a:r>
          </a:p>
        </p:txBody>
      </p:sp>
      <p:graphicFrame>
        <p:nvGraphicFramePr>
          <p:cNvPr id="5" name="Table 4"/>
          <p:cNvGraphicFramePr>
            <a:graphicFrameLocks noGrp="1"/>
          </p:cNvGraphicFramePr>
          <p:nvPr>
            <p:extLst>
              <p:ext uri="{D42A27DB-BD31-4B8C-83A1-F6EECF244321}">
                <p14:modId xmlns:p14="http://schemas.microsoft.com/office/powerpoint/2010/main" val="1400570117"/>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2353885934"/>
                    </a:ext>
                  </a:extLst>
                </a:gridCol>
              </a:tblGrid>
              <a:tr h="370840">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r>
                        <a:rPr lang="en-US" dirty="0">
                          <a:solidFill>
                            <a:schemeClr val="tx1"/>
                          </a:solidFill>
                        </a:rPr>
                        <a:t>E</a:t>
                      </a:r>
                    </a:p>
                  </a:txBody>
                  <a:tcPr>
                    <a:solidFill>
                      <a:schemeClr val="accent6">
                        <a:lumMod val="60000"/>
                        <a:lumOff val="40000"/>
                      </a:schemeClr>
                    </a:solidFill>
                  </a:tcPr>
                </a:tc>
                <a:tc>
                  <a:txBody>
                    <a:bodyPr/>
                    <a:lstStyle/>
                    <a:p>
                      <a:pPr algn="ctr"/>
                      <a:r>
                        <a:rPr lang="en-US" dirty="0">
                          <a:solidFill>
                            <a:schemeClr val="tx1"/>
                          </a:solidFill>
                        </a:rPr>
                        <a:t>F</a:t>
                      </a:r>
                    </a:p>
                  </a:txBody>
                  <a:tcPr>
                    <a:solidFill>
                      <a:schemeClr val="accent6">
                        <a:lumMod val="60000"/>
                        <a:lumOff val="40000"/>
                      </a:schemeClr>
                    </a:solidFill>
                  </a:tcPr>
                </a:tc>
                <a:tc>
                  <a:txBody>
                    <a:bodyPr/>
                    <a:lstStyle/>
                    <a:p>
                      <a:pPr algn="ctr"/>
                      <a:r>
                        <a:rPr lang="en-US" dirty="0"/>
                        <a:t> </a:t>
                      </a:r>
                      <a:r>
                        <a:rPr lang="en-US" dirty="0">
                          <a:solidFill>
                            <a:schemeClr val="tx1"/>
                          </a:solidFill>
                        </a:rPr>
                        <a:t>G</a:t>
                      </a:r>
                    </a:p>
                  </a:txBody>
                  <a:tcPr>
                    <a:solidFill>
                      <a:schemeClr val="accent6">
                        <a:lumMod val="60000"/>
                        <a:lumOff val="40000"/>
                      </a:schemeClr>
                    </a:solidFill>
                  </a:tcPr>
                </a:tc>
                <a:tc>
                  <a:txBody>
                    <a:bodyPr/>
                    <a:lstStyle/>
                    <a:p>
                      <a:pPr algn="ctr"/>
                      <a:r>
                        <a:rPr lang="en-US" dirty="0">
                          <a:solidFill>
                            <a:schemeClr val="tx1"/>
                          </a:solidFill>
                        </a:rPr>
                        <a:t>H</a:t>
                      </a: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extLst>
                  <a:ext uri="{0D108BD9-81ED-4DB2-BD59-A6C34878D82A}">
                    <a16:rowId xmlns:a16="http://schemas.microsoft.com/office/drawing/2014/main" val="660647860"/>
                  </a:ext>
                </a:extLst>
              </a:tr>
            </a:tbl>
          </a:graphicData>
        </a:graphic>
      </p:graphicFrame>
      <p:sp>
        <p:nvSpPr>
          <p:cNvPr id="6" name="TextBox 5"/>
          <p:cNvSpPr txBox="1"/>
          <p:nvPr/>
        </p:nvSpPr>
        <p:spPr>
          <a:xfrm>
            <a:off x="965262" y="5554545"/>
            <a:ext cx="418704" cy="461665"/>
          </a:xfrm>
          <a:prstGeom prst="rect">
            <a:avLst/>
          </a:prstGeom>
          <a:noFill/>
        </p:spPr>
        <p:txBody>
          <a:bodyPr wrap="none" rtlCol="0">
            <a:spAutoFit/>
          </a:bodyPr>
          <a:lstStyle/>
          <a:p>
            <a:r>
              <a:rPr lang="en-US" sz="2400" b="1" dirty="0">
                <a:effectLst>
                  <a:outerShdw blurRad="38100" dist="38100" dir="2700000" algn="tl">
                    <a:srgbClr val="000000">
                      <a:alpha val="43137"/>
                    </a:srgbClr>
                  </a:outerShdw>
                </a:effectLst>
              </a:rPr>
              <a:t>Q</a:t>
            </a:r>
          </a:p>
        </p:txBody>
      </p:sp>
      <p:cxnSp>
        <p:nvCxnSpPr>
          <p:cNvPr id="39" name="Straight Connector 38"/>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41" name="Table 40"/>
          <p:cNvGraphicFramePr>
            <a:graphicFrameLocks noGrp="1"/>
          </p:cNvGraphicFramePr>
          <p:nvPr/>
        </p:nvGraphicFramePr>
        <p:xfrm>
          <a:off x="1437550" y="6028129"/>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B</a:t>
                      </a:r>
                    </a:p>
                  </a:txBody>
                  <a:tcPr>
                    <a:noFill/>
                  </a:tcPr>
                </a:tc>
                <a:tc>
                  <a:txBody>
                    <a:bodyPr/>
                    <a:lstStyle/>
                    <a:p>
                      <a:pPr algn="ctr"/>
                      <a:r>
                        <a:rPr lang="en-US" dirty="0">
                          <a:solidFill>
                            <a:schemeClr val="tx1"/>
                          </a:solidFill>
                        </a:rPr>
                        <a:t>C</a:t>
                      </a:r>
                    </a:p>
                  </a:txBody>
                  <a:tcPr>
                    <a:noFill/>
                  </a:tcPr>
                </a:tc>
                <a:tc>
                  <a:txBody>
                    <a:bodyPr/>
                    <a:lstStyle/>
                    <a:p>
                      <a:pPr algn="ctr"/>
                      <a:r>
                        <a:rPr lang="en-US" dirty="0">
                          <a:solidFill>
                            <a:schemeClr val="tx1"/>
                          </a:solidFill>
                        </a:rPr>
                        <a:t>D</a:t>
                      </a: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graphicFrame>
        <p:nvGraphicFramePr>
          <p:cNvPr id="47" name="Table 46">
            <a:extLst>
              <a:ext uri="{FF2B5EF4-FFF2-40B4-BE49-F238E27FC236}">
                <a16:creationId xmlns:a16="http://schemas.microsoft.com/office/drawing/2014/main" id="{70BA717F-5A23-4757-9F0D-0D86887BC56B}"/>
              </a:ext>
            </a:extLst>
          </p:cNvPr>
          <p:cNvGraphicFramePr>
            <a:graphicFrameLocks noGrp="1"/>
          </p:cNvGraphicFramePr>
          <p:nvPr/>
        </p:nvGraphicFramePr>
        <p:xfrm>
          <a:off x="8658993" y="1862844"/>
          <a:ext cx="2132240" cy="4719320"/>
        </p:xfrm>
        <a:graphic>
          <a:graphicData uri="http://schemas.openxmlformats.org/drawingml/2006/table">
            <a:tbl>
              <a:tblPr firstRow="1" bandRow="1">
                <a:tableStyleId>{5C22544A-7EE6-4342-B048-85BDC9FD1C3A}</a:tableStyleId>
              </a:tblPr>
              <a:tblGrid>
                <a:gridCol w="847864">
                  <a:extLst>
                    <a:ext uri="{9D8B030D-6E8A-4147-A177-3AD203B41FA5}">
                      <a16:colId xmlns:a16="http://schemas.microsoft.com/office/drawing/2014/main" val="2989644895"/>
                    </a:ext>
                  </a:extLst>
                </a:gridCol>
                <a:gridCol w="1284376">
                  <a:extLst>
                    <a:ext uri="{9D8B030D-6E8A-4147-A177-3AD203B41FA5}">
                      <a16:colId xmlns:a16="http://schemas.microsoft.com/office/drawing/2014/main" val="4244960412"/>
                    </a:ext>
                  </a:extLst>
                </a:gridCol>
              </a:tblGrid>
              <a:tr h="370840">
                <a:tc>
                  <a:txBody>
                    <a:bodyPr/>
                    <a:lstStyle/>
                    <a:p>
                      <a:pPr algn="ctr"/>
                      <a:r>
                        <a:rPr lang="en-US" dirty="0"/>
                        <a:t>NODE</a:t>
                      </a:r>
                    </a:p>
                  </a:txBody>
                  <a:tcPr/>
                </a:tc>
                <a:tc>
                  <a:txBody>
                    <a:bodyPr/>
                    <a:lstStyle/>
                    <a:p>
                      <a:pPr algn="ctr"/>
                      <a:r>
                        <a:rPr lang="en-US" dirty="0"/>
                        <a:t>CHILDREN</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F,G</a:t>
                      </a:r>
                      <a:endParaRPr lang="en-US" b="1" dirty="0"/>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H,-</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-,I</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J,K</a:t>
                      </a:r>
                    </a:p>
                  </a:txBody>
                  <a:tcPr/>
                </a:tc>
                <a:extLst>
                  <a:ext uri="{0D108BD9-81ED-4DB2-BD59-A6C34878D82A}">
                    <a16:rowId xmlns:a16="http://schemas.microsoft.com/office/drawing/2014/main" val="1205733479"/>
                  </a:ext>
                </a:extLst>
              </a:tr>
              <a:tr h="370840">
                <a:tc>
                  <a:txBody>
                    <a:bodyPr/>
                    <a:lstStyle/>
                    <a:p>
                      <a:pPr algn="ctr"/>
                      <a:r>
                        <a:rPr lang="en-US" b="1" dirty="0"/>
                        <a: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987431379"/>
                  </a:ext>
                </a:extLst>
              </a:tr>
              <a:tr h="370840">
                <a:tc>
                  <a:txBody>
                    <a:bodyPr/>
                    <a:lstStyle/>
                    <a:p>
                      <a:pPr algn="ctr"/>
                      <a:r>
                        <a:rPr lang="en-US" b="1" dirty="0"/>
                        <a:t>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290039795"/>
                  </a:ext>
                </a:extLst>
              </a:tr>
              <a:tr h="370840">
                <a:tc>
                  <a:txBody>
                    <a:bodyPr/>
                    <a:lstStyle/>
                    <a:p>
                      <a:pPr algn="ctr"/>
                      <a:r>
                        <a:rPr lang="en-US" b="1" dirty="0"/>
                        <a:t>J</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873125107"/>
                  </a:ext>
                </a:extLst>
              </a:tr>
              <a:tr h="370840">
                <a:tc>
                  <a:txBody>
                    <a:bodyPr/>
                    <a:lstStyle/>
                    <a:p>
                      <a:pPr algn="ctr"/>
                      <a:r>
                        <a:rPr lang="en-US" b="1" dirty="0"/>
                        <a:t>K</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640632725"/>
                  </a:ext>
                </a:extLst>
              </a:tr>
            </a:tbl>
          </a:graphicData>
        </a:graphic>
      </p:graphicFrame>
      <p:grpSp>
        <p:nvGrpSpPr>
          <p:cNvPr id="42" name="Group 41">
            <a:extLst>
              <a:ext uri="{FF2B5EF4-FFF2-40B4-BE49-F238E27FC236}">
                <a16:creationId xmlns:a16="http://schemas.microsoft.com/office/drawing/2014/main" id="{CC6DB7DB-2F4D-4326-BB1C-172A51364742}"/>
              </a:ext>
            </a:extLst>
          </p:cNvPr>
          <p:cNvGrpSpPr/>
          <p:nvPr/>
        </p:nvGrpSpPr>
        <p:grpSpPr>
          <a:xfrm>
            <a:off x="1437550" y="5599958"/>
            <a:ext cx="511370" cy="356179"/>
            <a:chOff x="1437550" y="5599958"/>
            <a:chExt cx="511370" cy="356179"/>
          </a:xfrm>
        </p:grpSpPr>
        <p:cxnSp>
          <p:nvCxnSpPr>
            <p:cNvPr id="43" name="Straight Connector 42">
              <a:extLst>
                <a:ext uri="{FF2B5EF4-FFF2-40B4-BE49-F238E27FC236}">
                  <a16:creationId xmlns:a16="http://schemas.microsoft.com/office/drawing/2014/main" id="{C05D464E-AA13-4C56-852A-2BEB4129E095}"/>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54E90069-3549-4A95-89ED-69C07DA1B6AF}"/>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B5C01AFB-1A1B-4C04-943D-585D92EEF289}"/>
              </a:ext>
            </a:extLst>
          </p:cNvPr>
          <p:cNvGrpSpPr/>
          <p:nvPr/>
        </p:nvGrpSpPr>
        <p:grpSpPr>
          <a:xfrm>
            <a:off x="1995249" y="5599958"/>
            <a:ext cx="511370" cy="356179"/>
            <a:chOff x="1437550" y="5599958"/>
            <a:chExt cx="511370" cy="356179"/>
          </a:xfrm>
        </p:grpSpPr>
        <p:cxnSp>
          <p:nvCxnSpPr>
            <p:cNvPr id="48" name="Straight Connector 47">
              <a:extLst>
                <a:ext uri="{FF2B5EF4-FFF2-40B4-BE49-F238E27FC236}">
                  <a16:creationId xmlns:a16="http://schemas.microsoft.com/office/drawing/2014/main" id="{55E31643-DEAF-4C0B-BC7E-CC3BB7345641}"/>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5FED54FE-7E65-425C-AB50-577BCAB2B536}"/>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50" name="Group 49">
            <a:extLst>
              <a:ext uri="{FF2B5EF4-FFF2-40B4-BE49-F238E27FC236}">
                <a16:creationId xmlns:a16="http://schemas.microsoft.com/office/drawing/2014/main" id="{6A1BC15E-304E-4B7E-B536-067FCD02A4FE}"/>
              </a:ext>
            </a:extLst>
          </p:cNvPr>
          <p:cNvGrpSpPr/>
          <p:nvPr/>
        </p:nvGrpSpPr>
        <p:grpSpPr>
          <a:xfrm>
            <a:off x="2497104" y="5620871"/>
            <a:ext cx="511370" cy="356179"/>
            <a:chOff x="1437550" y="5599958"/>
            <a:chExt cx="511370" cy="356179"/>
          </a:xfrm>
        </p:grpSpPr>
        <p:cxnSp>
          <p:nvCxnSpPr>
            <p:cNvPr id="51" name="Straight Connector 50">
              <a:extLst>
                <a:ext uri="{FF2B5EF4-FFF2-40B4-BE49-F238E27FC236}">
                  <a16:creationId xmlns:a16="http://schemas.microsoft.com/office/drawing/2014/main" id="{6B44BE39-FE5B-442E-A9E8-F47637E78D95}"/>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11B5C834-2917-46B7-8EFD-7008766AF686}"/>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7E57CB66-4ECA-4BD5-91BA-735127284FDF}"/>
              </a:ext>
            </a:extLst>
          </p:cNvPr>
          <p:cNvGrpSpPr/>
          <p:nvPr/>
        </p:nvGrpSpPr>
        <p:grpSpPr>
          <a:xfrm>
            <a:off x="3032407" y="5593647"/>
            <a:ext cx="511370" cy="356179"/>
            <a:chOff x="1437550" y="5599958"/>
            <a:chExt cx="511370" cy="356179"/>
          </a:xfrm>
        </p:grpSpPr>
        <p:cxnSp>
          <p:nvCxnSpPr>
            <p:cNvPr id="54" name="Straight Connector 53">
              <a:extLst>
                <a:ext uri="{FF2B5EF4-FFF2-40B4-BE49-F238E27FC236}">
                  <a16:creationId xmlns:a16="http://schemas.microsoft.com/office/drawing/2014/main" id="{F226F29F-0B41-4E47-9580-21EA2DD7F1BE}"/>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AF0299FF-B307-458D-A06A-91674E49EA84}"/>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15557502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Straight Connector 45"/>
          <p:cNvCxnSpPr/>
          <p:nvPr/>
        </p:nvCxnSpPr>
        <p:spPr>
          <a:xfrm flipV="1">
            <a:off x="797123" y="4129201"/>
            <a:ext cx="542694" cy="82386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flipV="1">
            <a:off x="2838130" y="4019053"/>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ln>
            <a:noFill/>
          </a:ln>
        </p:spPr>
        <p:txBody>
          <a:bodyPr/>
          <a:lstStyle/>
          <a:p>
            <a:r>
              <a:rPr lang="en-US" dirty="0"/>
              <a:t>Breadth-First Search</a:t>
            </a:r>
          </a:p>
        </p:txBody>
      </p:sp>
      <p:sp>
        <p:nvSpPr>
          <p:cNvPr id="3" name="Slide Number Placeholder 2">
            <a:extLst>
              <a:ext uri="{FF2B5EF4-FFF2-40B4-BE49-F238E27FC236}">
                <a16:creationId xmlns:a16="http://schemas.microsoft.com/office/drawing/2014/main" id="{E4DFBD2D-B8D1-4F22-8BBD-58C2C391DEB6}"/>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74/110</a:t>
            </a:r>
          </a:p>
        </p:txBody>
      </p:sp>
      <p:cxnSp>
        <p:nvCxnSpPr>
          <p:cNvPr id="8" name="Straight Connector 7"/>
          <p:cNvCxnSpPr/>
          <p:nvPr/>
        </p:nvCxnSpPr>
        <p:spPr>
          <a:xfrm flipH="1" flipV="1">
            <a:off x="4129859" y="1873873"/>
            <a:ext cx="1853477" cy="11790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2127196" y="2004369"/>
            <a:ext cx="1804150" cy="10422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3895286" y="176439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8" name="Straight Connector 17"/>
          <p:cNvCxnSpPr/>
          <p:nvPr/>
        </p:nvCxnSpPr>
        <p:spPr>
          <a:xfrm flipH="1" flipV="1">
            <a:off x="2191623" y="2983419"/>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406709" y="3052968"/>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1922122" y="2896761"/>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Oval 16"/>
          <p:cNvSpPr>
            <a:spLocks noChangeArrowheads="1"/>
          </p:cNvSpPr>
          <p:nvPr/>
        </p:nvSpPr>
        <p:spPr bwMode="auto">
          <a:xfrm>
            <a:off x="1225864" y="378497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5" name="Oval 16"/>
          <p:cNvSpPr>
            <a:spLocks noChangeArrowheads="1"/>
          </p:cNvSpPr>
          <p:nvPr/>
        </p:nvSpPr>
        <p:spPr bwMode="auto">
          <a:xfrm>
            <a:off x="2572943" y="382819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4" name="Oval 16"/>
          <p:cNvSpPr>
            <a:spLocks noChangeArrowheads="1"/>
          </p:cNvSpPr>
          <p:nvPr/>
        </p:nvSpPr>
        <p:spPr bwMode="auto">
          <a:xfrm>
            <a:off x="3251450" y="480945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6" name="Oval 16"/>
          <p:cNvSpPr>
            <a:spLocks noChangeArrowheads="1"/>
          </p:cNvSpPr>
          <p:nvPr/>
        </p:nvSpPr>
        <p:spPr bwMode="auto">
          <a:xfrm>
            <a:off x="577751" y="4810837"/>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61" name="Straight Connector 60"/>
          <p:cNvCxnSpPr/>
          <p:nvPr/>
        </p:nvCxnSpPr>
        <p:spPr>
          <a:xfrm flipH="1" flipV="1">
            <a:off x="6681579" y="4037641"/>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6068720" y="4104906"/>
            <a:ext cx="457312" cy="8114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flipV="1">
            <a:off x="6035072" y="3002007"/>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5250158" y="3071556"/>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Oval 16"/>
          <p:cNvSpPr>
            <a:spLocks noChangeArrowheads="1"/>
          </p:cNvSpPr>
          <p:nvPr/>
        </p:nvSpPr>
        <p:spPr bwMode="auto">
          <a:xfrm>
            <a:off x="5765571" y="29153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6" name="Oval 16"/>
          <p:cNvSpPr>
            <a:spLocks noChangeArrowheads="1"/>
          </p:cNvSpPr>
          <p:nvPr/>
        </p:nvSpPr>
        <p:spPr bwMode="auto">
          <a:xfrm>
            <a:off x="5069313" y="380356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7" name="Oval 16"/>
          <p:cNvSpPr>
            <a:spLocks noChangeArrowheads="1"/>
          </p:cNvSpPr>
          <p:nvPr/>
        </p:nvSpPr>
        <p:spPr bwMode="auto">
          <a:xfrm>
            <a:off x="6416392" y="384678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8" name="Oval 16"/>
          <p:cNvSpPr>
            <a:spLocks noChangeArrowheads="1"/>
          </p:cNvSpPr>
          <p:nvPr/>
        </p:nvSpPr>
        <p:spPr bwMode="auto">
          <a:xfrm>
            <a:off x="5870482" y="482942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9" name="Oval 16"/>
          <p:cNvSpPr>
            <a:spLocks noChangeArrowheads="1"/>
          </p:cNvSpPr>
          <p:nvPr/>
        </p:nvSpPr>
        <p:spPr bwMode="auto">
          <a:xfrm>
            <a:off x="7094899" y="482803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76" name="TextBox 75"/>
          <p:cNvSpPr txBox="1"/>
          <p:nvPr/>
        </p:nvSpPr>
        <p:spPr>
          <a:xfrm>
            <a:off x="3944575" y="1786250"/>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82" name="TextBox 81"/>
          <p:cNvSpPr txBox="1"/>
          <p:nvPr/>
        </p:nvSpPr>
        <p:spPr>
          <a:xfrm>
            <a:off x="1967407" y="2929860"/>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83" name="TextBox 82"/>
          <p:cNvSpPr txBox="1"/>
          <p:nvPr/>
        </p:nvSpPr>
        <p:spPr>
          <a:xfrm>
            <a:off x="5833156" y="2937297"/>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84" name="Rectangle 83"/>
          <p:cNvSpPr/>
          <p:nvPr/>
        </p:nvSpPr>
        <p:spPr>
          <a:xfrm>
            <a:off x="1273931" y="3822650"/>
            <a:ext cx="343364" cy="369332"/>
          </a:xfrm>
          <a:prstGeom prst="rect">
            <a:avLst/>
          </a:prstGeom>
        </p:spPr>
        <p:txBody>
          <a:bodyPr wrap="none">
            <a:spAutoFit/>
          </a:bodyPr>
          <a:lstStyle/>
          <a:p>
            <a:r>
              <a:rPr lang="en-US" b="1" dirty="0">
                <a:solidFill>
                  <a:prstClr val="black"/>
                </a:solidFill>
              </a:rPr>
              <a:t>D</a:t>
            </a:r>
          </a:p>
        </p:txBody>
      </p:sp>
      <p:sp>
        <p:nvSpPr>
          <p:cNvPr id="85" name="Rectangle 84"/>
          <p:cNvSpPr/>
          <p:nvPr/>
        </p:nvSpPr>
        <p:spPr>
          <a:xfrm>
            <a:off x="5116299" y="3846782"/>
            <a:ext cx="304892" cy="369332"/>
          </a:xfrm>
          <a:prstGeom prst="rect">
            <a:avLst/>
          </a:prstGeom>
        </p:spPr>
        <p:txBody>
          <a:bodyPr wrap="none">
            <a:spAutoFit/>
          </a:bodyPr>
          <a:lstStyle/>
          <a:p>
            <a:r>
              <a:rPr lang="en-US" b="1" dirty="0">
                <a:solidFill>
                  <a:prstClr val="black"/>
                </a:solidFill>
              </a:rPr>
              <a:t>F</a:t>
            </a:r>
          </a:p>
        </p:txBody>
      </p:sp>
      <p:sp>
        <p:nvSpPr>
          <p:cNvPr id="86" name="Rectangle 85"/>
          <p:cNvSpPr/>
          <p:nvPr/>
        </p:nvSpPr>
        <p:spPr>
          <a:xfrm>
            <a:off x="6467363" y="3861983"/>
            <a:ext cx="340158" cy="369332"/>
          </a:xfrm>
          <a:prstGeom prst="rect">
            <a:avLst/>
          </a:prstGeom>
        </p:spPr>
        <p:txBody>
          <a:bodyPr wrap="none">
            <a:spAutoFit/>
          </a:bodyPr>
          <a:lstStyle/>
          <a:p>
            <a:r>
              <a:rPr lang="en-US" b="1" dirty="0">
                <a:solidFill>
                  <a:prstClr val="black"/>
                </a:solidFill>
              </a:rPr>
              <a:t>G</a:t>
            </a:r>
          </a:p>
        </p:txBody>
      </p:sp>
      <p:sp>
        <p:nvSpPr>
          <p:cNvPr id="87" name="Rectangle 86"/>
          <p:cNvSpPr/>
          <p:nvPr/>
        </p:nvSpPr>
        <p:spPr>
          <a:xfrm>
            <a:off x="5923779" y="4883500"/>
            <a:ext cx="277640" cy="369332"/>
          </a:xfrm>
          <a:prstGeom prst="rect">
            <a:avLst/>
          </a:prstGeom>
        </p:spPr>
        <p:txBody>
          <a:bodyPr wrap="none">
            <a:spAutoFit/>
          </a:bodyPr>
          <a:lstStyle/>
          <a:p>
            <a:r>
              <a:rPr lang="en-US" b="1" dirty="0">
                <a:solidFill>
                  <a:prstClr val="black"/>
                </a:solidFill>
              </a:rPr>
              <a:t>J</a:t>
            </a:r>
          </a:p>
        </p:txBody>
      </p:sp>
      <p:sp>
        <p:nvSpPr>
          <p:cNvPr id="88" name="Rectangle 87"/>
          <p:cNvSpPr/>
          <p:nvPr/>
        </p:nvSpPr>
        <p:spPr>
          <a:xfrm>
            <a:off x="7146697" y="4879786"/>
            <a:ext cx="330540" cy="369332"/>
          </a:xfrm>
          <a:prstGeom prst="rect">
            <a:avLst/>
          </a:prstGeom>
        </p:spPr>
        <p:txBody>
          <a:bodyPr wrap="none">
            <a:spAutoFit/>
          </a:bodyPr>
          <a:lstStyle/>
          <a:p>
            <a:r>
              <a:rPr lang="en-US" b="1" dirty="0">
                <a:solidFill>
                  <a:prstClr val="black"/>
                </a:solidFill>
              </a:rPr>
              <a:t>K</a:t>
            </a:r>
          </a:p>
        </p:txBody>
      </p:sp>
      <p:sp>
        <p:nvSpPr>
          <p:cNvPr id="89" name="Rectangle 88"/>
          <p:cNvSpPr/>
          <p:nvPr/>
        </p:nvSpPr>
        <p:spPr>
          <a:xfrm>
            <a:off x="3294991" y="4859128"/>
            <a:ext cx="248786" cy="369332"/>
          </a:xfrm>
          <a:prstGeom prst="rect">
            <a:avLst/>
          </a:prstGeom>
        </p:spPr>
        <p:txBody>
          <a:bodyPr wrap="none">
            <a:spAutoFit/>
          </a:bodyPr>
          <a:lstStyle/>
          <a:p>
            <a:r>
              <a:rPr lang="en-US" b="1" dirty="0">
                <a:solidFill>
                  <a:prstClr val="black"/>
                </a:solidFill>
              </a:rPr>
              <a:t>I</a:t>
            </a:r>
          </a:p>
        </p:txBody>
      </p:sp>
      <p:sp>
        <p:nvSpPr>
          <p:cNvPr id="91" name="Rectangle 90"/>
          <p:cNvSpPr/>
          <p:nvPr/>
        </p:nvSpPr>
        <p:spPr>
          <a:xfrm>
            <a:off x="641576" y="4852097"/>
            <a:ext cx="346570" cy="369332"/>
          </a:xfrm>
          <a:prstGeom prst="rect">
            <a:avLst/>
          </a:prstGeom>
        </p:spPr>
        <p:txBody>
          <a:bodyPr wrap="none">
            <a:spAutoFit/>
          </a:bodyPr>
          <a:lstStyle/>
          <a:p>
            <a:r>
              <a:rPr lang="en-US" b="1" dirty="0">
                <a:solidFill>
                  <a:prstClr val="black"/>
                </a:solidFill>
              </a:rPr>
              <a:t>H</a:t>
            </a:r>
          </a:p>
        </p:txBody>
      </p:sp>
      <p:sp>
        <p:nvSpPr>
          <p:cNvPr id="92" name="Rectangle 91"/>
          <p:cNvSpPr/>
          <p:nvPr/>
        </p:nvSpPr>
        <p:spPr>
          <a:xfrm>
            <a:off x="2632725" y="3853127"/>
            <a:ext cx="316112" cy="369332"/>
          </a:xfrm>
          <a:prstGeom prst="rect">
            <a:avLst/>
          </a:prstGeom>
        </p:spPr>
        <p:txBody>
          <a:bodyPr wrap="none">
            <a:spAutoFit/>
          </a:bodyPr>
          <a:lstStyle/>
          <a:p>
            <a:r>
              <a:rPr lang="en-US" b="1" dirty="0">
                <a:solidFill>
                  <a:prstClr val="black"/>
                </a:solidFill>
              </a:rPr>
              <a:t>E</a:t>
            </a:r>
          </a:p>
        </p:txBody>
      </p:sp>
      <p:graphicFrame>
        <p:nvGraphicFramePr>
          <p:cNvPr id="5" name="Table 4"/>
          <p:cNvGraphicFramePr>
            <a:graphicFrameLocks noGrp="1"/>
          </p:cNvGraphicFramePr>
          <p:nvPr>
            <p:extLst>
              <p:ext uri="{D42A27DB-BD31-4B8C-83A1-F6EECF244321}">
                <p14:modId xmlns:p14="http://schemas.microsoft.com/office/powerpoint/2010/main" val="2305138724"/>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2353885934"/>
                    </a:ext>
                  </a:extLst>
                </a:gridCol>
              </a:tblGrid>
              <a:tr h="370840">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r>
                        <a:rPr lang="en-US" dirty="0">
                          <a:solidFill>
                            <a:schemeClr val="tx1"/>
                          </a:solidFill>
                        </a:rPr>
                        <a:t>F</a:t>
                      </a:r>
                    </a:p>
                  </a:txBody>
                  <a:tcPr>
                    <a:solidFill>
                      <a:schemeClr val="accent6">
                        <a:lumMod val="60000"/>
                        <a:lumOff val="40000"/>
                      </a:schemeClr>
                    </a:solidFill>
                  </a:tcPr>
                </a:tc>
                <a:tc>
                  <a:txBody>
                    <a:bodyPr/>
                    <a:lstStyle/>
                    <a:p>
                      <a:pPr algn="ctr"/>
                      <a:r>
                        <a:rPr lang="en-US" dirty="0"/>
                        <a:t> </a:t>
                      </a:r>
                      <a:r>
                        <a:rPr lang="en-US" dirty="0">
                          <a:solidFill>
                            <a:schemeClr val="tx1"/>
                          </a:solidFill>
                        </a:rPr>
                        <a:t>G</a:t>
                      </a:r>
                    </a:p>
                  </a:txBody>
                  <a:tcPr>
                    <a:solidFill>
                      <a:schemeClr val="accent6">
                        <a:lumMod val="60000"/>
                        <a:lumOff val="40000"/>
                      </a:schemeClr>
                    </a:solidFill>
                  </a:tcPr>
                </a:tc>
                <a:tc>
                  <a:txBody>
                    <a:bodyPr/>
                    <a:lstStyle/>
                    <a:p>
                      <a:pPr algn="ctr"/>
                      <a:r>
                        <a:rPr lang="en-US" dirty="0">
                          <a:solidFill>
                            <a:schemeClr val="tx1"/>
                          </a:solidFill>
                        </a:rPr>
                        <a:t>H</a:t>
                      </a:r>
                    </a:p>
                  </a:txBody>
                  <a:tcPr>
                    <a:solidFill>
                      <a:schemeClr val="accent6">
                        <a:lumMod val="60000"/>
                        <a:lumOff val="40000"/>
                      </a:schemeClr>
                    </a:solidFill>
                  </a:tcPr>
                </a:tc>
                <a:tc>
                  <a:txBody>
                    <a:bodyPr/>
                    <a:lstStyle/>
                    <a:p>
                      <a:pPr algn="ctr"/>
                      <a:r>
                        <a:rPr lang="en-US" dirty="0">
                          <a:solidFill>
                            <a:schemeClr val="tx1"/>
                          </a:solidFill>
                        </a:rPr>
                        <a:t>I</a:t>
                      </a: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extLst>
                  <a:ext uri="{0D108BD9-81ED-4DB2-BD59-A6C34878D82A}">
                    <a16:rowId xmlns:a16="http://schemas.microsoft.com/office/drawing/2014/main" val="660647860"/>
                  </a:ext>
                </a:extLst>
              </a:tr>
            </a:tbl>
          </a:graphicData>
        </a:graphic>
      </p:graphicFrame>
      <p:sp>
        <p:nvSpPr>
          <p:cNvPr id="6" name="TextBox 5"/>
          <p:cNvSpPr txBox="1"/>
          <p:nvPr/>
        </p:nvSpPr>
        <p:spPr>
          <a:xfrm>
            <a:off x="965262" y="5554545"/>
            <a:ext cx="418704" cy="461665"/>
          </a:xfrm>
          <a:prstGeom prst="rect">
            <a:avLst/>
          </a:prstGeom>
          <a:noFill/>
        </p:spPr>
        <p:txBody>
          <a:bodyPr wrap="none" rtlCol="0">
            <a:spAutoFit/>
          </a:bodyPr>
          <a:lstStyle/>
          <a:p>
            <a:r>
              <a:rPr lang="en-US" sz="2400" b="1" dirty="0">
                <a:effectLst>
                  <a:outerShdw blurRad="38100" dist="38100" dir="2700000" algn="tl">
                    <a:srgbClr val="000000">
                      <a:alpha val="43137"/>
                    </a:srgbClr>
                  </a:outerShdw>
                </a:effectLst>
              </a:rPr>
              <a:t>Q</a:t>
            </a:r>
          </a:p>
        </p:txBody>
      </p:sp>
      <p:cxnSp>
        <p:nvCxnSpPr>
          <p:cNvPr id="39" name="Straight Connector 38"/>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41" name="Table 40"/>
          <p:cNvGraphicFramePr>
            <a:graphicFrameLocks noGrp="1"/>
          </p:cNvGraphicFramePr>
          <p:nvPr/>
        </p:nvGraphicFramePr>
        <p:xfrm>
          <a:off x="1437550" y="6028129"/>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B</a:t>
                      </a:r>
                    </a:p>
                  </a:txBody>
                  <a:tcPr>
                    <a:noFill/>
                  </a:tcPr>
                </a:tc>
                <a:tc>
                  <a:txBody>
                    <a:bodyPr/>
                    <a:lstStyle/>
                    <a:p>
                      <a:pPr algn="ctr"/>
                      <a:r>
                        <a:rPr lang="en-US" dirty="0">
                          <a:solidFill>
                            <a:schemeClr val="tx1"/>
                          </a:solidFill>
                        </a:rPr>
                        <a:t>C</a:t>
                      </a:r>
                    </a:p>
                  </a:txBody>
                  <a:tcPr>
                    <a:noFill/>
                  </a:tcPr>
                </a:tc>
                <a:tc>
                  <a:txBody>
                    <a:bodyPr/>
                    <a:lstStyle/>
                    <a:p>
                      <a:pPr algn="ctr"/>
                      <a:r>
                        <a:rPr lang="en-US" dirty="0">
                          <a:solidFill>
                            <a:schemeClr val="tx1"/>
                          </a:solidFill>
                        </a:rPr>
                        <a:t>D</a:t>
                      </a:r>
                    </a:p>
                  </a:txBody>
                  <a:tcPr>
                    <a:noFill/>
                  </a:tcPr>
                </a:tc>
                <a:tc>
                  <a:txBody>
                    <a:bodyPr/>
                    <a:lstStyle/>
                    <a:p>
                      <a:pPr algn="ctr"/>
                      <a:r>
                        <a:rPr lang="en-US" dirty="0">
                          <a:solidFill>
                            <a:schemeClr val="tx1"/>
                          </a:solidFill>
                        </a:rPr>
                        <a:t>E</a:t>
                      </a: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graphicFrame>
        <p:nvGraphicFramePr>
          <p:cNvPr id="48" name="Table 47">
            <a:extLst>
              <a:ext uri="{FF2B5EF4-FFF2-40B4-BE49-F238E27FC236}">
                <a16:creationId xmlns:a16="http://schemas.microsoft.com/office/drawing/2014/main" id="{730F000F-1464-4E1D-A130-FE4712D6D821}"/>
              </a:ext>
            </a:extLst>
          </p:cNvPr>
          <p:cNvGraphicFramePr>
            <a:graphicFrameLocks noGrp="1"/>
          </p:cNvGraphicFramePr>
          <p:nvPr/>
        </p:nvGraphicFramePr>
        <p:xfrm>
          <a:off x="8658993" y="1862844"/>
          <a:ext cx="2132240" cy="4719320"/>
        </p:xfrm>
        <a:graphic>
          <a:graphicData uri="http://schemas.openxmlformats.org/drawingml/2006/table">
            <a:tbl>
              <a:tblPr firstRow="1" bandRow="1">
                <a:tableStyleId>{5C22544A-7EE6-4342-B048-85BDC9FD1C3A}</a:tableStyleId>
              </a:tblPr>
              <a:tblGrid>
                <a:gridCol w="847864">
                  <a:extLst>
                    <a:ext uri="{9D8B030D-6E8A-4147-A177-3AD203B41FA5}">
                      <a16:colId xmlns:a16="http://schemas.microsoft.com/office/drawing/2014/main" val="2989644895"/>
                    </a:ext>
                  </a:extLst>
                </a:gridCol>
                <a:gridCol w="1284376">
                  <a:extLst>
                    <a:ext uri="{9D8B030D-6E8A-4147-A177-3AD203B41FA5}">
                      <a16:colId xmlns:a16="http://schemas.microsoft.com/office/drawing/2014/main" val="4244960412"/>
                    </a:ext>
                  </a:extLst>
                </a:gridCol>
              </a:tblGrid>
              <a:tr h="370840">
                <a:tc>
                  <a:txBody>
                    <a:bodyPr/>
                    <a:lstStyle/>
                    <a:p>
                      <a:pPr algn="ctr"/>
                      <a:r>
                        <a:rPr lang="en-US" dirty="0"/>
                        <a:t>NODE</a:t>
                      </a:r>
                    </a:p>
                  </a:txBody>
                  <a:tcPr/>
                </a:tc>
                <a:tc>
                  <a:txBody>
                    <a:bodyPr/>
                    <a:lstStyle/>
                    <a:p>
                      <a:pPr algn="ctr"/>
                      <a:r>
                        <a:rPr lang="en-US" dirty="0"/>
                        <a:t>CHILDREN</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F,G</a:t>
                      </a:r>
                      <a:endParaRPr lang="en-US" b="1" dirty="0"/>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H,-</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-,I</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J,K</a:t>
                      </a:r>
                    </a:p>
                  </a:txBody>
                  <a:tcPr/>
                </a:tc>
                <a:extLst>
                  <a:ext uri="{0D108BD9-81ED-4DB2-BD59-A6C34878D82A}">
                    <a16:rowId xmlns:a16="http://schemas.microsoft.com/office/drawing/2014/main" val="1205733479"/>
                  </a:ext>
                </a:extLst>
              </a:tr>
              <a:tr h="370840">
                <a:tc>
                  <a:txBody>
                    <a:bodyPr/>
                    <a:lstStyle/>
                    <a:p>
                      <a:pPr algn="ctr"/>
                      <a:r>
                        <a:rPr lang="en-US" b="1" dirty="0"/>
                        <a: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987431379"/>
                  </a:ext>
                </a:extLst>
              </a:tr>
              <a:tr h="370840">
                <a:tc>
                  <a:txBody>
                    <a:bodyPr/>
                    <a:lstStyle/>
                    <a:p>
                      <a:pPr algn="ctr"/>
                      <a:r>
                        <a:rPr lang="en-US" b="1" dirty="0"/>
                        <a:t>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290039795"/>
                  </a:ext>
                </a:extLst>
              </a:tr>
              <a:tr h="370840">
                <a:tc>
                  <a:txBody>
                    <a:bodyPr/>
                    <a:lstStyle/>
                    <a:p>
                      <a:pPr algn="ctr"/>
                      <a:r>
                        <a:rPr lang="en-US" b="1" dirty="0"/>
                        <a:t>J</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873125107"/>
                  </a:ext>
                </a:extLst>
              </a:tr>
              <a:tr h="370840">
                <a:tc>
                  <a:txBody>
                    <a:bodyPr/>
                    <a:lstStyle/>
                    <a:p>
                      <a:pPr algn="ctr"/>
                      <a:r>
                        <a:rPr lang="en-US" b="1" dirty="0"/>
                        <a:t>K</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640632725"/>
                  </a:ext>
                </a:extLst>
              </a:tr>
            </a:tbl>
          </a:graphicData>
        </a:graphic>
      </p:graphicFrame>
      <p:grpSp>
        <p:nvGrpSpPr>
          <p:cNvPr id="42" name="Group 41">
            <a:extLst>
              <a:ext uri="{FF2B5EF4-FFF2-40B4-BE49-F238E27FC236}">
                <a16:creationId xmlns:a16="http://schemas.microsoft.com/office/drawing/2014/main" id="{495B5916-4380-4EDC-8363-4F2557755E25}"/>
              </a:ext>
            </a:extLst>
          </p:cNvPr>
          <p:cNvGrpSpPr/>
          <p:nvPr/>
        </p:nvGrpSpPr>
        <p:grpSpPr>
          <a:xfrm>
            <a:off x="1437550" y="5599958"/>
            <a:ext cx="511370" cy="356179"/>
            <a:chOff x="1437550" y="5599958"/>
            <a:chExt cx="511370" cy="356179"/>
          </a:xfrm>
        </p:grpSpPr>
        <p:cxnSp>
          <p:nvCxnSpPr>
            <p:cNvPr id="43" name="Straight Connector 42">
              <a:extLst>
                <a:ext uri="{FF2B5EF4-FFF2-40B4-BE49-F238E27FC236}">
                  <a16:creationId xmlns:a16="http://schemas.microsoft.com/office/drawing/2014/main" id="{05D1D88C-A5CD-4A78-BE85-708862E9267D}"/>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061FA16-98B9-4EAC-BDC3-7DDC3CF4BF50}"/>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2B334E21-6A65-43D3-BC75-47D41C920396}"/>
              </a:ext>
            </a:extLst>
          </p:cNvPr>
          <p:cNvGrpSpPr/>
          <p:nvPr/>
        </p:nvGrpSpPr>
        <p:grpSpPr>
          <a:xfrm>
            <a:off x="1995249" y="5599958"/>
            <a:ext cx="511370" cy="356179"/>
            <a:chOff x="1437550" y="5599958"/>
            <a:chExt cx="511370" cy="356179"/>
          </a:xfrm>
        </p:grpSpPr>
        <p:cxnSp>
          <p:nvCxnSpPr>
            <p:cNvPr id="47" name="Straight Connector 46">
              <a:extLst>
                <a:ext uri="{FF2B5EF4-FFF2-40B4-BE49-F238E27FC236}">
                  <a16:creationId xmlns:a16="http://schemas.microsoft.com/office/drawing/2014/main" id="{90BF3371-D3EE-4793-B9EE-F3A217739EB1}"/>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AA643A86-D273-4BE1-8D64-B3310E0E17D3}"/>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50" name="Group 49">
            <a:extLst>
              <a:ext uri="{FF2B5EF4-FFF2-40B4-BE49-F238E27FC236}">
                <a16:creationId xmlns:a16="http://schemas.microsoft.com/office/drawing/2014/main" id="{1711DD3F-F91F-4EEF-81C3-E2421C0CFF0A}"/>
              </a:ext>
            </a:extLst>
          </p:cNvPr>
          <p:cNvGrpSpPr/>
          <p:nvPr/>
        </p:nvGrpSpPr>
        <p:grpSpPr>
          <a:xfrm>
            <a:off x="2497104" y="5620871"/>
            <a:ext cx="511370" cy="356179"/>
            <a:chOff x="1437550" y="5599958"/>
            <a:chExt cx="511370" cy="356179"/>
          </a:xfrm>
        </p:grpSpPr>
        <p:cxnSp>
          <p:nvCxnSpPr>
            <p:cNvPr id="51" name="Straight Connector 50">
              <a:extLst>
                <a:ext uri="{FF2B5EF4-FFF2-40B4-BE49-F238E27FC236}">
                  <a16:creationId xmlns:a16="http://schemas.microsoft.com/office/drawing/2014/main" id="{B4408E62-016C-4276-BBE5-6E3216D32A5E}"/>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2C321AB-A10C-4BAD-B543-EF367AC30756}"/>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679BF4C3-25F7-4357-A373-25D3A04AFB23}"/>
              </a:ext>
            </a:extLst>
          </p:cNvPr>
          <p:cNvGrpSpPr/>
          <p:nvPr/>
        </p:nvGrpSpPr>
        <p:grpSpPr>
          <a:xfrm>
            <a:off x="3032407" y="5593647"/>
            <a:ext cx="511370" cy="356179"/>
            <a:chOff x="1437550" y="5599958"/>
            <a:chExt cx="511370" cy="356179"/>
          </a:xfrm>
        </p:grpSpPr>
        <p:cxnSp>
          <p:nvCxnSpPr>
            <p:cNvPr id="54" name="Straight Connector 53">
              <a:extLst>
                <a:ext uri="{FF2B5EF4-FFF2-40B4-BE49-F238E27FC236}">
                  <a16:creationId xmlns:a16="http://schemas.microsoft.com/office/drawing/2014/main" id="{C8C45222-5FEF-444F-B7E5-09B43FBF634A}"/>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79B7A646-17AE-4E51-A71D-FE270BBCD7B5}"/>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56" name="Group 55">
            <a:extLst>
              <a:ext uri="{FF2B5EF4-FFF2-40B4-BE49-F238E27FC236}">
                <a16:creationId xmlns:a16="http://schemas.microsoft.com/office/drawing/2014/main" id="{5FF7435B-90F3-44A5-94E4-8DE60FD7C901}"/>
              </a:ext>
            </a:extLst>
          </p:cNvPr>
          <p:cNvGrpSpPr/>
          <p:nvPr/>
        </p:nvGrpSpPr>
        <p:grpSpPr>
          <a:xfrm>
            <a:off x="3551032" y="5604103"/>
            <a:ext cx="511370" cy="356179"/>
            <a:chOff x="1437550" y="5599958"/>
            <a:chExt cx="511370" cy="356179"/>
          </a:xfrm>
        </p:grpSpPr>
        <p:cxnSp>
          <p:nvCxnSpPr>
            <p:cNvPr id="57" name="Straight Connector 56">
              <a:extLst>
                <a:ext uri="{FF2B5EF4-FFF2-40B4-BE49-F238E27FC236}">
                  <a16:creationId xmlns:a16="http://schemas.microsoft.com/office/drawing/2014/main" id="{32780B68-6788-4800-8421-8C1FD003BAE1}"/>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9911851B-3C45-47BF-A4CF-EF822FF730B5}"/>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179265727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Straight Connector 45"/>
          <p:cNvCxnSpPr/>
          <p:nvPr/>
        </p:nvCxnSpPr>
        <p:spPr>
          <a:xfrm flipV="1">
            <a:off x="797123" y="4129201"/>
            <a:ext cx="542694" cy="82386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flipV="1">
            <a:off x="2838130" y="4019053"/>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ln>
            <a:noFill/>
          </a:ln>
        </p:spPr>
        <p:txBody>
          <a:bodyPr/>
          <a:lstStyle/>
          <a:p>
            <a:r>
              <a:rPr lang="en-US" dirty="0"/>
              <a:t>Breadth-First Search</a:t>
            </a:r>
          </a:p>
        </p:txBody>
      </p:sp>
      <p:sp>
        <p:nvSpPr>
          <p:cNvPr id="3" name="Slide Number Placeholder 2">
            <a:extLst>
              <a:ext uri="{FF2B5EF4-FFF2-40B4-BE49-F238E27FC236}">
                <a16:creationId xmlns:a16="http://schemas.microsoft.com/office/drawing/2014/main" id="{CDC9B7E2-8403-4324-BE8D-9A7E8CE76815}"/>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75/110</a:t>
            </a:r>
          </a:p>
        </p:txBody>
      </p:sp>
      <p:cxnSp>
        <p:nvCxnSpPr>
          <p:cNvPr id="8" name="Straight Connector 7"/>
          <p:cNvCxnSpPr/>
          <p:nvPr/>
        </p:nvCxnSpPr>
        <p:spPr>
          <a:xfrm flipH="1" flipV="1">
            <a:off x="4129859" y="1873873"/>
            <a:ext cx="1853477" cy="11790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2127196" y="2004369"/>
            <a:ext cx="1804150" cy="10422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3895286" y="176439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8" name="Straight Connector 17"/>
          <p:cNvCxnSpPr/>
          <p:nvPr/>
        </p:nvCxnSpPr>
        <p:spPr>
          <a:xfrm flipH="1" flipV="1">
            <a:off x="2191623" y="2983419"/>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406709" y="3052968"/>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1922122" y="2896761"/>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Oval 16"/>
          <p:cNvSpPr>
            <a:spLocks noChangeArrowheads="1"/>
          </p:cNvSpPr>
          <p:nvPr/>
        </p:nvSpPr>
        <p:spPr bwMode="auto">
          <a:xfrm>
            <a:off x="1225864" y="378497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5" name="Oval 16"/>
          <p:cNvSpPr>
            <a:spLocks noChangeArrowheads="1"/>
          </p:cNvSpPr>
          <p:nvPr/>
        </p:nvSpPr>
        <p:spPr bwMode="auto">
          <a:xfrm>
            <a:off x="2572943" y="382819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4" name="Oval 16"/>
          <p:cNvSpPr>
            <a:spLocks noChangeArrowheads="1"/>
          </p:cNvSpPr>
          <p:nvPr/>
        </p:nvSpPr>
        <p:spPr bwMode="auto">
          <a:xfrm>
            <a:off x="3251450" y="480945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6" name="Oval 16"/>
          <p:cNvSpPr>
            <a:spLocks noChangeArrowheads="1"/>
          </p:cNvSpPr>
          <p:nvPr/>
        </p:nvSpPr>
        <p:spPr bwMode="auto">
          <a:xfrm>
            <a:off x="577751" y="4810837"/>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61" name="Straight Connector 60"/>
          <p:cNvCxnSpPr/>
          <p:nvPr/>
        </p:nvCxnSpPr>
        <p:spPr>
          <a:xfrm flipH="1" flipV="1">
            <a:off x="6681579" y="4037641"/>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6068720" y="4104906"/>
            <a:ext cx="457312" cy="8114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flipV="1">
            <a:off x="6035072" y="3002007"/>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5250158" y="3071556"/>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Oval 16"/>
          <p:cNvSpPr>
            <a:spLocks noChangeArrowheads="1"/>
          </p:cNvSpPr>
          <p:nvPr/>
        </p:nvSpPr>
        <p:spPr bwMode="auto">
          <a:xfrm>
            <a:off x="5765571" y="29153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6" name="Oval 16"/>
          <p:cNvSpPr>
            <a:spLocks noChangeArrowheads="1"/>
          </p:cNvSpPr>
          <p:nvPr/>
        </p:nvSpPr>
        <p:spPr bwMode="auto">
          <a:xfrm>
            <a:off x="5069313" y="380356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7" name="Oval 16"/>
          <p:cNvSpPr>
            <a:spLocks noChangeArrowheads="1"/>
          </p:cNvSpPr>
          <p:nvPr/>
        </p:nvSpPr>
        <p:spPr bwMode="auto">
          <a:xfrm>
            <a:off x="6416392" y="384678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8" name="Oval 16"/>
          <p:cNvSpPr>
            <a:spLocks noChangeArrowheads="1"/>
          </p:cNvSpPr>
          <p:nvPr/>
        </p:nvSpPr>
        <p:spPr bwMode="auto">
          <a:xfrm>
            <a:off x="5870482" y="482942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9" name="Oval 16"/>
          <p:cNvSpPr>
            <a:spLocks noChangeArrowheads="1"/>
          </p:cNvSpPr>
          <p:nvPr/>
        </p:nvSpPr>
        <p:spPr bwMode="auto">
          <a:xfrm>
            <a:off x="7094899" y="482803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76" name="TextBox 75"/>
          <p:cNvSpPr txBox="1"/>
          <p:nvPr/>
        </p:nvSpPr>
        <p:spPr>
          <a:xfrm>
            <a:off x="3944575" y="1786250"/>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82" name="TextBox 81"/>
          <p:cNvSpPr txBox="1"/>
          <p:nvPr/>
        </p:nvSpPr>
        <p:spPr>
          <a:xfrm>
            <a:off x="1967407" y="2929860"/>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83" name="TextBox 82"/>
          <p:cNvSpPr txBox="1"/>
          <p:nvPr/>
        </p:nvSpPr>
        <p:spPr>
          <a:xfrm>
            <a:off x="5833156" y="2937297"/>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84" name="Rectangle 83"/>
          <p:cNvSpPr/>
          <p:nvPr/>
        </p:nvSpPr>
        <p:spPr>
          <a:xfrm>
            <a:off x="1273931" y="3822650"/>
            <a:ext cx="343364" cy="369332"/>
          </a:xfrm>
          <a:prstGeom prst="rect">
            <a:avLst/>
          </a:prstGeom>
        </p:spPr>
        <p:txBody>
          <a:bodyPr wrap="none">
            <a:spAutoFit/>
          </a:bodyPr>
          <a:lstStyle/>
          <a:p>
            <a:r>
              <a:rPr lang="en-US" b="1" dirty="0">
                <a:solidFill>
                  <a:prstClr val="black"/>
                </a:solidFill>
              </a:rPr>
              <a:t>D</a:t>
            </a:r>
          </a:p>
        </p:txBody>
      </p:sp>
      <p:sp>
        <p:nvSpPr>
          <p:cNvPr id="85" name="Rectangle 84"/>
          <p:cNvSpPr/>
          <p:nvPr/>
        </p:nvSpPr>
        <p:spPr>
          <a:xfrm>
            <a:off x="5116299" y="3846782"/>
            <a:ext cx="304892" cy="369332"/>
          </a:xfrm>
          <a:prstGeom prst="rect">
            <a:avLst/>
          </a:prstGeom>
        </p:spPr>
        <p:txBody>
          <a:bodyPr wrap="none">
            <a:spAutoFit/>
          </a:bodyPr>
          <a:lstStyle/>
          <a:p>
            <a:r>
              <a:rPr lang="en-US" b="1" dirty="0">
                <a:solidFill>
                  <a:prstClr val="black"/>
                </a:solidFill>
              </a:rPr>
              <a:t>F</a:t>
            </a:r>
          </a:p>
        </p:txBody>
      </p:sp>
      <p:sp>
        <p:nvSpPr>
          <p:cNvPr id="86" name="Rectangle 85"/>
          <p:cNvSpPr/>
          <p:nvPr/>
        </p:nvSpPr>
        <p:spPr>
          <a:xfrm>
            <a:off x="6467363" y="3861983"/>
            <a:ext cx="340158" cy="369332"/>
          </a:xfrm>
          <a:prstGeom prst="rect">
            <a:avLst/>
          </a:prstGeom>
        </p:spPr>
        <p:txBody>
          <a:bodyPr wrap="none">
            <a:spAutoFit/>
          </a:bodyPr>
          <a:lstStyle/>
          <a:p>
            <a:r>
              <a:rPr lang="en-US" b="1" dirty="0">
                <a:solidFill>
                  <a:prstClr val="black"/>
                </a:solidFill>
              </a:rPr>
              <a:t>G</a:t>
            </a:r>
          </a:p>
        </p:txBody>
      </p:sp>
      <p:sp>
        <p:nvSpPr>
          <p:cNvPr id="87" name="Rectangle 86"/>
          <p:cNvSpPr/>
          <p:nvPr/>
        </p:nvSpPr>
        <p:spPr>
          <a:xfrm>
            <a:off x="5923779" y="4883500"/>
            <a:ext cx="277640" cy="369332"/>
          </a:xfrm>
          <a:prstGeom prst="rect">
            <a:avLst/>
          </a:prstGeom>
        </p:spPr>
        <p:txBody>
          <a:bodyPr wrap="none">
            <a:spAutoFit/>
          </a:bodyPr>
          <a:lstStyle/>
          <a:p>
            <a:r>
              <a:rPr lang="en-US" b="1" dirty="0">
                <a:solidFill>
                  <a:prstClr val="black"/>
                </a:solidFill>
              </a:rPr>
              <a:t>J</a:t>
            </a:r>
          </a:p>
        </p:txBody>
      </p:sp>
      <p:sp>
        <p:nvSpPr>
          <p:cNvPr id="88" name="Rectangle 87"/>
          <p:cNvSpPr/>
          <p:nvPr/>
        </p:nvSpPr>
        <p:spPr>
          <a:xfrm>
            <a:off x="7146697" y="4879786"/>
            <a:ext cx="330540" cy="369332"/>
          </a:xfrm>
          <a:prstGeom prst="rect">
            <a:avLst/>
          </a:prstGeom>
        </p:spPr>
        <p:txBody>
          <a:bodyPr wrap="none">
            <a:spAutoFit/>
          </a:bodyPr>
          <a:lstStyle/>
          <a:p>
            <a:r>
              <a:rPr lang="en-US" b="1" dirty="0">
                <a:solidFill>
                  <a:prstClr val="black"/>
                </a:solidFill>
              </a:rPr>
              <a:t>K</a:t>
            </a:r>
          </a:p>
        </p:txBody>
      </p:sp>
      <p:sp>
        <p:nvSpPr>
          <p:cNvPr id="89" name="Rectangle 88"/>
          <p:cNvSpPr/>
          <p:nvPr/>
        </p:nvSpPr>
        <p:spPr>
          <a:xfrm>
            <a:off x="3294991" y="4859128"/>
            <a:ext cx="248786" cy="369332"/>
          </a:xfrm>
          <a:prstGeom prst="rect">
            <a:avLst/>
          </a:prstGeom>
        </p:spPr>
        <p:txBody>
          <a:bodyPr wrap="none">
            <a:spAutoFit/>
          </a:bodyPr>
          <a:lstStyle/>
          <a:p>
            <a:r>
              <a:rPr lang="en-US" b="1" dirty="0">
                <a:solidFill>
                  <a:prstClr val="black"/>
                </a:solidFill>
              </a:rPr>
              <a:t>I</a:t>
            </a:r>
          </a:p>
        </p:txBody>
      </p:sp>
      <p:sp>
        <p:nvSpPr>
          <p:cNvPr id="91" name="Rectangle 90"/>
          <p:cNvSpPr/>
          <p:nvPr/>
        </p:nvSpPr>
        <p:spPr>
          <a:xfrm>
            <a:off x="641576" y="4852097"/>
            <a:ext cx="346570" cy="369332"/>
          </a:xfrm>
          <a:prstGeom prst="rect">
            <a:avLst/>
          </a:prstGeom>
        </p:spPr>
        <p:txBody>
          <a:bodyPr wrap="none">
            <a:spAutoFit/>
          </a:bodyPr>
          <a:lstStyle/>
          <a:p>
            <a:r>
              <a:rPr lang="en-US" b="1" dirty="0">
                <a:solidFill>
                  <a:prstClr val="black"/>
                </a:solidFill>
              </a:rPr>
              <a:t>H</a:t>
            </a:r>
          </a:p>
        </p:txBody>
      </p:sp>
      <p:sp>
        <p:nvSpPr>
          <p:cNvPr id="92" name="Rectangle 91"/>
          <p:cNvSpPr/>
          <p:nvPr/>
        </p:nvSpPr>
        <p:spPr>
          <a:xfrm>
            <a:off x="2632725" y="3853127"/>
            <a:ext cx="316112" cy="369332"/>
          </a:xfrm>
          <a:prstGeom prst="rect">
            <a:avLst/>
          </a:prstGeom>
        </p:spPr>
        <p:txBody>
          <a:bodyPr wrap="none">
            <a:spAutoFit/>
          </a:bodyPr>
          <a:lstStyle/>
          <a:p>
            <a:r>
              <a:rPr lang="en-US" b="1" dirty="0">
                <a:solidFill>
                  <a:prstClr val="black"/>
                </a:solidFill>
              </a:rPr>
              <a:t>E</a:t>
            </a:r>
          </a:p>
        </p:txBody>
      </p:sp>
      <p:graphicFrame>
        <p:nvGraphicFramePr>
          <p:cNvPr id="5" name="Table 4"/>
          <p:cNvGraphicFramePr>
            <a:graphicFrameLocks noGrp="1"/>
          </p:cNvGraphicFramePr>
          <p:nvPr>
            <p:extLst>
              <p:ext uri="{D42A27DB-BD31-4B8C-83A1-F6EECF244321}">
                <p14:modId xmlns:p14="http://schemas.microsoft.com/office/powerpoint/2010/main" val="1982145210"/>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2353885934"/>
                    </a:ext>
                  </a:extLst>
                </a:gridCol>
              </a:tblGrid>
              <a:tr h="370840">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r>
                        <a:rPr lang="en-US" dirty="0">
                          <a:solidFill>
                            <a:schemeClr val="tx1"/>
                          </a:solidFill>
                        </a:rPr>
                        <a:t>G</a:t>
                      </a:r>
                    </a:p>
                  </a:txBody>
                  <a:tcPr>
                    <a:solidFill>
                      <a:schemeClr val="accent6">
                        <a:lumMod val="60000"/>
                        <a:lumOff val="40000"/>
                      </a:schemeClr>
                    </a:solidFill>
                  </a:tcPr>
                </a:tc>
                <a:tc>
                  <a:txBody>
                    <a:bodyPr/>
                    <a:lstStyle/>
                    <a:p>
                      <a:pPr algn="ctr"/>
                      <a:r>
                        <a:rPr lang="en-US" dirty="0"/>
                        <a:t> </a:t>
                      </a:r>
                      <a:r>
                        <a:rPr lang="en-US" dirty="0">
                          <a:solidFill>
                            <a:schemeClr val="tx1"/>
                          </a:solidFill>
                        </a:rPr>
                        <a:t>H</a:t>
                      </a:r>
                    </a:p>
                  </a:txBody>
                  <a:tcPr>
                    <a:solidFill>
                      <a:schemeClr val="accent6">
                        <a:lumMod val="60000"/>
                        <a:lumOff val="40000"/>
                      </a:schemeClr>
                    </a:solidFill>
                  </a:tcPr>
                </a:tc>
                <a:tc>
                  <a:txBody>
                    <a:bodyPr/>
                    <a:lstStyle/>
                    <a:p>
                      <a:pPr algn="ctr"/>
                      <a:r>
                        <a:rPr lang="en-US" dirty="0">
                          <a:solidFill>
                            <a:schemeClr val="tx1"/>
                          </a:solidFill>
                        </a:rPr>
                        <a:t>I</a:t>
                      </a: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extLst>
                  <a:ext uri="{0D108BD9-81ED-4DB2-BD59-A6C34878D82A}">
                    <a16:rowId xmlns:a16="http://schemas.microsoft.com/office/drawing/2014/main" val="660647860"/>
                  </a:ext>
                </a:extLst>
              </a:tr>
            </a:tbl>
          </a:graphicData>
        </a:graphic>
      </p:graphicFrame>
      <p:sp>
        <p:nvSpPr>
          <p:cNvPr id="6" name="TextBox 5"/>
          <p:cNvSpPr txBox="1"/>
          <p:nvPr/>
        </p:nvSpPr>
        <p:spPr>
          <a:xfrm>
            <a:off x="965262" y="5554545"/>
            <a:ext cx="418704" cy="461665"/>
          </a:xfrm>
          <a:prstGeom prst="rect">
            <a:avLst/>
          </a:prstGeom>
          <a:noFill/>
        </p:spPr>
        <p:txBody>
          <a:bodyPr wrap="none" rtlCol="0">
            <a:spAutoFit/>
          </a:bodyPr>
          <a:lstStyle/>
          <a:p>
            <a:r>
              <a:rPr lang="en-US" sz="2400" b="1" dirty="0">
                <a:effectLst>
                  <a:outerShdw blurRad="38100" dist="38100" dir="2700000" algn="tl">
                    <a:srgbClr val="000000">
                      <a:alpha val="43137"/>
                    </a:srgbClr>
                  </a:outerShdw>
                </a:effectLst>
              </a:rPr>
              <a:t>Q</a:t>
            </a:r>
          </a:p>
        </p:txBody>
      </p:sp>
      <p:cxnSp>
        <p:nvCxnSpPr>
          <p:cNvPr id="39" name="Straight Connector 38"/>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41" name="Table 40"/>
          <p:cNvGraphicFramePr>
            <a:graphicFrameLocks noGrp="1"/>
          </p:cNvGraphicFramePr>
          <p:nvPr/>
        </p:nvGraphicFramePr>
        <p:xfrm>
          <a:off x="1437550" y="6028129"/>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B</a:t>
                      </a:r>
                    </a:p>
                  </a:txBody>
                  <a:tcPr>
                    <a:noFill/>
                  </a:tcPr>
                </a:tc>
                <a:tc>
                  <a:txBody>
                    <a:bodyPr/>
                    <a:lstStyle/>
                    <a:p>
                      <a:pPr algn="ctr"/>
                      <a:r>
                        <a:rPr lang="en-US" dirty="0">
                          <a:solidFill>
                            <a:schemeClr val="tx1"/>
                          </a:solidFill>
                        </a:rPr>
                        <a:t>C</a:t>
                      </a:r>
                    </a:p>
                  </a:txBody>
                  <a:tcPr>
                    <a:noFill/>
                  </a:tcPr>
                </a:tc>
                <a:tc>
                  <a:txBody>
                    <a:bodyPr/>
                    <a:lstStyle/>
                    <a:p>
                      <a:pPr algn="ctr"/>
                      <a:r>
                        <a:rPr lang="en-US" dirty="0">
                          <a:solidFill>
                            <a:schemeClr val="tx1"/>
                          </a:solidFill>
                        </a:rPr>
                        <a:t>D</a:t>
                      </a:r>
                    </a:p>
                  </a:txBody>
                  <a:tcPr>
                    <a:noFill/>
                  </a:tcPr>
                </a:tc>
                <a:tc>
                  <a:txBody>
                    <a:bodyPr/>
                    <a:lstStyle/>
                    <a:p>
                      <a:pPr algn="ctr"/>
                      <a:r>
                        <a:rPr lang="en-US" dirty="0">
                          <a:solidFill>
                            <a:schemeClr val="tx1"/>
                          </a:solidFill>
                        </a:rPr>
                        <a:t>E</a:t>
                      </a:r>
                    </a:p>
                  </a:txBody>
                  <a:tcPr>
                    <a:noFill/>
                  </a:tcPr>
                </a:tc>
                <a:tc>
                  <a:txBody>
                    <a:bodyPr/>
                    <a:lstStyle/>
                    <a:p>
                      <a:pPr algn="ctr"/>
                      <a:r>
                        <a:rPr lang="en-US" dirty="0">
                          <a:solidFill>
                            <a:schemeClr val="tx1"/>
                          </a:solidFill>
                        </a:rPr>
                        <a:t>F</a:t>
                      </a: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graphicFrame>
        <p:nvGraphicFramePr>
          <p:cNvPr id="49" name="Table 48">
            <a:extLst>
              <a:ext uri="{FF2B5EF4-FFF2-40B4-BE49-F238E27FC236}">
                <a16:creationId xmlns:a16="http://schemas.microsoft.com/office/drawing/2014/main" id="{9E8D7487-A81B-42DD-8FA4-983ED31647F9}"/>
              </a:ext>
            </a:extLst>
          </p:cNvPr>
          <p:cNvGraphicFramePr>
            <a:graphicFrameLocks noGrp="1"/>
          </p:cNvGraphicFramePr>
          <p:nvPr/>
        </p:nvGraphicFramePr>
        <p:xfrm>
          <a:off x="8658993" y="1862844"/>
          <a:ext cx="2132240" cy="4719320"/>
        </p:xfrm>
        <a:graphic>
          <a:graphicData uri="http://schemas.openxmlformats.org/drawingml/2006/table">
            <a:tbl>
              <a:tblPr firstRow="1" bandRow="1">
                <a:tableStyleId>{5C22544A-7EE6-4342-B048-85BDC9FD1C3A}</a:tableStyleId>
              </a:tblPr>
              <a:tblGrid>
                <a:gridCol w="847864">
                  <a:extLst>
                    <a:ext uri="{9D8B030D-6E8A-4147-A177-3AD203B41FA5}">
                      <a16:colId xmlns:a16="http://schemas.microsoft.com/office/drawing/2014/main" val="2989644895"/>
                    </a:ext>
                  </a:extLst>
                </a:gridCol>
                <a:gridCol w="1284376">
                  <a:extLst>
                    <a:ext uri="{9D8B030D-6E8A-4147-A177-3AD203B41FA5}">
                      <a16:colId xmlns:a16="http://schemas.microsoft.com/office/drawing/2014/main" val="4244960412"/>
                    </a:ext>
                  </a:extLst>
                </a:gridCol>
              </a:tblGrid>
              <a:tr h="370840">
                <a:tc>
                  <a:txBody>
                    <a:bodyPr/>
                    <a:lstStyle/>
                    <a:p>
                      <a:pPr algn="ctr"/>
                      <a:r>
                        <a:rPr lang="en-US" dirty="0"/>
                        <a:t>NODE</a:t>
                      </a:r>
                    </a:p>
                  </a:txBody>
                  <a:tcPr/>
                </a:tc>
                <a:tc>
                  <a:txBody>
                    <a:bodyPr/>
                    <a:lstStyle/>
                    <a:p>
                      <a:pPr algn="ctr"/>
                      <a:r>
                        <a:rPr lang="en-US" dirty="0"/>
                        <a:t>CHILDREN</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F,G</a:t>
                      </a:r>
                      <a:endParaRPr lang="en-US" b="1" dirty="0"/>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H,-</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-,I</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J,K</a:t>
                      </a:r>
                    </a:p>
                  </a:txBody>
                  <a:tcPr/>
                </a:tc>
                <a:extLst>
                  <a:ext uri="{0D108BD9-81ED-4DB2-BD59-A6C34878D82A}">
                    <a16:rowId xmlns:a16="http://schemas.microsoft.com/office/drawing/2014/main" val="1205733479"/>
                  </a:ext>
                </a:extLst>
              </a:tr>
              <a:tr h="370840">
                <a:tc>
                  <a:txBody>
                    <a:bodyPr/>
                    <a:lstStyle/>
                    <a:p>
                      <a:pPr algn="ctr"/>
                      <a:r>
                        <a:rPr lang="en-US" b="1" dirty="0"/>
                        <a: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987431379"/>
                  </a:ext>
                </a:extLst>
              </a:tr>
              <a:tr h="370840">
                <a:tc>
                  <a:txBody>
                    <a:bodyPr/>
                    <a:lstStyle/>
                    <a:p>
                      <a:pPr algn="ctr"/>
                      <a:r>
                        <a:rPr lang="en-US" b="1" dirty="0"/>
                        <a:t>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290039795"/>
                  </a:ext>
                </a:extLst>
              </a:tr>
              <a:tr h="370840">
                <a:tc>
                  <a:txBody>
                    <a:bodyPr/>
                    <a:lstStyle/>
                    <a:p>
                      <a:pPr algn="ctr"/>
                      <a:r>
                        <a:rPr lang="en-US" b="1" dirty="0"/>
                        <a:t>J</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873125107"/>
                  </a:ext>
                </a:extLst>
              </a:tr>
              <a:tr h="370840">
                <a:tc>
                  <a:txBody>
                    <a:bodyPr/>
                    <a:lstStyle/>
                    <a:p>
                      <a:pPr algn="ctr"/>
                      <a:r>
                        <a:rPr lang="en-US" b="1" dirty="0"/>
                        <a:t>K</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640632725"/>
                  </a:ext>
                </a:extLst>
              </a:tr>
            </a:tbl>
          </a:graphicData>
        </a:graphic>
      </p:graphicFrame>
      <p:grpSp>
        <p:nvGrpSpPr>
          <p:cNvPr id="42" name="Group 41">
            <a:extLst>
              <a:ext uri="{FF2B5EF4-FFF2-40B4-BE49-F238E27FC236}">
                <a16:creationId xmlns:a16="http://schemas.microsoft.com/office/drawing/2014/main" id="{27EDDB0B-03DE-40D7-A7F6-333B18EDAA3A}"/>
              </a:ext>
            </a:extLst>
          </p:cNvPr>
          <p:cNvGrpSpPr/>
          <p:nvPr/>
        </p:nvGrpSpPr>
        <p:grpSpPr>
          <a:xfrm>
            <a:off x="4113051" y="5599958"/>
            <a:ext cx="511370" cy="356179"/>
            <a:chOff x="1437550" y="5599958"/>
            <a:chExt cx="511370" cy="356179"/>
          </a:xfrm>
        </p:grpSpPr>
        <p:cxnSp>
          <p:nvCxnSpPr>
            <p:cNvPr id="43" name="Straight Connector 42">
              <a:extLst>
                <a:ext uri="{FF2B5EF4-FFF2-40B4-BE49-F238E27FC236}">
                  <a16:creationId xmlns:a16="http://schemas.microsoft.com/office/drawing/2014/main" id="{C94C9C17-BF45-4C3C-8294-7F8B95FD8790}"/>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4DBD322F-D595-4D24-B126-AEBA41DB8C22}"/>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62B39105-24F1-4465-ADD2-C0696B04539D}"/>
              </a:ext>
            </a:extLst>
          </p:cNvPr>
          <p:cNvGrpSpPr/>
          <p:nvPr/>
        </p:nvGrpSpPr>
        <p:grpSpPr>
          <a:xfrm>
            <a:off x="1437550" y="5599958"/>
            <a:ext cx="511370" cy="356179"/>
            <a:chOff x="1437550" y="5599958"/>
            <a:chExt cx="511370" cy="356179"/>
          </a:xfrm>
        </p:grpSpPr>
        <p:cxnSp>
          <p:nvCxnSpPr>
            <p:cNvPr id="47" name="Straight Connector 46">
              <a:extLst>
                <a:ext uri="{FF2B5EF4-FFF2-40B4-BE49-F238E27FC236}">
                  <a16:creationId xmlns:a16="http://schemas.microsoft.com/office/drawing/2014/main" id="{66523D3D-7F35-4D05-A092-5CB042DD8B1D}"/>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5A7BFD4D-20C3-461C-92F3-04D81F63B3E0}"/>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50" name="Group 49">
            <a:extLst>
              <a:ext uri="{FF2B5EF4-FFF2-40B4-BE49-F238E27FC236}">
                <a16:creationId xmlns:a16="http://schemas.microsoft.com/office/drawing/2014/main" id="{6E7DE7DB-E8CE-4461-A5B6-0E9722AF15B2}"/>
              </a:ext>
            </a:extLst>
          </p:cNvPr>
          <p:cNvGrpSpPr/>
          <p:nvPr/>
        </p:nvGrpSpPr>
        <p:grpSpPr>
          <a:xfrm>
            <a:off x="1995249" y="5599958"/>
            <a:ext cx="511370" cy="356179"/>
            <a:chOff x="1437550" y="5599958"/>
            <a:chExt cx="511370" cy="356179"/>
          </a:xfrm>
        </p:grpSpPr>
        <p:cxnSp>
          <p:nvCxnSpPr>
            <p:cNvPr id="51" name="Straight Connector 50">
              <a:extLst>
                <a:ext uri="{FF2B5EF4-FFF2-40B4-BE49-F238E27FC236}">
                  <a16:creationId xmlns:a16="http://schemas.microsoft.com/office/drawing/2014/main" id="{921D7121-7666-4459-BF81-EB224D7B55CF}"/>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54A7B7BB-8C04-4EF9-935C-D4594DC6880E}"/>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8C751BA0-62FF-4170-9222-7B91162A3315}"/>
              </a:ext>
            </a:extLst>
          </p:cNvPr>
          <p:cNvGrpSpPr/>
          <p:nvPr/>
        </p:nvGrpSpPr>
        <p:grpSpPr>
          <a:xfrm>
            <a:off x="2497104" y="5620871"/>
            <a:ext cx="511370" cy="356179"/>
            <a:chOff x="1437550" y="5599958"/>
            <a:chExt cx="511370" cy="356179"/>
          </a:xfrm>
        </p:grpSpPr>
        <p:cxnSp>
          <p:nvCxnSpPr>
            <p:cNvPr id="54" name="Straight Connector 53">
              <a:extLst>
                <a:ext uri="{FF2B5EF4-FFF2-40B4-BE49-F238E27FC236}">
                  <a16:creationId xmlns:a16="http://schemas.microsoft.com/office/drawing/2014/main" id="{7B8DECED-C450-4885-BD46-CC5D946D21A5}"/>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42147759-F65C-48AD-93CD-70BA2614F31F}"/>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56" name="Group 55">
            <a:extLst>
              <a:ext uri="{FF2B5EF4-FFF2-40B4-BE49-F238E27FC236}">
                <a16:creationId xmlns:a16="http://schemas.microsoft.com/office/drawing/2014/main" id="{DC962D41-6D93-4292-B695-264ECAFE38E5}"/>
              </a:ext>
            </a:extLst>
          </p:cNvPr>
          <p:cNvGrpSpPr/>
          <p:nvPr/>
        </p:nvGrpSpPr>
        <p:grpSpPr>
          <a:xfrm>
            <a:off x="3032407" y="5593647"/>
            <a:ext cx="511370" cy="356179"/>
            <a:chOff x="1437550" y="5599958"/>
            <a:chExt cx="511370" cy="356179"/>
          </a:xfrm>
        </p:grpSpPr>
        <p:cxnSp>
          <p:nvCxnSpPr>
            <p:cNvPr id="57" name="Straight Connector 56">
              <a:extLst>
                <a:ext uri="{FF2B5EF4-FFF2-40B4-BE49-F238E27FC236}">
                  <a16:creationId xmlns:a16="http://schemas.microsoft.com/office/drawing/2014/main" id="{BD6795CC-E4C0-426B-8588-B422804A8324}"/>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A4765885-7B50-4D8C-A6E0-02FF43D1001D}"/>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59" name="Group 58">
            <a:extLst>
              <a:ext uri="{FF2B5EF4-FFF2-40B4-BE49-F238E27FC236}">
                <a16:creationId xmlns:a16="http://schemas.microsoft.com/office/drawing/2014/main" id="{35F000B2-A768-44C1-ACED-A6AB77F6C798}"/>
              </a:ext>
            </a:extLst>
          </p:cNvPr>
          <p:cNvGrpSpPr/>
          <p:nvPr/>
        </p:nvGrpSpPr>
        <p:grpSpPr>
          <a:xfrm>
            <a:off x="3551032" y="5604103"/>
            <a:ext cx="511370" cy="356179"/>
            <a:chOff x="1437550" y="5599958"/>
            <a:chExt cx="511370" cy="356179"/>
          </a:xfrm>
        </p:grpSpPr>
        <p:cxnSp>
          <p:nvCxnSpPr>
            <p:cNvPr id="60" name="Straight Connector 59">
              <a:extLst>
                <a:ext uri="{FF2B5EF4-FFF2-40B4-BE49-F238E27FC236}">
                  <a16:creationId xmlns:a16="http://schemas.microsoft.com/office/drawing/2014/main" id="{FBBF7625-B34A-442F-A95D-22E4827753B2}"/>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D2855B2B-49DA-492A-A939-5042E1BEE52E}"/>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401996224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Straight Connector 45"/>
          <p:cNvCxnSpPr/>
          <p:nvPr/>
        </p:nvCxnSpPr>
        <p:spPr>
          <a:xfrm flipV="1">
            <a:off x="797123" y="4129201"/>
            <a:ext cx="542694" cy="82386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flipV="1">
            <a:off x="2838130" y="4019053"/>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ln>
            <a:noFill/>
          </a:ln>
        </p:spPr>
        <p:txBody>
          <a:bodyPr/>
          <a:lstStyle/>
          <a:p>
            <a:r>
              <a:rPr lang="en-US" dirty="0"/>
              <a:t>Breadth-First Search</a:t>
            </a:r>
          </a:p>
        </p:txBody>
      </p:sp>
      <p:sp>
        <p:nvSpPr>
          <p:cNvPr id="3" name="Slide Number Placeholder 2">
            <a:extLst>
              <a:ext uri="{FF2B5EF4-FFF2-40B4-BE49-F238E27FC236}">
                <a16:creationId xmlns:a16="http://schemas.microsoft.com/office/drawing/2014/main" id="{39EDC15B-233D-4CA6-9425-AA0B2BAC2C3F}"/>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76/110</a:t>
            </a:r>
          </a:p>
        </p:txBody>
      </p:sp>
      <p:cxnSp>
        <p:nvCxnSpPr>
          <p:cNvPr id="8" name="Straight Connector 7"/>
          <p:cNvCxnSpPr/>
          <p:nvPr/>
        </p:nvCxnSpPr>
        <p:spPr>
          <a:xfrm flipH="1" flipV="1">
            <a:off x="4129859" y="1873873"/>
            <a:ext cx="1853477" cy="11790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2127196" y="2004369"/>
            <a:ext cx="1804150" cy="10422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3895286" y="176439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8" name="Straight Connector 17"/>
          <p:cNvCxnSpPr/>
          <p:nvPr/>
        </p:nvCxnSpPr>
        <p:spPr>
          <a:xfrm flipH="1" flipV="1">
            <a:off x="2191623" y="2983419"/>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406709" y="3052968"/>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1922122" y="2896761"/>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Oval 16"/>
          <p:cNvSpPr>
            <a:spLocks noChangeArrowheads="1"/>
          </p:cNvSpPr>
          <p:nvPr/>
        </p:nvSpPr>
        <p:spPr bwMode="auto">
          <a:xfrm>
            <a:off x="1225864" y="378497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5" name="Oval 16"/>
          <p:cNvSpPr>
            <a:spLocks noChangeArrowheads="1"/>
          </p:cNvSpPr>
          <p:nvPr/>
        </p:nvSpPr>
        <p:spPr bwMode="auto">
          <a:xfrm>
            <a:off x="2572943" y="382819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4" name="Oval 16"/>
          <p:cNvSpPr>
            <a:spLocks noChangeArrowheads="1"/>
          </p:cNvSpPr>
          <p:nvPr/>
        </p:nvSpPr>
        <p:spPr bwMode="auto">
          <a:xfrm>
            <a:off x="3251450" y="480945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6" name="Oval 16"/>
          <p:cNvSpPr>
            <a:spLocks noChangeArrowheads="1"/>
          </p:cNvSpPr>
          <p:nvPr/>
        </p:nvSpPr>
        <p:spPr bwMode="auto">
          <a:xfrm>
            <a:off x="577751" y="4810837"/>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61" name="Straight Connector 60"/>
          <p:cNvCxnSpPr/>
          <p:nvPr/>
        </p:nvCxnSpPr>
        <p:spPr>
          <a:xfrm flipH="1" flipV="1">
            <a:off x="6681579" y="4037641"/>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6068720" y="4104906"/>
            <a:ext cx="457312" cy="8114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flipV="1">
            <a:off x="6035072" y="3002007"/>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5250158" y="3071556"/>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Oval 16"/>
          <p:cNvSpPr>
            <a:spLocks noChangeArrowheads="1"/>
          </p:cNvSpPr>
          <p:nvPr/>
        </p:nvSpPr>
        <p:spPr bwMode="auto">
          <a:xfrm>
            <a:off x="5765571" y="29153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6" name="Oval 16"/>
          <p:cNvSpPr>
            <a:spLocks noChangeArrowheads="1"/>
          </p:cNvSpPr>
          <p:nvPr/>
        </p:nvSpPr>
        <p:spPr bwMode="auto">
          <a:xfrm>
            <a:off x="5069313" y="380356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7" name="Oval 16"/>
          <p:cNvSpPr>
            <a:spLocks noChangeArrowheads="1"/>
          </p:cNvSpPr>
          <p:nvPr/>
        </p:nvSpPr>
        <p:spPr bwMode="auto">
          <a:xfrm>
            <a:off x="6416392" y="384678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8" name="Oval 16"/>
          <p:cNvSpPr>
            <a:spLocks noChangeArrowheads="1"/>
          </p:cNvSpPr>
          <p:nvPr/>
        </p:nvSpPr>
        <p:spPr bwMode="auto">
          <a:xfrm>
            <a:off x="5870482" y="482942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9" name="Oval 16"/>
          <p:cNvSpPr>
            <a:spLocks noChangeArrowheads="1"/>
          </p:cNvSpPr>
          <p:nvPr/>
        </p:nvSpPr>
        <p:spPr bwMode="auto">
          <a:xfrm>
            <a:off x="7094899" y="482803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76" name="TextBox 75"/>
          <p:cNvSpPr txBox="1"/>
          <p:nvPr/>
        </p:nvSpPr>
        <p:spPr>
          <a:xfrm>
            <a:off x="3944575" y="1786250"/>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82" name="TextBox 81"/>
          <p:cNvSpPr txBox="1"/>
          <p:nvPr/>
        </p:nvSpPr>
        <p:spPr>
          <a:xfrm>
            <a:off x="1967407" y="2929860"/>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83" name="TextBox 82"/>
          <p:cNvSpPr txBox="1"/>
          <p:nvPr/>
        </p:nvSpPr>
        <p:spPr>
          <a:xfrm>
            <a:off x="5833156" y="2937297"/>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84" name="Rectangle 83"/>
          <p:cNvSpPr/>
          <p:nvPr/>
        </p:nvSpPr>
        <p:spPr>
          <a:xfrm>
            <a:off x="1273931" y="3822650"/>
            <a:ext cx="343364" cy="369332"/>
          </a:xfrm>
          <a:prstGeom prst="rect">
            <a:avLst/>
          </a:prstGeom>
        </p:spPr>
        <p:txBody>
          <a:bodyPr wrap="none">
            <a:spAutoFit/>
          </a:bodyPr>
          <a:lstStyle/>
          <a:p>
            <a:r>
              <a:rPr lang="en-US" b="1" dirty="0">
                <a:solidFill>
                  <a:prstClr val="black"/>
                </a:solidFill>
              </a:rPr>
              <a:t>D</a:t>
            </a:r>
          </a:p>
        </p:txBody>
      </p:sp>
      <p:sp>
        <p:nvSpPr>
          <p:cNvPr id="85" name="Rectangle 84"/>
          <p:cNvSpPr/>
          <p:nvPr/>
        </p:nvSpPr>
        <p:spPr>
          <a:xfrm>
            <a:off x="5116299" y="3846782"/>
            <a:ext cx="304892" cy="369332"/>
          </a:xfrm>
          <a:prstGeom prst="rect">
            <a:avLst/>
          </a:prstGeom>
        </p:spPr>
        <p:txBody>
          <a:bodyPr wrap="none">
            <a:spAutoFit/>
          </a:bodyPr>
          <a:lstStyle/>
          <a:p>
            <a:r>
              <a:rPr lang="en-US" b="1" dirty="0">
                <a:solidFill>
                  <a:prstClr val="black"/>
                </a:solidFill>
              </a:rPr>
              <a:t>F</a:t>
            </a:r>
          </a:p>
        </p:txBody>
      </p:sp>
      <p:sp>
        <p:nvSpPr>
          <p:cNvPr id="86" name="Rectangle 85"/>
          <p:cNvSpPr/>
          <p:nvPr/>
        </p:nvSpPr>
        <p:spPr>
          <a:xfrm>
            <a:off x="6467363" y="3861983"/>
            <a:ext cx="340158" cy="369332"/>
          </a:xfrm>
          <a:prstGeom prst="rect">
            <a:avLst/>
          </a:prstGeom>
        </p:spPr>
        <p:txBody>
          <a:bodyPr wrap="none">
            <a:spAutoFit/>
          </a:bodyPr>
          <a:lstStyle/>
          <a:p>
            <a:r>
              <a:rPr lang="en-US" b="1" dirty="0">
                <a:solidFill>
                  <a:prstClr val="black"/>
                </a:solidFill>
              </a:rPr>
              <a:t>G</a:t>
            </a:r>
          </a:p>
        </p:txBody>
      </p:sp>
      <p:sp>
        <p:nvSpPr>
          <p:cNvPr id="87" name="Rectangle 86"/>
          <p:cNvSpPr/>
          <p:nvPr/>
        </p:nvSpPr>
        <p:spPr>
          <a:xfrm>
            <a:off x="5923779" y="4883500"/>
            <a:ext cx="277640" cy="369332"/>
          </a:xfrm>
          <a:prstGeom prst="rect">
            <a:avLst/>
          </a:prstGeom>
        </p:spPr>
        <p:txBody>
          <a:bodyPr wrap="none">
            <a:spAutoFit/>
          </a:bodyPr>
          <a:lstStyle/>
          <a:p>
            <a:r>
              <a:rPr lang="en-US" b="1" dirty="0">
                <a:solidFill>
                  <a:prstClr val="black"/>
                </a:solidFill>
              </a:rPr>
              <a:t>J</a:t>
            </a:r>
          </a:p>
        </p:txBody>
      </p:sp>
      <p:sp>
        <p:nvSpPr>
          <p:cNvPr id="88" name="Rectangle 87"/>
          <p:cNvSpPr/>
          <p:nvPr/>
        </p:nvSpPr>
        <p:spPr>
          <a:xfrm>
            <a:off x="7146697" y="4879786"/>
            <a:ext cx="330540" cy="369332"/>
          </a:xfrm>
          <a:prstGeom prst="rect">
            <a:avLst/>
          </a:prstGeom>
        </p:spPr>
        <p:txBody>
          <a:bodyPr wrap="none">
            <a:spAutoFit/>
          </a:bodyPr>
          <a:lstStyle/>
          <a:p>
            <a:r>
              <a:rPr lang="en-US" b="1" dirty="0">
                <a:solidFill>
                  <a:prstClr val="black"/>
                </a:solidFill>
              </a:rPr>
              <a:t>K</a:t>
            </a:r>
          </a:p>
        </p:txBody>
      </p:sp>
      <p:sp>
        <p:nvSpPr>
          <p:cNvPr id="89" name="Rectangle 88"/>
          <p:cNvSpPr/>
          <p:nvPr/>
        </p:nvSpPr>
        <p:spPr>
          <a:xfrm>
            <a:off x="3294991" y="4859128"/>
            <a:ext cx="248786" cy="369332"/>
          </a:xfrm>
          <a:prstGeom prst="rect">
            <a:avLst/>
          </a:prstGeom>
        </p:spPr>
        <p:txBody>
          <a:bodyPr wrap="none">
            <a:spAutoFit/>
          </a:bodyPr>
          <a:lstStyle/>
          <a:p>
            <a:r>
              <a:rPr lang="en-US" b="1" dirty="0">
                <a:solidFill>
                  <a:prstClr val="black"/>
                </a:solidFill>
              </a:rPr>
              <a:t>I</a:t>
            </a:r>
          </a:p>
        </p:txBody>
      </p:sp>
      <p:sp>
        <p:nvSpPr>
          <p:cNvPr id="91" name="Rectangle 90"/>
          <p:cNvSpPr/>
          <p:nvPr/>
        </p:nvSpPr>
        <p:spPr>
          <a:xfrm>
            <a:off x="641576" y="4852097"/>
            <a:ext cx="346570" cy="369332"/>
          </a:xfrm>
          <a:prstGeom prst="rect">
            <a:avLst/>
          </a:prstGeom>
        </p:spPr>
        <p:txBody>
          <a:bodyPr wrap="none">
            <a:spAutoFit/>
          </a:bodyPr>
          <a:lstStyle/>
          <a:p>
            <a:r>
              <a:rPr lang="en-US" b="1" dirty="0">
                <a:solidFill>
                  <a:prstClr val="black"/>
                </a:solidFill>
              </a:rPr>
              <a:t>H</a:t>
            </a:r>
          </a:p>
        </p:txBody>
      </p:sp>
      <p:sp>
        <p:nvSpPr>
          <p:cNvPr id="92" name="Rectangle 91"/>
          <p:cNvSpPr/>
          <p:nvPr/>
        </p:nvSpPr>
        <p:spPr>
          <a:xfrm>
            <a:off x="2632725" y="3853127"/>
            <a:ext cx="316112" cy="369332"/>
          </a:xfrm>
          <a:prstGeom prst="rect">
            <a:avLst/>
          </a:prstGeom>
        </p:spPr>
        <p:txBody>
          <a:bodyPr wrap="none">
            <a:spAutoFit/>
          </a:bodyPr>
          <a:lstStyle/>
          <a:p>
            <a:r>
              <a:rPr lang="en-US" b="1" dirty="0">
                <a:solidFill>
                  <a:prstClr val="black"/>
                </a:solidFill>
              </a:rPr>
              <a:t>E</a:t>
            </a:r>
          </a:p>
        </p:txBody>
      </p:sp>
      <p:graphicFrame>
        <p:nvGraphicFramePr>
          <p:cNvPr id="5" name="Table 4"/>
          <p:cNvGraphicFramePr>
            <a:graphicFrameLocks noGrp="1"/>
          </p:cNvGraphicFramePr>
          <p:nvPr>
            <p:extLst>
              <p:ext uri="{D42A27DB-BD31-4B8C-83A1-F6EECF244321}">
                <p14:modId xmlns:p14="http://schemas.microsoft.com/office/powerpoint/2010/main" val="1267535243"/>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2353885934"/>
                    </a:ext>
                  </a:extLst>
                </a:gridCol>
              </a:tblGrid>
              <a:tr h="370840">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r>
                        <a:rPr lang="en-US" dirty="0">
                          <a:solidFill>
                            <a:schemeClr val="tx1"/>
                          </a:solidFill>
                        </a:rPr>
                        <a:t>H</a:t>
                      </a:r>
                    </a:p>
                  </a:txBody>
                  <a:tcPr>
                    <a:solidFill>
                      <a:schemeClr val="accent6">
                        <a:lumMod val="60000"/>
                        <a:lumOff val="40000"/>
                      </a:schemeClr>
                    </a:solidFill>
                  </a:tcPr>
                </a:tc>
                <a:tc>
                  <a:txBody>
                    <a:bodyPr/>
                    <a:lstStyle/>
                    <a:p>
                      <a:pPr algn="ctr"/>
                      <a:r>
                        <a:rPr lang="en-US" dirty="0"/>
                        <a:t> </a:t>
                      </a:r>
                      <a:r>
                        <a:rPr lang="en-US" dirty="0">
                          <a:solidFill>
                            <a:schemeClr val="tx1"/>
                          </a:solidFill>
                        </a:rPr>
                        <a:t>I</a:t>
                      </a:r>
                    </a:p>
                  </a:txBody>
                  <a:tcPr>
                    <a:solidFill>
                      <a:schemeClr val="accent6">
                        <a:lumMod val="60000"/>
                        <a:lumOff val="40000"/>
                      </a:schemeClr>
                    </a:solidFill>
                  </a:tcPr>
                </a:tc>
                <a:tc>
                  <a:txBody>
                    <a:bodyPr/>
                    <a:lstStyle/>
                    <a:p>
                      <a:pPr algn="ctr"/>
                      <a:r>
                        <a:rPr lang="en-US" dirty="0">
                          <a:solidFill>
                            <a:schemeClr val="tx1"/>
                          </a:solidFill>
                        </a:rPr>
                        <a:t>J</a:t>
                      </a:r>
                    </a:p>
                  </a:txBody>
                  <a:tcPr>
                    <a:solidFill>
                      <a:schemeClr val="accent6">
                        <a:lumMod val="60000"/>
                        <a:lumOff val="40000"/>
                      </a:schemeClr>
                    </a:solidFill>
                  </a:tcPr>
                </a:tc>
                <a:tc>
                  <a:txBody>
                    <a:bodyPr/>
                    <a:lstStyle/>
                    <a:p>
                      <a:pPr algn="ctr"/>
                      <a:r>
                        <a:rPr lang="en-US" dirty="0">
                          <a:solidFill>
                            <a:schemeClr val="tx1"/>
                          </a:solidFill>
                        </a:rPr>
                        <a:t>K</a:t>
                      </a:r>
                    </a:p>
                  </a:txBody>
                  <a:tcPr>
                    <a:solidFill>
                      <a:schemeClr val="accent6">
                        <a:lumMod val="60000"/>
                        <a:lumOff val="40000"/>
                      </a:schemeClr>
                    </a:solidFill>
                  </a:tcPr>
                </a:tc>
                <a:extLst>
                  <a:ext uri="{0D108BD9-81ED-4DB2-BD59-A6C34878D82A}">
                    <a16:rowId xmlns:a16="http://schemas.microsoft.com/office/drawing/2014/main" val="660647860"/>
                  </a:ext>
                </a:extLst>
              </a:tr>
            </a:tbl>
          </a:graphicData>
        </a:graphic>
      </p:graphicFrame>
      <p:sp>
        <p:nvSpPr>
          <p:cNvPr id="6" name="TextBox 5"/>
          <p:cNvSpPr txBox="1"/>
          <p:nvPr/>
        </p:nvSpPr>
        <p:spPr>
          <a:xfrm>
            <a:off x="965262" y="5554545"/>
            <a:ext cx="418704" cy="461665"/>
          </a:xfrm>
          <a:prstGeom prst="rect">
            <a:avLst/>
          </a:prstGeom>
          <a:noFill/>
        </p:spPr>
        <p:txBody>
          <a:bodyPr wrap="none" rtlCol="0">
            <a:spAutoFit/>
          </a:bodyPr>
          <a:lstStyle/>
          <a:p>
            <a:r>
              <a:rPr lang="en-US" sz="2400" b="1" dirty="0">
                <a:effectLst>
                  <a:outerShdw blurRad="38100" dist="38100" dir="2700000" algn="tl">
                    <a:srgbClr val="000000">
                      <a:alpha val="43137"/>
                    </a:srgbClr>
                  </a:outerShdw>
                </a:effectLst>
              </a:rPr>
              <a:t>Q</a:t>
            </a:r>
          </a:p>
        </p:txBody>
      </p:sp>
      <p:cxnSp>
        <p:nvCxnSpPr>
          <p:cNvPr id="39" name="Straight Connector 38"/>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41" name="Table 40"/>
          <p:cNvGraphicFramePr>
            <a:graphicFrameLocks noGrp="1"/>
          </p:cNvGraphicFramePr>
          <p:nvPr/>
        </p:nvGraphicFramePr>
        <p:xfrm>
          <a:off x="1437550" y="6028129"/>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B</a:t>
                      </a:r>
                    </a:p>
                  </a:txBody>
                  <a:tcPr>
                    <a:noFill/>
                  </a:tcPr>
                </a:tc>
                <a:tc>
                  <a:txBody>
                    <a:bodyPr/>
                    <a:lstStyle/>
                    <a:p>
                      <a:pPr algn="ctr"/>
                      <a:r>
                        <a:rPr lang="en-US" dirty="0">
                          <a:solidFill>
                            <a:schemeClr val="tx1"/>
                          </a:solidFill>
                        </a:rPr>
                        <a:t>C</a:t>
                      </a:r>
                    </a:p>
                  </a:txBody>
                  <a:tcPr>
                    <a:noFill/>
                  </a:tcPr>
                </a:tc>
                <a:tc>
                  <a:txBody>
                    <a:bodyPr/>
                    <a:lstStyle/>
                    <a:p>
                      <a:pPr algn="ctr"/>
                      <a:r>
                        <a:rPr lang="en-US" dirty="0">
                          <a:solidFill>
                            <a:schemeClr val="tx1"/>
                          </a:solidFill>
                        </a:rPr>
                        <a:t>D</a:t>
                      </a:r>
                    </a:p>
                  </a:txBody>
                  <a:tcPr>
                    <a:noFill/>
                  </a:tcPr>
                </a:tc>
                <a:tc>
                  <a:txBody>
                    <a:bodyPr/>
                    <a:lstStyle/>
                    <a:p>
                      <a:pPr algn="ctr"/>
                      <a:r>
                        <a:rPr lang="en-US" dirty="0">
                          <a:solidFill>
                            <a:schemeClr val="tx1"/>
                          </a:solidFill>
                        </a:rPr>
                        <a:t>E</a:t>
                      </a:r>
                    </a:p>
                  </a:txBody>
                  <a:tcPr>
                    <a:noFill/>
                  </a:tcPr>
                </a:tc>
                <a:tc>
                  <a:txBody>
                    <a:bodyPr/>
                    <a:lstStyle/>
                    <a:p>
                      <a:pPr algn="ctr"/>
                      <a:r>
                        <a:rPr lang="en-US" dirty="0">
                          <a:solidFill>
                            <a:schemeClr val="tx1"/>
                          </a:solidFill>
                        </a:rPr>
                        <a:t>F</a:t>
                      </a:r>
                    </a:p>
                  </a:txBody>
                  <a:tcPr>
                    <a:noFill/>
                  </a:tcPr>
                </a:tc>
                <a:tc>
                  <a:txBody>
                    <a:bodyPr/>
                    <a:lstStyle/>
                    <a:p>
                      <a:pPr algn="ctr"/>
                      <a:r>
                        <a:rPr lang="en-US" dirty="0">
                          <a:solidFill>
                            <a:schemeClr val="tx1"/>
                          </a:solidFill>
                        </a:rPr>
                        <a:t>G</a:t>
                      </a: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graphicFrame>
        <p:nvGraphicFramePr>
          <p:cNvPr id="50" name="Table 49">
            <a:extLst>
              <a:ext uri="{FF2B5EF4-FFF2-40B4-BE49-F238E27FC236}">
                <a16:creationId xmlns:a16="http://schemas.microsoft.com/office/drawing/2014/main" id="{63C45D3D-1927-41D9-9144-A9427A171049}"/>
              </a:ext>
            </a:extLst>
          </p:cNvPr>
          <p:cNvGraphicFramePr>
            <a:graphicFrameLocks noGrp="1"/>
          </p:cNvGraphicFramePr>
          <p:nvPr/>
        </p:nvGraphicFramePr>
        <p:xfrm>
          <a:off x="8658993" y="1862844"/>
          <a:ext cx="2132240" cy="4719320"/>
        </p:xfrm>
        <a:graphic>
          <a:graphicData uri="http://schemas.openxmlformats.org/drawingml/2006/table">
            <a:tbl>
              <a:tblPr firstRow="1" bandRow="1">
                <a:tableStyleId>{5C22544A-7EE6-4342-B048-85BDC9FD1C3A}</a:tableStyleId>
              </a:tblPr>
              <a:tblGrid>
                <a:gridCol w="847864">
                  <a:extLst>
                    <a:ext uri="{9D8B030D-6E8A-4147-A177-3AD203B41FA5}">
                      <a16:colId xmlns:a16="http://schemas.microsoft.com/office/drawing/2014/main" val="2989644895"/>
                    </a:ext>
                  </a:extLst>
                </a:gridCol>
                <a:gridCol w="1284376">
                  <a:extLst>
                    <a:ext uri="{9D8B030D-6E8A-4147-A177-3AD203B41FA5}">
                      <a16:colId xmlns:a16="http://schemas.microsoft.com/office/drawing/2014/main" val="4244960412"/>
                    </a:ext>
                  </a:extLst>
                </a:gridCol>
              </a:tblGrid>
              <a:tr h="370840">
                <a:tc>
                  <a:txBody>
                    <a:bodyPr/>
                    <a:lstStyle/>
                    <a:p>
                      <a:pPr algn="ctr"/>
                      <a:r>
                        <a:rPr lang="en-US" dirty="0"/>
                        <a:t>NODE</a:t>
                      </a:r>
                    </a:p>
                  </a:txBody>
                  <a:tcPr/>
                </a:tc>
                <a:tc>
                  <a:txBody>
                    <a:bodyPr/>
                    <a:lstStyle/>
                    <a:p>
                      <a:pPr algn="ctr"/>
                      <a:r>
                        <a:rPr lang="en-US" dirty="0"/>
                        <a:t>CHILDREN</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F,G</a:t>
                      </a:r>
                      <a:endParaRPr lang="en-US" b="1" dirty="0"/>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H,-</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-,I</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J,K</a:t>
                      </a:r>
                    </a:p>
                  </a:txBody>
                  <a:tcPr/>
                </a:tc>
                <a:extLst>
                  <a:ext uri="{0D108BD9-81ED-4DB2-BD59-A6C34878D82A}">
                    <a16:rowId xmlns:a16="http://schemas.microsoft.com/office/drawing/2014/main" val="1205733479"/>
                  </a:ext>
                </a:extLst>
              </a:tr>
              <a:tr h="370840">
                <a:tc>
                  <a:txBody>
                    <a:bodyPr/>
                    <a:lstStyle/>
                    <a:p>
                      <a:pPr algn="ctr"/>
                      <a:r>
                        <a:rPr lang="en-US" b="1" dirty="0"/>
                        <a: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987431379"/>
                  </a:ext>
                </a:extLst>
              </a:tr>
              <a:tr h="370840">
                <a:tc>
                  <a:txBody>
                    <a:bodyPr/>
                    <a:lstStyle/>
                    <a:p>
                      <a:pPr algn="ctr"/>
                      <a:r>
                        <a:rPr lang="en-US" b="1" dirty="0"/>
                        <a:t>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290039795"/>
                  </a:ext>
                </a:extLst>
              </a:tr>
              <a:tr h="370840">
                <a:tc>
                  <a:txBody>
                    <a:bodyPr/>
                    <a:lstStyle/>
                    <a:p>
                      <a:pPr algn="ctr"/>
                      <a:r>
                        <a:rPr lang="en-US" b="1" dirty="0"/>
                        <a:t>J</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873125107"/>
                  </a:ext>
                </a:extLst>
              </a:tr>
              <a:tr h="370840">
                <a:tc>
                  <a:txBody>
                    <a:bodyPr/>
                    <a:lstStyle/>
                    <a:p>
                      <a:pPr algn="ctr"/>
                      <a:r>
                        <a:rPr lang="en-US" b="1" dirty="0"/>
                        <a:t>K</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640632725"/>
                  </a:ext>
                </a:extLst>
              </a:tr>
            </a:tbl>
          </a:graphicData>
        </a:graphic>
      </p:graphicFrame>
      <p:grpSp>
        <p:nvGrpSpPr>
          <p:cNvPr id="42" name="Group 41">
            <a:extLst>
              <a:ext uri="{FF2B5EF4-FFF2-40B4-BE49-F238E27FC236}">
                <a16:creationId xmlns:a16="http://schemas.microsoft.com/office/drawing/2014/main" id="{9CF2FFC7-6EAA-4FE0-9FAE-D2BB9472DF15}"/>
              </a:ext>
            </a:extLst>
          </p:cNvPr>
          <p:cNvGrpSpPr/>
          <p:nvPr/>
        </p:nvGrpSpPr>
        <p:grpSpPr>
          <a:xfrm>
            <a:off x="4113051" y="5599958"/>
            <a:ext cx="511370" cy="356179"/>
            <a:chOff x="1437550" y="5599958"/>
            <a:chExt cx="511370" cy="356179"/>
          </a:xfrm>
        </p:grpSpPr>
        <p:cxnSp>
          <p:nvCxnSpPr>
            <p:cNvPr id="43" name="Straight Connector 42">
              <a:extLst>
                <a:ext uri="{FF2B5EF4-FFF2-40B4-BE49-F238E27FC236}">
                  <a16:creationId xmlns:a16="http://schemas.microsoft.com/office/drawing/2014/main" id="{11C8A716-D4C3-4D5A-A676-AA280023EDB2}"/>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67E112A8-C419-4DD0-A7F9-08540CDE6B06}"/>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71B4FAEA-0AE5-4E2E-9573-D42B688DD233}"/>
              </a:ext>
            </a:extLst>
          </p:cNvPr>
          <p:cNvGrpSpPr/>
          <p:nvPr/>
        </p:nvGrpSpPr>
        <p:grpSpPr>
          <a:xfrm>
            <a:off x="1437550" y="5599958"/>
            <a:ext cx="511370" cy="356179"/>
            <a:chOff x="1437550" y="5599958"/>
            <a:chExt cx="511370" cy="356179"/>
          </a:xfrm>
        </p:grpSpPr>
        <p:cxnSp>
          <p:nvCxnSpPr>
            <p:cNvPr id="47" name="Straight Connector 46">
              <a:extLst>
                <a:ext uri="{FF2B5EF4-FFF2-40B4-BE49-F238E27FC236}">
                  <a16:creationId xmlns:a16="http://schemas.microsoft.com/office/drawing/2014/main" id="{87C4172E-66D6-430C-B2A5-915E1FD160B4}"/>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12324C49-14AF-439F-99A2-01C7ED999A5A}"/>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a:extLst>
              <a:ext uri="{FF2B5EF4-FFF2-40B4-BE49-F238E27FC236}">
                <a16:creationId xmlns:a16="http://schemas.microsoft.com/office/drawing/2014/main" id="{C8117457-5632-42C4-B27F-96EC8F526E36}"/>
              </a:ext>
            </a:extLst>
          </p:cNvPr>
          <p:cNvGrpSpPr/>
          <p:nvPr/>
        </p:nvGrpSpPr>
        <p:grpSpPr>
          <a:xfrm>
            <a:off x="1995249" y="5599958"/>
            <a:ext cx="511370" cy="356179"/>
            <a:chOff x="1437550" y="5599958"/>
            <a:chExt cx="511370" cy="356179"/>
          </a:xfrm>
        </p:grpSpPr>
        <p:cxnSp>
          <p:nvCxnSpPr>
            <p:cNvPr id="51" name="Straight Connector 50">
              <a:extLst>
                <a:ext uri="{FF2B5EF4-FFF2-40B4-BE49-F238E27FC236}">
                  <a16:creationId xmlns:a16="http://schemas.microsoft.com/office/drawing/2014/main" id="{6AD4C6F0-7A0F-400B-9540-D021799CC9B9}"/>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5CCCE17E-D3BB-460A-9206-C09D087E6631}"/>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E7BC8A33-49D9-46BE-B362-4BD5E4D4E217}"/>
              </a:ext>
            </a:extLst>
          </p:cNvPr>
          <p:cNvGrpSpPr/>
          <p:nvPr/>
        </p:nvGrpSpPr>
        <p:grpSpPr>
          <a:xfrm>
            <a:off x="2497104" y="5620871"/>
            <a:ext cx="511370" cy="356179"/>
            <a:chOff x="1437550" y="5599958"/>
            <a:chExt cx="511370" cy="356179"/>
          </a:xfrm>
        </p:grpSpPr>
        <p:cxnSp>
          <p:nvCxnSpPr>
            <p:cNvPr id="54" name="Straight Connector 53">
              <a:extLst>
                <a:ext uri="{FF2B5EF4-FFF2-40B4-BE49-F238E27FC236}">
                  <a16:creationId xmlns:a16="http://schemas.microsoft.com/office/drawing/2014/main" id="{F741038C-B3BF-4CB9-972D-92455350578C}"/>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370D4198-DDEC-42DA-98AC-C781EAE3EC03}"/>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56" name="Group 55">
            <a:extLst>
              <a:ext uri="{FF2B5EF4-FFF2-40B4-BE49-F238E27FC236}">
                <a16:creationId xmlns:a16="http://schemas.microsoft.com/office/drawing/2014/main" id="{14D86B50-B267-4160-A110-9FDF24169E14}"/>
              </a:ext>
            </a:extLst>
          </p:cNvPr>
          <p:cNvGrpSpPr/>
          <p:nvPr/>
        </p:nvGrpSpPr>
        <p:grpSpPr>
          <a:xfrm>
            <a:off x="3032407" y="5593647"/>
            <a:ext cx="511370" cy="356179"/>
            <a:chOff x="1437550" y="5599958"/>
            <a:chExt cx="511370" cy="356179"/>
          </a:xfrm>
        </p:grpSpPr>
        <p:cxnSp>
          <p:nvCxnSpPr>
            <p:cNvPr id="57" name="Straight Connector 56">
              <a:extLst>
                <a:ext uri="{FF2B5EF4-FFF2-40B4-BE49-F238E27FC236}">
                  <a16:creationId xmlns:a16="http://schemas.microsoft.com/office/drawing/2014/main" id="{26C3A262-2DFB-46A3-BA6D-68F52DAF83B5}"/>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52A16B21-BEB1-4CF6-A459-E172EA556A98}"/>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59" name="Group 58">
            <a:extLst>
              <a:ext uri="{FF2B5EF4-FFF2-40B4-BE49-F238E27FC236}">
                <a16:creationId xmlns:a16="http://schemas.microsoft.com/office/drawing/2014/main" id="{BB4747AA-D45A-469B-B7BA-5EA71E611C85}"/>
              </a:ext>
            </a:extLst>
          </p:cNvPr>
          <p:cNvGrpSpPr/>
          <p:nvPr/>
        </p:nvGrpSpPr>
        <p:grpSpPr>
          <a:xfrm>
            <a:off x="3551032" y="5604103"/>
            <a:ext cx="511370" cy="356179"/>
            <a:chOff x="1437550" y="5599958"/>
            <a:chExt cx="511370" cy="356179"/>
          </a:xfrm>
        </p:grpSpPr>
        <p:cxnSp>
          <p:nvCxnSpPr>
            <p:cNvPr id="60" name="Straight Connector 59">
              <a:extLst>
                <a:ext uri="{FF2B5EF4-FFF2-40B4-BE49-F238E27FC236}">
                  <a16:creationId xmlns:a16="http://schemas.microsoft.com/office/drawing/2014/main" id="{DED887C1-30E6-4063-9BE9-31A9B044CC62}"/>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D98CC299-69CB-4E7C-A4D8-1C1745135E1F}"/>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71" name="Group 70">
            <a:extLst>
              <a:ext uri="{FF2B5EF4-FFF2-40B4-BE49-F238E27FC236}">
                <a16:creationId xmlns:a16="http://schemas.microsoft.com/office/drawing/2014/main" id="{66609317-660E-4997-9DAB-8F0663659A31}"/>
              </a:ext>
            </a:extLst>
          </p:cNvPr>
          <p:cNvGrpSpPr/>
          <p:nvPr/>
        </p:nvGrpSpPr>
        <p:grpSpPr>
          <a:xfrm>
            <a:off x="4652096" y="5599958"/>
            <a:ext cx="511370" cy="356179"/>
            <a:chOff x="1437550" y="5599958"/>
            <a:chExt cx="511370" cy="356179"/>
          </a:xfrm>
        </p:grpSpPr>
        <p:cxnSp>
          <p:nvCxnSpPr>
            <p:cNvPr id="72" name="Straight Connector 71">
              <a:extLst>
                <a:ext uri="{FF2B5EF4-FFF2-40B4-BE49-F238E27FC236}">
                  <a16:creationId xmlns:a16="http://schemas.microsoft.com/office/drawing/2014/main" id="{39DC1B03-53D3-49B8-A8A8-B3967B9ACA4E}"/>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B03FC29B-8759-46E6-87C5-FE5C36F87664}"/>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79896271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Straight Connector 45"/>
          <p:cNvCxnSpPr/>
          <p:nvPr/>
        </p:nvCxnSpPr>
        <p:spPr>
          <a:xfrm flipV="1">
            <a:off x="797123" y="4129201"/>
            <a:ext cx="542694" cy="82386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flipV="1">
            <a:off x="2838130" y="4019053"/>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ln>
            <a:noFill/>
          </a:ln>
        </p:spPr>
        <p:txBody>
          <a:bodyPr/>
          <a:lstStyle/>
          <a:p>
            <a:r>
              <a:rPr lang="en-US" dirty="0"/>
              <a:t>Breadth-First Search</a:t>
            </a:r>
          </a:p>
        </p:txBody>
      </p:sp>
      <p:sp>
        <p:nvSpPr>
          <p:cNvPr id="3" name="Slide Number Placeholder 2">
            <a:extLst>
              <a:ext uri="{FF2B5EF4-FFF2-40B4-BE49-F238E27FC236}">
                <a16:creationId xmlns:a16="http://schemas.microsoft.com/office/drawing/2014/main" id="{A3BA1B56-C317-42BB-A9C0-8A247084597C}"/>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77/110</a:t>
            </a:r>
          </a:p>
        </p:txBody>
      </p:sp>
      <p:cxnSp>
        <p:nvCxnSpPr>
          <p:cNvPr id="8" name="Straight Connector 7"/>
          <p:cNvCxnSpPr/>
          <p:nvPr/>
        </p:nvCxnSpPr>
        <p:spPr>
          <a:xfrm flipH="1" flipV="1">
            <a:off x="4129859" y="1873873"/>
            <a:ext cx="1853477" cy="11790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2127196" y="2004369"/>
            <a:ext cx="1804150" cy="10422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3895286" y="176439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8" name="Straight Connector 17"/>
          <p:cNvCxnSpPr/>
          <p:nvPr/>
        </p:nvCxnSpPr>
        <p:spPr>
          <a:xfrm flipH="1" flipV="1">
            <a:off x="2191623" y="2983419"/>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406709" y="3052968"/>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1922122" y="2896761"/>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Oval 16"/>
          <p:cNvSpPr>
            <a:spLocks noChangeArrowheads="1"/>
          </p:cNvSpPr>
          <p:nvPr/>
        </p:nvSpPr>
        <p:spPr bwMode="auto">
          <a:xfrm>
            <a:off x="1225864" y="378497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5" name="Oval 16"/>
          <p:cNvSpPr>
            <a:spLocks noChangeArrowheads="1"/>
          </p:cNvSpPr>
          <p:nvPr/>
        </p:nvSpPr>
        <p:spPr bwMode="auto">
          <a:xfrm>
            <a:off x="2572943" y="382819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4" name="Oval 16"/>
          <p:cNvSpPr>
            <a:spLocks noChangeArrowheads="1"/>
          </p:cNvSpPr>
          <p:nvPr/>
        </p:nvSpPr>
        <p:spPr bwMode="auto">
          <a:xfrm>
            <a:off x="3251450" y="480945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6" name="Oval 16"/>
          <p:cNvSpPr>
            <a:spLocks noChangeArrowheads="1"/>
          </p:cNvSpPr>
          <p:nvPr/>
        </p:nvSpPr>
        <p:spPr bwMode="auto">
          <a:xfrm>
            <a:off x="577751" y="4810837"/>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61" name="Straight Connector 60"/>
          <p:cNvCxnSpPr/>
          <p:nvPr/>
        </p:nvCxnSpPr>
        <p:spPr>
          <a:xfrm flipH="1" flipV="1">
            <a:off x="6681579" y="4037641"/>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6068720" y="4104906"/>
            <a:ext cx="457312" cy="8114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flipV="1">
            <a:off x="6035072" y="3002007"/>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5250158" y="3071556"/>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Oval 16"/>
          <p:cNvSpPr>
            <a:spLocks noChangeArrowheads="1"/>
          </p:cNvSpPr>
          <p:nvPr/>
        </p:nvSpPr>
        <p:spPr bwMode="auto">
          <a:xfrm>
            <a:off x="5765571" y="29153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6" name="Oval 16"/>
          <p:cNvSpPr>
            <a:spLocks noChangeArrowheads="1"/>
          </p:cNvSpPr>
          <p:nvPr/>
        </p:nvSpPr>
        <p:spPr bwMode="auto">
          <a:xfrm>
            <a:off x="5069313" y="380356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7" name="Oval 16"/>
          <p:cNvSpPr>
            <a:spLocks noChangeArrowheads="1"/>
          </p:cNvSpPr>
          <p:nvPr/>
        </p:nvSpPr>
        <p:spPr bwMode="auto">
          <a:xfrm>
            <a:off x="6416392" y="384678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8" name="Oval 16"/>
          <p:cNvSpPr>
            <a:spLocks noChangeArrowheads="1"/>
          </p:cNvSpPr>
          <p:nvPr/>
        </p:nvSpPr>
        <p:spPr bwMode="auto">
          <a:xfrm>
            <a:off x="5870482" y="482942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9" name="Oval 16"/>
          <p:cNvSpPr>
            <a:spLocks noChangeArrowheads="1"/>
          </p:cNvSpPr>
          <p:nvPr/>
        </p:nvSpPr>
        <p:spPr bwMode="auto">
          <a:xfrm>
            <a:off x="7094899" y="482803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76" name="TextBox 75"/>
          <p:cNvSpPr txBox="1"/>
          <p:nvPr/>
        </p:nvSpPr>
        <p:spPr>
          <a:xfrm>
            <a:off x="3944575" y="1786250"/>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82" name="TextBox 81"/>
          <p:cNvSpPr txBox="1"/>
          <p:nvPr/>
        </p:nvSpPr>
        <p:spPr>
          <a:xfrm>
            <a:off x="1967407" y="2929860"/>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83" name="TextBox 82"/>
          <p:cNvSpPr txBox="1"/>
          <p:nvPr/>
        </p:nvSpPr>
        <p:spPr>
          <a:xfrm>
            <a:off x="5833156" y="2937297"/>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84" name="Rectangle 83"/>
          <p:cNvSpPr/>
          <p:nvPr/>
        </p:nvSpPr>
        <p:spPr>
          <a:xfrm>
            <a:off x="1273931" y="3822650"/>
            <a:ext cx="343364" cy="369332"/>
          </a:xfrm>
          <a:prstGeom prst="rect">
            <a:avLst/>
          </a:prstGeom>
        </p:spPr>
        <p:txBody>
          <a:bodyPr wrap="none">
            <a:spAutoFit/>
          </a:bodyPr>
          <a:lstStyle/>
          <a:p>
            <a:r>
              <a:rPr lang="en-US" b="1" dirty="0">
                <a:solidFill>
                  <a:prstClr val="black"/>
                </a:solidFill>
              </a:rPr>
              <a:t>D</a:t>
            </a:r>
          </a:p>
        </p:txBody>
      </p:sp>
      <p:sp>
        <p:nvSpPr>
          <p:cNvPr id="85" name="Rectangle 84"/>
          <p:cNvSpPr/>
          <p:nvPr/>
        </p:nvSpPr>
        <p:spPr>
          <a:xfrm>
            <a:off x="5116299" y="3846782"/>
            <a:ext cx="304892" cy="369332"/>
          </a:xfrm>
          <a:prstGeom prst="rect">
            <a:avLst/>
          </a:prstGeom>
        </p:spPr>
        <p:txBody>
          <a:bodyPr wrap="none">
            <a:spAutoFit/>
          </a:bodyPr>
          <a:lstStyle/>
          <a:p>
            <a:r>
              <a:rPr lang="en-US" b="1" dirty="0">
                <a:solidFill>
                  <a:prstClr val="black"/>
                </a:solidFill>
              </a:rPr>
              <a:t>F</a:t>
            </a:r>
          </a:p>
        </p:txBody>
      </p:sp>
      <p:sp>
        <p:nvSpPr>
          <p:cNvPr id="86" name="Rectangle 85"/>
          <p:cNvSpPr/>
          <p:nvPr/>
        </p:nvSpPr>
        <p:spPr>
          <a:xfrm>
            <a:off x="6467363" y="3861983"/>
            <a:ext cx="340158" cy="369332"/>
          </a:xfrm>
          <a:prstGeom prst="rect">
            <a:avLst/>
          </a:prstGeom>
        </p:spPr>
        <p:txBody>
          <a:bodyPr wrap="none">
            <a:spAutoFit/>
          </a:bodyPr>
          <a:lstStyle/>
          <a:p>
            <a:r>
              <a:rPr lang="en-US" b="1" dirty="0">
                <a:solidFill>
                  <a:prstClr val="black"/>
                </a:solidFill>
              </a:rPr>
              <a:t>G</a:t>
            </a:r>
          </a:p>
        </p:txBody>
      </p:sp>
      <p:sp>
        <p:nvSpPr>
          <p:cNvPr id="87" name="Rectangle 86"/>
          <p:cNvSpPr/>
          <p:nvPr/>
        </p:nvSpPr>
        <p:spPr>
          <a:xfrm>
            <a:off x="5923779" y="4883500"/>
            <a:ext cx="277640" cy="369332"/>
          </a:xfrm>
          <a:prstGeom prst="rect">
            <a:avLst/>
          </a:prstGeom>
        </p:spPr>
        <p:txBody>
          <a:bodyPr wrap="none">
            <a:spAutoFit/>
          </a:bodyPr>
          <a:lstStyle/>
          <a:p>
            <a:r>
              <a:rPr lang="en-US" b="1" dirty="0">
                <a:solidFill>
                  <a:prstClr val="black"/>
                </a:solidFill>
              </a:rPr>
              <a:t>J</a:t>
            </a:r>
          </a:p>
        </p:txBody>
      </p:sp>
      <p:sp>
        <p:nvSpPr>
          <p:cNvPr id="88" name="Rectangle 87"/>
          <p:cNvSpPr/>
          <p:nvPr/>
        </p:nvSpPr>
        <p:spPr>
          <a:xfrm>
            <a:off x="7146697" y="4879786"/>
            <a:ext cx="330540" cy="369332"/>
          </a:xfrm>
          <a:prstGeom prst="rect">
            <a:avLst/>
          </a:prstGeom>
        </p:spPr>
        <p:txBody>
          <a:bodyPr wrap="none">
            <a:spAutoFit/>
          </a:bodyPr>
          <a:lstStyle/>
          <a:p>
            <a:r>
              <a:rPr lang="en-US" b="1" dirty="0">
                <a:solidFill>
                  <a:prstClr val="black"/>
                </a:solidFill>
              </a:rPr>
              <a:t>K</a:t>
            </a:r>
          </a:p>
        </p:txBody>
      </p:sp>
      <p:sp>
        <p:nvSpPr>
          <p:cNvPr id="89" name="Rectangle 88"/>
          <p:cNvSpPr/>
          <p:nvPr/>
        </p:nvSpPr>
        <p:spPr>
          <a:xfrm>
            <a:off x="3294991" y="4859128"/>
            <a:ext cx="248786" cy="369332"/>
          </a:xfrm>
          <a:prstGeom prst="rect">
            <a:avLst/>
          </a:prstGeom>
        </p:spPr>
        <p:txBody>
          <a:bodyPr wrap="none">
            <a:spAutoFit/>
          </a:bodyPr>
          <a:lstStyle/>
          <a:p>
            <a:r>
              <a:rPr lang="en-US" b="1" dirty="0">
                <a:solidFill>
                  <a:prstClr val="black"/>
                </a:solidFill>
              </a:rPr>
              <a:t>I</a:t>
            </a:r>
          </a:p>
        </p:txBody>
      </p:sp>
      <p:sp>
        <p:nvSpPr>
          <p:cNvPr id="91" name="Rectangle 90"/>
          <p:cNvSpPr/>
          <p:nvPr/>
        </p:nvSpPr>
        <p:spPr>
          <a:xfrm>
            <a:off x="641576" y="4852097"/>
            <a:ext cx="346570" cy="369332"/>
          </a:xfrm>
          <a:prstGeom prst="rect">
            <a:avLst/>
          </a:prstGeom>
        </p:spPr>
        <p:txBody>
          <a:bodyPr wrap="none">
            <a:spAutoFit/>
          </a:bodyPr>
          <a:lstStyle/>
          <a:p>
            <a:r>
              <a:rPr lang="en-US" b="1" dirty="0">
                <a:solidFill>
                  <a:prstClr val="black"/>
                </a:solidFill>
              </a:rPr>
              <a:t>H</a:t>
            </a:r>
          </a:p>
        </p:txBody>
      </p:sp>
      <p:sp>
        <p:nvSpPr>
          <p:cNvPr id="92" name="Rectangle 91"/>
          <p:cNvSpPr/>
          <p:nvPr/>
        </p:nvSpPr>
        <p:spPr>
          <a:xfrm>
            <a:off x="2632725" y="3853127"/>
            <a:ext cx="316112" cy="369332"/>
          </a:xfrm>
          <a:prstGeom prst="rect">
            <a:avLst/>
          </a:prstGeom>
        </p:spPr>
        <p:txBody>
          <a:bodyPr wrap="none">
            <a:spAutoFit/>
          </a:bodyPr>
          <a:lstStyle/>
          <a:p>
            <a:r>
              <a:rPr lang="en-US" b="1" dirty="0">
                <a:solidFill>
                  <a:prstClr val="black"/>
                </a:solidFill>
              </a:rPr>
              <a:t>E</a:t>
            </a:r>
          </a:p>
        </p:txBody>
      </p:sp>
      <p:graphicFrame>
        <p:nvGraphicFramePr>
          <p:cNvPr id="5" name="Table 4"/>
          <p:cNvGraphicFramePr>
            <a:graphicFrameLocks noGrp="1"/>
          </p:cNvGraphicFramePr>
          <p:nvPr>
            <p:extLst>
              <p:ext uri="{D42A27DB-BD31-4B8C-83A1-F6EECF244321}">
                <p14:modId xmlns:p14="http://schemas.microsoft.com/office/powerpoint/2010/main" val="929705805"/>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2353885934"/>
                    </a:ext>
                  </a:extLst>
                </a:gridCol>
              </a:tblGrid>
              <a:tr h="370840">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r>
                        <a:rPr lang="en-US" dirty="0"/>
                        <a:t> </a:t>
                      </a:r>
                      <a:r>
                        <a:rPr lang="en-US" dirty="0">
                          <a:solidFill>
                            <a:schemeClr val="tx1"/>
                          </a:solidFill>
                        </a:rPr>
                        <a:t>I</a:t>
                      </a:r>
                    </a:p>
                  </a:txBody>
                  <a:tcPr>
                    <a:solidFill>
                      <a:schemeClr val="accent6">
                        <a:lumMod val="60000"/>
                        <a:lumOff val="40000"/>
                      </a:schemeClr>
                    </a:solidFill>
                  </a:tcPr>
                </a:tc>
                <a:tc>
                  <a:txBody>
                    <a:bodyPr/>
                    <a:lstStyle/>
                    <a:p>
                      <a:pPr algn="ctr"/>
                      <a:r>
                        <a:rPr lang="en-US" dirty="0">
                          <a:solidFill>
                            <a:schemeClr val="tx1"/>
                          </a:solidFill>
                        </a:rPr>
                        <a:t>J</a:t>
                      </a:r>
                    </a:p>
                  </a:txBody>
                  <a:tcPr>
                    <a:solidFill>
                      <a:schemeClr val="accent6">
                        <a:lumMod val="60000"/>
                        <a:lumOff val="40000"/>
                      </a:schemeClr>
                    </a:solidFill>
                  </a:tcPr>
                </a:tc>
                <a:tc>
                  <a:txBody>
                    <a:bodyPr/>
                    <a:lstStyle/>
                    <a:p>
                      <a:pPr algn="ctr"/>
                      <a:r>
                        <a:rPr lang="en-US" dirty="0">
                          <a:solidFill>
                            <a:schemeClr val="tx1"/>
                          </a:solidFill>
                        </a:rPr>
                        <a:t>K</a:t>
                      </a:r>
                    </a:p>
                  </a:txBody>
                  <a:tcPr>
                    <a:solidFill>
                      <a:schemeClr val="accent6">
                        <a:lumMod val="60000"/>
                        <a:lumOff val="40000"/>
                      </a:schemeClr>
                    </a:solidFill>
                  </a:tcPr>
                </a:tc>
                <a:extLst>
                  <a:ext uri="{0D108BD9-81ED-4DB2-BD59-A6C34878D82A}">
                    <a16:rowId xmlns:a16="http://schemas.microsoft.com/office/drawing/2014/main" val="660647860"/>
                  </a:ext>
                </a:extLst>
              </a:tr>
            </a:tbl>
          </a:graphicData>
        </a:graphic>
      </p:graphicFrame>
      <p:sp>
        <p:nvSpPr>
          <p:cNvPr id="6" name="TextBox 5"/>
          <p:cNvSpPr txBox="1"/>
          <p:nvPr/>
        </p:nvSpPr>
        <p:spPr>
          <a:xfrm>
            <a:off x="965262" y="5554545"/>
            <a:ext cx="418704" cy="461665"/>
          </a:xfrm>
          <a:prstGeom prst="rect">
            <a:avLst/>
          </a:prstGeom>
          <a:noFill/>
        </p:spPr>
        <p:txBody>
          <a:bodyPr wrap="none" rtlCol="0">
            <a:spAutoFit/>
          </a:bodyPr>
          <a:lstStyle/>
          <a:p>
            <a:r>
              <a:rPr lang="en-US" sz="2400" b="1" dirty="0">
                <a:effectLst>
                  <a:outerShdw blurRad="38100" dist="38100" dir="2700000" algn="tl">
                    <a:srgbClr val="000000">
                      <a:alpha val="43137"/>
                    </a:srgbClr>
                  </a:outerShdw>
                </a:effectLst>
              </a:rPr>
              <a:t>Q</a:t>
            </a:r>
          </a:p>
        </p:txBody>
      </p:sp>
      <p:cxnSp>
        <p:nvCxnSpPr>
          <p:cNvPr id="39" name="Straight Connector 38"/>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41" name="Table 40"/>
          <p:cNvGraphicFramePr>
            <a:graphicFrameLocks noGrp="1"/>
          </p:cNvGraphicFramePr>
          <p:nvPr/>
        </p:nvGraphicFramePr>
        <p:xfrm>
          <a:off x="1437550" y="6028129"/>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B</a:t>
                      </a:r>
                    </a:p>
                  </a:txBody>
                  <a:tcPr>
                    <a:noFill/>
                  </a:tcPr>
                </a:tc>
                <a:tc>
                  <a:txBody>
                    <a:bodyPr/>
                    <a:lstStyle/>
                    <a:p>
                      <a:pPr algn="ctr"/>
                      <a:r>
                        <a:rPr lang="en-US" dirty="0">
                          <a:solidFill>
                            <a:schemeClr val="tx1"/>
                          </a:solidFill>
                        </a:rPr>
                        <a:t>C</a:t>
                      </a:r>
                    </a:p>
                  </a:txBody>
                  <a:tcPr>
                    <a:noFill/>
                  </a:tcPr>
                </a:tc>
                <a:tc>
                  <a:txBody>
                    <a:bodyPr/>
                    <a:lstStyle/>
                    <a:p>
                      <a:pPr algn="ctr"/>
                      <a:r>
                        <a:rPr lang="en-US" dirty="0">
                          <a:solidFill>
                            <a:schemeClr val="tx1"/>
                          </a:solidFill>
                        </a:rPr>
                        <a:t>D</a:t>
                      </a:r>
                    </a:p>
                  </a:txBody>
                  <a:tcPr>
                    <a:noFill/>
                  </a:tcPr>
                </a:tc>
                <a:tc>
                  <a:txBody>
                    <a:bodyPr/>
                    <a:lstStyle/>
                    <a:p>
                      <a:pPr algn="ctr"/>
                      <a:r>
                        <a:rPr lang="en-US" dirty="0">
                          <a:solidFill>
                            <a:schemeClr val="tx1"/>
                          </a:solidFill>
                        </a:rPr>
                        <a:t>E</a:t>
                      </a:r>
                    </a:p>
                  </a:txBody>
                  <a:tcPr>
                    <a:noFill/>
                  </a:tcPr>
                </a:tc>
                <a:tc>
                  <a:txBody>
                    <a:bodyPr/>
                    <a:lstStyle/>
                    <a:p>
                      <a:pPr algn="ctr"/>
                      <a:r>
                        <a:rPr lang="en-US" dirty="0">
                          <a:solidFill>
                            <a:schemeClr val="tx1"/>
                          </a:solidFill>
                        </a:rPr>
                        <a:t>F</a:t>
                      </a:r>
                    </a:p>
                  </a:txBody>
                  <a:tcPr>
                    <a:noFill/>
                  </a:tcPr>
                </a:tc>
                <a:tc>
                  <a:txBody>
                    <a:bodyPr/>
                    <a:lstStyle/>
                    <a:p>
                      <a:pPr algn="ctr"/>
                      <a:r>
                        <a:rPr lang="en-US" dirty="0">
                          <a:solidFill>
                            <a:schemeClr val="tx1"/>
                          </a:solidFill>
                        </a:rPr>
                        <a:t>G</a:t>
                      </a:r>
                    </a:p>
                  </a:txBody>
                  <a:tcPr>
                    <a:noFill/>
                  </a:tcPr>
                </a:tc>
                <a:tc>
                  <a:txBody>
                    <a:bodyPr/>
                    <a:lstStyle/>
                    <a:p>
                      <a:pPr algn="ctr"/>
                      <a:r>
                        <a:rPr lang="en-US" dirty="0">
                          <a:solidFill>
                            <a:schemeClr val="tx1"/>
                          </a:solidFill>
                        </a:rPr>
                        <a:t>H</a:t>
                      </a:r>
                    </a:p>
                  </a:txBody>
                  <a:tcPr>
                    <a:noFill/>
                  </a:tcPr>
                </a:tc>
                <a:tc>
                  <a:txBody>
                    <a:bodyPr/>
                    <a:lstStyle/>
                    <a:p>
                      <a:pPr algn="ctr"/>
                      <a:endParaRPr lang="en-US" dirty="0">
                        <a:solidFill>
                          <a:schemeClr val="tx1"/>
                        </a:solidFill>
                      </a:endParaRPr>
                    </a:p>
                  </a:txBody>
                  <a:tcPr>
                    <a:noFill/>
                  </a:tcPr>
                </a:tc>
                <a:tc>
                  <a:txBody>
                    <a:bodyPr/>
                    <a:lstStyle/>
                    <a:p>
                      <a:pPr algn="ctr"/>
                      <a:endParaRPr lang="en-US" dirty="0">
                        <a:solidFill>
                          <a:schemeClr val="tx1"/>
                        </a:solidFill>
                      </a:endParaRPr>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graphicFrame>
        <p:nvGraphicFramePr>
          <p:cNvPr id="51" name="Table 50">
            <a:extLst>
              <a:ext uri="{FF2B5EF4-FFF2-40B4-BE49-F238E27FC236}">
                <a16:creationId xmlns:a16="http://schemas.microsoft.com/office/drawing/2014/main" id="{296EBA13-8EA5-4A87-BA32-B27F35C3BDE2}"/>
              </a:ext>
            </a:extLst>
          </p:cNvPr>
          <p:cNvGraphicFramePr>
            <a:graphicFrameLocks noGrp="1"/>
          </p:cNvGraphicFramePr>
          <p:nvPr/>
        </p:nvGraphicFramePr>
        <p:xfrm>
          <a:off x="8658993" y="1862844"/>
          <a:ext cx="2132240" cy="4719320"/>
        </p:xfrm>
        <a:graphic>
          <a:graphicData uri="http://schemas.openxmlformats.org/drawingml/2006/table">
            <a:tbl>
              <a:tblPr firstRow="1" bandRow="1">
                <a:tableStyleId>{5C22544A-7EE6-4342-B048-85BDC9FD1C3A}</a:tableStyleId>
              </a:tblPr>
              <a:tblGrid>
                <a:gridCol w="847864">
                  <a:extLst>
                    <a:ext uri="{9D8B030D-6E8A-4147-A177-3AD203B41FA5}">
                      <a16:colId xmlns:a16="http://schemas.microsoft.com/office/drawing/2014/main" val="2989644895"/>
                    </a:ext>
                  </a:extLst>
                </a:gridCol>
                <a:gridCol w="1284376">
                  <a:extLst>
                    <a:ext uri="{9D8B030D-6E8A-4147-A177-3AD203B41FA5}">
                      <a16:colId xmlns:a16="http://schemas.microsoft.com/office/drawing/2014/main" val="4244960412"/>
                    </a:ext>
                  </a:extLst>
                </a:gridCol>
              </a:tblGrid>
              <a:tr h="370840">
                <a:tc>
                  <a:txBody>
                    <a:bodyPr/>
                    <a:lstStyle/>
                    <a:p>
                      <a:pPr algn="ctr"/>
                      <a:r>
                        <a:rPr lang="en-US" dirty="0"/>
                        <a:t>NODE</a:t>
                      </a:r>
                    </a:p>
                  </a:txBody>
                  <a:tcPr/>
                </a:tc>
                <a:tc>
                  <a:txBody>
                    <a:bodyPr/>
                    <a:lstStyle/>
                    <a:p>
                      <a:pPr algn="ctr"/>
                      <a:r>
                        <a:rPr lang="en-US" dirty="0"/>
                        <a:t>CHILDREN</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F,G</a:t>
                      </a:r>
                      <a:endParaRPr lang="en-US" b="1" dirty="0"/>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H,-</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-,I</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J,K</a:t>
                      </a:r>
                    </a:p>
                  </a:txBody>
                  <a:tcPr/>
                </a:tc>
                <a:extLst>
                  <a:ext uri="{0D108BD9-81ED-4DB2-BD59-A6C34878D82A}">
                    <a16:rowId xmlns:a16="http://schemas.microsoft.com/office/drawing/2014/main" val="1205733479"/>
                  </a:ext>
                </a:extLst>
              </a:tr>
              <a:tr h="370840">
                <a:tc>
                  <a:txBody>
                    <a:bodyPr/>
                    <a:lstStyle/>
                    <a:p>
                      <a:pPr algn="ctr"/>
                      <a:r>
                        <a:rPr lang="en-US" b="1" dirty="0"/>
                        <a: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987431379"/>
                  </a:ext>
                </a:extLst>
              </a:tr>
              <a:tr h="370840">
                <a:tc>
                  <a:txBody>
                    <a:bodyPr/>
                    <a:lstStyle/>
                    <a:p>
                      <a:pPr algn="ctr"/>
                      <a:r>
                        <a:rPr lang="en-US" b="1" dirty="0"/>
                        <a:t>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290039795"/>
                  </a:ext>
                </a:extLst>
              </a:tr>
              <a:tr h="370840">
                <a:tc>
                  <a:txBody>
                    <a:bodyPr/>
                    <a:lstStyle/>
                    <a:p>
                      <a:pPr algn="ctr"/>
                      <a:r>
                        <a:rPr lang="en-US" b="1" dirty="0"/>
                        <a:t>J</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873125107"/>
                  </a:ext>
                </a:extLst>
              </a:tr>
              <a:tr h="370840">
                <a:tc>
                  <a:txBody>
                    <a:bodyPr/>
                    <a:lstStyle/>
                    <a:p>
                      <a:pPr algn="ctr"/>
                      <a:r>
                        <a:rPr lang="en-US" b="1" dirty="0"/>
                        <a:t>K</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640632725"/>
                  </a:ext>
                </a:extLst>
              </a:tr>
            </a:tbl>
          </a:graphicData>
        </a:graphic>
      </p:graphicFrame>
      <p:grpSp>
        <p:nvGrpSpPr>
          <p:cNvPr id="42" name="Group 41">
            <a:extLst>
              <a:ext uri="{FF2B5EF4-FFF2-40B4-BE49-F238E27FC236}">
                <a16:creationId xmlns:a16="http://schemas.microsoft.com/office/drawing/2014/main" id="{8674E55D-4222-4F2E-BC81-B618F01D6C34}"/>
              </a:ext>
            </a:extLst>
          </p:cNvPr>
          <p:cNvGrpSpPr/>
          <p:nvPr/>
        </p:nvGrpSpPr>
        <p:grpSpPr>
          <a:xfrm>
            <a:off x="4113051" y="5599958"/>
            <a:ext cx="511370" cy="356179"/>
            <a:chOff x="1437550" y="5599958"/>
            <a:chExt cx="511370" cy="356179"/>
          </a:xfrm>
        </p:grpSpPr>
        <p:cxnSp>
          <p:nvCxnSpPr>
            <p:cNvPr id="43" name="Straight Connector 42">
              <a:extLst>
                <a:ext uri="{FF2B5EF4-FFF2-40B4-BE49-F238E27FC236}">
                  <a16:creationId xmlns:a16="http://schemas.microsoft.com/office/drawing/2014/main" id="{FE469109-29DB-4EED-92EF-9BADD46BA6EB}"/>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19BD09B7-B524-4883-9519-1E0710FC927C}"/>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DD98A1B1-8FC6-4AC6-9EB7-B37156182A77}"/>
              </a:ext>
            </a:extLst>
          </p:cNvPr>
          <p:cNvGrpSpPr/>
          <p:nvPr/>
        </p:nvGrpSpPr>
        <p:grpSpPr>
          <a:xfrm>
            <a:off x="1437550" y="5599958"/>
            <a:ext cx="511370" cy="356179"/>
            <a:chOff x="1437550" y="5599958"/>
            <a:chExt cx="511370" cy="356179"/>
          </a:xfrm>
        </p:grpSpPr>
        <p:cxnSp>
          <p:nvCxnSpPr>
            <p:cNvPr id="47" name="Straight Connector 46">
              <a:extLst>
                <a:ext uri="{FF2B5EF4-FFF2-40B4-BE49-F238E27FC236}">
                  <a16:creationId xmlns:a16="http://schemas.microsoft.com/office/drawing/2014/main" id="{A85A355F-9536-4D83-A503-F10FCC741A1D}"/>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886016C7-573B-41D8-8592-3808B7522CAD}"/>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a:extLst>
              <a:ext uri="{FF2B5EF4-FFF2-40B4-BE49-F238E27FC236}">
                <a16:creationId xmlns:a16="http://schemas.microsoft.com/office/drawing/2014/main" id="{21C8D58E-57AA-4E61-A365-0C35CCDE3A94}"/>
              </a:ext>
            </a:extLst>
          </p:cNvPr>
          <p:cNvGrpSpPr/>
          <p:nvPr/>
        </p:nvGrpSpPr>
        <p:grpSpPr>
          <a:xfrm>
            <a:off x="1995249" y="5599958"/>
            <a:ext cx="511370" cy="356179"/>
            <a:chOff x="1437550" y="5599958"/>
            <a:chExt cx="511370" cy="356179"/>
          </a:xfrm>
        </p:grpSpPr>
        <p:cxnSp>
          <p:nvCxnSpPr>
            <p:cNvPr id="50" name="Straight Connector 49">
              <a:extLst>
                <a:ext uri="{FF2B5EF4-FFF2-40B4-BE49-F238E27FC236}">
                  <a16:creationId xmlns:a16="http://schemas.microsoft.com/office/drawing/2014/main" id="{5D374BCA-3973-4835-B80E-9A444C9BB839}"/>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339DD507-B718-4D85-94D1-7A43756023B8}"/>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2902A833-47D1-4B46-A236-B1B7340CF81E}"/>
              </a:ext>
            </a:extLst>
          </p:cNvPr>
          <p:cNvGrpSpPr/>
          <p:nvPr/>
        </p:nvGrpSpPr>
        <p:grpSpPr>
          <a:xfrm>
            <a:off x="2497104" y="5620871"/>
            <a:ext cx="511370" cy="356179"/>
            <a:chOff x="1437550" y="5599958"/>
            <a:chExt cx="511370" cy="356179"/>
          </a:xfrm>
        </p:grpSpPr>
        <p:cxnSp>
          <p:nvCxnSpPr>
            <p:cNvPr id="54" name="Straight Connector 53">
              <a:extLst>
                <a:ext uri="{FF2B5EF4-FFF2-40B4-BE49-F238E27FC236}">
                  <a16:creationId xmlns:a16="http://schemas.microsoft.com/office/drawing/2014/main" id="{210465EB-2AB5-460D-8EC1-65612FFF8F69}"/>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CBCE9E6-6EB2-4D2E-BB04-E6FA0645E383}"/>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56" name="Group 55">
            <a:extLst>
              <a:ext uri="{FF2B5EF4-FFF2-40B4-BE49-F238E27FC236}">
                <a16:creationId xmlns:a16="http://schemas.microsoft.com/office/drawing/2014/main" id="{5E14CD3B-0D60-47A9-A704-2A0DEC8676F3}"/>
              </a:ext>
            </a:extLst>
          </p:cNvPr>
          <p:cNvGrpSpPr/>
          <p:nvPr/>
        </p:nvGrpSpPr>
        <p:grpSpPr>
          <a:xfrm>
            <a:off x="3032407" y="5593647"/>
            <a:ext cx="511370" cy="356179"/>
            <a:chOff x="1437550" y="5599958"/>
            <a:chExt cx="511370" cy="356179"/>
          </a:xfrm>
        </p:grpSpPr>
        <p:cxnSp>
          <p:nvCxnSpPr>
            <p:cNvPr id="57" name="Straight Connector 56">
              <a:extLst>
                <a:ext uri="{FF2B5EF4-FFF2-40B4-BE49-F238E27FC236}">
                  <a16:creationId xmlns:a16="http://schemas.microsoft.com/office/drawing/2014/main" id="{1ADDB87C-83AD-4F26-8B2F-17DC40E8A1FB}"/>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91B7F7A-D891-422F-B3B5-F01663770836}"/>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59" name="Group 58">
            <a:extLst>
              <a:ext uri="{FF2B5EF4-FFF2-40B4-BE49-F238E27FC236}">
                <a16:creationId xmlns:a16="http://schemas.microsoft.com/office/drawing/2014/main" id="{CBAC0232-9BD6-4DD8-840F-65CAA2D256F8}"/>
              </a:ext>
            </a:extLst>
          </p:cNvPr>
          <p:cNvGrpSpPr/>
          <p:nvPr/>
        </p:nvGrpSpPr>
        <p:grpSpPr>
          <a:xfrm>
            <a:off x="3551032" y="5604103"/>
            <a:ext cx="511370" cy="356179"/>
            <a:chOff x="1437550" y="5599958"/>
            <a:chExt cx="511370" cy="356179"/>
          </a:xfrm>
        </p:grpSpPr>
        <p:cxnSp>
          <p:nvCxnSpPr>
            <p:cNvPr id="60" name="Straight Connector 59">
              <a:extLst>
                <a:ext uri="{FF2B5EF4-FFF2-40B4-BE49-F238E27FC236}">
                  <a16:creationId xmlns:a16="http://schemas.microsoft.com/office/drawing/2014/main" id="{FB8E88D7-BCE0-4F0A-84C7-2767AB9838EC}"/>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CA647FBD-B781-457A-ABA2-DE7F44615C64}"/>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71" name="Group 70">
            <a:extLst>
              <a:ext uri="{FF2B5EF4-FFF2-40B4-BE49-F238E27FC236}">
                <a16:creationId xmlns:a16="http://schemas.microsoft.com/office/drawing/2014/main" id="{1D11E8A4-94BA-46C9-9E6F-A024FC251C34}"/>
              </a:ext>
            </a:extLst>
          </p:cNvPr>
          <p:cNvGrpSpPr/>
          <p:nvPr/>
        </p:nvGrpSpPr>
        <p:grpSpPr>
          <a:xfrm>
            <a:off x="4652096" y="5599958"/>
            <a:ext cx="511370" cy="356179"/>
            <a:chOff x="1437550" y="5599958"/>
            <a:chExt cx="511370" cy="356179"/>
          </a:xfrm>
        </p:grpSpPr>
        <p:cxnSp>
          <p:nvCxnSpPr>
            <p:cNvPr id="72" name="Straight Connector 71">
              <a:extLst>
                <a:ext uri="{FF2B5EF4-FFF2-40B4-BE49-F238E27FC236}">
                  <a16:creationId xmlns:a16="http://schemas.microsoft.com/office/drawing/2014/main" id="{F52F7D77-D353-436C-A3C4-427568854978}"/>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770DC625-4F27-483A-8F95-D8A8549F3571}"/>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74" name="Group 73">
            <a:extLst>
              <a:ext uri="{FF2B5EF4-FFF2-40B4-BE49-F238E27FC236}">
                <a16:creationId xmlns:a16="http://schemas.microsoft.com/office/drawing/2014/main" id="{2C05A5B5-412C-49B9-8727-B8119D654AE1}"/>
              </a:ext>
            </a:extLst>
          </p:cNvPr>
          <p:cNvGrpSpPr/>
          <p:nvPr/>
        </p:nvGrpSpPr>
        <p:grpSpPr>
          <a:xfrm>
            <a:off x="5145889" y="5611189"/>
            <a:ext cx="511370" cy="356179"/>
            <a:chOff x="1437550" y="5599958"/>
            <a:chExt cx="511370" cy="356179"/>
          </a:xfrm>
        </p:grpSpPr>
        <p:cxnSp>
          <p:nvCxnSpPr>
            <p:cNvPr id="75" name="Straight Connector 74">
              <a:extLst>
                <a:ext uri="{FF2B5EF4-FFF2-40B4-BE49-F238E27FC236}">
                  <a16:creationId xmlns:a16="http://schemas.microsoft.com/office/drawing/2014/main" id="{06A2C0AA-D11D-4485-9EDC-16AE5DB68DF3}"/>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014158C7-0F54-4413-825C-4AE152527BA6}"/>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146389830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Straight Connector 45"/>
          <p:cNvCxnSpPr/>
          <p:nvPr/>
        </p:nvCxnSpPr>
        <p:spPr>
          <a:xfrm flipV="1">
            <a:off x="797123" y="4129201"/>
            <a:ext cx="542694" cy="82386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flipV="1">
            <a:off x="2838130" y="4019053"/>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ln>
            <a:noFill/>
          </a:ln>
        </p:spPr>
        <p:txBody>
          <a:bodyPr/>
          <a:lstStyle/>
          <a:p>
            <a:r>
              <a:rPr lang="en-US" dirty="0"/>
              <a:t>Breadth-First Search</a:t>
            </a:r>
          </a:p>
        </p:txBody>
      </p:sp>
      <p:sp>
        <p:nvSpPr>
          <p:cNvPr id="3" name="Slide Number Placeholder 2">
            <a:extLst>
              <a:ext uri="{FF2B5EF4-FFF2-40B4-BE49-F238E27FC236}">
                <a16:creationId xmlns:a16="http://schemas.microsoft.com/office/drawing/2014/main" id="{46C5857A-C568-4ED2-98C5-B6FC9F22E584}"/>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78/110</a:t>
            </a:r>
          </a:p>
        </p:txBody>
      </p:sp>
      <p:cxnSp>
        <p:nvCxnSpPr>
          <p:cNvPr id="8" name="Straight Connector 7"/>
          <p:cNvCxnSpPr/>
          <p:nvPr/>
        </p:nvCxnSpPr>
        <p:spPr>
          <a:xfrm flipH="1" flipV="1">
            <a:off x="4129859" y="1873873"/>
            <a:ext cx="1853477" cy="11790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2127196" y="2004369"/>
            <a:ext cx="1804150" cy="10422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3895286" y="176439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8" name="Straight Connector 17"/>
          <p:cNvCxnSpPr/>
          <p:nvPr/>
        </p:nvCxnSpPr>
        <p:spPr>
          <a:xfrm flipH="1" flipV="1">
            <a:off x="2191623" y="2983419"/>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406709" y="3052968"/>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1922122" y="2896761"/>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Oval 16"/>
          <p:cNvSpPr>
            <a:spLocks noChangeArrowheads="1"/>
          </p:cNvSpPr>
          <p:nvPr/>
        </p:nvSpPr>
        <p:spPr bwMode="auto">
          <a:xfrm>
            <a:off x="1225864" y="378497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5" name="Oval 16"/>
          <p:cNvSpPr>
            <a:spLocks noChangeArrowheads="1"/>
          </p:cNvSpPr>
          <p:nvPr/>
        </p:nvSpPr>
        <p:spPr bwMode="auto">
          <a:xfrm>
            <a:off x="2572943" y="382819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4" name="Oval 16"/>
          <p:cNvSpPr>
            <a:spLocks noChangeArrowheads="1"/>
          </p:cNvSpPr>
          <p:nvPr/>
        </p:nvSpPr>
        <p:spPr bwMode="auto">
          <a:xfrm>
            <a:off x="3251450" y="480945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6" name="Oval 16"/>
          <p:cNvSpPr>
            <a:spLocks noChangeArrowheads="1"/>
          </p:cNvSpPr>
          <p:nvPr/>
        </p:nvSpPr>
        <p:spPr bwMode="auto">
          <a:xfrm>
            <a:off x="577751" y="4810837"/>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61" name="Straight Connector 60"/>
          <p:cNvCxnSpPr/>
          <p:nvPr/>
        </p:nvCxnSpPr>
        <p:spPr>
          <a:xfrm flipH="1" flipV="1">
            <a:off x="6681579" y="4037641"/>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6068720" y="4104906"/>
            <a:ext cx="457312" cy="8114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flipV="1">
            <a:off x="6035072" y="3002007"/>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5250158" y="3071556"/>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Oval 16"/>
          <p:cNvSpPr>
            <a:spLocks noChangeArrowheads="1"/>
          </p:cNvSpPr>
          <p:nvPr/>
        </p:nvSpPr>
        <p:spPr bwMode="auto">
          <a:xfrm>
            <a:off x="5765571" y="29153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6" name="Oval 16"/>
          <p:cNvSpPr>
            <a:spLocks noChangeArrowheads="1"/>
          </p:cNvSpPr>
          <p:nvPr/>
        </p:nvSpPr>
        <p:spPr bwMode="auto">
          <a:xfrm>
            <a:off x="5069313" y="380356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7" name="Oval 16"/>
          <p:cNvSpPr>
            <a:spLocks noChangeArrowheads="1"/>
          </p:cNvSpPr>
          <p:nvPr/>
        </p:nvSpPr>
        <p:spPr bwMode="auto">
          <a:xfrm>
            <a:off x="6416392" y="384678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8" name="Oval 16"/>
          <p:cNvSpPr>
            <a:spLocks noChangeArrowheads="1"/>
          </p:cNvSpPr>
          <p:nvPr/>
        </p:nvSpPr>
        <p:spPr bwMode="auto">
          <a:xfrm>
            <a:off x="5870482" y="482942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9" name="Oval 16"/>
          <p:cNvSpPr>
            <a:spLocks noChangeArrowheads="1"/>
          </p:cNvSpPr>
          <p:nvPr/>
        </p:nvSpPr>
        <p:spPr bwMode="auto">
          <a:xfrm>
            <a:off x="7094899" y="482803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76" name="TextBox 75"/>
          <p:cNvSpPr txBox="1"/>
          <p:nvPr/>
        </p:nvSpPr>
        <p:spPr>
          <a:xfrm>
            <a:off x="3944575" y="1786250"/>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82" name="TextBox 81"/>
          <p:cNvSpPr txBox="1"/>
          <p:nvPr/>
        </p:nvSpPr>
        <p:spPr>
          <a:xfrm>
            <a:off x="1967407" y="2929860"/>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83" name="TextBox 82"/>
          <p:cNvSpPr txBox="1"/>
          <p:nvPr/>
        </p:nvSpPr>
        <p:spPr>
          <a:xfrm>
            <a:off x="5833156" y="2937297"/>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84" name="Rectangle 83"/>
          <p:cNvSpPr/>
          <p:nvPr/>
        </p:nvSpPr>
        <p:spPr>
          <a:xfrm>
            <a:off x="1273931" y="3822650"/>
            <a:ext cx="343364" cy="369332"/>
          </a:xfrm>
          <a:prstGeom prst="rect">
            <a:avLst/>
          </a:prstGeom>
        </p:spPr>
        <p:txBody>
          <a:bodyPr wrap="none">
            <a:spAutoFit/>
          </a:bodyPr>
          <a:lstStyle/>
          <a:p>
            <a:r>
              <a:rPr lang="en-US" b="1" dirty="0">
                <a:solidFill>
                  <a:prstClr val="black"/>
                </a:solidFill>
              </a:rPr>
              <a:t>D</a:t>
            </a:r>
          </a:p>
        </p:txBody>
      </p:sp>
      <p:sp>
        <p:nvSpPr>
          <p:cNvPr id="85" name="Rectangle 84"/>
          <p:cNvSpPr/>
          <p:nvPr/>
        </p:nvSpPr>
        <p:spPr>
          <a:xfrm>
            <a:off x="5116299" y="3846782"/>
            <a:ext cx="304892" cy="369332"/>
          </a:xfrm>
          <a:prstGeom prst="rect">
            <a:avLst/>
          </a:prstGeom>
        </p:spPr>
        <p:txBody>
          <a:bodyPr wrap="none">
            <a:spAutoFit/>
          </a:bodyPr>
          <a:lstStyle/>
          <a:p>
            <a:r>
              <a:rPr lang="en-US" b="1" dirty="0">
                <a:solidFill>
                  <a:prstClr val="black"/>
                </a:solidFill>
              </a:rPr>
              <a:t>F</a:t>
            </a:r>
          </a:p>
        </p:txBody>
      </p:sp>
      <p:sp>
        <p:nvSpPr>
          <p:cNvPr id="86" name="Rectangle 85"/>
          <p:cNvSpPr/>
          <p:nvPr/>
        </p:nvSpPr>
        <p:spPr>
          <a:xfrm>
            <a:off x="6467363" y="3861983"/>
            <a:ext cx="340158" cy="369332"/>
          </a:xfrm>
          <a:prstGeom prst="rect">
            <a:avLst/>
          </a:prstGeom>
        </p:spPr>
        <p:txBody>
          <a:bodyPr wrap="none">
            <a:spAutoFit/>
          </a:bodyPr>
          <a:lstStyle/>
          <a:p>
            <a:r>
              <a:rPr lang="en-US" b="1" dirty="0">
                <a:solidFill>
                  <a:prstClr val="black"/>
                </a:solidFill>
              </a:rPr>
              <a:t>G</a:t>
            </a:r>
          </a:p>
        </p:txBody>
      </p:sp>
      <p:sp>
        <p:nvSpPr>
          <p:cNvPr id="87" name="Rectangle 86"/>
          <p:cNvSpPr/>
          <p:nvPr/>
        </p:nvSpPr>
        <p:spPr>
          <a:xfrm>
            <a:off x="5923779" y="4883500"/>
            <a:ext cx="277640" cy="369332"/>
          </a:xfrm>
          <a:prstGeom prst="rect">
            <a:avLst/>
          </a:prstGeom>
        </p:spPr>
        <p:txBody>
          <a:bodyPr wrap="none">
            <a:spAutoFit/>
          </a:bodyPr>
          <a:lstStyle/>
          <a:p>
            <a:r>
              <a:rPr lang="en-US" b="1" dirty="0">
                <a:solidFill>
                  <a:prstClr val="black"/>
                </a:solidFill>
              </a:rPr>
              <a:t>J</a:t>
            </a:r>
          </a:p>
        </p:txBody>
      </p:sp>
      <p:sp>
        <p:nvSpPr>
          <p:cNvPr id="88" name="Rectangle 87"/>
          <p:cNvSpPr/>
          <p:nvPr/>
        </p:nvSpPr>
        <p:spPr>
          <a:xfrm>
            <a:off x="7146697" y="4879786"/>
            <a:ext cx="330540" cy="369332"/>
          </a:xfrm>
          <a:prstGeom prst="rect">
            <a:avLst/>
          </a:prstGeom>
        </p:spPr>
        <p:txBody>
          <a:bodyPr wrap="none">
            <a:spAutoFit/>
          </a:bodyPr>
          <a:lstStyle/>
          <a:p>
            <a:r>
              <a:rPr lang="en-US" b="1" dirty="0">
                <a:solidFill>
                  <a:prstClr val="black"/>
                </a:solidFill>
              </a:rPr>
              <a:t>K</a:t>
            </a:r>
          </a:p>
        </p:txBody>
      </p:sp>
      <p:sp>
        <p:nvSpPr>
          <p:cNvPr id="89" name="Rectangle 88"/>
          <p:cNvSpPr/>
          <p:nvPr/>
        </p:nvSpPr>
        <p:spPr>
          <a:xfrm>
            <a:off x="3294991" y="4859128"/>
            <a:ext cx="248786" cy="369332"/>
          </a:xfrm>
          <a:prstGeom prst="rect">
            <a:avLst/>
          </a:prstGeom>
        </p:spPr>
        <p:txBody>
          <a:bodyPr wrap="none">
            <a:spAutoFit/>
          </a:bodyPr>
          <a:lstStyle/>
          <a:p>
            <a:r>
              <a:rPr lang="en-US" b="1" dirty="0">
                <a:solidFill>
                  <a:prstClr val="black"/>
                </a:solidFill>
              </a:rPr>
              <a:t>I</a:t>
            </a:r>
          </a:p>
        </p:txBody>
      </p:sp>
      <p:sp>
        <p:nvSpPr>
          <p:cNvPr id="91" name="Rectangle 90"/>
          <p:cNvSpPr/>
          <p:nvPr/>
        </p:nvSpPr>
        <p:spPr>
          <a:xfrm>
            <a:off x="641576" y="4852097"/>
            <a:ext cx="346570" cy="369332"/>
          </a:xfrm>
          <a:prstGeom prst="rect">
            <a:avLst/>
          </a:prstGeom>
        </p:spPr>
        <p:txBody>
          <a:bodyPr wrap="none">
            <a:spAutoFit/>
          </a:bodyPr>
          <a:lstStyle/>
          <a:p>
            <a:r>
              <a:rPr lang="en-US" b="1" dirty="0">
                <a:solidFill>
                  <a:prstClr val="black"/>
                </a:solidFill>
              </a:rPr>
              <a:t>H</a:t>
            </a:r>
          </a:p>
        </p:txBody>
      </p:sp>
      <p:sp>
        <p:nvSpPr>
          <p:cNvPr id="92" name="Rectangle 91"/>
          <p:cNvSpPr/>
          <p:nvPr/>
        </p:nvSpPr>
        <p:spPr>
          <a:xfrm>
            <a:off x="2632725" y="3853127"/>
            <a:ext cx="316112" cy="369332"/>
          </a:xfrm>
          <a:prstGeom prst="rect">
            <a:avLst/>
          </a:prstGeom>
        </p:spPr>
        <p:txBody>
          <a:bodyPr wrap="none">
            <a:spAutoFit/>
          </a:bodyPr>
          <a:lstStyle/>
          <a:p>
            <a:r>
              <a:rPr lang="en-US" b="1" dirty="0">
                <a:solidFill>
                  <a:prstClr val="black"/>
                </a:solidFill>
              </a:rPr>
              <a:t>E</a:t>
            </a:r>
          </a:p>
        </p:txBody>
      </p:sp>
      <p:graphicFrame>
        <p:nvGraphicFramePr>
          <p:cNvPr id="5" name="Table 4"/>
          <p:cNvGraphicFramePr>
            <a:graphicFrameLocks noGrp="1"/>
          </p:cNvGraphicFramePr>
          <p:nvPr>
            <p:extLst>
              <p:ext uri="{D42A27DB-BD31-4B8C-83A1-F6EECF244321}">
                <p14:modId xmlns:p14="http://schemas.microsoft.com/office/powerpoint/2010/main" val="1587662732"/>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2353885934"/>
                    </a:ext>
                  </a:extLst>
                </a:gridCol>
              </a:tblGrid>
              <a:tr h="370840">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r>
                        <a:rPr lang="en-US" dirty="0"/>
                        <a:t> </a:t>
                      </a:r>
                      <a:r>
                        <a:rPr lang="en-US" dirty="0">
                          <a:solidFill>
                            <a:schemeClr val="tx1"/>
                          </a:solidFill>
                        </a:rPr>
                        <a:t>J</a:t>
                      </a:r>
                    </a:p>
                  </a:txBody>
                  <a:tcPr>
                    <a:solidFill>
                      <a:schemeClr val="accent6">
                        <a:lumMod val="60000"/>
                        <a:lumOff val="40000"/>
                      </a:schemeClr>
                    </a:solidFill>
                  </a:tcPr>
                </a:tc>
                <a:tc>
                  <a:txBody>
                    <a:bodyPr/>
                    <a:lstStyle/>
                    <a:p>
                      <a:pPr algn="ctr"/>
                      <a:r>
                        <a:rPr lang="en-US" dirty="0">
                          <a:solidFill>
                            <a:schemeClr val="tx1"/>
                          </a:solidFill>
                        </a:rPr>
                        <a:t>K</a:t>
                      </a:r>
                    </a:p>
                  </a:txBody>
                  <a:tcPr>
                    <a:solidFill>
                      <a:schemeClr val="accent6">
                        <a:lumMod val="60000"/>
                        <a:lumOff val="40000"/>
                      </a:schemeClr>
                    </a:solidFill>
                  </a:tcPr>
                </a:tc>
                <a:extLst>
                  <a:ext uri="{0D108BD9-81ED-4DB2-BD59-A6C34878D82A}">
                    <a16:rowId xmlns:a16="http://schemas.microsoft.com/office/drawing/2014/main" val="660647860"/>
                  </a:ext>
                </a:extLst>
              </a:tr>
            </a:tbl>
          </a:graphicData>
        </a:graphic>
      </p:graphicFrame>
      <p:sp>
        <p:nvSpPr>
          <p:cNvPr id="6" name="TextBox 5"/>
          <p:cNvSpPr txBox="1"/>
          <p:nvPr/>
        </p:nvSpPr>
        <p:spPr>
          <a:xfrm>
            <a:off x="965262" y="5554545"/>
            <a:ext cx="418704" cy="461665"/>
          </a:xfrm>
          <a:prstGeom prst="rect">
            <a:avLst/>
          </a:prstGeom>
          <a:noFill/>
        </p:spPr>
        <p:txBody>
          <a:bodyPr wrap="none" rtlCol="0">
            <a:spAutoFit/>
          </a:bodyPr>
          <a:lstStyle/>
          <a:p>
            <a:r>
              <a:rPr lang="en-US" sz="2400" b="1" dirty="0">
                <a:effectLst>
                  <a:outerShdw blurRad="38100" dist="38100" dir="2700000" algn="tl">
                    <a:srgbClr val="000000">
                      <a:alpha val="43137"/>
                    </a:srgbClr>
                  </a:outerShdw>
                </a:effectLst>
              </a:rPr>
              <a:t>Q</a:t>
            </a:r>
          </a:p>
        </p:txBody>
      </p:sp>
      <p:cxnSp>
        <p:nvCxnSpPr>
          <p:cNvPr id="39" name="Straight Connector 38"/>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41" name="Table 40"/>
          <p:cNvGraphicFramePr>
            <a:graphicFrameLocks noGrp="1"/>
          </p:cNvGraphicFramePr>
          <p:nvPr/>
        </p:nvGraphicFramePr>
        <p:xfrm>
          <a:off x="1437550" y="6028129"/>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B</a:t>
                      </a:r>
                    </a:p>
                  </a:txBody>
                  <a:tcPr>
                    <a:noFill/>
                  </a:tcPr>
                </a:tc>
                <a:tc>
                  <a:txBody>
                    <a:bodyPr/>
                    <a:lstStyle/>
                    <a:p>
                      <a:pPr algn="ctr"/>
                      <a:r>
                        <a:rPr lang="en-US" dirty="0">
                          <a:solidFill>
                            <a:schemeClr val="tx1"/>
                          </a:solidFill>
                        </a:rPr>
                        <a:t>C</a:t>
                      </a:r>
                    </a:p>
                  </a:txBody>
                  <a:tcPr>
                    <a:noFill/>
                  </a:tcPr>
                </a:tc>
                <a:tc>
                  <a:txBody>
                    <a:bodyPr/>
                    <a:lstStyle/>
                    <a:p>
                      <a:pPr algn="ctr"/>
                      <a:r>
                        <a:rPr lang="en-US" dirty="0">
                          <a:solidFill>
                            <a:schemeClr val="tx1"/>
                          </a:solidFill>
                        </a:rPr>
                        <a:t>D</a:t>
                      </a:r>
                    </a:p>
                  </a:txBody>
                  <a:tcPr>
                    <a:noFill/>
                  </a:tcPr>
                </a:tc>
                <a:tc>
                  <a:txBody>
                    <a:bodyPr/>
                    <a:lstStyle/>
                    <a:p>
                      <a:pPr algn="ctr"/>
                      <a:r>
                        <a:rPr lang="en-US" dirty="0">
                          <a:solidFill>
                            <a:schemeClr val="tx1"/>
                          </a:solidFill>
                        </a:rPr>
                        <a:t>E</a:t>
                      </a:r>
                    </a:p>
                  </a:txBody>
                  <a:tcPr>
                    <a:noFill/>
                  </a:tcPr>
                </a:tc>
                <a:tc>
                  <a:txBody>
                    <a:bodyPr/>
                    <a:lstStyle/>
                    <a:p>
                      <a:pPr algn="ctr"/>
                      <a:r>
                        <a:rPr lang="en-US" dirty="0">
                          <a:solidFill>
                            <a:schemeClr val="tx1"/>
                          </a:solidFill>
                        </a:rPr>
                        <a:t>F</a:t>
                      </a:r>
                    </a:p>
                  </a:txBody>
                  <a:tcPr>
                    <a:noFill/>
                  </a:tcPr>
                </a:tc>
                <a:tc>
                  <a:txBody>
                    <a:bodyPr/>
                    <a:lstStyle/>
                    <a:p>
                      <a:pPr algn="ctr"/>
                      <a:r>
                        <a:rPr lang="en-US" dirty="0">
                          <a:solidFill>
                            <a:schemeClr val="tx1"/>
                          </a:solidFill>
                        </a:rPr>
                        <a:t>G</a:t>
                      </a:r>
                    </a:p>
                  </a:txBody>
                  <a:tcPr>
                    <a:noFill/>
                  </a:tcPr>
                </a:tc>
                <a:tc>
                  <a:txBody>
                    <a:bodyPr/>
                    <a:lstStyle/>
                    <a:p>
                      <a:pPr algn="ctr"/>
                      <a:r>
                        <a:rPr lang="en-US" dirty="0">
                          <a:solidFill>
                            <a:schemeClr val="tx1"/>
                          </a:solidFill>
                        </a:rPr>
                        <a:t>H</a:t>
                      </a:r>
                    </a:p>
                  </a:txBody>
                  <a:tcPr>
                    <a:noFill/>
                  </a:tcPr>
                </a:tc>
                <a:tc>
                  <a:txBody>
                    <a:bodyPr/>
                    <a:lstStyle/>
                    <a:p>
                      <a:pPr algn="ctr"/>
                      <a:r>
                        <a:rPr lang="en-US" i="0" dirty="0">
                          <a:solidFill>
                            <a:schemeClr val="tx1"/>
                          </a:solidFill>
                        </a:rPr>
                        <a:t>I</a:t>
                      </a:r>
                    </a:p>
                  </a:txBody>
                  <a:tcPr>
                    <a:noFill/>
                  </a:tcPr>
                </a:tc>
                <a:tc>
                  <a:txBody>
                    <a:bodyPr/>
                    <a:lstStyle/>
                    <a:p>
                      <a:pPr algn="ctr"/>
                      <a:endParaRPr lang="en-US" dirty="0">
                        <a:solidFill>
                          <a:schemeClr val="tx1"/>
                        </a:solidFill>
                      </a:endParaRPr>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graphicFrame>
        <p:nvGraphicFramePr>
          <p:cNvPr id="52" name="Table 51">
            <a:extLst>
              <a:ext uri="{FF2B5EF4-FFF2-40B4-BE49-F238E27FC236}">
                <a16:creationId xmlns:a16="http://schemas.microsoft.com/office/drawing/2014/main" id="{87CC2703-7188-4FD4-9540-0FBF2ED07400}"/>
              </a:ext>
            </a:extLst>
          </p:cNvPr>
          <p:cNvGraphicFramePr>
            <a:graphicFrameLocks noGrp="1"/>
          </p:cNvGraphicFramePr>
          <p:nvPr/>
        </p:nvGraphicFramePr>
        <p:xfrm>
          <a:off x="8658993" y="1862844"/>
          <a:ext cx="2132240" cy="4719320"/>
        </p:xfrm>
        <a:graphic>
          <a:graphicData uri="http://schemas.openxmlformats.org/drawingml/2006/table">
            <a:tbl>
              <a:tblPr firstRow="1" bandRow="1">
                <a:tableStyleId>{5C22544A-7EE6-4342-B048-85BDC9FD1C3A}</a:tableStyleId>
              </a:tblPr>
              <a:tblGrid>
                <a:gridCol w="847864">
                  <a:extLst>
                    <a:ext uri="{9D8B030D-6E8A-4147-A177-3AD203B41FA5}">
                      <a16:colId xmlns:a16="http://schemas.microsoft.com/office/drawing/2014/main" val="2989644895"/>
                    </a:ext>
                  </a:extLst>
                </a:gridCol>
                <a:gridCol w="1284376">
                  <a:extLst>
                    <a:ext uri="{9D8B030D-6E8A-4147-A177-3AD203B41FA5}">
                      <a16:colId xmlns:a16="http://schemas.microsoft.com/office/drawing/2014/main" val="4244960412"/>
                    </a:ext>
                  </a:extLst>
                </a:gridCol>
              </a:tblGrid>
              <a:tr h="370840">
                <a:tc>
                  <a:txBody>
                    <a:bodyPr/>
                    <a:lstStyle/>
                    <a:p>
                      <a:pPr algn="ctr"/>
                      <a:r>
                        <a:rPr lang="en-US" dirty="0"/>
                        <a:t>NODE</a:t>
                      </a:r>
                    </a:p>
                  </a:txBody>
                  <a:tcPr/>
                </a:tc>
                <a:tc>
                  <a:txBody>
                    <a:bodyPr/>
                    <a:lstStyle/>
                    <a:p>
                      <a:pPr algn="ctr"/>
                      <a:r>
                        <a:rPr lang="en-US" dirty="0"/>
                        <a:t>CHILDREN</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F,G</a:t>
                      </a:r>
                      <a:endParaRPr lang="en-US" b="1" dirty="0"/>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H,-</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-,I</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J,K</a:t>
                      </a:r>
                    </a:p>
                  </a:txBody>
                  <a:tcPr/>
                </a:tc>
                <a:extLst>
                  <a:ext uri="{0D108BD9-81ED-4DB2-BD59-A6C34878D82A}">
                    <a16:rowId xmlns:a16="http://schemas.microsoft.com/office/drawing/2014/main" val="1205733479"/>
                  </a:ext>
                </a:extLst>
              </a:tr>
              <a:tr h="370840">
                <a:tc>
                  <a:txBody>
                    <a:bodyPr/>
                    <a:lstStyle/>
                    <a:p>
                      <a:pPr algn="ctr"/>
                      <a:r>
                        <a:rPr lang="en-US" b="1" dirty="0"/>
                        <a: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987431379"/>
                  </a:ext>
                </a:extLst>
              </a:tr>
              <a:tr h="370840">
                <a:tc>
                  <a:txBody>
                    <a:bodyPr/>
                    <a:lstStyle/>
                    <a:p>
                      <a:pPr algn="ctr"/>
                      <a:r>
                        <a:rPr lang="en-US" b="1" dirty="0"/>
                        <a:t>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290039795"/>
                  </a:ext>
                </a:extLst>
              </a:tr>
              <a:tr h="370840">
                <a:tc>
                  <a:txBody>
                    <a:bodyPr/>
                    <a:lstStyle/>
                    <a:p>
                      <a:pPr algn="ctr"/>
                      <a:r>
                        <a:rPr lang="en-US" b="1" dirty="0"/>
                        <a:t>J</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873125107"/>
                  </a:ext>
                </a:extLst>
              </a:tr>
              <a:tr h="370840">
                <a:tc>
                  <a:txBody>
                    <a:bodyPr/>
                    <a:lstStyle/>
                    <a:p>
                      <a:pPr algn="ctr"/>
                      <a:r>
                        <a:rPr lang="en-US" b="1" dirty="0"/>
                        <a:t>K</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640632725"/>
                  </a:ext>
                </a:extLst>
              </a:tr>
            </a:tbl>
          </a:graphicData>
        </a:graphic>
      </p:graphicFrame>
      <p:grpSp>
        <p:nvGrpSpPr>
          <p:cNvPr id="42" name="Group 41">
            <a:extLst>
              <a:ext uri="{FF2B5EF4-FFF2-40B4-BE49-F238E27FC236}">
                <a16:creationId xmlns:a16="http://schemas.microsoft.com/office/drawing/2014/main" id="{2E7B0A42-7862-4F89-905F-7AB55C0FCFE0}"/>
              </a:ext>
            </a:extLst>
          </p:cNvPr>
          <p:cNvGrpSpPr/>
          <p:nvPr/>
        </p:nvGrpSpPr>
        <p:grpSpPr>
          <a:xfrm>
            <a:off x="4113051" y="5599958"/>
            <a:ext cx="511370" cy="356179"/>
            <a:chOff x="1437550" y="5599958"/>
            <a:chExt cx="511370" cy="356179"/>
          </a:xfrm>
        </p:grpSpPr>
        <p:cxnSp>
          <p:nvCxnSpPr>
            <p:cNvPr id="43" name="Straight Connector 42">
              <a:extLst>
                <a:ext uri="{FF2B5EF4-FFF2-40B4-BE49-F238E27FC236}">
                  <a16:creationId xmlns:a16="http://schemas.microsoft.com/office/drawing/2014/main" id="{333F83CA-AB7F-4D32-8520-42E7DE1F1F2F}"/>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8F38F099-DABF-4E2B-8EB1-22FC35B3C28E}"/>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4B7B9967-CA61-45B2-92CC-39EE0C390847}"/>
              </a:ext>
            </a:extLst>
          </p:cNvPr>
          <p:cNvGrpSpPr/>
          <p:nvPr/>
        </p:nvGrpSpPr>
        <p:grpSpPr>
          <a:xfrm>
            <a:off x="1437550" y="5599958"/>
            <a:ext cx="511370" cy="356179"/>
            <a:chOff x="1437550" y="5599958"/>
            <a:chExt cx="511370" cy="356179"/>
          </a:xfrm>
        </p:grpSpPr>
        <p:cxnSp>
          <p:nvCxnSpPr>
            <p:cNvPr id="47" name="Straight Connector 46">
              <a:extLst>
                <a:ext uri="{FF2B5EF4-FFF2-40B4-BE49-F238E27FC236}">
                  <a16:creationId xmlns:a16="http://schemas.microsoft.com/office/drawing/2014/main" id="{F2534965-BBF2-4E62-AA48-0DC731873492}"/>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6F77814B-9609-44A2-AB14-BE72B0D04DC4}"/>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a:extLst>
              <a:ext uri="{FF2B5EF4-FFF2-40B4-BE49-F238E27FC236}">
                <a16:creationId xmlns:a16="http://schemas.microsoft.com/office/drawing/2014/main" id="{5ABF3204-9818-4878-84E0-65C961A54AB7}"/>
              </a:ext>
            </a:extLst>
          </p:cNvPr>
          <p:cNvGrpSpPr/>
          <p:nvPr/>
        </p:nvGrpSpPr>
        <p:grpSpPr>
          <a:xfrm>
            <a:off x="1995249" y="5599958"/>
            <a:ext cx="511370" cy="356179"/>
            <a:chOff x="1437550" y="5599958"/>
            <a:chExt cx="511370" cy="356179"/>
          </a:xfrm>
        </p:grpSpPr>
        <p:cxnSp>
          <p:nvCxnSpPr>
            <p:cNvPr id="50" name="Straight Connector 49">
              <a:extLst>
                <a:ext uri="{FF2B5EF4-FFF2-40B4-BE49-F238E27FC236}">
                  <a16:creationId xmlns:a16="http://schemas.microsoft.com/office/drawing/2014/main" id="{9E6C8DAF-B8C3-42AE-A0EF-DE2CD034D01C}"/>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92492D6-7B7A-4DD7-A0AF-2E137F62B5B6}"/>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B7E72B1D-97CE-4516-B5E6-A262F64982A3}"/>
              </a:ext>
            </a:extLst>
          </p:cNvPr>
          <p:cNvGrpSpPr/>
          <p:nvPr/>
        </p:nvGrpSpPr>
        <p:grpSpPr>
          <a:xfrm>
            <a:off x="2497104" y="5620871"/>
            <a:ext cx="511370" cy="356179"/>
            <a:chOff x="1437550" y="5599958"/>
            <a:chExt cx="511370" cy="356179"/>
          </a:xfrm>
        </p:grpSpPr>
        <p:cxnSp>
          <p:nvCxnSpPr>
            <p:cNvPr id="54" name="Straight Connector 53">
              <a:extLst>
                <a:ext uri="{FF2B5EF4-FFF2-40B4-BE49-F238E27FC236}">
                  <a16:creationId xmlns:a16="http://schemas.microsoft.com/office/drawing/2014/main" id="{F8F35A66-3D31-451F-ACA5-931EAA10A6DA}"/>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C7F08FB-62F2-4545-ADED-24A8CB583C76}"/>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56" name="Group 55">
            <a:extLst>
              <a:ext uri="{FF2B5EF4-FFF2-40B4-BE49-F238E27FC236}">
                <a16:creationId xmlns:a16="http://schemas.microsoft.com/office/drawing/2014/main" id="{A50A5CA6-8BFB-4BED-80CD-CF199CAE14B4}"/>
              </a:ext>
            </a:extLst>
          </p:cNvPr>
          <p:cNvGrpSpPr/>
          <p:nvPr/>
        </p:nvGrpSpPr>
        <p:grpSpPr>
          <a:xfrm>
            <a:off x="3032407" y="5593647"/>
            <a:ext cx="511370" cy="356179"/>
            <a:chOff x="1437550" y="5599958"/>
            <a:chExt cx="511370" cy="356179"/>
          </a:xfrm>
        </p:grpSpPr>
        <p:cxnSp>
          <p:nvCxnSpPr>
            <p:cNvPr id="57" name="Straight Connector 56">
              <a:extLst>
                <a:ext uri="{FF2B5EF4-FFF2-40B4-BE49-F238E27FC236}">
                  <a16:creationId xmlns:a16="http://schemas.microsoft.com/office/drawing/2014/main" id="{CF1A7DF4-44BA-4893-B861-17A4F3F97187}"/>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2CC8D81C-6467-4708-97CA-D1ED74A44291}"/>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59" name="Group 58">
            <a:extLst>
              <a:ext uri="{FF2B5EF4-FFF2-40B4-BE49-F238E27FC236}">
                <a16:creationId xmlns:a16="http://schemas.microsoft.com/office/drawing/2014/main" id="{E09C4EA8-6B1F-42B2-A99F-800DDF60C180}"/>
              </a:ext>
            </a:extLst>
          </p:cNvPr>
          <p:cNvGrpSpPr/>
          <p:nvPr/>
        </p:nvGrpSpPr>
        <p:grpSpPr>
          <a:xfrm>
            <a:off x="3551032" y="5604103"/>
            <a:ext cx="511370" cy="356179"/>
            <a:chOff x="1437550" y="5599958"/>
            <a:chExt cx="511370" cy="356179"/>
          </a:xfrm>
        </p:grpSpPr>
        <p:cxnSp>
          <p:nvCxnSpPr>
            <p:cNvPr id="60" name="Straight Connector 59">
              <a:extLst>
                <a:ext uri="{FF2B5EF4-FFF2-40B4-BE49-F238E27FC236}">
                  <a16:creationId xmlns:a16="http://schemas.microsoft.com/office/drawing/2014/main" id="{1611D7F3-7FF9-413F-B9B1-5F5BE09C4FE3}"/>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1E43B75F-66D1-4C16-ACA0-57E15E885576}"/>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71" name="Group 70">
            <a:extLst>
              <a:ext uri="{FF2B5EF4-FFF2-40B4-BE49-F238E27FC236}">
                <a16:creationId xmlns:a16="http://schemas.microsoft.com/office/drawing/2014/main" id="{509089ED-DDC8-4FF6-AA3A-79952DF390A1}"/>
              </a:ext>
            </a:extLst>
          </p:cNvPr>
          <p:cNvGrpSpPr/>
          <p:nvPr/>
        </p:nvGrpSpPr>
        <p:grpSpPr>
          <a:xfrm>
            <a:off x="4652096" y="5599958"/>
            <a:ext cx="511370" cy="356179"/>
            <a:chOff x="1437550" y="5599958"/>
            <a:chExt cx="511370" cy="356179"/>
          </a:xfrm>
        </p:grpSpPr>
        <p:cxnSp>
          <p:nvCxnSpPr>
            <p:cNvPr id="72" name="Straight Connector 71">
              <a:extLst>
                <a:ext uri="{FF2B5EF4-FFF2-40B4-BE49-F238E27FC236}">
                  <a16:creationId xmlns:a16="http://schemas.microsoft.com/office/drawing/2014/main" id="{A1E0EE93-256A-4133-8726-B4A7CD1CBBAC}"/>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3C00CF10-3324-48B2-95FB-C55066789D3D}"/>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74" name="Group 73">
            <a:extLst>
              <a:ext uri="{FF2B5EF4-FFF2-40B4-BE49-F238E27FC236}">
                <a16:creationId xmlns:a16="http://schemas.microsoft.com/office/drawing/2014/main" id="{B4D0BAB6-E286-4FAE-9799-A40B445486CC}"/>
              </a:ext>
            </a:extLst>
          </p:cNvPr>
          <p:cNvGrpSpPr/>
          <p:nvPr/>
        </p:nvGrpSpPr>
        <p:grpSpPr>
          <a:xfrm>
            <a:off x="5145889" y="5611189"/>
            <a:ext cx="511370" cy="356179"/>
            <a:chOff x="1437550" y="5599958"/>
            <a:chExt cx="511370" cy="356179"/>
          </a:xfrm>
        </p:grpSpPr>
        <p:cxnSp>
          <p:nvCxnSpPr>
            <p:cNvPr id="75" name="Straight Connector 74">
              <a:extLst>
                <a:ext uri="{FF2B5EF4-FFF2-40B4-BE49-F238E27FC236}">
                  <a16:creationId xmlns:a16="http://schemas.microsoft.com/office/drawing/2014/main" id="{A0BC25E5-FF08-4F07-B063-AFD5B21349EC}"/>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69399455-7ACB-4127-BC15-75CB1C3DDE22}"/>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78" name="Group 77">
            <a:extLst>
              <a:ext uri="{FF2B5EF4-FFF2-40B4-BE49-F238E27FC236}">
                <a16:creationId xmlns:a16="http://schemas.microsoft.com/office/drawing/2014/main" id="{C960C956-A13B-421B-AA9C-A5DB94CE2E49}"/>
              </a:ext>
            </a:extLst>
          </p:cNvPr>
          <p:cNvGrpSpPr/>
          <p:nvPr/>
        </p:nvGrpSpPr>
        <p:grpSpPr>
          <a:xfrm>
            <a:off x="5683049" y="5611188"/>
            <a:ext cx="511370" cy="356179"/>
            <a:chOff x="1437550" y="5599958"/>
            <a:chExt cx="511370" cy="356179"/>
          </a:xfrm>
        </p:grpSpPr>
        <p:cxnSp>
          <p:nvCxnSpPr>
            <p:cNvPr id="79" name="Straight Connector 78">
              <a:extLst>
                <a:ext uri="{FF2B5EF4-FFF2-40B4-BE49-F238E27FC236}">
                  <a16:creationId xmlns:a16="http://schemas.microsoft.com/office/drawing/2014/main" id="{C338AB80-4CD4-4A57-9F75-647DFD2DF8CC}"/>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BA8A38CD-1B26-4B1B-9523-7367274AEA95}"/>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385813897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Straight Connector 45"/>
          <p:cNvCxnSpPr/>
          <p:nvPr/>
        </p:nvCxnSpPr>
        <p:spPr>
          <a:xfrm flipV="1">
            <a:off x="797123" y="4129201"/>
            <a:ext cx="542694" cy="82386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flipV="1">
            <a:off x="2838130" y="4019053"/>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ln>
            <a:noFill/>
          </a:ln>
        </p:spPr>
        <p:txBody>
          <a:bodyPr/>
          <a:lstStyle/>
          <a:p>
            <a:r>
              <a:rPr lang="en-US" dirty="0"/>
              <a:t>Breadth-First Search</a:t>
            </a:r>
          </a:p>
        </p:txBody>
      </p:sp>
      <p:sp>
        <p:nvSpPr>
          <p:cNvPr id="3" name="Slide Number Placeholder 2">
            <a:extLst>
              <a:ext uri="{FF2B5EF4-FFF2-40B4-BE49-F238E27FC236}">
                <a16:creationId xmlns:a16="http://schemas.microsoft.com/office/drawing/2014/main" id="{9470DF4C-7219-4EF5-873A-C67A753E82ED}"/>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79/110</a:t>
            </a:r>
          </a:p>
        </p:txBody>
      </p:sp>
      <p:cxnSp>
        <p:nvCxnSpPr>
          <p:cNvPr id="8" name="Straight Connector 7"/>
          <p:cNvCxnSpPr/>
          <p:nvPr/>
        </p:nvCxnSpPr>
        <p:spPr>
          <a:xfrm flipH="1" flipV="1">
            <a:off x="4129859" y="1873873"/>
            <a:ext cx="1853477" cy="11790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2127196" y="2004369"/>
            <a:ext cx="1804150" cy="10422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3895286" y="176439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8" name="Straight Connector 17"/>
          <p:cNvCxnSpPr/>
          <p:nvPr/>
        </p:nvCxnSpPr>
        <p:spPr>
          <a:xfrm flipH="1" flipV="1">
            <a:off x="2191623" y="2983419"/>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406709" y="3052968"/>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1922122" y="2896761"/>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Oval 16"/>
          <p:cNvSpPr>
            <a:spLocks noChangeArrowheads="1"/>
          </p:cNvSpPr>
          <p:nvPr/>
        </p:nvSpPr>
        <p:spPr bwMode="auto">
          <a:xfrm>
            <a:off x="1225864" y="378497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5" name="Oval 16"/>
          <p:cNvSpPr>
            <a:spLocks noChangeArrowheads="1"/>
          </p:cNvSpPr>
          <p:nvPr/>
        </p:nvSpPr>
        <p:spPr bwMode="auto">
          <a:xfrm>
            <a:off x="2572943" y="382819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4" name="Oval 16"/>
          <p:cNvSpPr>
            <a:spLocks noChangeArrowheads="1"/>
          </p:cNvSpPr>
          <p:nvPr/>
        </p:nvSpPr>
        <p:spPr bwMode="auto">
          <a:xfrm>
            <a:off x="3251450" y="480945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6" name="Oval 16"/>
          <p:cNvSpPr>
            <a:spLocks noChangeArrowheads="1"/>
          </p:cNvSpPr>
          <p:nvPr/>
        </p:nvSpPr>
        <p:spPr bwMode="auto">
          <a:xfrm>
            <a:off x="577751" y="4810837"/>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61" name="Straight Connector 60"/>
          <p:cNvCxnSpPr/>
          <p:nvPr/>
        </p:nvCxnSpPr>
        <p:spPr>
          <a:xfrm flipH="1" flipV="1">
            <a:off x="6681579" y="4037641"/>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6068720" y="4104906"/>
            <a:ext cx="457312" cy="8114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flipV="1">
            <a:off x="6035072" y="3002007"/>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5250158" y="3071556"/>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Oval 16"/>
          <p:cNvSpPr>
            <a:spLocks noChangeArrowheads="1"/>
          </p:cNvSpPr>
          <p:nvPr/>
        </p:nvSpPr>
        <p:spPr bwMode="auto">
          <a:xfrm>
            <a:off x="5765571" y="29153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6" name="Oval 16"/>
          <p:cNvSpPr>
            <a:spLocks noChangeArrowheads="1"/>
          </p:cNvSpPr>
          <p:nvPr/>
        </p:nvSpPr>
        <p:spPr bwMode="auto">
          <a:xfrm>
            <a:off x="5069313" y="380356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7" name="Oval 16"/>
          <p:cNvSpPr>
            <a:spLocks noChangeArrowheads="1"/>
          </p:cNvSpPr>
          <p:nvPr/>
        </p:nvSpPr>
        <p:spPr bwMode="auto">
          <a:xfrm>
            <a:off x="6416392" y="384678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8" name="Oval 16"/>
          <p:cNvSpPr>
            <a:spLocks noChangeArrowheads="1"/>
          </p:cNvSpPr>
          <p:nvPr/>
        </p:nvSpPr>
        <p:spPr bwMode="auto">
          <a:xfrm>
            <a:off x="5870482" y="482942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9" name="Oval 16"/>
          <p:cNvSpPr>
            <a:spLocks noChangeArrowheads="1"/>
          </p:cNvSpPr>
          <p:nvPr/>
        </p:nvSpPr>
        <p:spPr bwMode="auto">
          <a:xfrm>
            <a:off x="7094899" y="482803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76" name="TextBox 75"/>
          <p:cNvSpPr txBox="1"/>
          <p:nvPr/>
        </p:nvSpPr>
        <p:spPr>
          <a:xfrm>
            <a:off x="3944575" y="1786250"/>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82" name="TextBox 81"/>
          <p:cNvSpPr txBox="1"/>
          <p:nvPr/>
        </p:nvSpPr>
        <p:spPr>
          <a:xfrm>
            <a:off x="1967407" y="2929860"/>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83" name="TextBox 82"/>
          <p:cNvSpPr txBox="1"/>
          <p:nvPr/>
        </p:nvSpPr>
        <p:spPr>
          <a:xfrm>
            <a:off x="5833156" y="2937297"/>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84" name="Rectangle 83"/>
          <p:cNvSpPr/>
          <p:nvPr/>
        </p:nvSpPr>
        <p:spPr>
          <a:xfrm>
            <a:off x="1273931" y="3822650"/>
            <a:ext cx="343364" cy="369332"/>
          </a:xfrm>
          <a:prstGeom prst="rect">
            <a:avLst/>
          </a:prstGeom>
        </p:spPr>
        <p:txBody>
          <a:bodyPr wrap="none">
            <a:spAutoFit/>
          </a:bodyPr>
          <a:lstStyle/>
          <a:p>
            <a:r>
              <a:rPr lang="en-US" b="1" dirty="0">
                <a:solidFill>
                  <a:prstClr val="black"/>
                </a:solidFill>
              </a:rPr>
              <a:t>D</a:t>
            </a:r>
          </a:p>
        </p:txBody>
      </p:sp>
      <p:sp>
        <p:nvSpPr>
          <p:cNvPr id="85" name="Rectangle 84"/>
          <p:cNvSpPr/>
          <p:nvPr/>
        </p:nvSpPr>
        <p:spPr>
          <a:xfrm>
            <a:off x="5116299" y="3846782"/>
            <a:ext cx="304892" cy="369332"/>
          </a:xfrm>
          <a:prstGeom prst="rect">
            <a:avLst/>
          </a:prstGeom>
        </p:spPr>
        <p:txBody>
          <a:bodyPr wrap="none">
            <a:spAutoFit/>
          </a:bodyPr>
          <a:lstStyle/>
          <a:p>
            <a:r>
              <a:rPr lang="en-US" b="1" dirty="0">
                <a:solidFill>
                  <a:prstClr val="black"/>
                </a:solidFill>
              </a:rPr>
              <a:t>F</a:t>
            </a:r>
          </a:p>
        </p:txBody>
      </p:sp>
      <p:sp>
        <p:nvSpPr>
          <p:cNvPr id="86" name="Rectangle 85"/>
          <p:cNvSpPr/>
          <p:nvPr/>
        </p:nvSpPr>
        <p:spPr>
          <a:xfrm>
            <a:off x="6467363" y="3861983"/>
            <a:ext cx="340158" cy="369332"/>
          </a:xfrm>
          <a:prstGeom prst="rect">
            <a:avLst/>
          </a:prstGeom>
        </p:spPr>
        <p:txBody>
          <a:bodyPr wrap="none">
            <a:spAutoFit/>
          </a:bodyPr>
          <a:lstStyle/>
          <a:p>
            <a:r>
              <a:rPr lang="en-US" b="1" dirty="0">
                <a:solidFill>
                  <a:prstClr val="black"/>
                </a:solidFill>
              </a:rPr>
              <a:t>G</a:t>
            </a:r>
          </a:p>
        </p:txBody>
      </p:sp>
      <p:sp>
        <p:nvSpPr>
          <p:cNvPr id="87" name="Rectangle 86"/>
          <p:cNvSpPr/>
          <p:nvPr/>
        </p:nvSpPr>
        <p:spPr>
          <a:xfrm>
            <a:off x="5923779" y="4883500"/>
            <a:ext cx="277640" cy="369332"/>
          </a:xfrm>
          <a:prstGeom prst="rect">
            <a:avLst/>
          </a:prstGeom>
        </p:spPr>
        <p:txBody>
          <a:bodyPr wrap="none">
            <a:spAutoFit/>
          </a:bodyPr>
          <a:lstStyle/>
          <a:p>
            <a:r>
              <a:rPr lang="en-US" b="1" dirty="0">
                <a:solidFill>
                  <a:prstClr val="black"/>
                </a:solidFill>
              </a:rPr>
              <a:t>J</a:t>
            </a:r>
          </a:p>
        </p:txBody>
      </p:sp>
      <p:sp>
        <p:nvSpPr>
          <p:cNvPr id="88" name="Rectangle 87"/>
          <p:cNvSpPr/>
          <p:nvPr/>
        </p:nvSpPr>
        <p:spPr>
          <a:xfrm>
            <a:off x="7146697" y="4879786"/>
            <a:ext cx="330540" cy="369332"/>
          </a:xfrm>
          <a:prstGeom prst="rect">
            <a:avLst/>
          </a:prstGeom>
        </p:spPr>
        <p:txBody>
          <a:bodyPr wrap="none">
            <a:spAutoFit/>
          </a:bodyPr>
          <a:lstStyle/>
          <a:p>
            <a:r>
              <a:rPr lang="en-US" b="1" dirty="0">
                <a:solidFill>
                  <a:prstClr val="black"/>
                </a:solidFill>
              </a:rPr>
              <a:t>K</a:t>
            </a:r>
          </a:p>
        </p:txBody>
      </p:sp>
      <p:sp>
        <p:nvSpPr>
          <p:cNvPr id="89" name="Rectangle 88"/>
          <p:cNvSpPr/>
          <p:nvPr/>
        </p:nvSpPr>
        <p:spPr>
          <a:xfrm>
            <a:off x="3294991" y="4859128"/>
            <a:ext cx="248786" cy="369332"/>
          </a:xfrm>
          <a:prstGeom prst="rect">
            <a:avLst/>
          </a:prstGeom>
        </p:spPr>
        <p:txBody>
          <a:bodyPr wrap="none">
            <a:spAutoFit/>
          </a:bodyPr>
          <a:lstStyle/>
          <a:p>
            <a:r>
              <a:rPr lang="en-US" b="1" dirty="0">
                <a:solidFill>
                  <a:prstClr val="black"/>
                </a:solidFill>
              </a:rPr>
              <a:t>I</a:t>
            </a:r>
          </a:p>
        </p:txBody>
      </p:sp>
      <p:sp>
        <p:nvSpPr>
          <p:cNvPr id="91" name="Rectangle 90"/>
          <p:cNvSpPr/>
          <p:nvPr/>
        </p:nvSpPr>
        <p:spPr>
          <a:xfrm>
            <a:off x="641576" y="4852097"/>
            <a:ext cx="346570" cy="369332"/>
          </a:xfrm>
          <a:prstGeom prst="rect">
            <a:avLst/>
          </a:prstGeom>
        </p:spPr>
        <p:txBody>
          <a:bodyPr wrap="none">
            <a:spAutoFit/>
          </a:bodyPr>
          <a:lstStyle/>
          <a:p>
            <a:r>
              <a:rPr lang="en-US" b="1" dirty="0">
                <a:solidFill>
                  <a:prstClr val="black"/>
                </a:solidFill>
              </a:rPr>
              <a:t>H</a:t>
            </a:r>
          </a:p>
        </p:txBody>
      </p:sp>
      <p:sp>
        <p:nvSpPr>
          <p:cNvPr id="92" name="Rectangle 91"/>
          <p:cNvSpPr/>
          <p:nvPr/>
        </p:nvSpPr>
        <p:spPr>
          <a:xfrm>
            <a:off x="2632725" y="3853127"/>
            <a:ext cx="316112" cy="369332"/>
          </a:xfrm>
          <a:prstGeom prst="rect">
            <a:avLst/>
          </a:prstGeom>
        </p:spPr>
        <p:txBody>
          <a:bodyPr wrap="none">
            <a:spAutoFit/>
          </a:bodyPr>
          <a:lstStyle/>
          <a:p>
            <a:r>
              <a:rPr lang="en-US" b="1" dirty="0">
                <a:solidFill>
                  <a:prstClr val="black"/>
                </a:solidFill>
              </a:rPr>
              <a:t>E</a:t>
            </a:r>
          </a:p>
        </p:txBody>
      </p:sp>
      <p:graphicFrame>
        <p:nvGraphicFramePr>
          <p:cNvPr id="5" name="Table 4"/>
          <p:cNvGraphicFramePr>
            <a:graphicFrameLocks noGrp="1"/>
          </p:cNvGraphicFramePr>
          <p:nvPr>
            <p:extLst>
              <p:ext uri="{D42A27DB-BD31-4B8C-83A1-F6EECF244321}">
                <p14:modId xmlns:p14="http://schemas.microsoft.com/office/powerpoint/2010/main" val="2247505562"/>
              </p:ext>
            </p:extLst>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2353885934"/>
                    </a:ext>
                  </a:extLst>
                </a:gridCol>
              </a:tblGrid>
              <a:tr h="370840">
                <a:tc>
                  <a:txBody>
                    <a:bodyPr/>
                    <a:lstStyle/>
                    <a:p>
                      <a:pPr algn="ctr"/>
                      <a:r>
                        <a:rPr lang="en-US" dirty="0"/>
                        <a:t> </a:t>
                      </a: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r>
                        <a:rPr lang="en-US" dirty="0">
                          <a:solidFill>
                            <a:schemeClr val="tx1"/>
                          </a:solidFill>
                        </a:rPr>
                        <a:t>K</a:t>
                      </a:r>
                    </a:p>
                  </a:txBody>
                  <a:tcPr>
                    <a:solidFill>
                      <a:schemeClr val="accent6">
                        <a:lumMod val="60000"/>
                        <a:lumOff val="40000"/>
                      </a:schemeClr>
                    </a:solidFill>
                  </a:tcPr>
                </a:tc>
                <a:extLst>
                  <a:ext uri="{0D108BD9-81ED-4DB2-BD59-A6C34878D82A}">
                    <a16:rowId xmlns:a16="http://schemas.microsoft.com/office/drawing/2014/main" val="660647860"/>
                  </a:ext>
                </a:extLst>
              </a:tr>
            </a:tbl>
          </a:graphicData>
        </a:graphic>
      </p:graphicFrame>
      <p:sp>
        <p:nvSpPr>
          <p:cNvPr id="6" name="TextBox 5"/>
          <p:cNvSpPr txBox="1"/>
          <p:nvPr/>
        </p:nvSpPr>
        <p:spPr>
          <a:xfrm>
            <a:off x="965262" y="5554545"/>
            <a:ext cx="418704" cy="461665"/>
          </a:xfrm>
          <a:prstGeom prst="rect">
            <a:avLst/>
          </a:prstGeom>
          <a:noFill/>
        </p:spPr>
        <p:txBody>
          <a:bodyPr wrap="none" rtlCol="0">
            <a:spAutoFit/>
          </a:bodyPr>
          <a:lstStyle/>
          <a:p>
            <a:r>
              <a:rPr lang="en-US" sz="2400" b="1" dirty="0">
                <a:effectLst>
                  <a:outerShdw blurRad="38100" dist="38100" dir="2700000" algn="tl">
                    <a:srgbClr val="000000">
                      <a:alpha val="43137"/>
                    </a:srgbClr>
                  </a:outerShdw>
                </a:effectLst>
              </a:rPr>
              <a:t>Q</a:t>
            </a:r>
          </a:p>
        </p:txBody>
      </p:sp>
      <p:cxnSp>
        <p:nvCxnSpPr>
          <p:cNvPr id="39" name="Straight Connector 38"/>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41" name="Table 40"/>
          <p:cNvGraphicFramePr>
            <a:graphicFrameLocks noGrp="1"/>
          </p:cNvGraphicFramePr>
          <p:nvPr/>
        </p:nvGraphicFramePr>
        <p:xfrm>
          <a:off x="1437550" y="6028129"/>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B</a:t>
                      </a:r>
                    </a:p>
                  </a:txBody>
                  <a:tcPr>
                    <a:noFill/>
                  </a:tcPr>
                </a:tc>
                <a:tc>
                  <a:txBody>
                    <a:bodyPr/>
                    <a:lstStyle/>
                    <a:p>
                      <a:pPr algn="ctr"/>
                      <a:r>
                        <a:rPr lang="en-US" dirty="0">
                          <a:solidFill>
                            <a:schemeClr val="tx1"/>
                          </a:solidFill>
                        </a:rPr>
                        <a:t>C</a:t>
                      </a:r>
                    </a:p>
                  </a:txBody>
                  <a:tcPr>
                    <a:noFill/>
                  </a:tcPr>
                </a:tc>
                <a:tc>
                  <a:txBody>
                    <a:bodyPr/>
                    <a:lstStyle/>
                    <a:p>
                      <a:pPr algn="ctr"/>
                      <a:r>
                        <a:rPr lang="en-US" dirty="0">
                          <a:solidFill>
                            <a:schemeClr val="tx1"/>
                          </a:solidFill>
                        </a:rPr>
                        <a:t>D</a:t>
                      </a:r>
                    </a:p>
                  </a:txBody>
                  <a:tcPr>
                    <a:noFill/>
                  </a:tcPr>
                </a:tc>
                <a:tc>
                  <a:txBody>
                    <a:bodyPr/>
                    <a:lstStyle/>
                    <a:p>
                      <a:pPr algn="ctr"/>
                      <a:r>
                        <a:rPr lang="en-US" dirty="0">
                          <a:solidFill>
                            <a:schemeClr val="tx1"/>
                          </a:solidFill>
                        </a:rPr>
                        <a:t>E</a:t>
                      </a:r>
                    </a:p>
                  </a:txBody>
                  <a:tcPr>
                    <a:noFill/>
                  </a:tcPr>
                </a:tc>
                <a:tc>
                  <a:txBody>
                    <a:bodyPr/>
                    <a:lstStyle/>
                    <a:p>
                      <a:pPr algn="ctr"/>
                      <a:r>
                        <a:rPr lang="en-US" dirty="0">
                          <a:solidFill>
                            <a:schemeClr val="tx1"/>
                          </a:solidFill>
                        </a:rPr>
                        <a:t>F</a:t>
                      </a:r>
                    </a:p>
                  </a:txBody>
                  <a:tcPr>
                    <a:noFill/>
                  </a:tcPr>
                </a:tc>
                <a:tc>
                  <a:txBody>
                    <a:bodyPr/>
                    <a:lstStyle/>
                    <a:p>
                      <a:pPr algn="ctr"/>
                      <a:r>
                        <a:rPr lang="en-US" dirty="0">
                          <a:solidFill>
                            <a:schemeClr val="tx1"/>
                          </a:solidFill>
                        </a:rPr>
                        <a:t>G</a:t>
                      </a:r>
                    </a:p>
                  </a:txBody>
                  <a:tcPr>
                    <a:noFill/>
                  </a:tcPr>
                </a:tc>
                <a:tc>
                  <a:txBody>
                    <a:bodyPr/>
                    <a:lstStyle/>
                    <a:p>
                      <a:pPr algn="ctr"/>
                      <a:r>
                        <a:rPr lang="en-US" dirty="0">
                          <a:solidFill>
                            <a:schemeClr val="tx1"/>
                          </a:solidFill>
                        </a:rPr>
                        <a:t>H</a:t>
                      </a:r>
                    </a:p>
                  </a:txBody>
                  <a:tcPr>
                    <a:noFill/>
                  </a:tcPr>
                </a:tc>
                <a:tc>
                  <a:txBody>
                    <a:bodyPr/>
                    <a:lstStyle/>
                    <a:p>
                      <a:pPr algn="ctr"/>
                      <a:r>
                        <a:rPr lang="en-US" i="0" dirty="0">
                          <a:solidFill>
                            <a:schemeClr val="tx1"/>
                          </a:solidFill>
                        </a:rPr>
                        <a:t>I</a:t>
                      </a:r>
                    </a:p>
                  </a:txBody>
                  <a:tcPr>
                    <a:noFill/>
                  </a:tcPr>
                </a:tc>
                <a:tc>
                  <a:txBody>
                    <a:bodyPr/>
                    <a:lstStyle/>
                    <a:p>
                      <a:pPr algn="ctr"/>
                      <a:r>
                        <a:rPr lang="en-US" dirty="0">
                          <a:solidFill>
                            <a:schemeClr val="tx1"/>
                          </a:solidFill>
                        </a:rPr>
                        <a:t>J</a:t>
                      </a:r>
                    </a:p>
                  </a:txBody>
                  <a:tcPr>
                    <a:noFill/>
                  </a:tcPr>
                </a:tc>
                <a:tc>
                  <a:txBody>
                    <a:bodyPr/>
                    <a:lstStyle/>
                    <a:p>
                      <a:endParaRPr lang="en-US" dirty="0"/>
                    </a:p>
                  </a:txBody>
                  <a:tcPr>
                    <a:noFill/>
                  </a:tcPr>
                </a:tc>
                <a:extLst>
                  <a:ext uri="{0D108BD9-81ED-4DB2-BD59-A6C34878D82A}">
                    <a16:rowId xmlns:a16="http://schemas.microsoft.com/office/drawing/2014/main" val="660647860"/>
                  </a:ext>
                </a:extLst>
              </a:tr>
            </a:tbl>
          </a:graphicData>
        </a:graphic>
      </p:graphicFrame>
      <p:graphicFrame>
        <p:nvGraphicFramePr>
          <p:cNvPr id="53" name="Table 52">
            <a:extLst>
              <a:ext uri="{FF2B5EF4-FFF2-40B4-BE49-F238E27FC236}">
                <a16:creationId xmlns:a16="http://schemas.microsoft.com/office/drawing/2014/main" id="{D22E3A17-241E-4F90-A909-76F99124C5D5}"/>
              </a:ext>
            </a:extLst>
          </p:cNvPr>
          <p:cNvGraphicFramePr>
            <a:graphicFrameLocks noGrp="1"/>
          </p:cNvGraphicFramePr>
          <p:nvPr/>
        </p:nvGraphicFramePr>
        <p:xfrm>
          <a:off x="8658993" y="1862844"/>
          <a:ext cx="2132240" cy="4719320"/>
        </p:xfrm>
        <a:graphic>
          <a:graphicData uri="http://schemas.openxmlformats.org/drawingml/2006/table">
            <a:tbl>
              <a:tblPr firstRow="1" bandRow="1">
                <a:tableStyleId>{5C22544A-7EE6-4342-B048-85BDC9FD1C3A}</a:tableStyleId>
              </a:tblPr>
              <a:tblGrid>
                <a:gridCol w="847864">
                  <a:extLst>
                    <a:ext uri="{9D8B030D-6E8A-4147-A177-3AD203B41FA5}">
                      <a16:colId xmlns:a16="http://schemas.microsoft.com/office/drawing/2014/main" val="2989644895"/>
                    </a:ext>
                  </a:extLst>
                </a:gridCol>
                <a:gridCol w="1284376">
                  <a:extLst>
                    <a:ext uri="{9D8B030D-6E8A-4147-A177-3AD203B41FA5}">
                      <a16:colId xmlns:a16="http://schemas.microsoft.com/office/drawing/2014/main" val="4244960412"/>
                    </a:ext>
                  </a:extLst>
                </a:gridCol>
              </a:tblGrid>
              <a:tr h="370840">
                <a:tc>
                  <a:txBody>
                    <a:bodyPr/>
                    <a:lstStyle/>
                    <a:p>
                      <a:pPr algn="ctr"/>
                      <a:r>
                        <a:rPr lang="en-US" dirty="0"/>
                        <a:t>NODE</a:t>
                      </a:r>
                    </a:p>
                  </a:txBody>
                  <a:tcPr/>
                </a:tc>
                <a:tc>
                  <a:txBody>
                    <a:bodyPr/>
                    <a:lstStyle/>
                    <a:p>
                      <a:pPr algn="ctr"/>
                      <a:r>
                        <a:rPr lang="en-US" dirty="0"/>
                        <a:t>CHILDREN</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F,G</a:t>
                      </a:r>
                      <a:endParaRPr lang="en-US" b="1" dirty="0"/>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H,-</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-,I</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J,K</a:t>
                      </a:r>
                    </a:p>
                  </a:txBody>
                  <a:tcPr/>
                </a:tc>
                <a:extLst>
                  <a:ext uri="{0D108BD9-81ED-4DB2-BD59-A6C34878D82A}">
                    <a16:rowId xmlns:a16="http://schemas.microsoft.com/office/drawing/2014/main" val="1205733479"/>
                  </a:ext>
                </a:extLst>
              </a:tr>
              <a:tr h="370840">
                <a:tc>
                  <a:txBody>
                    <a:bodyPr/>
                    <a:lstStyle/>
                    <a:p>
                      <a:pPr algn="ctr"/>
                      <a:r>
                        <a:rPr lang="en-US" b="1" dirty="0"/>
                        <a: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987431379"/>
                  </a:ext>
                </a:extLst>
              </a:tr>
              <a:tr h="370840">
                <a:tc>
                  <a:txBody>
                    <a:bodyPr/>
                    <a:lstStyle/>
                    <a:p>
                      <a:pPr algn="ctr"/>
                      <a:r>
                        <a:rPr lang="en-US" b="1" dirty="0"/>
                        <a:t>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290039795"/>
                  </a:ext>
                </a:extLst>
              </a:tr>
              <a:tr h="370840">
                <a:tc>
                  <a:txBody>
                    <a:bodyPr/>
                    <a:lstStyle/>
                    <a:p>
                      <a:pPr algn="ctr"/>
                      <a:r>
                        <a:rPr lang="en-US" b="1" dirty="0"/>
                        <a:t>J</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873125107"/>
                  </a:ext>
                </a:extLst>
              </a:tr>
              <a:tr h="370840">
                <a:tc>
                  <a:txBody>
                    <a:bodyPr/>
                    <a:lstStyle/>
                    <a:p>
                      <a:pPr algn="ctr"/>
                      <a:r>
                        <a:rPr lang="en-US" b="1" dirty="0"/>
                        <a:t>K</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640632725"/>
                  </a:ext>
                </a:extLst>
              </a:tr>
            </a:tbl>
          </a:graphicData>
        </a:graphic>
      </p:graphicFrame>
      <p:grpSp>
        <p:nvGrpSpPr>
          <p:cNvPr id="42" name="Group 41">
            <a:extLst>
              <a:ext uri="{FF2B5EF4-FFF2-40B4-BE49-F238E27FC236}">
                <a16:creationId xmlns:a16="http://schemas.microsoft.com/office/drawing/2014/main" id="{A29AC84E-2E86-4C90-9245-330FB8D674A5}"/>
              </a:ext>
            </a:extLst>
          </p:cNvPr>
          <p:cNvGrpSpPr/>
          <p:nvPr/>
        </p:nvGrpSpPr>
        <p:grpSpPr>
          <a:xfrm>
            <a:off x="4113051" y="5599958"/>
            <a:ext cx="511370" cy="356179"/>
            <a:chOff x="1437550" y="5599958"/>
            <a:chExt cx="511370" cy="356179"/>
          </a:xfrm>
        </p:grpSpPr>
        <p:cxnSp>
          <p:nvCxnSpPr>
            <p:cNvPr id="43" name="Straight Connector 42">
              <a:extLst>
                <a:ext uri="{FF2B5EF4-FFF2-40B4-BE49-F238E27FC236}">
                  <a16:creationId xmlns:a16="http://schemas.microsoft.com/office/drawing/2014/main" id="{76F5AFFF-0CBD-4C7D-8537-3E17FEDAC4AF}"/>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448EF826-2EBE-40D1-9254-1F945D41CE37}"/>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C600825F-1610-48CD-BB6E-3CE64F9114D9}"/>
              </a:ext>
            </a:extLst>
          </p:cNvPr>
          <p:cNvGrpSpPr/>
          <p:nvPr/>
        </p:nvGrpSpPr>
        <p:grpSpPr>
          <a:xfrm>
            <a:off x="1437550" y="5599958"/>
            <a:ext cx="511370" cy="356179"/>
            <a:chOff x="1437550" y="5599958"/>
            <a:chExt cx="511370" cy="356179"/>
          </a:xfrm>
        </p:grpSpPr>
        <p:cxnSp>
          <p:nvCxnSpPr>
            <p:cNvPr id="47" name="Straight Connector 46">
              <a:extLst>
                <a:ext uri="{FF2B5EF4-FFF2-40B4-BE49-F238E27FC236}">
                  <a16:creationId xmlns:a16="http://schemas.microsoft.com/office/drawing/2014/main" id="{45A1C313-60B5-494D-A312-A82813416902}"/>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B6092F16-7A09-4F48-B7E0-74FB8866A17E}"/>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a:extLst>
              <a:ext uri="{FF2B5EF4-FFF2-40B4-BE49-F238E27FC236}">
                <a16:creationId xmlns:a16="http://schemas.microsoft.com/office/drawing/2014/main" id="{E01E70A3-18DE-4F48-9789-A58841E282ED}"/>
              </a:ext>
            </a:extLst>
          </p:cNvPr>
          <p:cNvGrpSpPr/>
          <p:nvPr/>
        </p:nvGrpSpPr>
        <p:grpSpPr>
          <a:xfrm>
            <a:off x="1995249" y="5599958"/>
            <a:ext cx="511370" cy="356179"/>
            <a:chOff x="1437550" y="5599958"/>
            <a:chExt cx="511370" cy="356179"/>
          </a:xfrm>
        </p:grpSpPr>
        <p:cxnSp>
          <p:nvCxnSpPr>
            <p:cNvPr id="50" name="Straight Connector 49">
              <a:extLst>
                <a:ext uri="{FF2B5EF4-FFF2-40B4-BE49-F238E27FC236}">
                  <a16:creationId xmlns:a16="http://schemas.microsoft.com/office/drawing/2014/main" id="{341197D3-AD95-454B-950F-DE047FBB394A}"/>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21DA5929-E8BB-4CA4-A358-46B313CAE55B}"/>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a:extLst>
              <a:ext uri="{FF2B5EF4-FFF2-40B4-BE49-F238E27FC236}">
                <a16:creationId xmlns:a16="http://schemas.microsoft.com/office/drawing/2014/main" id="{4A314783-1C0D-4E15-999A-4476DDE634E8}"/>
              </a:ext>
            </a:extLst>
          </p:cNvPr>
          <p:cNvGrpSpPr/>
          <p:nvPr/>
        </p:nvGrpSpPr>
        <p:grpSpPr>
          <a:xfrm>
            <a:off x="2497104" y="5620871"/>
            <a:ext cx="511370" cy="356179"/>
            <a:chOff x="1437550" y="5599958"/>
            <a:chExt cx="511370" cy="356179"/>
          </a:xfrm>
        </p:grpSpPr>
        <p:cxnSp>
          <p:nvCxnSpPr>
            <p:cNvPr id="54" name="Straight Connector 53">
              <a:extLst>
                <a:ext uri="{FF2B5EF4-FFF2-40B4-BE49-F238E27FC236}">
                  <a16:creationId xmlns:a16="http://schemas.microsoft.com/office/drawing/2014/main" id="{E2EED9FD-2422-4BE5-8558-F54B635B1561}"/>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53F38BF-0831-4BAE-B059-1FEB208067B2}"/>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56" name="Group 55">
            <a:extLst>
              <a:ext uri="{FF2B5EF4-FFF2-40B4-BE49-F238E27FC236}">
                <a16:creationId xmlns:a16="http://schemas.microsoft.com/office/drawing/2014/main" id="{1A7A124E-5346-4B90-B6C0-35C0CE257554}"/>
              </a:ext>
            </a:extLst>
          </p:cNvPr>
          <p:cNvGrpSpPr/>
          <p:nvPr/>
        </p:nvGrpSpPr>
        <p:grpSpPr>
          <a:xfrm>
            <a:off x="3032407" y="5593647"/>
            <a:ext cx="511370" cy="356179"/>
            <a:chOff x="1437550" y="5599958"/>
            <a:chExt cx="511370" cy="356179"/>
          </a:xfrm>
        </p:grpSpPr>
        <p:cxnSp>
          <p:nvCxnSpPr>
            <p:cNvPr id="57" name="Straight Connector 56">
              <a:extLst>
                <a:ext uri="{FF2B5EF4-FFF2-40B4-BE49-F238E27FC236}">
                  <a16:creationId xmlns:a16="http://schemas.microsoft.com/office/drawing/2014/main" id="{A5135B9C-BE8B-4E02-86B9-555FC6D95F3D}"/>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35D208E0-C4DB-4B20-9A5B-F2CC542B710A}"/>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59" name="Group 58">
            <a:extLst>
              <a:ext uri="{FF2B5EF4-FFF2-40B4-BE49-F238E27FC236}">
                <a16:creationId xmlns:a16="http://schemas.microsoft.com/office/drawing/2014/main" id="{A174DC31-F00E-4400-AE25-F4CF9A918795}"/>
              </a:ext>
            </a:extLst>
          </p:cNvPr>
          <p:cNvGrpSpPr/>
          <p:nvPr/>
        </p:nvGrpSpPr>
        <p:grpSpPr>
          <a:xfrm>
            <a:off x="3551032" y="5604103"/>
            <a:ext cx="511370" cy="356179"/>
            <a:chOff x="1437550" y="5599958"/>
            <a:chExt cx="511370" cy="356179"/>
          </a:xfrm>
        </p:grpSpPr>
        <p:cxnSp>
          <p:nvCxnSpPr>
            <p:cNvPr id="60" name="Straight Connector 59">
              <a:extLst>
                <a:ext uri="{FF2B5EF4-FFF2-40B4-BE49-F238E27FC236}">
                  <a16:creationId xmlns:a16="http://schemas.microsoft.com/office/drawing/2014/main" id="{C64567A9-4903-4189-BB6E-751660447E4F}"/>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9206EFDE-FCDB-48AB-97A0-8E8BF731BA54}"/>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71" name="Group 70">
            <a:extLst>
              <a:ext uri="{FF2B5EF4-FFF2-40B4-BE49-F238E27FC236}">
                <a16:creationId xmlns:a16="http://schemas.microsoft.com/office/drawing/2014/main" id="{CDD67195-68E2-4B1E-9A02-455E4ABEA04C}"/>
              </a:ext>
            </a:extLst>
          </p:cNvPr>
          <p:cNvGrpSpPr/>
          <p:nvPr/>
        </p:nvGrpSpPr>
        <p:grpSpPr>
          <a:xfrm>
            <a:off x="4652096" y="5599958"/>
            <a:ext cx="511370" cy="356179"/>
            <a:chOff x="1437550" y="5599958"/>
            <a:chExt cx="511370" cy="356179"/>
          </a:xfrm>
        </p:grpSpPr>
        <p:cxnSp>
          <p:nvCxnSpPr>
            <p:cNvPr id="72" name="Straight Connector 71">
              <a:extLst>
                <a:ext uri="{FF2B5EF4-FFF2-40B4-BE49-F238E27FC236}">
                  <a16:creationId xmlns:a16="http://schemas.microsoft.com/office/drawing/2014/main" id="{CC486E57-B6BA-4E14-97C6-BC5D6C1C6CC2}"/>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7EE8F20-A91C-4678-8245-F18C40B543B0}"/>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74" name="Group 73">
            <a:extLst>
              <a:ext uri="{FF2B5EF4-FFF2-40B4-BE49-F238E27FC236}">
                <a16:creationId xmlns:a16="http://schemas.microsoft.com/office/drawing/2014/main" id="{8D16FF94-469B-4207-966D-B6A1F390EBB2}"/>
              </a:ext>
            </a:extLst>
          </p:cNvPr>
          <p:cNvGrpSpPr/>
          <p:nvPr/>
        </p:nvGrpSpPr>
        <p:grpSpPr>
          <a:xfrm>
            <a:off x="5145889" y="5611189"/>
            <a:ext cx="511370" cy="356179"/>
            <a:chOff x="1437550" y="5599958"/>
            <a:chExt cx="511370" cy="356179"/>
          </a:xfrm>
        </p:grpSpPr>
        <p:cxnSp>
          <p:nvCxnSpPr>
            <p:cNvPr id="75" name="Straight Connector 74">
              <a:extLst>
                <a:ext uri="{FF2B5EF4-FFF2-40B4-BE49-F238E27FC236}">
                  <a16:creationId xmlns:a16="http://schemas.microsoft.com/office/drawing/2014/main" id="{5129498C-BC96-4C11-B2B6-737D85F756F4}"/>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03967382-E118-4C0D-9191-D58E6E748463}"/>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78" name="Group 77">
            <a:extLst>
              <a:ext uri="{FF2B5EF4-FFF2-40B4-BE49-F238E27FC236}">
                <a16:creationId xmlns:a16="http://schemas.microsoft.com/office/drawing/2014/main" id="{D7763C88-8887-4EF4-A4D1-BE14EEB51BD0}"/>
              </a:ext>
            </a:extLst>
          </p:cNvPr>
          <p:cNvGrpSpPr/>
          <p:nvPr/>
        </p:nvGrpSpPr>
        <p:grpSpPr>
          <a:xfrm>
            <a:off x="5683049" y="5611188"/>
            <a:ext cx="511370" cy="356179"/>
            <a:chOff x="1437550" y="5599958"/>
            <a:chExt cx="511370" cy="356179"/>
          </a:xfrm>
        </p:grpSpPr>
        <p:cxnSp>
          <p:nvCxnSpPr>
            <p:cNvPr id="79" name="Straight Connector 78">
              <a:extLst>
                <a:ext uri="{FF2B5EF4-FFF2-40B4-BE49-F238E27FC236}">
                  <a16:creationId xmlns:a16="http://schemas.microsoft.com/office/drawing/2014/main" id="{626C4FED-434D-4530-AEF0-07214F5A52D6}"/>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FF0BFB7A-75A3-4732-AA3E-10AB909CDCCF}"/>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81" name="Group 80">
            <a:extLst>
              <a:ext uri="{FF2B5EF4-FFF2-40B4-BE49-F238E27FC236}">
                <a16:creationId xmlns:a16="http://schemas.microsoft.com/office/drawing/2014/main" id="{15F51F76-4453-4593-92FB-2ECEF531BADC}"/>
              </a:ext>
            </a:extLst>
          </p:cNvPr>
          <p:cNvGrpSpPr/>
          <p:nvPr/>
        </p:nvGrpSpPr>
        <p:grpSpPr>
          <a:xfrm>
            <a:off x="6247558" y="5593646"/>
            <a:ext cx="511370" cy="356179"/>
            <a:chOff x="1437550" y="5599958"/>
            <a:chExt cx="511370" cy="356179"/>
          </a:xfrm>
        </p:grpSpPr>
        <p:cxnSp>
          <p:nvCxnSpPr>
            <p:cNvPr id="90" name="Straight Connector 89">
              <a:extLst>
                <a:ext uri="{FF2B5EF4-FFF2-40B4-BE49-F238E27FC236}">
                  <a16:creationId xmlns:a16="http://schemas.microsoft.com/office/drawing/2014/main" id="{24E3E5AA-1670-466B-88AD-0C31E2D06D34}"/>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BDFF02B6-F6FB-4291-B0AB-4DDAD5C6B7A2}"/>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176944308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Straight Connector 45"/>
          <p:cNvCxnSpPr/>
          <p:nvPr/>
        </p:nvCxnSpPr>
        <p:spPr>
          <a:xfrm flipV="1">
            <a:off x="797123" y="4129201"/>
            <a:ext cx="542694" cy="82386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flipV="1">
            <a:off x="2838130" y="4019053"/>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ln>
            <a:noFill/>
          </a:ln>
        </p:spPr>
        <p:txBody>
          <a:bodyPr/>
          <a:lstStyle/>
          <a:p>
            <a:r>
              <a:rPr lang="en-US" dirty="0"/>
              <a:t>Breadth-First Search</a:t>
            </a:r>
          </a:p>
        </p:txBody>
      </p:sp>
      <p:sp>
        <p:nvSpPr>
          <p:cNvPr id="3" name="Slide Number Placeholder 2">
            <a:extLst>
              <a:ext uri="{FF2B5EF4-FFF2-40B4-BE49-F238E27FC236}">
                <a16:creationId xmlns:a16="http://schemas.microsoft.com/office/drawing/2014/main" id="{8616C017-074F-4E90-AD7F-78DF0820FD13}"/>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80/110</a:t>
            </a:r>
          </a:p>
        </p:txBody>
      </p:sp>
      <p:cxnSp>
        <p:nvCxnSpPr>
          <p:cNvPr id="8" name="Straight Connector 7"/>
          <p:cNvCxnSpPr/>
          <p:nvPr/>
        </p:nvCxnSpPr>
        <p:spPr>
          <a:xfrm flipH="1" flipV="1">
            <a:off x="4129859" y="1873873"/>
            <a:ext cx="1853477" cy="11790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2127196" y="2004369"/>
            <a:ext cx="1804150" cy="10422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3895286" y="176439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18" name="Straight Connector 17"/>
          <p:cNvCxnSpPr/>
          <p:nvPr/>
        </p:nvCxnSpPr>
        <p:spPr>
          <a:xfrm flipH="1" flipV="1">
            <a:off x="2191623" y="2983419"/>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406709" y="3052968"/>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1922122" y="2896761"/>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Oval 16"/>
          <p:cNvSpPr>
            <a:spLocks noChangeArrowheads="1"/>
          </p:cNvSpPr>
          <p:nvPr/>
        </p:nvSpPr>
        <p:spPr bwMode="auto">
          <a:xfrm>
            <a:off x="1225864" y="378497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5" name="Oval 16"/>
          <p:cNvSpPr>
            <a:spLocks noChangeArrowheads="1"/>
          </p:cNvSpPr>
          <p:nvPr/>
        </p:nvSpPr>
        <p:spPr bwMode="auto">
          <a:xfrm>
            <a:off x="2572943" y="382819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4" name="Oval 16"/>
          <p:cNvSpPr>
            <a:spLocks noChangeArrowheads="1"/>
          </p:cNvSpPr>
          <p:nvPr/>
        </p:nvSpPr>
        <p:spPr bwMode="auto">
          <a:xfrm>
            <a:off x="3251450" y="480945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36" name="Oval 16"/>
          <p:cNvSpPr>
            <a:spLocks noChangeArrowheads="1"/>
          </p:cNvSpPr>
          <p:nvPr/>
        </p:nvSpPr>
        <p:spPr bwMode="auto">
          <a:xfrm>
            <a:off x="577751" y="4810837"/>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cxnSp>
        <p:nvCxnSpPr>
          <p:cNvPr id="61" name="Straight Connector 60"/>
          <p:cNvCxnSpPr/>
          <p:nvPr/>
        </p:nvCxnSpPr>
        <p:spPr>
          <a:xfrm flipH="1" flipV="1">
            <a:off x="6681579" y="4037641"/>
            <a:ext cx="673859" cy="8787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6068720" y="4104906"/>
            <a:ext cx="457312" cy="8114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flipV="1">
            <a:off x="6035072" y="3002007"/>
            <a:ext cx="587631" cy="911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5250158" y="3071556"/>
            <a:ext cx="688576" cy="8843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Oval 16"/>
          <p:cNvSpPr>
            <a:spLocks noChangeArrowheads="1"/>
          </p:cNvSpPr>
          <p:nvPr/>
        </p:nvSpPr>
        <p:spPr bwMode="auto">
          <a:xfrm>
            <a:off x="5765571" y="291534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6" name="Oval 16"/>
          <p:cNvSpPr>
            <a:spLocks noChangeArrowheads="1"/>
          </p:cNvSpPr>
          <p:nvPr/>
        </p:nvSpPr>
        <p:spPr bwMode="auto">
          <a:xfrm>
            <a:off x="5069313" y="380356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7" name="Oval 16"/>
          <p:cNvSpPr>
            <a:spLocks noChangeArrowheads="1"/>
          </p:cNvSpPr>
          <p:nvPr/>
        </p:nvSpPr>
        <p:spPr bwMode="auto">
          <a:xfrm>
            <a:off x="6416392" y="384678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8" name="Oval 16"/>
          <p:cNvSpPr>
            <a:spLocks noChangeArrowheads="1"/>
          </p:cNvSpPr>
          <p:nvPr/>
        </p:nvSpPr>
        <p:spPr bwMode="auto">
          <a:xfrm>
            <a:off x="5870482" y="482942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69" name="Oval 16"/>
          <p:cNvSpPr>
            <a:spLocks noChangeArrowheads="1"/>
          </p:cNvSpPr>
          <p:nvPr/>
        </p:nvSpPr>
        <p:spPr bwMode="auto">
          <a:xfrm>
            <a:off x="7094899" y="482803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76" name="TextBox 75"/>
          <p:cNvSpPr txBox="1"/>
          <p:nvPr/>
        </p:nvSpPr>
        <p:spPr>
          <a:xfrm>
            <a:off x="3944575" y="1786250"/>
            <a:ext cx="336952" cy="369332"/>
          </a:xfrm>
          <a:prstGeom prst="rect">
            <a:avLst/>
          </a:prstGeom>
          <a:noFill/>
        </p:spPr>
        <p:txBody>
          <a:bodyPr wrap="none" rtlCol="0">
            <a:spAutoFit/>
          </a:bodyPr>
          <a:lstStyle/>
          <a:p>
            <a:r>
              <a:rPr lang="en-US" b="1" dirty="0">
                <a:solidFill>
                  <a:prstClr val="black"/>
                </a:solidFill>
                <a:latin typeface="Corbel"/>
              </a:rPr>
              <a:t>A</a:t>
            </a:r>
          </a:p>
        </p:txBody>
      </p:sp>
      <p:sp>
        <p:nvSpPr>
          <p:cNvPr id="82" name="TextBox 81"/>
          <p:cNvSpPr txBox="1"/>
          <p:nvPr/>
        </p:nvSpPr>
        <p:spPr>
          <a:xfrm>
            <a:off x="1967407" y="2929860"/>
            <a:ext cx="336952" cy="369332"/>
          </a:xfrm>
          <a:prstGeom prst="rect">
            <a:avLst/>
          </a:prstGeom>
          <a:noFill/>
        </p:spPr>
        <p:txBody>
          <a:bodyPr wrap="none" rtlCol="0">
            <a:spAutoFit/>
          </a:bodyPr>
          <a:lstStyle/>
          <a:p>
            <a:r>
              <a:rPr lang="en-US" b="1" dirty="0">
                <a:solidFill>
                  <a:prstClr val="black"/>
                </a:solidFill>
                <a:latin typeface="Corbel"/>
              </a:rPr>
              <a:t>B</a:t>
            </a:r>
          </a:p>
        </p:txBody>
      </p:sp>
      <p:sp>
        <p:nvSpPr>
          <p:cNvPr id="83" name="TextBox 82"/>
          <p:cNvSpPr txBox="1"/>
          <p:nvPr/>
        </p:nvSpPr>
        <p:spPr>
          <a:xfrm>
            <a:off x="5833156" y="2937297"/>
            <a:ext cx="319318" cy="369332"/>
          </a:xfrm>
          <a:prstGeom prst="rect">
            <a:avLst/>
          </a:prstGeom>
          <a:noFill/>
        </p:spPr>
        <p:txBody>
          <a:bodyPr wrap="none" rtlCol="0">
            <a:spAutoFit/>
          </a:bodyPr>
          <a:lstStyle/>
          <a:p>
            <a:r>
              <a:rPr lang="en-US" b="1" dirty="0">
                <a:solidFill>
                  <a:prstClr val="black"/>
                </a:solidFill>
                <a:latin typeface="Corbel"/>
              </a:rPr>
              <a:t>C</a:t>
            </a:r>
          </a:p>
        </p:txBody>
      </p:sp>
      <p:sp>
        <p:nvSpPr>
          <p:cNvPr id="84" name="Rectangle 83"/>
          <p:cNvSpPr/>
          <p:nvPr/>
        </p:nvSpPr>
        <p:spPr>
          <a:xfrm>
            <a:off x="1273931" y="3822650"/>
            <a:ext cx="343364" cy="369332"/>
          </a:xfrm>
          <a:prstGeom prst="rect">
            <a:avLst/>
          </a:prstGeom>
        </p:spPr>
        <p:txBody>
          <a:bodyPr wrap="none">
            <a:spAutoFit/>
          </a:bodyPr>
          <a:lstStyle/>
          <a:p>
            <a:r>
              <a:rPr lang="en-US" b="1" dirty="0">
                <a:solidFill>
                  <a:prstClr val="black"/>
                </a:solidFill>
              </a:rPr>
              <a:t>D</a:t>
            </a:r>
          </a:p>
        </p:txBody>
      </p:sp>
      <p:sp>
        <p:nvSpPr>
          <p:cNvPr id="85" name="Rectangle 84"/>
          <p:cNvSpPr/>
          <p:nvPr/>
        </p:nvSpPr>
        <p:spPr>
          <a:xfrm>
            <a:off x="5116299" y="3846782"/>
            <a:ext cx="304892" cy="369332"/>
          </a:xfrm>
          <a:prstGeom prst="rect">
            <a:avLst/>
          </a:prstGeom>
        </p:spPr>
        <p:txBody>
          <a:bodyPr wrap="none">
            <a:spAutoFit/>
          </a:bodyPr>
          <a:lstStyle/>
          <a:p>
            <a:r>
              <a:rPr lang="en-US" b="1" dirty="0">
                <a:solidFill>
                  <a:prstClr val="black"/>
                </a:solidFill>
              </a:rPr>
              <a:t>F</a:t>
            </a:r>
          </a:p>
        </p:txBody>
      </p:sp>
      <p:sp>
        <p:nvSpPr>
          <p:cNvPr id="86" name="Rectangle 85"/>
          <p:cNvSpPr/>
          <p:nvPr/>
        </p:nvSpPr>
        <p:spPr>
          <a:xfrm>
            <a:off x="6467363" y="3861983"/>
            <a:ext cx="340158" cy="369332"/>
          </a:xfrm>
          <a:prstGeom prst="rect">
            <a:avLst/>
          </a:prstGeom>
        </p:spPr>
        <p:txBody>
          <a:bodyPr wrap="none">
            <a:spAutoFit/>
          </a:bodyPr>
          <a:lstStyle/>
          <a:p>
            <a:r>
              <a:rPr lang="en-US" b="1" dirty="0">
                <a:solidFill>
                  <a:prstClr val="black"/>
                </a:solidFill>
              </a:rPr>
              <a:t>G</a:t>
            </a:r>
          </a:p>
        </p:txBody>
      </p:sp>
      <p:sp>
        <p:nvSpPr>
          <p:cNvPr id="87" name="Rectangle 86"/>
          <p:cNvSpPr/>
          <p:nvPr/>
        </p:nvSpPr>
        <p:spPr>
          <a:xfrm>
            <a:off x="5923779" y="4883500"/>
            <a:ext cx="277640" cy="369332"/>
          </a:xfrm>
          <a:prstGeom prst="rect">
            <a:avLst/>
          </a:prstGeom>
        </p:spPr>
        <p:txBody>
          <a:bodyPr wrap="none">
            <a:spAutoFit/>
          </a:bodyPr>
          <a:lstStyle/>
          <a:p>
            <a:r>
              <a:rPr lang="en-US" b="1" dirty="0">
                <a:solidFill>
                  <a:prstClr val="black"/>
                </a:solidFill>
              </a:rPr>
              <a:t>J</a:t>
            </a:r>
          </a:p>
        </p:txBody>
      </p:sp>
      <p:sp>
        <p:nvSpPr>
          <p:cNvPr id="88" name="Rectangle 87"/>
          <p:cNvSpPr/>
          <p:nvPr/>
        </p:nvSpPr>
        <p:spPr>
          <a:xfrm>
            <a:off x="7146697" y="4879786"/>
            <a:ext cx="330540" cy="369332"/>
          </a:xfrm>
          <a:prstGeom prst="rect">
            <a:avLst/>
          </a:prstGeom>
        </p:spPr>
        <p:txBody>
          <a:bodyPr wrap="none">
            <a:spAutoFit/>
          </a:bodyPr>
          <a:lstStyle/>
          <a:p>
            <a:r>
              <a:rPr lang="en-US" b="1" dirty="0">
                <a:solidFill>
                  <a:prstClr val="black"/>
                </a:solidFill>
              </a:rPr>
              <a:t>K</a:t>
            </a:r>
          </a:p>
        </p:txBody>
      </p:sp>
      <p:sp>
        <p:nvSpPr>
          <p:cNvPr id="89" name="Rectangle 88"/>
          <p:cNvSpPr/>
          <p:nvPr/>
        </p:nvSpPr>
        <p:spPr>
          <a:xfrm>
            <a:off x="3294991" y="4859128"/>
            <a:ext cx="248786" cy="369332"/>
          </a:xfrm>
          <a:prstGeom prst="rect">
            <a:avLst/>
          </a:prstGeom>
        </p:spPr>
        <p:txBody>
          <a:bodyPr wrap="none">
            <a:spAutoFit/>
          </a:bodyPr>
          <a:lstStyle/>
          <a:p>
            <a:r>
              <a:rPr lang="en-US" b="1" dirty="0">
                <a:solidFill>
                  <a:prstClr val="black"/>
                </a:solidFill>
              </a:rPr>
              <a:t>I</a:t>
            </a:r>
          </a:p>
        </p:txBody>
      </p:sp>
      <p:sp>
        <p:nvSpPr>
          <p:cNvPr id="91" name="Rectangle 90"/>
          <p:cNvSpPr/>
          <p:nvPr/>
        </p:nvSpPr>
        <p:spPr>
          <a:xfrm>
            <a:off x="641576" y="4852097"/>
            <a:ext cx="346570" cy="369332"/>
          </a:xfrm>
          <a:prstGeom prst="rect">
            <a:avLst/>
          </a:prstGeom>
        </p:spPr>
        <p:txBody>
          <a:bodyPr wrap="none">
            <a:spAutoFit/>
          </a:bodyPr>
          <a:lstStyle/>
          <a:p>
            <a:r>
              <a:rPr lang="en-US" b="1" dirty="0">
                <a:solidFill>
                  <a:prstClr val="black"/>
                </a:solidFill>
              </a:rPr>
              <a:t>H</a:t>
            </a:r>
          </a:p>
        </p:txBody>
      </p:sp>
      <p:sp>
        <p:nvSpPr>
          <p:cNvPr id="92" name="Rectangle 91"/>
          <p:cNvSpPr/>
          <p:nvPr/>
        </p:nvSpPr>
        <p:spPr>
          <a:xfrm>
            <a:off x="2632725" y="3853127"/>
            <a:ext cx="316112" cy="369332"/>
          </a:xfrm>
          <a:prstGeom prst="rect">
            <a:avLst/>
          </a:prstGeom>
        </p:spPr>
        <p:txBody>
          <a:bodyPr wrap="none">
            <a:spAutoFit/>
          </a:bodyPr>
          <a:lstStyle/>
          <a:p>
            <a:r>
              <a:rPr lang="en-US" b="1" dirty="0">
                <a:solidFill>
                  <a:prstClr val="black"/>
                </a:solidFill>
              </a:rPr>
              <a:t>E</a:t>
            </a:r>
          </a:p>
        </p:txBody>
      </p:sp>
      <p:graphicFrame>
        <p:nvGraphicFramePr>
          <p:cNvPr id="5" name="Table 4"/>
          <p:cNvGraphicFramePr>
            <a:graphicFrameLocks noGrp="1"/>
          </p:cNvGraphicFramePr>
          <p:nvPr/>
        </p:nvGraphicFramePr>
        <p:xfrm>
          <a:off x="1430295" y="5599958"/>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2353885934"/>
                    </a:ext>
                  </a:extLst>
                </a:gridCol>
              </a:tblGrid>
              <a:tr h="370840">
                <a:tc>
                  <a:txBody>
                    <a:bodyPr/>
                    <a:lstStyle/>
                    <a:p>
                      <a:pPr algn="ctr"/>
                      <a:r>
                        <a:rPr lang="en-US" dirty="0"/>
                        <a:t> </a:t>
                      </a: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tc>
                  <a:txBody>
                    <a:bodyPr/>
                    <a:lstStyle/>
                    <a:p>
                      <a:pPr algn="ctr"/>
                      <a:endParaRPr lang="en-US" dirty="0">
                        <a:solidFill>
                          <a:schemeClr val="tx1"/>
                        </a:solidFill>
                      </a:endParaRPr>
                    </a:p>
                  </a:txBody>
                  <a:tcPr>
                    <a:solidFill>
                      <a:schemeClr val="accent6">
                        <a:lumMod val="60000"/>
                        <a:lumOff val="40000"/>
                      </a:schemeClr>
                    </a:solidFill>
                  </a:tcPr>
                </a:tc>
                <a:extLst>
                  <a:ext uri="{0D108BD9-81ED-4DB2-BD59-A6C34878D82A}">
                    <a16:rowId xmlns:a16="http://schemas.microsoft.com/office/drawing/2014/main" val="660647860"/>
                  </a:ext>
                </a:extLst>
              </a:tr>
            </a:tbl>
          </a:graphicData>
        </a:graphic>
      </p:graphicFrame>
      <p:sp>
        <p:nvSpPr>
          <p:cNvPr id="6" name="TextBox 5"/>
          <p:cNvSpPr txBox="1"/>
          <p:nvPr/>
        </p:nvSpPr>
        <p:spPr>
          <a:xfrm>
            <a:off x="965262" y="5554545"/>
            <a:ext cx="418704" cy="461665"/>
          </a:xfrm>
          <a:prstGeom prst="rect">
            <a:avLst/>
          </a:prstGeom>
          <a:noFill/>
        </p:spPr>
        <p:txBody>
          <a:bodyPr wrap="none" rtlCol="0">
            <a:spAutoFit/>
          </a:bodyPr>
          <a:lstStyle/>
          <a:p>
            <a:r>
              <a:rPr lang="en-US" sz="2400" b="1" dirty="0">
                <a:effectLst>
                  <a:outerShdw blurRad="38100" dist="38100" dir="2700000" algn="tl">
                    <a:srgbClr val="000000">
                      <a:alpha val="43137"/>
                    </a:srgbClr>
                  </a:outerShdw>
                </a:effectLst>
              </a:rPr>
              <a:t>Q</a:t>
            </a:r>
          </a:p>
        </p:txBody>
      </p:sp>
      <p:cxnSp>
        <p:nvCxnSpPr>
          <p:cNvPr id="39" name="Straight Connector 38"/>
          <p:cNvCxnSpPr/>
          <p:nvPr/>
        </p:nvCxnSpPr>
        <p:spPr>
          <a:xfrm>
            <a:off x="1422927" y="6416546"/>
            <a:ext cx="585662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41" name="Table 40"/>
          <p:cNvGraphicFramePr>
            <a:graphicFrameLocks noGrp="1"/>
          </p:cNvGraphicFramePr>
          <p:nvPr/>
        </p:nvGraphicFramePr>
        <p:xfrm>
          <a:off x="1437550" y="6028129"/>
          <a:ext cx="5849261" cy="370840"/>
        </p:xfrm>
        <a:graphic>
          <a:graphicData uri="http://schemas.openxmlformats.org/drawingml/2006/table">
            <a:tbl>
              <a:tblPr firstRow="1" bandRow="1">
                <a:tableStyleId>{5C22544A-7EE6-4342-B048-85BDC9FD1C3A}</a:tableStyleId>
              </a:tblPr>
              <a:tblGrid>
                <a:gridCol w="531751">
                  <a:extLst>
                    <a:ext uri="{9D8B030D-6E8A-4147-A177-3AD203B41FA5}">
                      <a16:colId xmlns:a16="http://schemas.microsoft.com/office/drawing/2014/main" val="47982311"/>
                    </a:ext>
                  </a:extLst>
                </a:gridCol>
                <a:gridCol w="531751">
                  <a:extLst>
                    <a:ext uri="{9D8B030D-6E8A-4147-A177-3AD203B41FA5}">
                      <a16:colId xmlns:a16="http://schemas.microsoft.com/office/drawing/2014/main" val="4142965933"/>
                    </a:ext>
                  </a:extLst>
                </a:gridCol>
                <a:gridCol w="531751">
                  <a:extLst>
                    <a:ext uri="{9D8B030D-6E8A-4147-A177-3AD203B41FA5}">
                      <a16:colId xmlns:a16="http://schemas.microsoft.com/office/drawing/2014/main" val="3946022843"/>
                    </a:ext>
                  </a:extLst>
                </a:gridCol>
                <a:gridCol w="531751">
                  <a:extLst>
                    <a:ext uri="{9D8B030D-6E8A-4147-A177-3AD203B41FA5}">
                      <a16:colId xmlns:a16="http://schemas.microsoft.com/office/drawing/2014/main" val="1720173231"/>
                    </a:ext>
                  </a:extLst>
                </a:gridCol>
                <a:gridCol w="531751">
                  <a:extLst>
                    <a:ext uri="{9D8B030D-6E8A-4147-A177-3AD203B41FA5}">
                      <a16:colId xmlns:a16="http://schemas.microsoft.com/office/drawing/2014/main" val="3030219842"/>
                    </a:ext>
                  </a:extLst>
                </a:gridCol>
                <a:gridCol w="531751">
                  <a:extLst>
                    <a:ext uri="{9D8B030D-6E8A-4147-A177-3AD203B41FA5}">
                      <a16:colId xmlns:a16="http://schemas.microsoft.com/office/drawing/2014/main" val="3499342743"/>
                    </a:ext>
                  </a:extLst>
                </a:gridCol>
                <a:gridCol w="531751">
                  <a:extLst>
                    <a:ext uri="{9D8B030D-6E8A-4147-A177-3AD203B41FA5}">
                      <a16:colId xmlns:a16="http://schemas.microsoft.com/office/drawing/2014/main" val="2075186987"/>
                    </a:ext>
                  </a:extLst>
                </a:gridCol>
                <a:gridCol w="531751">
                  <a:extLst>
                    <a:ext uri="{9D8B030D-6E8A-4147-A177-3AD203B41FA5}">
                      <a16:colId xmlns:a16="http://schemas.microsoft.com/office/drawing/2014/main" val="4113344092"/>
                    </a:ext>
                  </a:extLst>
                </a:gridCol>
                <a:gridCol w="531751">
                  <a:extLst>
                    <a:ext uri="{9D8B030D-6E8A-4147-A177-3AD203B41FA5}">
                      <a16:colId xmlns:a16="http://schemas.microsoft.com/office/drawing/2014/main" val="2681756459"/>
                    </a:ext>
                  </a:extLst>
                </a:gridCol>
                <a:gridCol w="531751">
                  <a:extLst>
                    <a:ext uri="{9D8B030D-6E8A-4147-A177-3AD203B41FA5}">
                      <a16:colId xmlns:a16="http://schemas.microsoft.com/office/drawing/2014/main" val="3183167202"/>
                    </a:ext>
                  </a:extLst>
                </a:gridCol>
                <a:gridCol w="531751">
                  <a:extLst>
                    <a:ext uri="{9D8B030D-6E8A-4147-A177-3AD203B41FA5}">
                      <a16:colId xmlns:a16="http://schemas.microsoft.com/office/drawing/2014/main" val="1902801038"/>
                    </a:ext>
                  </a:extLst>
                </a:gridCol>
              </a:tblGrid>
              <a:tr h="370840">
                <a:tc>
                  <a:txBody>
                    <a:bodyPr/>
                    <a:lstStyle/>
                    <a:p>
                      <a:pPr algn="ctr"/>
                      <a:r>
                        <a:rPr lang="en-US" dirty="0">
                          <a:solidFill>
                            <a:schemeClr val="tx1"/>
                          </a:solidFill>
                        </a:rPr>
                        <a:t>A</a:t>
                      </a:r>
                    </a:p>
                  </a:txBody>
                  <a:tcPr>
                    <a:noFill/>
                  </a:tcPr>
                </a:tc>
                <a:tc>
                  <a:txBody>
                    <a:bodyPr/>
                    <a:lstStyle/>
                    <a:p>
                      <a:pPr algn="ctr"/>
                      <a:r>
                        <a:rPr lang="en-US" dirty="0">
                          <a:solidFill>
                            <a:schemeClr val="tx1"/>
                          </a:solidFill>
                        </a:rPr>
                        <a:t>B</a:t>
                      </a:r>
                    </a:p>
                  </a:txBody>
                  <a:tcPr>
                    <a:noFill/>
                  </a:tcPr>
                </a:tc>
                <a:tc>
                  <a:txBody>
                    <a:bodyPr/>
                    <a:lstStyle/>
                    <a:p>
                      <a:pPr algn="ctr"/>
                      <a:r>
                        <a:rPr lang="en-US" dirty="0">
                          <a:solidFill>
                            <a:schemeClr val="tx1"/>
                          </a:solidFill>
                        </a:rPr>
                        <a:t>C</a:t>
                      </a:r>
                    </a:p>
                  </a:txBody>
                  <a:tcPr>
                    <a:noFill/>
                  </a:tcPr>
                </a:tc>
                <a:tc>
                  <a:txBody>
                    <a:bodyPr/>
                    <a:lstStyle/>
                    <a:p>
                      <a:pPr algn="ctr"/>
                      <a:r>
                        <a:rPr lang="en-US" dirty="0">
                          <a:solidFill>
                            <a:schemeClr val="tx1"/>
                          </a:solidFill>
                        </a:rPr>
                        <a:t>D</a:t>
                      </a:r>
                    </a:p>
                  </a:txBody>
                  <a:tcPr>
                    <a:noFill/>
                  </a:tcPr>
                </a:tc>
                <a:tc>
                  <a:txBody>
                    <a:bodyPr/>
                    <a:lstStyle/>
                    <a:p>
                      <a:pPr algn="ctr"/>
                      <a:r>
                        <a:rPr lang="en-US" dirty="0">
                          <a:solidFill>
                            <a:schemeClr val="tx1"/>
                          </a:solidFill>
                        </a:rPr>
                        <a:t>E</a:t>
                      </a:r>
                    </a:p>
                  </a:txBody>
                  <a:tcPr>
                    <a:noFill/>
                  </a:tcPr>
                </a:tc>
                <a:tc>
                  <a:txBody>
                    <a:bodyPr/>
                    <a:lstStyle/>
                    <a:p>
                      <a:pPr algn="ctr"/>
                      <a:r>
                        <a:rPr lang="en-US" dirty="0">
                          <a:solidFill>
                            <a:schemeClr val="tx1"/>
                          </a:solidFill>
                        </a:rPr>
                        <a:t>F</a:t>
                      </a:r>
                    </a:p>
                  </a:txBody>
                  <a:tcPr>
                    <a:noFill/>
                  </a:tcPr>
                </a:tc>
                <a:tc>
                  <a:txBody>
                    <a:bodyPr/>
                    <a:lstStyle/>
                    <a:p>
                      <a:pPr algn="ctr"/>
                      <a:r>
                        <a:rPr lang="en-US" dirty="0">
                          <a:solidFill>
                            <a:schemeClr val="tx1"/>
                          </a:solidFill>
                        </a:rPr>
                        <a:t>G</a:t>
                      </a:r>
                    </a:p>
                  </a:txBody>
                  <a:tcPr>
                    <a:noFill/>
                  </a:tcPr>
                </a:tc>
                <a:tc>
                  <a:txBody>
                    <a:bodyPr/>
                    <a:lstStyle/>
                    <a:p>
                      <a:pPr algn="ctr"/>
                      <a:r>
                        <a:rPr lang="en-US" dirty="0">
                          <a:solidFill>
                            <a:schemeClr val="tx1"/>
                          </a:solidFill>
                        </a:rPr>
                        <a:t>H</a:t>
                      </a:r>
                    </a:p>
                  </a:txBody>
                  <a:tcPr>
                    <a:noFill/>
                  </a:tcPr>
                </a:tc>
                <a:tc>
                  <a:txBody>
                    <a:bodyPr/>
                    <a:lstStyle/>
                    <a:p>
                      <a:pPr algn="ctr"/>
                      <a:r>
                        <a:rPr lang="en-US" i="0" dirty="0">
                          <a:solidFill>
                            <a:schemeClr val="tx1"/>
                          </a:solidFill>
                        </a:rPr>
                        <a:t>I</a:t>
                      </a:r>
                    </a:p>
                  </a:txBody>
                  <a:tcPr>
                    <a:noFill/>
                  </a:tcPr>
                </a:tc>
                <a:tc>
                  <a:txBody>
                    <a:bodyPr/>
                    <a:lstStyle/>
                    <a:p>
                      <a:pPr algn="ctr"/>
                      <a:r>
                        <a:rPr lang="en-US">
                          <a:solidFill>
                            <a:schemeClr val="tx1"/>
                          </a:solidFill>
                        </a:rPr>
                        <a:t>J</a:t>
                      </a:r>
                      <a:endParaRPr lang="en-US" dirty="0">
                        <a:solidFill>
                          <a:schemeClr val="tx1"/>
                        </a:solidFill>
                      </a:endParaRPr>
                    </a:p>
                  </a:txBody>
                  <a:tcPr>
                    <a:noFill/>
                  </a:tcPr>
                </a:tc>
                <a:tc>
                  <a:txBody>
                    <a:bodyPr/>
                    <a:lstStyle/>
                    <a:p>
                      <a:r>
                        <a:rPr lang="en-US" dirty="0">
                          <a:solidFill>
                            <a:schemeClr val="tx1"/>
                          </a:solidFill>
                        </a:rPr>
                        <a:t>K</a:t>
                      </a:r>
                      <a:endParaRPr lang="en-US" dirty="0"/>
                    </a:p>
                  </a:txBody>
                  <a:tcPr>
                    <a:noFill/>
                  </a:tcPr>
                </a:tc>
                <a:extLst>
                  <a:ext uri="{0D108BD9-81ED-4DB2-BD59-A6C34878D82A}">
                    <a16:rowId xmlns:a16="http://schemas.microsoft.com/office/drawing/2014/main" val="660647860"/>
                  </a:ext>
                </a:extLst>
              </a:tr>
            </a:tbl>
          </a:graphicData>
        </a:graphic>
      </p:graphicFrame>
      <p:graphicFrame>
        <p:nvGraphicFramePr>
          <p:cNvPr id="56" name="Table 55">
            <a:extLst>
              <a:ext uri="{FF2B5EF4-FFF2-40B4-BE49-F238E27FC236}">
                <a16:creationId xmlns:a16="http://schemas.microsoft.com/office/drawing/2014/main" id="{C2EFC2C2-488B-4A78-9BA9-6236752E7C7F}"/>
              </a:ext>
            </a:extLst>
          </p:cNvPr>
          <p:cNvGraphicFramePr>
            <a:graphicFrameLocks noGrp="1"/>
          </p:cNvGraphicFramePr>
          <p:nvPr/>
        </p:nvGraphicFramePr>
        <p:xfrm>
          <a:off x="8658993" y="1862844"/>
          <a:ext cx="2132240" cy="4719320"/>
        </p:xfrm>
        <a:graphic>
          <a:graphicData uri="http://schemas.openxmlformats.org/drawingml/2006/table">
            <a:tbl>
              <a:tblPr firstRow="1" bandRow="1">
                <a:tableStyleId>{5C22544A-7EE6-4342-B048-85BDC9FD1C3A}</a:tableStyleId>
              </a:tblPr>
              <a:tblGrid>
                <a:gridCol w="847864">
                  <a:extLst>
                    <a:ext uri="{9D8B030D-6E8A-4147-A177-3AD203B41FA5}">
                      <a16:colId xmlns:a16="http://schemas.microsoft.com/office/drawing/2014/main" val="2989644895"/>
                    </a:ext>
                  </a:extLst>
                </a:gridCol>
                <a:gridCol w="1284376">
                  <a:extLst>
                    <a:ext uri="{9D8B030D-6E8A-4147-A177-3AD203B41FA5}">
                      <a16:colId xmlns:a16="http://schemas.microsoft.com/office/drawing/2014/main" val="4244960412"/>
                    </a:ext>
                  </a:extLst>
                </a:gridCol>
              </a:tblGrid>
              <a:tr h="370840">
                <a:tc>
                  <a:txBody>
                    <a:bodyPr/>
                    <a:lstStyle/>
                    <a:p>
                      <a:pPr algn="ctr"/>
                      <a:r>
                        <a:rPr lang="en-US" dirty="0"/>
                        <a:t>NODE</a:t>
                      </a:r>
                    </a:p>
                  </a:txBody>
                  <a:tcPr/>
                </a:tc>
                <a:tc>
                  <a:txBody>
                    <a:bodyPr/>
                    <a:lstStyle/>
                    <a:p>
                      <a:pPr algn="ctr"/>
                      <a:r>
                        <a:rPr lang="en-US" dirty="0"/>
                        <a:t>CHILDREN</a:t>
                      </a:r>
                    </a:p>
                  </a:txBody>
                  <a:tcPr/>
                </a:tc>
                <a:extLst>
                  <a:ext uri="{0D108BD9-81ED-4DB2-BD59-A6C34878D82A}">
                    <a16:rowId xmlns:a16="http://schemas.microsoft.com/office/drawing/2014/main" val="1978098576"/>
                  </a:ext>
                </a:extLst>
              </a:tr>
              <a:tr h="370840">
                <a:tc>
                  <a:txBody>
                    <a:bodyPr/>
                    <a:lstStyle/>
                    <a:p>
                      <a:pPr algn="ctr"/>
                      <a:r>
                        <a:rPr lang="en-US" b="1" dirty="0"/>
                        <a:t>A</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B,C</a:t>
                      </a:r>
                      <a:endParaRPr lang="en-US" b="1" dirty="0"/>
                    </a:p>
                  </a:txBody>
                  <a:tcPr/>
                </a:tc>
                <a:extLst>
                  <a:ext uri="{0D108BD9-81ED-4DB2-BD59-A6C34878D82A}">
                    <a16:rowId xmlns:a16="http://schemas.microsoft.com/office/drawing/2014/main" val="3592035499"/>
                  </a:ext>
                </a:extLst>
              </a:tr>
              <a:tr h="370840">
                <a:tc>
                  <a:txBody>
                    <a:bodyPr/>
                    <a:lstStyle/>
                    <a:p>
                      <a:pPr algn="ctr"/>
                      <a:r>
                        <a:rPr lang="en-US" b="1" dirty="0"/>
                        <a:t>B</a:t>
                      </a:r>
                    </a:p>
                  </a:txBody>
                  <a:tcPr/>
                </a:tc>
                <a:tc>
                  <a:txBody>
                    <a:bodyPr/>
                    <a:lstStyle/>
                    <a:p>
                      <a:pPr algn="ctr"/>
                      <a:r>
                        <a:rPr lang="en-US" sz="1800" b="1" dirty="0"/>
                        <a:t>D,E</a:t>
                      </a:r>
                      <a:endParaRPr lang="en-US" b="1" dirty="0"/>
                    </a:p>
                  </a:txBody>
                  <a:tcPr/>
                </a:tc>
                <a:extLst>
                  <a:ext uri="{0D108BD9-81ED-4DB2-BD59-A6C34878D82A}">
                    <a16:rowId xmlns:a16="http://schemas.microsoft.com/office/drawing/2014/main" val="1939942222"/>
                  </a:ext>
                </a:extLst>
              </a:tr>
              <a:tr h="370840">
                <a:tc>
                  <a:txBody>
                    <a:bodyPr/>
                    <a:lstStyle/>
                    <a:p>
                      <a:pPr algn="ctr"/>
                      <a:r>
                        <a:rPr lang="en-US" b="1" dirty="0"/>
                        <a:t>C</a:t>
                      </a:r>
                    </a:p>
                  </a:txBody>
                  <a:tcPr/>
                </a:tc>
                <a:tc>
                  <a:txBody>
                    <a:bodyPr/>
                    <a:lstStyle/>
                    <a:p>
                      <a:pPr algn="ctr"/>
                      <a:r>
                        <a:rPr lang="en-US" sz="1800" b="1" dirty="0"/>
                        <a:t>F,G</a:t>
                      </a:r>
                      <a:endParaRPr lang="en-US" b="1" dirty="0"/>
                    </a:p>
                  </a:txBody>
                  <a:tcPr/>
                </a:tc>
                <a:extLst>
                  <a:ext uri="{0D108BD9-81ED-4DB2-BD59-A6C34878D82A}">
                    <a16:rowId xmlns:a16="http://schemas.microsoft.com/office/drawing/2014/main" val="371904882"/>
                  </a:ext>
                </a:extLst>
              </a:tr>
              <a:tr h="370840">
                <a:tc>
                  <a:txBody>
                    <a:bodyPr/>
                    <a:lstStyle/>
                    <a:p>
                      <a:pPr algn="ctr"/>
                      <a:r>
                        <a:rPr lang="en-US" b="1" dirty="0"/>
                        <a:t>D</a:t>
                      </a:r>
                    </a:p>
                  </a:txBody>
                  <a:tcPr/>
                </a:tc>
                <a:tc>
                  <a:txBody>
                    <a:bodyPr/>
                    <a:lstStyle/>
                    <a:p>
                      <a:pPr algn="ctr"/>
                      <a:r>
                        <a:rPr lang="en-US" b="1" dirty="0"/>
                        <a:t>H,-</a:t>
                      </a:r>
                    </a:p>
                  </a:txBody>
                  <a:tcPr/>
                </a:tc>
                <a:extLst>
                  <a:ext uri="{0D108BD9-81ED-4DB2-BD59-A6C34878D82A}">
                    <a16:rowId xmlns:a16="http://schemas.microsoft.com/office/drawing/2014/main" val="1084115065"/>
                  </a:ext>
                </a:extLst>
              </a:tr>
              <a:tr h="370840">
                <a:tc>
                  <a:txBody>
                    <a:bodyPr/>
                    <a:lstStyle/>
                    <a:p>
                      <a:pPr algn="ctr"/>
                      <a:r>
                        <a:rPr lang="en-US" b="1" dirty="0"/>
                        <a:t>E</a:t>
                      </a:r>
                    </a:p>
                  </a:txBody>
                  <a:tcPr/>
                </a:tc>
                <a:tc>
                  <a:txBody>
                    <a:bodyPr/>
                    <a:lstStyle/>
                    <a:p>
                      <a:pPr algn="ctr"/>
                      <a:r>
                        <a:rPr lang="en-US" b="1" dirty="0"/>
                        <a:t>-,I</a:t>
                      </a:r>
                    </a:p>
                  </a:txBody>
                  <a:tcPr/>
                </a:tc>
                <a:extLst>
                  <a:ext uri="{0D108BD9-81ED-4DB2-BD59-A6C34878D82A}">
                    <a16:rowId xmlns:a16="http://schemas.microsoft.com/office/drawing/2014/main" val="4208500189"/>
                  </a:ext>
                </a:extLst>
              </a:tr>
              <a:tr h="370840">
                <a:tc>
                  <a:txBody>
                    <a:bodyPr/>
                    <a:lstStyle/>
                    <a:p>
                      <a:pPr algn="ctr"/>
                      <a:r>
                        <a:rPr lang="en-US" b="1" dirty="0"/>
                        <a:t>F</a:t>
                      </a:r>
                    </a:p>
                  </a:txBody>
                  <a:tcPr/>
                </a:tc>
                <a:tc>
                  <a:txBody>
                    <a:bodyPr/>
                    <a:lstStyle/>
                    <a:p>
                      <a:pPr algn="ctr"/>
                      <a:r>
                        <a:rPr lang="en-US" b="1" dirty="0"/>
                        <a:t>-,-</a:t>
                      </a:r>
                    </a:p>
                  </a:txBody>
                  <a:tcPr/>
                </a:tc>
                <a:extLst>
                  <a:ext uri="{0D108BD9-81ED-4DB2-BD59-A6C34878D82A}">
                    <a16:rowId xmlns:a16="http://schemas.microsoft.com/office/drawing/2014/main" val="1862253349"/>
                  </a:ext>
                </a:extLst>
              </a:tr>
              <a:tr h="370840">
                <a:tc>
                  <a:txBody>
                    <a:bodyPr/>
                    <a:lstStyle/>
                    <a:p>
                      <a:pPr algn="ctr"/>
                      <a:r>
                        <a:rPr lang="en-US" b="1" dirty="0"/>
                        <a:t>G</a:t>
                      </a:r>
                    </a:p>
                  </a:txBody>
                  <a:tcPr/>
                </a:tc>
                <a:tc>
                  <a:txBody>
                    <a:bodyPr/>
                    <a:lstStyle/>
                    <a:p>
                      <a:pPr algn="ctr"/>
                      <a:r>
                        <a:rPr lang="en-US" b="1" dirty="0"/>
                        <a:t>J,K</a:t>
                      </a:r>
                    </a:p>
                  </a:txBody>
                  <a:tcPr/>
                </a:tc>
                <a:extLst>
                  <a:ext uri="{0D108BD9-81ED-4DB2-BD59-A6C34878D82A}">
                    <a16:rowId xmlns:a16="http://schemas.microsoft.com/office/drawing/2014/main" val="1205733479"/>
                  </a:ext>
                </a:extLst>
              </a:tr>
              <a:tr h="370840">
                <a:tc>
                  <a:txBody>
                    <a:bodyPr/>
                    <a:lstStyle/>
                    <a:p>
                      <a:pPr algn="ctr"/>
                      <a:r>
                        <a:rPr lang="en-US" b="1" dirty="0"/>
                        <a: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987431379"/>
                  </a:ext>
                </a:extLst>
              </a:tr>
              <a:tr h="370840">
                <a:tc>
                  <a:txBody>
                    <a:bodyPr/>
                    <a:lstStyle/>
                    <a:p>
                      <a:pPr algn="ctr"/>
                      <a:r>
                        <a:rPr lang="en-US" b="1" dirty="0"/>
                        <a:t>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290039795"/>
                  </a:ext>
                </a:extLst>
              </a:tr>
              <a:tr h="370840">
                <a:tc>
                  <a:txBody>
                    <a:bodyPr/>
                    <a:lstStyle/>
                    <a:p>
                      <a:pPr algn="ctr"/>
                      <a:r>
                        <a:rPr lang="en-US" b="1" dirty="0"/>
                        <a:t>J</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873125107"/>
                  </a:ext>
                </a:extLst>
              </a:tr>
              <a:tr h="370840">
                <a:tc>
                  <a:txBody>
                    <a:bodyPr/>
                    <a:lstStyle/>
                    <a:p>
                      <a:pPr algn="ctr"/>
                      <a:r>
                        <a:rPr lang="en-US" b="1" dirty="0"/>
                        <a:t>K</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a:t>
                      </a:r>
                    </a:p>
                  </a:txBody>
                  <a:tcPr/>
                </a:tc>
                <a:extLst>
                  <a:ext uri="{0D108BD9-81ED-4DB2-BD59-A6C34878D82A}">
                    <a16:rowId xmlns:a16="http://schemas.microsoft.com/office/drawing/2014/main" val="1640632725"/>
                  </a:ext>
                </a:extLst>
              </a:tr>
            </a:tbl>
          </a:graphicData>
        </a:graphic>
      </p:graphicFrame>
      <p:grpSp>
        <p:nvGrpSpPr>
          <p:cNvPr id="42" name="Group 41">
            <a:extLst>
              <a:ext uri="{FF2B5EF4-FFF2-40B4-BE49-F238E27FC236}">
                <a16:creationId xmlns:a16="http://schemas.microsoft.com/office/drawing/2014/main" id="{7235F02F-AB06-4122-86DF-682C7437FF50}"/>
              </a:ext>
            </a:extLst>
          </p:cNvPr>
          <p:cNvGrpSpPr/>
          <p:nvPr/>
        </p:nvGrpSpPr>
        <p:grpSpPr>
          <a:xfrm>
            <a:off x="4113051" y="5599958"/>
            <a:ext cx="511370" cy="356179"/>
            <a:chOff x="1437550" y="5599958"/>
            <a:chExt cx="511370" cy="356179"/>
          </a:xfrm>
        </p:grpSpPr>
        <p:cxnSp>
          <p:nvCxnSpPr>
            <p:cNvPr id="43" name="Straight Connector 42">
              <a:extLst>
                <a:ext uri="{FF2B5EF4-FFF2-40B4-BE49-F238E27FC236}">
                  <a16:creationId xmlns:a16="http://schemas.microsoft.com/office/drawing/2014/main" id="{56635767-9AC4-4EBE-A69A-481ECB769DD7}"/>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4C47C612-4272-47A2-9912-62414751F049}"/>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11A13EDE-C488-4AE5-96BF-65369A451D51}"/>
              </a:ext>
            </a:extLst>
          </p:cNvPr>
          <p:cNvGrpSpPr/>
          <p:nvPr/>
        </p:nvGrpSpPr>
        <p:grpSpPr>
          <a:xfrm>
            <a:off x="1437550" y="5599958"/>
            <a:ext cx="511370" cy="356179"/>
            <a:chOff x="1437550" y="5599958"/>
            <a:chExt cx="511370" cy="356179"/>
          </a:xfrm>
        </p:grpSpPr>
        <p:cxnSp>
          <p:nvCxnSpPr>
            <p:cNvPr id="47" name="Straight Connector 46">
              <a:extLst>
                <a:ext uri="{FF2B5EF4-FFF2-40B4-BE49-F238E27FC236}">
                  <a16:creationId xmlns:a16="http://schemas.microsoft.com/office/drawing/2014/main" id="{CA49E31D-B1EE-4DAB-BF87-96700911D13F}"/>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D7DA71AC-186D-42C6-982F-57F0355A78E0}"/>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a:extLst>
              <a:ext uri="{FF2B5EF4-FFF2-40B4-BE49-F238E27FC236}">
                <a16:creationId xmlns:a16="http://schemas.microsoft.com/office/drawing/2014/main" id="{B124D6AC-3F52-440F-8403-81FF8A2A33D7}"/>
              </a:ext>
            </a:extLst>
          </p:cNvPr>
          <p:cNvGrpSpPr/>
          <p:nvPr/>
        </p:nvGrpSpPr>
        <p:grpSpPr>
          <a:xfrm>
            <a:off x="1995249" y="5599958"/>
            <a:ext cx="511370" cy="356179"/>
            <a:chOff x="1437550" y="5599958"/>
            <a:chExt cx="511370" cy="356179"/>
          </a:xfrm>
        </p:grpSpPr>
        <p:cxnSp>
          <p:nvCxnSpPr>
            <p:cNvPr id="50" name="Straight Connector 49">
              <a:extLst>
                <a:ext uri="{FF2B5EF4-FFF2-40B4-BE49-F238E27FC236}">
                  <a16:creationId xmlns:a16="http://schemas.microsoft.com/office/drawing/2014/main" id="{8BB5FB12-8B8A-4232-AC26-B367D35E2D1F}"/>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E825B0A6-BF88-4F48-A122-89918AB17E78}"/>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a:extLst>
              <a:ext uri="{FF2B5EF4-FFF2-40B4-BE49-F238E27FC236}">
                <a16:creationId xmlns:a16="http://schemas.microsoft.com/office/drawing/2014/main" id="{8BA02F26-1ECA-4373-9823-9912AFBCCD9F}"/>
              </a:ext>
            </a:extLst>
          </p:cNvPr>
          <p:cNvGrpSpPr/>
          <p:nvPr/>
        </p:nvGrpSpPr>
        <p:grpSpPr>
          <a:xfrm>
            <a:off x="2497104" y="5620871"/>
            <a:ext cx="511370" cy="356179"/>
            <a:chOff x="1437550" y="5599958"/>
            <a:chExt cx="511370" cy="356179"/>
          </a:xfrm>
        </p:grpSpPr>
        <p:cxnSp>
          <p:nvCxnSpPr>
            <p:cNvPr id="53" name="Straight Connector 52">
              <a:extLst>
                <a:ext uri="{FF2B5EF4-FFF2-40B4-BE49-F238E27FC236}">
                  <a16:creationId xmlns:a16="http://schemas.microsoft.com/office/drawing/2014/main" id="{65D7289F-88D4-49F1-AE7D-7B8238578643}"/>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FA691D6-F258-459A-A188-B383CFB19E3F}"/>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a:extLst>
              <a:ext uri="{FF2B5EF4-FFF2-40B4-BE49-F238E27FC236}">
                <a16:creationId xmlns:a16="http://schemas.microsoft.com/office/drawing/2014/main" id="{0BD38EAD-5FAF-483F-BCB1-C2D5E8D334E5}"/>
              </a:ext>
            </a:extLst>
          </p:cNvPr>
          <p:cNvGrpSpPr/>
          <p:nvPr/>
        </p:nvGrpSpPr>
        <p:grpSpPr>
          <a:xfrm>
            <a:off x="3032407" y="5593647"/>
            <a:ext cx="511370" cy="356179"/>
            <a:chOff x="1437550" y="5599958"/>
            <a:chExt cx="511370" cy="356179"/>
          </a:xfrm>
        </p:grpSpPr>
        <p:cxnSp>
          <p:nvCxnSpPr>
            <p:cNvPr id="57" name="Straight Connector 56">
              <a:extLst>
                <a:ext uri="{FF2B5EF4-FFF2-40B4-BE49-F238E27FC236}">
                  <a16:creationId xmlns:a16="http://schemas.microsoft.com/office/drawing/2014/main" id="{0D8F2204-4488-4317-B3C4-F124FD983354}"/>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AA7D4365-BB7A-4115-ACAE-84FC99938398}"/>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59" name="Group 58">
            <a:extLst>
              <a:ext uri="{FF2B5EF4-FFF2-40B4-BE49-F238E27FC236}">
                <a16:creationId xmlns:a16="http://schemas.microsoft.com/office/drawing/2014/main" id="{7EFD9770-6566-40AE-AD46-86C0637E5F3C}"/>
              </a:ext>
            </a:extLst>
          </p:cNvPr>
          <p:cNvGrpSpPr/>
          <p:nvPr/>
        </p:nvGrpSpPr>
        <p:grpSpPr>
          <a:xfrm>
            <a:off x="3551032" y="5604103"/>
            <a:ext cx="511370" cy="356179"/>
            <a:chOff x="1437550" y="5599958"/>
            <a:chExt cx="511370" cy="356179"/>
          </a:xfrm>
        </p:grpSpPr>
        <p:cxnSp>
          <p:nvCxnSpPr>
            <p:cNvPr id="60" name="Straight Connector 59">
              <a:extLst>
                <a:ext uri="{FF2B5EF4-FFF2-40B4-BE49-F238E27FC236}">
                  <a16:creationId xmlns:a16="http://schemas.microsoft.com/office/drawing/2014/main" id="{4C73B1A8-2573-4FF4-A934-73E747984709}"/>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7B8C810C-F72A-47CF-B7BA-C375E518AB05}"/>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71" name="Group 70">
            <a:extLst>
              <a:ext uri="{FF2B5EF4-FFF2-40B4-BE49-F238E27FC236}">
                <a16:creationId xmlns:a16="http://schemas.microsoft.com/office/drawing/2014/main" id="{192E3669-352A-422A-B8A3-2AB0B6363812}"/>
              </a:ext>
            </a:extLst>
          </p:cNvPr>
          <p:cNvGrpSpPr/>
          <p:nvPr/>
        </p:nvGrpSpPr>
        <p:grpSpPr>
          <a:xfrm>
            <a:off x="4652096" y="5599958"/>
            <a:ext cx="511370" cy="356179"/>
            <a:chOff x="1437550" y="5599958"/>
            <a:chExt cx="511370" cy="356179"/>
          </a:xfrm>
        </p:grpSpPr>
        <p:cxnSp>
          <p:nvCxnSpPr>
            <p:cNvPr id="72" name="Straight Connector 71">
              <a:extLst>
                <a:ext uri="{FF2B5EF4-FFF2-40B4-BE49-F238E27FC236}">
                  <a16:creationId xmlns:a16="http://schemas.microsoft.com/office/drawing/2014/main" id="{B731A8BB-3859-4A90-81D4-765FDEFD8500}"/>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9A8B5654-C0FD-4F2E-B123-28751430F646}"/>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74" name="Group 73">
            <a:extLst>
              <a:ext uri="{FF2B5EF4-FFF2-40B4-BE49-F238E27FC236}">
                <a16:creationId xmlns:a16="http://schemas.microsoft.com/office/drawing/2014/main" id="{901F1DE0-7655-4F10-9D86-D672E7CEC375}"/>
              </a:ext>
            </a:extLst>
          </p:cNvPr>
          <p:cNvGrpSpPr/>
          <p:nvPr/>
        </p:nvGrpSpPr>
        <p:grpSpPr>
          <a:xfrm>
            <a:off x="5145889" y="5611189"/>
            <a:ext cx="511370" cy="356179"/>
            <a:chOff x="1437550" y="5599958"/>
            <a:chExt cx="511370" cy="356179"/>
          </a:xfrm>
        </p:grpSpPr>
        <p:cxnSp>
          <p:nvCxnSpPr>
            <p:cNvPr id="75" name="Straight Connector 74">
              <a:extLst>
                <a:ext uri="{FF2B5EF4-FFF2-40B4-BE49-F238E27FC236}">
                  <a16:creationId xmlns:a16="http://schemas.microsoft.com/office/drawing/2014/main" id="{238618E8-5430-4F96-AFD4-5BB9E72256A6}"/>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B87BE8F1-B778-4054-A5B0-E0C3C84663FB}"/>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78" name="Group 77">
            <a:extLst>
              <a:ext uri="{FF2B5EF4-FFF2-40B4-BE49-F238E27FC236}">
                <a16:creationId xmlns:a16="http://schemas.microsoft.com/office/drawing/2014/main" id="{88FA7E3F-187E-4538-A357-46BDA75574CF}"/>
              </a:ext>
            </a:extLst>
          </p:cNvPr>
          <p:cNvGrpSpPr/>
          <p:nvPr/>
        </p:nvGrpSpPr>
        <p:grpSpPr>
          <a:xfrm>
            <a:off x="5683049" y="5611188"/>
            <a:ext cx="511370" cy="356179"/>
            <a:chOff x="1437550" y="5599958"/>
            <a:chExt cx="511370" cy="356179"/>
          </a:xfrm>
        </p:grpSpPr>
        <p:cxnSp>
          <p:nvCxnSpPr>
            <p:cNvPr id="79" name="Straight Connector 78">
              <a:extLst>
                <a:ext uri="{FF2B5EF4-FFF2-40B4-BE49-F238E27FC236}">
                  <a16:creationId xmlns:a16="http://schemas.microsoft.com/office/drawing/2014/main" id="{F6D085EA-D85F-424C-B6CB-690608DA4637}"/>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11A6F479-B38A-4C07-899C-500B0C8E4510}"/>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81" name="Group 80">
            <a:extLst>
              <a:ext uri="{FF2B5EF4-FFF2-40B4-BE49-F238E27FC236}">
                <a16:creationId xmlns:a16="http://schemas.microsoft.com/office/drawing/2014/main" id="{A005835E-37A4-443D-9422-36D4EA3D6A21}"/>
              </a:ext>
            </a:extLst>
          </p:cNvPr>
          <p:cNvGrpSpPr/>
          <p:nvPr/>
        </p:nvGrpSpPr>
        <p:grpSpPr>
          <a:xfrm>
            <a:off x="6247558" y="5593646"/>
            <a:ext cx="511370" cy="356179"/>
            <a:chOff x="1437550" y="5599958"/>
            <a:chExt cx="511370" cy="356179"/>
          </a:xfrm>
        </p:grpSpPr>
        <p:cxnSp>
          <p:nvCxnSpPr>
            <p:cNvPr id="90" name="Straight Connector 89">
              <a:extLst>
                <a:ext uri="{FF2B5EF4-FFF2-40B4-BE49-F238E27FC236}">
                  <a16:creationId xmlns:a16="http://schemas.microsoft.com/office/drawing/2014/main" id="{9B363308-3737-4EF4-BECD-CE15B2E461CB}"/>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2E71FBF9-B311-4072-BDE5-8702F3CC4666}"/>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94" name="Group 93">
            <a:extLst>
              <a:ext uri="{FF2B5EF4-FFF2-40B4-BE49-F238E27FC236}">
                <a16:creationId xmlns:a16="http://schemas.microsoft.com/office/drawing/2014/main" id="{4421BF96-3C5E-407A-BC2B-798B16B33D16}"/>
              </a:ext>
            </a:extLst>
          </p:cNvPr>
          <p:cNvGrpSpPr/>
          <p:nvPr/>
        </p:nvGrpSpPr>
        <p:grpSpPr>
          <a:xfrm>
            <a:off x="6733197" y="5602434"/>
            <a:ext cx="511370" cy="356179"/>
            <a:chOff x="1437550" y="5599958"/>
            <a:chExt cx="511370" cy="356179"/>
          </a:xfrm>
        </p:grpSpPr>
        <p:cxnSp>
          <p:nvCxnSpPr>
            <p:cNvPr id="95" name="Straight Connector 94">
              <a:extLst>
                <a:ext uri="{FF2B5EF4-FFF2-40B4-BE49-F238E27FC236}">
                  <a16:creationId xmlns:a16="http://schemas.microsoft.com/office/drawing/2014/main" id="{81C3D780-31DE-4798-9AA2-5C1B19543CF7}"/>
                </a:ext>
              </a:extLst>
            </p:cNvPr>
            <p:cNvCxnSpPr/>
            <p:nvPr/>
          </p:nvCxnSpPr>
          <p:spPr>
            <a:xfrm flipH="1">
              <a:off x="1437550" y="5620871"/>
              <a:ext cx="511370" cy="3352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0EB43FFC-D0E8-461A-A76B-AF36336D0C64}"/>
                </a:ext>
              </a:extLst>
            </p:cNvPr>
            <p:cNvCxnSpPr/>
            <p:nvPr/>
          </p:nvCxnSpPr>
          <p:spPr>
            <a:xfrm>
              <a:off x="1437550" y="5599958"/>
              <a:ext cx="511370" cy="356179"/>
            </a:xfrm>
            <a:prstGeom prst="line">
              <a:avLst/>
            </a:prstGeom>
            <a:ln w="19050"/>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375743341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BFS: Algorithm and Time Complexity</a:t>
            </a:r>
          </a:p>
        </p:txBody>
      </p:sp>
      <p:sp>
        <p:nvSpPr>
          <p:cNvPr id="3" name="Slide Number Placeholder 2">
            <a:extLst>
              <a:ext uri="{FF2B5EF4-FFF2-40B4-BE49-F238E27FC236}">
                <a16:creationId xmlns:a16="http://schemas.microsoft.com/office/drawing/2014/main" id="{B5C4CA3A-ACDE-40DB-96A7-BD0D666633D7}"/>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81/110</a:t>
            </a:r>
          </a:p>
        </p:txBody>
      </p:sp>
      <p:sp>
        <p:nvSpPr>
          <p:cNvPr id="4" name="TextBox 3">
            <a:extLst>
              <a:ext uri="{FF2B5EF4-FFF2-40B4-BE49-F238E27FC236}">
                <a16:creationId xmlns:a16="http://schemas.microsoft.com/office/drawing/2014/main" id="{B7B7E94E-4C6C-4939-8500-671843A6A4E1}"/>
              </a:ext>
            </a:extLst>
          </p:cNvPr>
          <p:cNvSpPr txBox="1"/>
          <p:nvPr/>
        </p:nvSpPr>
        <p:spPr>
          <a:xfrm>
            <a:off x="4210055" y="2334080"/>
            <a:ext cx="4231816" cy="2862322"/>
          </a:xfrm>
          <a:prstGeom prst="rect">
            <a:avLst/>
          </a:prstGeom>
          <a:noFill/>
          <a:ln w="38100" cmpd="thickThin">
            <a:solidFill>
              <a:srgbClr val="F6B000"/>
            </a:solidFill>
          </a:ln>
        </p:spPr>
        <p:txBody>
          <a:bodyPr wrap="square" rtlCol="0">
            <a:spAutoFit/>
          </a:bodyPr>
          <a:lstStyle/>
          <a:p>
            <a:r>
              <a:rPr lang="en-US" dirty="0">
                <a:latin typeface="Consolas" panose="020B0609020204030204" pitchFamily="49" charset="0"/>
              </a:rPr>
              <a:t>BFS(Root)</a:t>
            </a:r>
          </a:p>
          <a:p>
            <a:r>
              <a:rPr lang="en-US" dirty="0">
                <a:latin typeface="Consolas" panose="020B0609020204030204" pitchFamily="49" charset="0"/>
              </a:rPr>
              <a:t>    Queue Q</a:t>
            </a:r>
          </a:p>
          <a:p>
            <a:r>
              <a:rPr lang="en-US" dirty="0">
                <a:latin typeface="Consolas" panose="020B0609020204030204" pitchFamily="49" charset="0"/>
              </a:rPr>
              <a:t>    </a:t>
            </a:r>
            <a:r>
              <a:rPr lang="en-US" dirty="0" err="1">
                <a:latin typeface="Consolas" panose="020B0609020204030204" pitchFamily="49" charset="0"/>
              </a:rPr>
              <a:t>Q.add</a:t>
            </a:r>
            <a:r>
              <a:rPr lang="en-US" dirty="0">
                <a:latin typeface="Consolas" panose="020B0609020204030204" pitchFamily="49" charset="0"/>
              </a:rPr>
              <a:t>(Root)</a:t>
            </a:r>
          </a:p>
          <a:p>
            <a:endParaRPr lang="en-US" dirty="0">
              <a:latin typeface="Consolas" panose="020B0609020204030204" pitchFamily="49" charset="0"/>
            </a:endParaRPr>
          </a:p>
          <a:p>
            <a:r>
              <a:rPr lang="en-US" dirty="0">
                <a:latin typeface="Consolas" panose="020B0609020204030204" pitchFamily="49" charset="0"/>
              </a:rPr>
              <a:t>    while Q is not empty do</a:t>
            </a:r>
          </a:p>
          <a:p>
            <a:r>
              <a:rPr lang="en-US" dirty="0">
                <a:latin typeface="Consolas" panose="020B0609020204030204" pitchFamily="49" charset="0"/>
              </a:rPr>
              <a:t>        v ← </a:t>
            </a:r>
            <a:r>
              <a:rPr lang="en-US" dirty="0" err="1">
                <a:latin typeface="Consolas" panose="020B0609020204030204" pitchFamily="49" charset="0"/>
              </a:rPr>
              <a:t>Q.delete</a:t>
            </a:r>
            <a:r>
              <a:rPr lang="en-US" dirty="0">
                <a:latin typeface="Consolas" panose="020B0609020204030204" pitchFamily="49" charset="0"/>
              </a:rPr>
              <a:t>()</a:t>
            </a:r>
          </a:p>
          <a:p>
            <a:r>
              <a:rPr lang="en-US" dirty="0">
                <a:latin typeface="Consolas" panose="020B0609020204030204" pitchFamily="49" charset="0"/>
              </a:rPr>
              <a:t>        Print v</a:t>
            </a:r>
          </a:p>
          <a:p>
            <a:endParaRPr lang="en-US" dirty="0">
              <a:latin typeface="Consolas" panose="020B0609020204030204" pitchFamily="49" charset="0"/>
            </a:endParaRPr>
          </a:p>
          <a:p>
            <a:r>
              <a:rPr lang="en-US" dirty="0">
                <a:latin typeface="Consolas" panose="020B0609020204030204" pitchFamily="49" charset="0"/>
              </a:rPr>
              <a:t>        for each child w of v do</a:t>
            </a:r>
          </a:p>
          <a:p>
            <a:r>
              <a:rPr lang="en-US" dirty="0">
                <a:latin typeface="Consolas" panose="020B0609020204030204" pitchFamily="49" charset="0"/>
              </a:rPr>
              <a:t>            </a:t>
            </a:r>
            <a:r>
              <a:rPr lang="en-US" dirty="0" err="1">
                <a:latin typeface="Consolas" panose="020B0609020204030204" pitchFamily="49" charset="0"/>
              </a:rPr>
              <a:t>Q.add</a:t>
            </a:r>
            <a:r>
              <a:rPr lang="en-US" dirty="0">
                <a:latin typeface="Consolas" panose="020B0609020204030204" pitchFamily="49" charset="0"/>
              </a:rPr>
              <a:t>(w)</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D559EB6-7BF3-4983-9FAA-F067B9DEA0A3}"/>
                  </a:ext>
                </a:extLst>
              </p:cNvPr>
              <p:cNvSpPr txBox="1"/>
              <p:nvPr/>
            </p:nvSpPr>
            <p:spPr>
              <a:xfrm>
                <a:off x="5117278" y="5302623"/>
                <a:ext cx="230306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D012C2"/>
                          </a:solidFill>
                          <a:latin typeface="Cambria Math" panose="02040503050406030204" pitchFamily="18" charset="0"/>
                        </a:rPr>
                        <m:t>𝑂</m:t>
                      </m:r>
                      <m:d>
                        <m:dPr>
                          <m:ctrlPr>
                            <a:rPr lang="en-US" i="1" dirty="0" smtClean="0">
                              <a:solidFill>
                                <a:srgbClr val="D012C2"/>
                              </a:solidFill>
                              <a:latin typeface="Cambria Math" panose="02040503050406030204" pitchFamily="18" charset="0"/>
                            </a:rPr>
                          </m:ctrlPr>
                        </m:dPr>
                        <m:e>
                          <m:d>
                            <m:dPr>
                              <m:begChr m:val="|"/>
                              <m:endChr m:val="|"/>
                              <m:ctrlPr>
                                <a:rPr lang="en-US" i="1" dirty="0" smtClean="0">
                                  <a:solidFill>
                                    <a:srgbClr val="D012C2"/>
                                  </a:solidFill>
                                  <a:latin typeface="Cambria Math" panose="02040503050406030204" pitchFamily="18" charset="0"/>
                                </a:rPr>
                              </m:ctrlPr>
                            </m:dPr>
                            <m:e>
                              <m:r>
                                <a:rPr lang="en-US" i="1" dirty="0" smtClean="0">
                                  <a:solidFill>
                                    <a:srgbClr val="D012C2"/>
                                  </a:solidFill>
                                  <a:latin typeface="Cambria Math" panose="02040503050406030204" pitchFamily="18" charset="0"/>
                                </a:rPr>
                                <m:t>𝐸</m:t>
                              </m:r>
                            </m:e>
                          </m:d>
                          <m:r>
                            <a:rPr lang="en-US" b="0" i="1" dirty="0" smtClean="0">
                              <a:solidFill>
                                <a:srgbClr val="D012C2"/>
                              </a:solidFill>
                              <a:latin typeface="Cambria Math" panose="02040503050406030204" pitchFamily="18" charset="0"/>
                            </a:rPr>
                            <m:t>+</m:t>
                          </m:r>
                          <m:d>
                            <m:dPr>
                              <m:begChr m:val="|"/>
                              <m:endChr m:val="|"/>
                              <m:ctrlPr>
                                <a:rPr lang="en-US" b="0" i="1" dirty="0" smtClean="0">
                                  <a:solidFill>
                                    <a:srgbClr val="D012C2"/>
                                  </a:solidFill>
                                  <a:latin typeface="Cambria Math" panose="02040503050406030204" pitchFamily="18" charset="0"/>
                                </a:rPr>
                              </m:ctrlPr>
                            </m:dPr>
                            <m:e>
                              <m:r>
                                <a:rPr lang="en-US" b="0" i="1" dirty="0" smtClean="0">
                                  <a:solidFill>
                                    <a:srgbClr val="D012C2"/>
                                  </a:solidFill>
                                  <a:latin typeface="Cambria Math" panose="02040503050406030204" pitchFamily="18" charset="0"/>
                                </a:rPr>
                                <m:t>𝑉</m:t>
                              </m:r>
                            </m:e>
                          </m:d>
                        </m:e>
                      </m:d>
                      <m:r>
                        <a:rPr lang="en-US" b="0" i="1" dirty="0" smtClean="0">
                          <a:solidFill>
                            <a:srgbClr val="D012C2"/>
                          </a:solidFill>
                          <a:latin typeface="Cambria Math" panose="02040503050406030204" pitchFamily="18" charset="0"/>
                        </a:rPr>
                        <m:t>=</m:t>
                      </m:r>
                      <m:r>
                        <a:rPr lang="en-US" b="0" i="1" dirty="0" smtClean="0">
                          <a:solidFill>
                            <a:srgbClr val="D012C2"/>
                          </a:solidFill>
                          <a:latin typeface="Cambria Math" panose="02040503050406030204" pitchFamily="18" charset="0"/>
                        </a:rPr>
                        <m:t>𝑂</m:t>
                      </m:r>
                      <m:r>
                        <a:rPr lang="en-US" b="0" i="1" dirty="0" smtClean="0">
                          <a:solidFill>
                            <a:srgbClr val="D012C2"/>
                          </a:solidFill>
                          <a:latin typeface="Cambria Math" panose="02040503050406030204" pitchFamily="18" charset="0"/>
                        </a:rPr>
                        <m:t>(</m:t>
                      </m:r>
                      <m:r>
                        <a:rPr lang="en-US" b="0" i="1" dirty="0" smtClean="0">
                          <a:solidFill>
                            <a:srgbClr val="D012C2"/>
                          </a:solidFill>
                          <a:latin typeface="Cambria Math" panose="02040503050406030204" pitchFamily="18" charset="0"/>
                        </a:rPr>
                        <m:t>𝑛</m:t>
                      </m:r>
                      <m:r>
                        <a:rPr lang="en-US" b="0" i="1" dirty="0" smtClean="0">
                          <a:solidFill>
                            <a:srgbClr val="D012C2"/>
                          </a:solidFill>
                          <a:latin typeface="Cambria Math" panose="02040503050406030204" pitchFamily="18" charset="0"/>
                        </a:rPr>
                        <m:t>)</m:t>
                      </m:r>
                    </m:oMath>
                  </m:oMathPara>
                </a14:m>
                <a:endParaRPr lang="en-US" dirty="0">
                  <a:solidFill>
                    <a:srgbClr val="D012C2"/>
                  </a:solidFill>
                </a:endParaRPr>
              </a:p>
            </p:txBody>
          </p:sp>
        </mc:Choice>
        <mc:Fallback xmlns="">
          <p:sp>
            <p:nvSpPr>
              <p:cNvPr id="5" name="TextBox 4">
                <a:extLst>
                  <a:ext uri="{FF2B5EF4-FFF2-40B4-BE49-F238E27FC236}">
                    <a16:creationId xmlns:a16="http://schemas.microsoft.com/office/drawing/2014/main" id="{6D559EB6-7BF3-4983-9FAA-F067B9DEA0A3}"/>
                  </a:ext>
                </a:extLst>
              </p:cNvPr>
              <p:cNvSpPr txBox="1">
                <a:spLocks noRot="1" noChangeAspect="1" noMove="1" noResize="1" noEditPoints="1" noAdjustHandles="1" noChangeArrowheads="1" noChangeShapeType="1" noTextEdit="1"/>
              </p:cNvSpPr>
              <p:nvPr/>
            </p:nvSpPr>
            <p:spPr>
              <a:xfrm>
                <a:off x="5117278" y="5302623"/>
                <a:ext cx="2303066" cy="369332"/>
              </a:xfrm>
              <a:prstGeom prst="rect">
                <a:avLst/>
              </a:prstGeom>
              <a:blipFill>
                <a:blip r:embed="rId4"/>
                <a:stretch>
                  <a:fillRect b="-15000"/>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4224274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4E5F9-E6D7-4ECA-8358-99C935400D49}"/>
              </a:ext>
            </a:extLst>
          </p:cNvPr>
          <p:cNvSpPr>
            <a:spLocks noGrp="1"/>
          </p:cNvSpPr>
          <p:nvPr>
            <p:ph type="title"/>
          </p:nvPr>
        </p:nvSpPr>
        <p:spPr/>
        <p:txBody>
          <a:bodyPr/>
          <a:lstStyle/>
          <a:p>
            <a:r>
              <a:rPr lang="en-US" dirty="0"/>
              <a:t>Class work</a:t>
            </a:r>
          </a:p>
        </p:txBody>
      </p:sp>
      <p:sp>
        <p:nvSpPr>
          <p:cNvPr id="3" name="Content Placeholder 2">
            <a:extLst>
              <a:ext uri="{FF2B5EF4-FFF2-40B4-BE49-F238E27FC236}">
                <a16:creationId xmlns:a16="http://schemas.microsoft.com/office/drawing/2014/main" id="{07452880-9EFC-4C13-9429-6E79FD87149E}"/>
              </a:ext>
            </a:extLst>
          </p:cNvPr>
          <p:cNvSpPr>
            <a:spLocks noGrp="1"/>
          </p:cNvSpPr>
          <p:nvPr>
            <p:ph idx="1"/>
          </p:nvPr>
        </p:nvSpPr>
        <p:spPr>
          <a:xfrm>
            <a:off x="581192" y="2180497"/>
            <a:ext cx="11029615" cy="1705704"/>
          </a:xfrm>
        </p:spPr>
        <p:txBody>
          <a:bodyPr>
            <a:normAutofit fontScale="92500"/>
          </a:bodyPr>
          <a:lstStyle/>
          <a:p>
            <a:r>
              <a:rPr lang="en-US" sz="2400" dirty="0"/>
              <a:t>You are managing a network of n communication towers in a large rural region. There are some </a:t>
            </a:r>
            <a:r>
              <a:rPr lang="en-US" sz="2400" dirty="0">
                <a:solidFill>
                  <a:srgbClr val="D012C2"/>
                </a:solidFill>
              </a:rPr>
              <a:t>control centers</a:t>
            </a:r>
            <a:r>
              <a:rPr lang="en-US" sz="2400" dirty="0"/>
              <a:t>, each based at one of the towers. Your goal is to ensure that every tower in the region is connected to at least one control center. Obviously, the tower that has a control center is connected to its own control center. </a:t>
            </a:r>
          </a:p>
          <a:p>
            <a:endParaRPr lang="en-US" sz="2400" dirty="0"/>
          </a:p>
        </p:txBody>
      </p:sp>
      <p:sp>
        <p:nvSpPr>
          <p:cNvPr id="5" name="Slide Number Placeholder 4">
            <a:extLst>
              <a:ext uri="{FF2B5EF4-FFF2-40B4-BE49-F238E27FC236}">
                <a16:creationId xmlns:a16="http://schemas.microsoft.com/office/drawing/2014/main" id="{8CE26E6C-EFE9-4208-AF3F-23B2D3A49759}"/>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107/110</a:t>
            </a:r>
          </a:p>
        </p:txBody>
      </p:sp>
      <p:pic>
        <p:nvPicPr>
          <p:cNvPr id="7" name="Graphic 6" descr="Cell Tower">
            <a:extLst>
              <a:ext uri="{FF2B5EF4-FFF2-40B4-BE49-F238E27FC236}">
                <a16:creationId xmlns:a16="http://schemas.microsoft.com/office/drawing/2014/main" id="{FE396428-AB69-4EAA-9EC4-5E0C9890270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89464" y="4171950"/>
            <a:ext cx="914400" cy="914400"/>
          </a:xfrm>
          <a:prstGeom prst="rect">
            <a:avLst/>
          </a:prstGeom>
        </p:spPr>
      </p:pic>
      <p:pic>
        <p:nvPicPr>
          <p:cNvPr id="8" name="Graphic 7" descr="Cell Tower">
            <a:extLst>
              <a:ext uri="{FF2B5EF4-FFF2-40B4-BE49-F238E27FC236}">
                <a16:creationId xmlns:a16="http://schemas.microsoft.com/office/drawing/2014/main" id="{E8020DD3-B586-44CA-A25F-1CF865B0BA6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27664" y="5589814"/>
            <a:ext cx="914400" cy="914400"/>
          </a:xfrm>
          <a:prstGeom prst="rect">
            <a:avLst/>
          </a:prstGeom>
        </p:spPr>
      </p:pic>
      <p:pic>
        <p:nvPicPr>
          <p:cNvPr id="9" name="Graphic 8" descr="Cell Tower">
            <a:extLst>
              <a:ext uri="{FF2B5EF4-FFF2-40B4-BE49-F238E27FC236}">
                <a16:creationId xmlns:a16="http://schemas.microsoft.com/office/drawing/2014/main" id="{4D20A8D5-F1B5-4D15-AA6C-2536775CAC4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42064" y="4307405"/>
            <a:ext cx="914400" cy="914400"/>
          </a:xfrm>
          <a:prstGeom prst="rect">
            <a:avLst/>
          </a:prstGeom>
        </p:spPr>
      </p:pic>
      <p:pic>
        <p:nvPicPr>
          <p:cNvPr id="10" name="Graphic 9" descr="Cell Tower">
            <a:extLst>
              <a:ext uri="{FF2B5EF4-FFF2-40B4-BE49-F238E27FC236}">
                <a16:creationId xmlns:a16="http://schemas.microsoft.com/office/drawing/2014/main" id="{531F36E0-9262-48B0-A44F-1087D535BEC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196692" y="3823607"/>
            <a:ext cx="914400" cy="914400"/>
          </a:xfrm>
          <a:prstGeom prst="rect">
            <a:avLst/>
          </a:prstGeom>
        </p:spPr>
      </p:pic>
      <p:pic>
        <p:nvPicPr>
          <p:cNvPr id="11" name="Graphic 10" descr="Cell Tower">
            <a:extLst>
              <a:ext uri="{FF2B5EF4-FFF2-40B4-BE49-F238E27FC236}">
                <a16:creationId xmlns:a16="http://schemas.microsoft.com/office/drawing/2014/main" id="{05C76660-901F-43D6-B157-C9EC3D8FFEE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756071" y="4171950"/>
            <a:ext cx="914400" cy="914400"/>
          </a:xfrm>
          <a:prstGeom prst="rect">
            <a:avLst/>
          </a:prstGeom>
        </p:spPr>
      </p:pic>
      <p:pic>
        <p:nvPicPr>
          <p:cNvPr id="12" name="Graphic 11" descr="Cell Tower">
            <a:extLst>
              <a:ext uri="{FF2B5EF4-FFF2-40B4-BE49-F238E27FC236}">
                <a16:creationId xmlns:a16="http://schemas.microsoft.com/office/drawing/2014/main" id="{CED1301D-7098-4337-A9A6-360C74A89B7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62057" y="4898571"/>
            <a:ext cx="914400" cy="914400"/>
          </a:xfrm>
          <a:prstGeom prst="rect">
            <a:avLst/>
          </a:prstGeom>
        </p:spPr>
      </p:pic>
      <p:sp>
        <p:nvSpPr>
          <p:cNvPr id="14" name="Freeform: Shape 13">
            <a:extLst>
              <a:ext uri="{FF2B5EF4-FFF2-40B4-BE49-F238E27FC236}">
                <a16:creationId xmlns:a16="http://schemas.microsoft.com/office/drawing/2014/main" id="{E1115636-0AC6-422F-A71B-0379D9EC6233}"/>
              </a:ext>
            </a:extLst>
          </p:cNvPr>
          <p:cNvSpPr/>
          <p:nvPr/>
        </p:nvSpPr>
        <p:spPr>
          <a:xfrm>
            <a:off x="3404507" y="4547294"/>
            <a:ext cx="1436914" cy="351277"/>
          </a:xfrm>
          <a:custGeom>
            <a:avLst/>
            <a:gdLst>
              <a:gd name="connsiteX0" fmla="*/ 0 w 1330778"/>
              <a:gd name="connsiteY0" fmla="*/ 139006 h 351277"/>
              <a:gd name="connsiteX1" fmla="*/ 465364 w 1330778"/>
              <a:gd name="connsiteY1" fmla="*/ 8377 h 351277"/>
              <a:gd name="connsiteX2" fmla="*/ 1330778 w 1330778"/>
              <a:gd name="connsiteY2" fmla="*/ 351277 h 351277"/>
            </a:gdLst>
            <a:ahLst/>
            <a:cxnLst>
              <a:cxn ang="0">
                <a:pos x="connsiteX0" y="connsiteY0"/>
              </a:cxn>
              <a:cxn ang="0">
                <a:pos x="connsiteX1" y="connsiteY1"/>
              </a:cxn>
              <a:cxn ang="0">
                <a:pos x="connsiteX2" y="connsiteY2"/>
              </a:cxn>
            </a:cxnLst>
            <a:rect l="l" t="t" r="r" b="b"/>
            <a:pathLst>
              <a:path w="1330778" h="351277">
                <a:moveTo>
                  <a:pt x="0" y="139006"/>
                </a:moveTo>
                <a:cubicBezTo>
                  <a:pt x="121784" y="56002"/>
                  <a:pt x="243568" y="-27002"/>
                  <a:pt x="465364" y="8377"/>
                </a:cubicBezTo>
                <a:cubicBezTo>
                  <a:pt x="687160" y="43755"/>
                  <a:pt x="1008969" y="197516"/>
                  <a:pt x="1330778" y="35127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DA99E91-ECEE-4629-897D-A9ABCFFA7CC3}"/>
              </a:ext>
            </a:extLst>
          </p:cNvPr>
          <p:cNvSpPr/>
          <p:nvPr/>
        </p:nvSpPr>
        <p:spPr>
          <a:xfrm>
            <a:off x="4237264" y="5012871"/>
            <a:ext cx="811826" cy="1159329"/>
          </a:xfrm>
          <a:custGeom>
            <a:avLst/>
            <a:gdLst>
              <a:gd name="connsiteX0" fmla="*/ 734786 w 811826"/>
              <a:gd name="connsiteY0" fmla="*/ 0 h 1159329"/>
              <a:gd name="connsiteX1" fmla="*/ 742950 w 811826"/>
              <a:gd name="connsiteY1" fmla="*/ 808265 h 1159329"/>
              <a:gd name="connsiteX2" fmla="*/ 0 w 811826"/>
              <a:gd name="connsiteY2" fmla="*/ 1159329 h 1159329"/>
            </a:gdLst>
            <a:ahLst/>
            <a:cxnLst>
              <a:cxn ang="0">
                <a:pos x="connsiteX0" y="connsiteY0"/>
              </a:cxn>
              <a:cxn ang="0">
                <a:pos x="connsiteX1" y="connsiteY1"/>
              </a:cxn>
              <a:cxn ang="0">
                <a:pos x="connsiteX2" y="connsiteY2"/>
              </a:cxn>
            </a:cxnLst>
            <a:rect l="l" t="t" r="r" b="b"/>
            <a:pathLst>
              <a:path w="811826" h="1159329">
                <a:moveTo>
                  <a:pt x="734786" y="0"/>
                </a:moveTo>
                <a:cubicBezTo>
                  <a:pt x="800100" y="307521"/>
                  <a:pt x="865414" y="615043"/>
                  <a:pt x="742950" y="808265"/>
                </a:cubicBezTo>
                <a:cubicBezTo>
                  <a:pt x="620486" y="1001487"/>
                  <a:pt x="310243" y="1080408"/>
                  <a:pt x="0" y="115932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1388B6DC-8CEE-42A6-8E86-1798B9ACC3E1}"/>
              </a:ext>
            </a:extLst>
          </p:cNvPr>
          <p:cNvSpPr/>
          <p:nvPr/>
        </p:nvSpPr>
        <p:spPr>
          <a:xfrm>
            <a:off x="6825343" y="4307491"/>
            <a:ext cx="1257300" cy="386973"/>
          </a:xfrm>
          <a:custGeom>
            <a:avLst/>
            <a:gdLst>
              <a:gd name="connsiteX0" fmla="*/ 0 w 1257300"/>
              <a:gd name="connsiteY0" fmla="*/ 133880 h 386973"/>
              <a:gd name="connsiteX1" fmla="*/ 424543 w 1257300"/>
              <a:gd name="connsiteY1" fmla="*/ 11416 h 386973"/>
              <a:gd name="connsiteX2" fmla="*/ 1257300 w 1257300"/>
              <a:gd name="connsiteY2" fmla="*/ 386973 h 386973"/>
            </a:gdLst>
            <a:ahLst/>
            <a:cxnLst>
              <a:cxn ang="0">
                <a:pos x="connsiteX0" y="connsiteY0"/>
              </a:cxn>
              <a:cxn ang="0">
                <a:pos x="connsiteX1" y="connsiteY1"/>
              </a:cxn>
              <a:cxn ang="0">
                <a:pos x="connsiteX2" y="connsiteY2"/>
              </a:cxn>
            </a:cxnLst>
            <a:rect l="l" t="t" r="r" b="b"/>
            <a:pathLst>
              <a:path w="1257300" h="386973">
                <a:moveTo>
                  <a:pt x="0" y="133880"/>
                </a:moveTo>
                <a:cubicBezTo>
                  <a:pt x="107496" y="51557"/>
                  <a:pt x="214993" y="-30766"/>
                  <a:pt x="424543" y="11416"/>
                </a:cubicBezTo>
                <a:cubicBezTo>
                  <a:pt x="634093" y="53598"/>
                  <a:pt x="945696" y="220285"/>
                  <a:pt x="1257300" y="386973"/>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A56BC4C6-D86F-4DC4-BAD8-16EDD94BA1AF}"/>
              </a:ext>
            </a:extLst>
          </p:cNvPr>
          <p:cNvSpPr/>
          <p:nvPr/>
        </p:nvSpPr>
        <p:spPr>
          <a:xfrm>
            <a:off x="5796643" y="4400550"/>
            <a:ext cx="685800" cy="1077686"/>
          </a:xfrm>
          <a:custGeom>
            <a:avLst/>
            <a:gdLst>
              <a:gd name="connsiteX0" fmla="*/ 685800 w 685800"/>
              <a:gd name="connsiteY0" fmla="*/ 0 h 1077686"/>
              <a:gd name="connsiteX1" fmla="*/ 212271 w 685800"/>
              <a:gd name="connsiteY1" fmla="*/ 375557 h 1077686"/>
              <a:gd name="connsiteX2" fmla="*/ 0 w 685800"/>
              <a:gd name="connsiteY2" fmla="*/ 1077686 h 1077686"/>
              <a:gd name="connsiteX3" fmla="*/ 0 w 685800"/>
              <a:gd name="connsiteY3" fmla="*/ 1077686 h 1077686"/>
            </a:gdLst>
            <a:ahLst/>
            <a:cxnLst>
              <a:cxn ang="0">
                <a:pos x="connsiteX0" y="connsiteY0"/>
              </a:cxn>
              <a:cxn ang="0">
                <a:pos x="connsiteX1" y="connsiteY1"/>
              </a:cxn>
              <a:cxn ang="0">
                <a:pos x="connsiteX2" y="connsiteY2"/>
              </a:cxn>
              <a:cxn ang="0">
                <a:pos x="connsiteX3" y="connsiteY3"/>
              </a:cxn>
            </a:cxnLst>
            <a:rect l="l" t="t" r="r" b="b"/>
            <a:pathLst>
              <a:path w="685800" h="1077686">
                <a:moveTo>
                  <a:pt x="685800" y="0"/>
                </a:moveTo>
                <a:cubicBezTo>
                  <a:pt x="506185" y="97971"/>
                  <a:pt x="326571" y="195943"/>
                  <a:pt x="212271" y="375557"/>
                </a:cubicBezTo>
                <a:cubicBezTo>
                  <a:pt x="97971" y="555171"/>
                  <a:pt x="0" y="1077686"/>
                  <a:pt x="0" y="1077686"/>
                </a:cubicBezTo>
                <a:lnTo>
                  <a:pt x="0" y="1077686"/>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Graphic 18" descr="Cell Tower">
            <a:extLst>
              <a:ext uri="{FF2B5EF4-FFF2-40B4-BE49-F238E27FC236}">
                <a16:creationId xmlns:a16="http://schemas.microsoft.com/office/drawing/2014/main" id="{DA7CEA76-112D-45A9-9C64-148E5063227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31276" y="5278954"/>
            <a:ext cx="914400" cy="914400"/>
          </a:xfrm>
          <a:prstGeom prst="rect">
            <a:avLst/>
          </a:prstGeom>
        </p:spPr>
      </p:pic>
      <p:sp>
        <p:nvSpPr>
          <p:cNvPr id="20" name="Freeform: Shape 19">
            <a:extLst>
              <a:ext uri="{FF2B5EF4-FFF2-40B4-BE49-F238E27FC236}">
                <a16:creationId xmlns:a16="http://schemas.microsoft.com/office/drawing/2014/main" id="{1923BAB7-7A6E-489F-90CD-DB643237350F}"/>
              </a:ext>
            </a:extLst>
          </p:cNvPr>
          <p:cNvSpPr/>
          <p:nvPr/>
        </p:nvSpPr>
        <p:spPr>
          <a:xfrm>
            <a:off x="5167993" y="4840355"/>
            <a:ext cx="1787978" cy="621552"/>
          </a:xfrm>
          <a:custGeom>
            <a:avLst/>
            <a:gdLst>
              <a:gd name="connsiteX0" fmla="*/ 0 w 1787978"/>
              <a:gd name="connsiteY0" fmla="*/ 90874 h 621552"/>
              <a:gd name="connsiteX1" fmla="*/ 1191986 w 1787978"/>
              <a:gd name="connsiteY1" fmla="*/ 41888 h 621552"/>
              <a:gd name="connsiteX2" fmla="*/ 1787978 w 1787978"/>
              <a:gd name="connsiteY2" fmla="*/ 621552 h 621552"/>
            </a:gdLst>
            <a:ahLst/>
            <a:cxnLst>
              <a:cxn ang="0">
                <a:pos x="connsiteX0" y="connsiteY0"/>
              </a:cxn>
              <a:cxn ang="0">
                <a:pos x="connsiteX1" y="connsiteY1"/>
              </a:cxn>
              <a:cxn ang="0">
                <a:pos x="connsiteX2" y="connsiteY2"/>
              </a:cxn>
            </a:cxnLst>
            <a:rect l="l" t="t" r="r" b="b"/>
            <a:pathLst>
              <a:path w="1787978" h="621552">
                <a:moveTo>
                  <a:pt x="0" y="90874"/>
                </a:moveTo>
                <a:cubicBezTo>
                  <a:pt x="446995" y="22158"/>
                  <a:pt x="893990" y="-46558"/>
                  <a:pt x="1191986" y="41888"/>
                </a:cubicBezTo>
                <a:cubicBezTo>
                  <a:pt x="1489982" y="130334"/>
                  <a:pt x="1638980" y="375943"/>
                  <a:pt x="1787978" y="62155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88229982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4E5F9-E6D7-4ECA-8358-99C935400D49}"/>
              </a:ext>
            </a:extLst>
          </p:cNvPr>
          <p:cNvSpPr>
            <a:spLocks noGrp="1"/>
          </p:cNvSpPr>
          <p:nvPr>
            <p:ph type="title"/>
          </p:nvPr>
        </p:nvSpPr>
        <p:spPr/>
        <p:txBody>
          <a:bodyPr/>
          <a:lstStyle/>
          <a:p>
            <a:r>
              <a:rPr lang="en-US" dirty="0"/>
              <a:t>Class work</a:t>
            </a:r>
          </a:p>
        </p:txBody>
      </p:sp>
      <p:sp>
        <p:nvSpPr>
          <p:cNvPr id="3" name="Content Placeholder 2">
            <a:extLst>
              <a:ext uri="{FF2B5EF4-FFF2-40B4-BE49-F238E27FC236}">
                <a16:creationId xmlns:a16="http://schemas.microsoft.com/office/drawing/2014/main" id="{07452880-9EFC-4C13-9429-6E79FD87149E}"/>
              </a:ext>
            </a:extLst>
          </p:cNvPr>
          <p:cNvSpPr>
            <a:spLocks noGrp="1"/>
          </p:cNvSpPr>
          <p:nvPr>
            <p:ph idx="1"/>
          </p:nvPr>
        </p:nvSpPr>
        <p:spPr>
          <a:xfrm>
            <a:off x="581192" y="2180497"/>
            <a:ext cx="11029615" cy="1705704"/>
          </a:xfrm>
        </p:spPr>
        <p:txBody>
          <a:bodyPr>
            <a:normAutofit fontScale="92500"/>
          </a:bodyPr>
          <a:lstStyle/>
          <a:p>
            <a:r>
              <a:rPr lang="en-US" sz="2400" dirty="0"/>
              <a:t>You are managing a network of n communication towers in a large rural region. There are some </a:t>
            </a:r>
            <a:r>
              <a:rPr lang="en-US" sz="2400" dirty="0">
                <a:solidFill>
                  <a:srgbClr val="D012C2"/>
                </a:solidFill>
              </a:rPr>
              <a:t>control centers</a:t>
            </a:r>
            <a:r>
              <a:rPr lang="en-US" sz="2400" dirty="0"/>
              <a:t>, each based at one of the towers. Your goal is to ensure that every tower in the region is connected to at least one control center. Obviously, the tower that has a control center is connected to its own control center. </a:t>
            </a:r>
          </a:p>
          <a:p>
            <a:endParaRPr lang="en-US" sz="2400" dirty="0"/>
          </a:p>
        </p:txBody>
      </p:sp>
      <p:sp>
        <p:nvSpPr>
          <p:cNvPr id="5" name="Slide Number Placeholder 4">
            <a:extLst>
              <a:ext uri="{FF2B5EF4-FFF2-40B4-BE49-F238E27FC236}">
                <a16:creationId xmlns:a16="http://schemas.microsoft.com/office/drawing/2014/main" id="{8CE26E6C-EFE9-4208-AF3F-23B2D3A49759}"/>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108/110</a:t>
            </a:r>
          </a:p>
        </p:txBody>
      </p:sp>
      <p:sp>
        <p:nvSpPr>
          <p:cNvPr id="4" name="Oval 3">
            <a:extLst>
              <a:ext uri="{FF2B5EF4-FFF2-40B4-BE49-F238E27FC236}">
                <a16:creationId xmlns:a16="http://schemas.microsoft.com/office/drawing/2014/main" id="{6C917230-703E-4AFF-9E92-65BCA54018B8}"/>
              </a:ext>
            </a:extLst>
          </p:cNvPr>
          <p:cNvSpPr/>
          <p:nvPr/>
        </p:nvSpPr>
        <p:spPr>
          <a:xfrm>
            <a:off x="3216728" y="4645370"/>
            <a:ext cx="187779" cy="187779"/>
          </a:xfrm>
          <a:prstGeom prst="ellipse">
            <a:avLst/>
          </a:prstGeom>
          <a:solidFill>
            <a:srgbClr val="AD0FA2"/>
          </a:solidFill>
          <a:ln>
            <a:solidFill>
              <a:srgbClr val="AD0F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25655601-4B8F-4290-A6E4-8D4F2CF12B05}"/>
              </a:ext>
            </a:extLst>
          </p:cNvPr>
          <p:cNvSpPr/>
          <p:nvPr/>
        </p:nvSpPr>
        <p:spPr>
          <a:xfrm>
            <a:off x="6938280" y="5426233"/>
            <a:ext cx="187779" cy="187779"/>
          </a:xfrm>
          <a:prstGeom prst="ellipse">
            <a:avLst/>
          </a:prstGeom>
          <a:solidFill>
            <a:srgbClr val="AD0FA2"/>
          </a:solidFill>
          <a:ln>
            <a:solidFill>
              <a:srgbClr val="AD0F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78C05A64-C7D0-4E8C-971F-78F6A32D092D}"/>
              </a:ext>
            </a:extLst>
          </p:cNvPr>
          <p:cNvSpPr/>
          <p:nvPr/>
        </p:nvSpPr>
        <p:spPr>
          <a:xfrm>
            <a:off x="4049485" y="6098721"/>
            <a:ext cx="187779" cy="1877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53414F28-572F-41C2-8E56-A8DE4AFB179F}"/>
              </a:ext>
            </a:extLst>
          </p:cNvPr>
          <p:cNvSpPr/>
          <p:nvPr/>
        </p:nvSpPr>
        <p:spPr>
          <a:xfrm>
            <a:off x="4887164" y="4845503"/>
            <a:ext cx="187779" cy="1877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7FDF8ED0-BC1A-4034-BFBD-9BF95C11C234}"/>
              </a:ext>
            </a:extLst>
          </p:cNvPr>
          <p:cNvSpPr/>
          <p:nvPr/>
        </p:nvSpPr>
        <p:spPr>
          <a:xfrm>
            <a:off x="6560003" y="4349459"/>
            <a:ext cx="187779" cy="1877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018409C4-95D4-4C61-867E-CB678E3A5DBA}"/>
              </a:ext>
            </a:extLst>
          </p:cNvPr>
          <p:cNvSpPr/>
          <p:nvPr/>
        </p:nvSpPr>
        <p:spPr>
          <a:xfrm>
            <a:off x="5694586" y="5467965"/>
            <a:ext cx="187779" cy="1877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D27CFCD0-1ACD-4413-BEC7-353C36BBC650}"/>
              </a:ext>
            </a:extLst>
          </p:cNvPr>
          <p:cNvSpPr/>
          <p:nvPr/>
        </p:nvSpPr>
        <p:spPr>
          <a:xfrm>
            <a:off x="8066314" y="4622346"/>
            <a:ext cx="187779" cy="1877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00455E4E-1408-4C77-8F4D-D4AEE391F4ED}"/>
              </a:ext>
            </a:extLst>
          </p:cNvPr>
          <p:cNvCxnSpPr>
            <a:stCxn id="4" idx="6"/>
            <a:endCxn id="23" idx="2"/>
          </p:cNvCxnSpPr>
          <p:nvPr/>
        </p:nvCxnSpPr>
        <p:spPr>
          <a:xfrm>
            <a:off x="3404507" y="4739260"/>
            <a:ext cx="1482657" cy="200133"/>
          </a:xfrm>
          <a:prstGeom prst="line">
            <a:avLst/>
          </a:prstGeom>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64BFD980-2EDF-4C32-A1B7-3F1E580AFB87}"/>
              </a:ext>
            </a:extLst>
          </p:cNvPr>
          <p:cNvCxnSpPr>
            <a:stCxn id="23" idx="6"/>
            <a:endCxn id="21" idx="1"/>
          </p:cNvCxnSpPr>
          <p:nvPr/>
        </p:nvCxnSpPr>
        <p:spPr>
          <a:xfrm>
            <a:off x="5074943" y="4939393"/>
            <a:ext cx="1890837" cy="514340"/>
          </a:xfrm>
          <a:prstGeom prst="line">
            <a:avLst/>
          </a:prstGeom>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5AE155A5-340E-4F63-AEF3-BEEA6AE0C64A}"/>
              </a:ext>
            </a:extLst>
          </p:cNvPr>
          <p:cNvCxnSpPr>
            <a:stCxn id="23" idx="4"/>
            <a:endCxn id="22" idx="6"/>
          </p:cNvCxnSpPr>
          <p:nvPr/>
        </p:nvCxnSpPr>
        <p:spPr>
          <a:xfrm flipH="1">
            <a:off x="4237264" y="5033282"/>
            <a:ext cx="743790" cy="1159329"/>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BD14C60-54BB-42A7-842B-A06B36241273}"/>
              </a:ext>
            </a:extLst>
          </p:cNvPr>
          <p:cNvCxnSpPr>
            <a:stCxn id="25" idx="0"/>
            <a:endCxn id="24" idx="3"/>
          </p:cNvCxnSpPr>
          <p:nvPr/>
        </p:nvCxnSpPr>
        <p:spPr>
          <a:xfrm flipV="1">
            <a:off x="5788476" y="4509738"/>
            <a:ext cx="799027" cy="958227"/>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AFCE3C4-2AA7-42ED-B13C-DB9161FE43B0}"/>
              </a:ext>
            </a:extLst>
          </p:cNvPr>
          <p:cNvCxnSpPr>
            <a:stCxn id="24" idx="5"/>
            <a:endCxn id="26" idx="2"/>
          </p:cNvCxnSpPr>
          <p:nvPr/>
        </p:nvCxnSpPr>
        <p:spPr>
          <a:xfrm>
            <a:off x="6720282" y="4509738"/>
            <a:ext cx="1346032" cy="206498"/>
          </a:xfrm>
          <a:prstGeom prst="line">
            <a:avLst/>
          </a:prstGeom>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24162268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4E5F9-E6D7-4ECA-8358-99C935400D49}"/>
              </a:ext>
            </a:extLst>
          </p:cNvPr>
          <p:cNvSpPr>
            <a:spLocks noGrp="1"/>
          </p:cNvSpPr>
          <p:nvPr>
            <p:ph type="title"/>
          </p:nvPr>
        </p:nvSpPr>
        <p:spPr/>
        <p:txBody>
          <a:bodyPr/>
          <a:lstStyle/>
          <a:p>
            <a:r>
              <a:rPr lang="en-US" dirty="0"/>
              <a:t>Class work</a:t>
            </a:r>
          </a:p>
        </p:txBody>
      </p:sp>
      <p:sp>
        <p:nvSpPr>
          <p:cNvPr id="5" name="Slide Number Placeholder 4">
            <a:extLst>
              <a:ext uri="{FF2B5EF4-FFF2-40B4-BE49-F238E27FC236}">
                <a16:creationId xmlns:a16="http://schemas.microsoft.com/office/drawing/2014/main" id="{8CE26E6C-EFE9-4208-AF3F-23B2D3A49759}"/>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109/110</a:t>
            </a:r>
          </a:p>
        </p:txBody>
      </p:sp>
      <p:sp>
        <p:nvSpPr>
          <p:cNvPr id="28" name="Content Placeholder 6">
            <a:extLst>
              <a:ext uri="{FF2B5EF4-FFF2-40B4-BE49-F238E27FC236}">
                <a16:creationId xmlns:a16="http://schemas.microsoft.com/office/drawing/2014/main" id="{9AFDAB0C-0081-4D64-BDC6-05CA633602A1}"/>
              </a:ext>
            </a:extLst>
          </p:cNvPr>
          <p:cNvSpPr txBox="1">
            <a:spLocks/>
          </p:cNvSpPr>
          <p:nvPr/>
        </p:nvSpPr>
        <p:spPr>
          <a:xfrm>
            <a:off x="1658455" y="1970876"/>
            <a:ext cx="7730474" cy="4625866"/>
          </a:xfrm>
          <a:prstGeom prst="rect">
            <a:avLst/>
          </a:prstGeom>
          <a:solidFill>
            <a:schemeClr val="accent2">
              <a:lumMod val="20000"/>
              <a:lumOff val="80000"/>
            </a:schemeClr>
          </a:solidFill>
          <a:ln>
            <a:solidFill>
              <a:schemeClr val="tx1"/>
            </a:solidFill>
          </a:ln>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US" sz="1600" dirty="0">
                <a:solidFill>
                  <a:schemeClr val="tx1"/>
                </a:solidFill>
                <a:latin typeface="Consolas" panose="020B0609020204030204" pitchFamily="49" charset="0"/>
              </a:rPr>
              <a:t>COVER(G, n, C):</a:t>
            </a:r>
          </a:p>
          <a:p>
            <a:pPr marL="0" indent="0">
              <a:buNone/>
            </a:pPr>
            <a:r>
              <a:rPr lang="en-US" sz="1600" dirty="0">
                <a:solidFill>
                  <a:schemeClr val="tx1"/>
                </a:solidFill>
                <a:latin typeface="Consolas" panose="020B0609020204030204" pitchFamily="49" charset="0"/>
              </a:rPr>
              <a:t>    # G: adjacency list of the graph with n nodes labeled 1..n</a:t>
            </a:r>
          </a:p>
          <a:p>
            <a:pPr marL="0" indent="0">
              <a:buNone/>
            </a:pPr>
            <a:r>
              <a:rPr lang="en-US" sz="1600" dirty="0">
                <a:solidFill>
                  <a:schemeClr val="tx1"/>
                </a:solidFill>
                <a:latin typeface="Consolas" panose="020B0609020204030204" pitchFamily="49" charset="0"/>
              </a:rPr>
              <a:t>    # C: set of control centers</a:t>
            </a:r>
          </a:p>
          <a:p>
            <a:pPr marL="0" indent="0">
              <a:buNone/>
            </a:pPr>
            <a:r>
              <a:rPr lang="en-US" sz="1600" dirty="0">
                <a:solidFill>
                  <a:schemeClr val="tx1"/>
                </a:solidFill>
                <a:latin typeface="Consolas" panose="020B0609020204030204" pitchFamily="49" charset="0"/>
              </a:rPr>
              <a:t>    visited ← empty set</a:t>
            </a:r>
          </a:p>
          <a:p>
            <a:pPr marL="0" indent="0">
              <a:buNone/>
            </a:pPr>
            <a:r>
              <a:rPr lang="en-US" sz="1600" dirty="0">
                <a:solidFill>
                  <a:schemeClr val="tx1"/>
                </a:solidFill>
                <a:latin typeface="Consolas" panose="020B0609020204030204" pitchFamily="49" charset="0"/>
              </a:rPr>
              <a:t>    for each c in C:</a:t>
            </a:r>
          </a:p>
          <a:p>
            <a:pPr marL="0" indent="0">
              <a:buNone/>
            </a:pPr>
            <a:r>
              <a:rPr lang="en-US" sz="1600" dirty="0">
                <a:solidFill>
                  <a:schemeClr val="tx1"/>
                </a:solidFill>
                <a:latin typeface="Consolas" panose="020B0609020204030204" pitchFamily="49" charset="0"/>
              </a:rPr>
              <a:t>        if c not in visited:</a:t>
            </a:r>
          </a:p>
          <a:p>
            <a:pPr marL="0" indent="0">
              <a:buNone/>
            </a:pPr>
            <a:r>
              <a:rPr lang="en-US" sz="1600" dirty="0">
                <a:solidFill>
                  <a:schemeClr val="tx1"/>
                </a:solidFill>
                <a:latin typeface="Consolas" panose="020B0609020204030204" pitchFamily="49" charset="0"/>
              </a:rPr>
              <a:t>            DFS(</a:t>
            </a:r>
            <a:r>
              <a:rPr lang="en-US" sz="1600" dirty="0" err="1">
                <a:solidFill>
                  <a:schemeClr val="tx1"/>
                </a:solidFill>
                <a:latin typeface="Consolas" panose="020B0609020204030204" pitchFamily="49" charset="0"/>
              </a:rPr>
              <a:t>c,visited</a:t>
            </a:r>
            <a:r>
              <a:rPr lang="en-US" sz="1600" dirty="0">
                <a:solidFill>
                  <a:schemeClr val="tx1"/>
                </a:solidFill>
                <a:latin typeface="Consolas" panose="020B0609020204030204" pitchFamily="49" charset="0"/>
              </a:rPr>
              <a:t>)</a:t>
            </a:r>
          </a:p>
          <a:p>
            <a:pPr marL="0" indent="0">
              <a:buNone/>
            </a:pPr>
            <a:r>
              <a:rPr lang="en-US" sz="1600" dirty="0">
                <a:solidFill>
                  <a:schemeClr val="tx1"/>
                </a:solidFill>
                <a:latin typeface="Consolas" panose="020B0609020204030204" pitchFamily="49" charset="0"/>
              </a:rPr>
              <a:t>    if size(visited) = n:</a:t>
            </a:r>
          </a:p>
          <a:p>
            <a:pPr marL="0" indent="0">
              <a:buNone/>
            </a:pPr>
            <a:r>
              <a:rPr lang="en-US" sz="1600" dirty="0">
                <a:solidFill>
                  <a:schemeClr val="tx1"/>
                </a:solidFill>
                <a:latin typeface="Consolas" panose="020B0609020204030204" pitchFamily="49" charset="0"/>
              </a:rPr>
              <a:t>        return TRUE</a:t>
            </a:r>
          </a:p>
          <a:p>
            <a:pPr marL="0" indent="0">
              <a:buNone/>
            </a:pPr>
            <a:r>
              <a:rPr lang="en-US" sz="1600" dirty="0">
                <a:solidFill>
                  <a:schemeClr val="tx1"/>
                </a:solidFill>
                <a:latin typeface="Consolas" panose="020B0609020204030204" pitchFamily="49" charset="0"/>
              </a:rPr>
              <a:t>    else:</a:t>
            </a:r>
          </a:p>
          <a:p>
            <a:pPr marL="0" indent="0">
              <a:buNone/>
            </a:pPr>
            <a:r>
              <a:rPr lang="en-US" sz="1600" dirty="0">
                <a:solidFill>
                  <a:schemeClr val="tx1"/>
                </a:solidFill>
                <a:latin typeface="Consolas" panose="020B0609020204030204" pitchFamily="49" charset="0"/>
              </a:rPr>
              <a:t>        return FALSE</a:t>
            </a:r>
            <a:endParaRPr lang="en-US" dirty="0">
              <a:solidFill>
                <a:schemeClr val="tx1"/>
              </a:solidFill>
              <a:latin typeface="Consolas" panose="020B0609020204030204" pitchFamily="49" charset="0"/>
            </a:endParaRPr>
          </a:p>
        </p:txBody>
      </p:sp>
      <p:sp>
        <p:nvSpPr>
          <p:cNvPr id="12" name="TextBox 11">
            <a:extLst>
              <a:ext uri="{FF2B5EF4-FFF2-40B4-BE49-F238E27FC236}">
                <a16:creationId xmlns:a16="http://schemas.microsoft.com/office/drawing/2014/main" id="{CB7C25D8-E74E-45A5-8E8B-53F6D33D1F53}"/>
              </a:ext>
            </a:extLst>
          </p:cNvPr>
          <p:cNvSpPr txBox="1"/>
          <p:nvPr/>
        </p:nvSpPr>
        <p:spPr>
          <a:xfrm>
            <a:off x="5749743" y="4131128"/>
            <a:ext cx="3477234" cy="1477328"/>
          </a:xfrm>
          <a:prstGeom prst="rect">
            <a:avLst/>
          </a:prstGeom>
          <a:solidFill>
            <a:schemeClr val="accent5">
              <a:lumMod val="20000"/>
              <a:lumOff val="80000"/>
            </a:schemeClr>
          </a:solidFill>
          <a:ln>
            <a:solidFill>
              <a:schemeClr val="tx1"/>
            </a:solidFill>
          </a:ln>
        </p:spPr>
        <p:txBody>
          <a:bodyPr wrap="none" rtlCol="0">
            <a:spAutoFit/>
          </a:bodyPr>
          <a:lstStyle/>
          <a:p>
            <a:r>
              <a:rPr lang="en-US" dirty="0">
                <a:latin typeface="Consolas" panose="020B0609020204030204" pitchFamily="49" charset="0"/>
              </a:rPr>
              <a:t>DFS(</a:t>
            </a:r>
            <a:r>
              <a:rPr lang="en-US" dirty="0" err="1">
                <a:latin typeface="Consolas" panose="020B0609020204030204" pitchFamily="49" charset="0"/>
              </a:rPr>
              <a:t>u,visited</a:t>
            </a:r>
            <a:r>
              <a:rPr lang="en-US" dirty="0">
                <a:latin typeface="Consolas" panose="020B0609020204030204" pitchFamily="49" charset="0"/>
              </a:rPr>
              <a:t>):</a:t>
            </a:r>
          </a:p>
          <a:p>
            <a:r>
              <a:rPr lang="en-US" dirty="0">
                <a:latin typeface="Consolas" panose="020B0609020204030204" pitchFamily="49" charset="0"/>
              </a:rPr>
              <a:t>  </a:t>
            </a:r>
            <a:r>
              <a:rPr lang="en-US" dirty="0" err="1">
                <a:latin typeface="Consolas" panose="020B0609020204030204" pitchFamily="49" charset="0"/>
              </a:rPr>
              <a:t>visited.add</a:t>
            </a:r>
            <a:r>
              <a:rPr lang="en-US" dirty="0">
                <a:latin typeface="Consolas" panose="020B0609020204030204" pitchFamily="49" charset="0"/>
              </a:rPr>
              <a:t>(u)</a:t>
            </a:r>
          </a:p>
          <a:p>
            <a:r>
              <a:rPr lang="en-US" dirty="0">
                <a:latin typeface="Consolas" panose="020B0609020204030204" pitchFamily="49" charset="0"/>
              </a:rPr>
              <a:t>  for each v in G[u]:</a:t>
            </a:r>
          </a:p>
          <a:p>
            <a:r>
              <a:rPr lang="en-US" dirty="0">
                <a:latin typeface="Consolas" panose="020B0609020204030204" pitchFamily="49" charset="0"/>
              </a:rPr>
              <a:t>     if v not in visited:</a:t>
            </a:r>
          </a:p>
          <a:p>
            <a:r>
              <a:rPr lang="en-US" dirty="0">
                <a:latin typeface="Consolas" panose="020B0609020204030204" pitchFamily="49" charset="0"/>
              </a:rPr>
              <a:t>        DFS(</a:t>
            </a:r>
            <a:r>
              <a:rPr lang="en-US" dirty="0" err="1">
                <a:latin typeface="Consolas" panose="020B0609020204030204" pitchFamily="49" charset="0"/>
              </a:rPr>
              <a:t>v,visited</a:t>
            </a:r>
            <a:r>
              <a:rPr lang="en-US" dirty="0">
                <a:latin typeface="Consolas" panose="020B0609020204030204" pitchFamily="49" charset="0"/>
              </a:rPr>
              <a:t>)</a:t>
            </a:r>
          </a:p>
        </p:txBody>
      </p:sp>
    </p:spTree>
    <p:custDataLst>
      <p:tags r:id="rId1"/>
    </p:custDataLst>
    <p:extLst>
      <p:ext uri="{BB962C8B-B14F-4D97-AF65-F5344CB8AC3E}">
        <p14:creationId xmlns:p14="http://schemas.microsoft.com/office/powerpoint/2010/main" val="937272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effectLst>
            <a:glow rad="228600">
              <a:schemeClr val="accent1">
                <a:satMod val="175000"/>
                <a:alpha val="40000"/>
              </a:schemeClr>
            </a:glow>
          </a:effectLst>
        </p:spPr>
        <p:txBody>
          <a:bodyPr>
            <a:normAutofit/>
          </a:bodyPr>
          <a:lstStyle/>
          <a:p>
            <a:r>
              <a:rPr lang="en-US" dirty="0"/>
              <a:t>Any Question??</a:t>
            </a:r>
          </a:p>
        </p:txBody>
      </p:sp>
      <p:sp>
        <p:nvSpPr>
          <p:cNvPr id="3" name="Subtitle 2"/>
          <p:cNvSpPr>
            <a:spLocks noGrp="1"/>
          </p:cNvSpPr>
          <p:nvPr>
            <p:ph type="subTitle" idx="1"/>
          </p:nvPr>
        </p:nvSpPr>
        <p:spPr>
          <a:xfrm>
            <a:off x="1524000" y="5257800"/>
            <a:ext cx="9144000" cy="533400"/>
          </a:xfrm>
        </p:spPr>
        <p:txBody>
          <a:bodyPr>
            <a:noAutofit/>
          </a:bodyPr>
          <a:lstStyle/>
          <a:p>
            <a:pPr algn="ctr"/>
            <a:r>
              <a:rPr lang="en-US" sz="3600" dirty="0">
                <a:effectLst>
                  <a:outerShdw blurRad="38100" dist="38100" dir="2700000" algn="tl">
                    <a:srgbClr val="000000">
                      <a:alpha val="43137"/>
                    </a:srgbClr>
                  </a:outerShdw>
                </a:effectLst>
              </a:rPr>
              <a:t>Have a nice day!</a:t>
            </a:r>
          </a:p>
        </p:txBody>
      </p:sp>
      <p:sp>
        <p:nvSpPr>
          <p:cNvPr id="4" name="Slide Number Placeholder 3">
            <a:extLst>
              <a:ext uri="{FF2B5EF4-FFF2-40B4-BE49-F238E27FC236}">
                <a16:creationId xmlns:a16="http://schemas.microsoft.com/office/drawing/2014/main" id="{5FCC7D13-8E00-40C1-A3A0-B766B82EBB84}"/>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tint val="95000"/>
                  </a:prstClr>
                </a:solidFill>
                <a:effectLst/>
                <a:uLnTx/>
                <a:uFillTx/>
                <a:latin typeface="Corbel"/>
                <a:ea typeface="+mn-ea"/>
                <a:cs typeface="+mn-cs"/>
              </a:rPr>
              <a:t>110/110</a:t>
            </a:r>
          </a:p>
        </p:txBody>
      </p:sp>
    </p:spTree>
    <p:custDataLst>
      <p:tags r:id="rId1"/>
    </p:custDataLst>
    <p:extLst>
      <p:ext uri="{BB962C8B-B14F-4D97-AF65-F5344CB8AC3E}">
        <p14:creationId xmlns:p14="http://schemas.microsoft.com/office/powerpoint/2010/main" val="285157716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PTPRODUCTIVITY_SLIDE_NUMBERS_AUTOUPDATE" val="True"/>
  <p:tag name="PPTPRODUCTIVITY_SLIDE_NUMBERS_FORMAT" val="#/##"/>
  <p:tag name="PPTPRODUCTIVITY_SLIDE_NUMBERS_SKIP_HIDDEN" val="True"/>
  <p:tag name="PPTPRODUCTIVITY_SLIDE_NUMBERS_AUTOUPDATE_APPLY_ALL" val="True"/>
</p:tagLst>
</file>

<file path=ppt/tags/tag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2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2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2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2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2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2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2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2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2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2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3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3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3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3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3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3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3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3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3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3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4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4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4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4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4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4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4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4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4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4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5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5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5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5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5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5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5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5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5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5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6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6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6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6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6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6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6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6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6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6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7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7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7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7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7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7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7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7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7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7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8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8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8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8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8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8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8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8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8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8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9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9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9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9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9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9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9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9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9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9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0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0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0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0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0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0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0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0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0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0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1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1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1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1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1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1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1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1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1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1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2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2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2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2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2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2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2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2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2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2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3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3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3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3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3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3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3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3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3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3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4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4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4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4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4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4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4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4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4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4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5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5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5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5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5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5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5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5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5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5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6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6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6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6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6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6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6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6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6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6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7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7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12365</TotalTime>
  <Words>4174</Words>
  <Application>Microsoft Office PowerPoint</Application>
  <PresentationFormat>Widescreen</PresentationFormat>
  <Paragraphs>2914</Paragraphs>
  <Slides>85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85</vt:i4>
      </vt:variant>
    </vt:vector>
  </HeadingPairs>
  <TitlesOfParts>
    <vt:vector size="95" baseType="lpstr">
      <vt:lpstr>Arial Rounded MT Bold</vt:lpstr>
      <vt:lpstr>Calibri</vt:lpstr>
      <vt:lpstr>Cambria Math</vt:lpstr>
      <vt:lpstr>Consolas</vt:lpstr>
      <vt:lpstr>Corbel</vt:lpstr>
      <vt:lpstr>Gill Sans MT</vt:lpstr>
      <vt:lpstr>Times New Roman</vt:lpstr>
      <vt:lpstr>Wingdings</vt:lpstr>
      <vt:lpstr>Wingdings 2</vt:lpstr>
      <vt:lpstr>Dividend</vt:lpstr>
      <vt:lpstr>Graph Traversal Techniques</vt:lpstr>
      <vt:lpstr>What is a Graph?</vt:lpstr>
      <vt:lpstr>What is a Graph?</vt:lpstr>
      <vt:lpstr>What is a Graph?</vt:lpstr>
      <vt:lpstr>Degree in an undirected graph</vt:lpstr>
      <vt:lpstr>Degree in a directed graph</vt:lpstr>
      <vt:lpstr>Adjacency Matrix Representation</vt:lpstr>
      <vt:lpstr>Adjacency Matrix Representation</vt:lpstr>
      <vt:lpstr>Adjacency Matrix</vt:lpstr>
      <vt:lpstr>Adjacency Matrix</vt:lpstr>
      <vt:lpstr>Adjacency List Structure</vt:lpstr>
      <vt:lpstr>Graph: Traversal</vt:lpstr>
      <vt:lpstr>Traversing a Graph?</vt:lpstr>
      <vt:lpstr>Traversing a Graph?</vt:lpstr>
      <vt:lpstr>Traversing a Graph?</vt:lpstr>
      <vt:lpstr>Depth-First Search</vt:lpstr>
      <vt:lpstr>Depth-First Search</vt:lpstr>
      <vt:lpstr>Depth-First Search</vt:lpstr>
      <vt:lpstr>Depth-First Search</vt:lpstr>
      <vt:lpstr>Depth-First Search</vt:lpstr>
      <vt:lpstr>Depth-First Search</vt:lpstr>
      <vt:lpstr>Depth-First Search</vt:lpstr>
      <vt:lpstr>Depth-First Search</vt:lpstr>
      <vt:lpstr>Depth-First Search</vt:lpstr>
      <vt:lpstr>Depth-First Search</vt:lpstr>
      <vt:lpstr>Depth-First Search</vt:lpstr>
      <vt:lpstr>Depth-First Search</vt:lpstr>
      <vt:lpstr>Depth-First Search</vt:lpstr>
      <vt:lpstr>Depth-First Search</vt:lpstr>
      <vt:lpstr>Depth-First Search</vt:lpstr>
      <vt:lpstr>Depth-First Search</vt:lpstr>
      <vt:lpstr>Depth-First Search</vt:lpstr>
      <vt:lpstr>DFS: Algorithm and Time Complexity</vt:lpstr>
      <vt:lpstr>Breadth-First Search</vt:lpstr>
      <vt:lpstr>Breadth-First Search</vt:lpstr>
      <vt:lpstr>Breadth-First Search</vt:lpstr>
      <vt:lpstr>Breadth-First Search</vt:lpstr>
      <vt:lpstr>Breadth-First Search</vt:lpstr>
      <vt:lpstr>Breadth-First Search</vt:lpstr>
      <vt:lpstr>Breadth-First Search</vt:lpstr>
      <vt:lpstr>Breadth-First Search</vt:lpstr>
      <vt:lpstr>Breadth-First Search</vt:lpstr>
      <vt:lpstr>Breadth-First Search</vt:lpstr>
      <vt:lpstr>Breadth-First Search</vt:lpstr>
      <vt:lpstr>Breadth-First Search</vt:lpstr>
      <vt:lpstr>BFS: Algorithm and Time Complexity</vt:lpstr>
      <vt:lpstr>Binary Tree</vt:lpstr>
      <vt:lpstr>Traversing a Tree?</vt:lpstr>
      <vt:lpstr>Depth-First Search</vt:lpstr>
      <vt:lpstr>Depth-First Search</vt:lpstr>
      <vt:lpstr>Depth-First Search</vt:lpstr>
      <vt:lpstr>Depth-First Search</vt:lpstr>
      <vt:lpstr>Depth-First Search</vt:lpstr>
      <vt:lpstr>Depth-First Search</vt:lpstr>
      <vt:lpstr>Depth-First Search</vt:lpstr>
      <vt:lpstr>Depth-First Search</vt:lpstr>
      <vt:lpstr>Depth-First Search</vt:lpstr>
      <vt:lpstr>Depth-First Search</vt:lpstr>
      <vt:lpstr>Depth-First Search</vt:lpstr>
      <vt:lpstr>Depth-First Search</vt:lpstr>
      <vt:lpstr>Depth-First Search</vt:lpstr>
      <vt:lpstr>Depth-First Search</vt:lpstr>
      <vt:lpstr>Depth-First Search</vt:lpstr>
      <vt:lpstr>Depth-First Search</vt:lpstr>
      <vt:lpstr>Depth-First Search</vt:lpstr>
      <vt:lpstr>Depth-First Search</vt:lpstr>
      <vt:lpstr>Depth-First Search</vt:lpstr>
      <vt:lpstr>DFS: Algorithm and Time Complexity</vt:lpstr>
      <vt:lpstr>Breadth-First Search</vt:lpstr>
      <vt:lpstr>Breadth-First Search</vt:lpstr>
      <vt:lpstr>Breadth-First Search</vt:lpstr>
      <vt:lpstr>Breadth-First Search</vt:lpstr>
      <vt:lpstr>Breadth-First Search</vt:lpstr>
      <vt:lpstr>Breadth-First Search</vt:lpstr>
      <vt:lpstr>Breadth-First Search</vt:lpstr>
      <vt:lpstr>Breadth-First Search</vt:lpstr>
      <vt:lpstr>Breadth-First Search</vt:lpstr>
      <vt:lpstr>Breadth-First Search</vt:lpstr>
      <vt:lpstr>Breadth-First Search</vt:lpstr>
      <vt:lpstr>Breadth-First Search</vt:lpstr>
      <vt:lpstr>BFS: Algorithm and Time Complexity</vt:lpstr>
      <vt:lpstr>Class work</vt:lpstr>
      <vt:lpstr>Class work</vt:lpstr>
      <vt:lpstr>Class work</vt:lpstr>
      <vt:lpstr>Any Question??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Computational Models</dc:title>
  <dc:creator>Windows User</dc:creator>
  <cp:lastModifiedBy>Eskandari, Marzieh</cp:lastModifiedBy>
  <cp:revision>418</cp:revision>
  <dcterms:created xsi:type="dcterms:W3CDTF">2020-09-14T20:12:04Z</dcterms:created>
  <dcterms:modified xsi:type="dcterms:W3CDTF">2026-04-02T02:13:13Z</dcterms:modified>
</cp:coreProperties>
</file>