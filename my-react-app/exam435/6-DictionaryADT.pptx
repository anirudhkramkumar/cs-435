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68"/>
  </p:notesMasterIdLst>
  <p:sldIdLst>
    <p:sldId id="257" r:id="rId2"/>
    <p:sldId id="261" r:id="rId3"/>
    <p:sldId id="462" r:id="rId4"/>
    <p:sldId id="463" r:id="rId5"/>
    <p:sldId id="464" r:id="rId6"/>
    <p:sldId id="465" r:id="rId7"/>
    <p:sldId id="466" r:id="rId8"/>
    <p:sldId id="478" r:id="rId9"/>
    <p:sldId id="467" r:id="rId10"/>
    <p:sldId id="468" r:id="rId11"/>
    <p:sldId id="529" r:id="rId12"/>
    <p:sldId id="509" r:id="rId13"/>
    <p:sldId id="469" r:id="rId14"/>
    <p:sldId id="479" r:id="rId15"/>
    <p:sldId id="484" r:id="rId16"/>
    <p:sldId id="483" r:id="rId17"/>
    <p:sldId id="486" r:id="rId18"/>
    <p:sldId id="487" r:id="rId19"/>
    <p:sldId id="485" r:id="rId20"/>
    <p:sldId id="488" r:id="rId21"/>
    <p:sldId id="470" r:id="rId22"/>
    <p:sldId id="471" r:id="rId23"/>
    <p:sldId id="472" r:id="rId24"/>
    <p:sldId id="477" r:id="rId25"/>
    <p:sldId id="489" r:id="rId26"/>
    <p:sldId id="473" r:id="rId27"/>
    <p:sldId id="480" r:id="rId28"/>
    <p:sldId id="474" r:id="rId29"/>
    <p:sldId id="475" r:id="rId30"/>
    <p:sldId id="481" r:id="rId31"/>
    <p:sldId id="476" r:id="rId32"/>
    <p:sldId id="482" r:id="rId33"/>
    <p:sldId id="490" r:id="rId34"/>
    <p:sldId id="491" r:id="rId35"/>
    <p:sldId id="492" r:id="rId36"/>
    <p:sldId id="516" r:id="rId37"/>
    <p:sldId id="517" r:id="rId38"/>
    <p:sldId id="518" r:id="rId39"/>
    <p:sldId id="493" r:id="rId40"/>
    <p:sldId id="494" r:id="rId41"/>
    <p:sldId id="496" r:id="rId42"/>
    <p:sldId id="497" r:id="rId43"/>
    <p:sldId id="498" r:id="rId44"/>
    <p:sldId id="510" r:id="rId45"/>
    <p:sldId id="501" r:id="rId46"/>
    <p:sldId id="500" r:id="rId47"/>
    <p:sldId id="503" r:id="rId48"/>
    <p:sldId id="504" r:id="rId49"/>
    <p:sldId id="505" r:id="rId50"/>
    <p:sldId id="506" r:id="rId51"/>
    <p:sldId id="507" r:id="rId52"/>
    <p:sldId id="508" r:id="rId53"/>
    <p:sldId id="511" r:id="rId54"/>
    <p:sldId id="512" r:id="rId55"/>
    <p:sldId id="514" r:id="rId56"/>
    <p:sldId id="519" r:id="rId57"/>
    <p:sldId id="522" r:id="rId58"/>
    <p:sldId id="520" r:id="rId59"/>
    <p:sldId id="525" r:id="rId60"/>
    <p:sldId id="521" r:id="rId61"/>
    <p:sldId id="524" r:id="rId62"/>
    <p:sldId id="530" r:id="rId63"/>
    <p:sldId id="531" r:id="rId64"/>
    <p:sldId id="532" r:id="rId65"/>
    <p:sldId id="533" r:id="rId66"/>
    <p:sldId id="366" r:id="rId67"/>
  </p:sldIdLst>
  <p:sldSz cx="12192000" cy="6858000"/>
  <p:notesSz cx="6858000" cy="9144000"/>
  <p:custDataLst>
    <p:tags r:id="rId6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BCE292"/>
    <a:srgbClr val="E373A3"/>
    <a:srgbClr val="F5C4CB"/>
    <a:srgbClr val="F0DCA7"/>
    <a:srgbClr val="B07852"/>
    <a:srgbClr val="F8B2F3"/>
    <a:srgbClr val="AD0FA2"/>
    <a:srgbClr val="42B82E"/>
    <a:srgbClr val="D012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94" autoAdjust="0"/>
    <p:restoredTop sz="94660"/>
  </p:normalViewPr>
  <p:slideViewPr>
    <p:cSldViewPr snapToGrid="0">
      <p:cViewPr varScale="1">
        <p:scale>
          <a:sx n="66" d="100"/>
          <a:sy n="66" d="100"/>
        </p:scale>
        <p:origin x="7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703BD-F754-4911-8474-9BEA183D8AD2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AFCE0-8595-4565-BBCA-3D2A04B3B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35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00B34-6535-4988-B6D9-9B8318B82C9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4/19/2026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4104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B340CB-823C-4AAA-9AC6-CD56B1FBFDFE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4/19/2026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7844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5166F1-B48E-43A9-A9E3-CD82DEA23DC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4/19/2026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738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8114C4-A967-4328-B288-32813BDEC98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4/19/2026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1530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CEE9-D4CC-4B54-A250-94CA54E4D75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4/19/2026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6423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6CE010-9ABA-46D0-8967-C7800BD238C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4/19/2026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290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095DC9-AC5F-4800-ADA5-AFEDFB922A0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4/19/2026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9406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CF8562-19AF-407A-858C-BB195C287FB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4/19/2026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2828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0624FA-0042-4F6B-9E6E-EAB3BB0EA63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4/19/2026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shade val="50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4084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E6A12D-6F89-4058-8196-0B349EBEDB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4/19/2026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4300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5CA9AA-4C73-4BBC-A4C2-4A707850A08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4/19/2026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9157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04FD96-06E1-49CA-9346-D0ABCD911DD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4/19/2026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93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image" Target="../media/image2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4" Type="http://schemas.openxmlformats.org/officeDocument/2006/relationships/image" Target="../media/image17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8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4" Type="http://schemas.openxmlformats.org/officeDocument/2006/relationships/image" Target="../media/image2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image" Target="../media/image26.png"/><Relationship Id="rId4" Type="http://schemas.openxmlformats.org/officeDocument/2006/relationships/image" Target="../media/image22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60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250.png"/><Relationship Id="rId5" Type="http://schemas.openxmlformats.org/officeDocument/2006/relationships/image" Target="../media/image240.png"/><Relationship Id="rId4" Type="http://schemas.openxmlformats.org/officeDocument/2006/relationships/image" Target="../media/image2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image" Target="../media/image8.png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5" Type="http://schemas.openxmlformats.org/officeDocument/2006/relationships/image" Target="../media/image30.png"/><Relationship Id="rId4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5" Type="http://schemas.openxmlformats.org/officeDocument/2006/relationships/image" Target="../media/image30.png"/><Relationship Id="rId4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5" Type="http://schemas.openxmlformats.org/officeDocument/2006/relationships/image" Target="../media/image30.png"/><Relationship Id="rId4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5" Type="http://schemas.openxmlformats.org/officeDocument/2006/relationships/image" Target="../media/image8.png"/><Relationship Id="rId4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4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4" Type="http://schemas.openxmlformats.org/officeDocument/2006/relationships/image" Target="../media/image30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5" Type="http://schemas.openxmlformats.org/officeDocument/2006/relationships/image" Target="../media/image300.png"/><Relationship Id="rId4" Type="http://schemas.openxmlformats.org/officeDocument/2006/relationships/image" Target="../media/image29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4" Type="http://schemas.openxmlformats.org/officeDocument/2006/relationships/image" Target="../media/image31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4" Type="http://schemas.openxmlformats.org/officeDocument/2006/relationships/image" Target="../media/image32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4" Type="http://schemas.openxmlformats.org/officeDocument/2006/relationships/image" Target="../media/image34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5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5" Type="http://schemas.openxmlformats.org/officeDocument/2006/relationships/image" Target="../media/image36.png"/><Relationship Id="rId4" Type="http://schemas.openxmlformats.org/officeDocument/2006/relationships/image" Target="../media/image34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5" Type="http://schemas.openxmlformats.org/officeDocument/2006/relationships/image" Target="../media/image37.png"/><Relationship Id="rId4" Type="http://schemas.openxmlformats.org/officeDocument/2006/relationships/image" Target="../media/image35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5" Type="http://schemas.openxmlformats.org/officeDocument/2006/relationships/image" Target="../media/image38.png"/><Relationship Id="rId4" Type="http://schemas.openxmlformats.org/officeDocument/2006/relationships/image" Target="../media/image29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5" Type="http://schemas.openxmlformats.org/officeDocument/2006/relationships/image" Target="../media/image39.png"/><Relationship Id="rId4" Type="http://schemas.openxmlformats.org/officeDocument/2006/relationships/image" Target="../media/image37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5" Type="http://schemas.openxmlformats.org/officeDocument/2006/relationships/image" Target="../media/image39.png"/><Relationship Id="rId4" Type="http://schemas.openxmlformats.org/officeDocument/2006/relationships/image" Target="../media/image37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5" Type="http://schemas.openxmlformats.org/officeDocument/2006/relationships/image" Target="../media/image39.png"/><Relationship Id="rId4" Type="http://schemas.openxmlformats.org/officeDocument/2006/relationships/image" Target="../media/image37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5" Type="http://schemas.openxmlformats.org/officeDocument/2006/relationships/image" Target="../media/image39.png"/><Relationship Id="rId4" Type="http://schemas.openxmlformats.org/officeDocument/2006/relationships/image" Target="../media/image37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5" Type="http://schemas.openxmlformats.org/officeDocument/2006/relationships/image" Target="../media/image39.png"/><Relationship Id="rId4" Type="http://schemas.openxmlformats.org/officeDocument/2006/relationships/image" Target="../media/image37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5" Type="http://schemas.openxmlformats.org/officeDocument/2006/relationships/image" Target="../media/image39.png"/><Relationship Id="rId4" Type="http://schemas.openxmlformats.org/officeDocument/2006/relationships/image" Target="../media/image37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5" Type="http://schemas.openxmlformats.org/officeDocument/2006/relationships/image" Target="../media/image39.png"/><Relationship Id="rId4" Type="http://schemas.openxmlformats.org/officeDocument/2006/relationships/image" Target="../media/image37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5" Type="http://schemas.openxmlformats.org/officeDocument/2006/relationships/image" Target="../media/image39.png"/><Relationship Id="rId4" Type="http://schemas.openxmlformats.org/officeDocument/2006/relationships/image" Target="../media/image37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5" Type="http://schemas.openxmlformats.org/officeDocument/2006/relationships/image" Target="../media/image39.png"/><Relationship Id="rId4" Type="http://schemas.openxmlformats.org/officeDocument/2006/relationships/image" Target="../media/image37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5" Type="http://schemas.openxmlformats.org/officeDocument/2006/relationships/image" Target="../media/image39.png"/><Relationship Id="rId4" Type="http://schemas.openxmlformats.org/officeDocument/2006/relationships/image" Target="../media/image37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5" Type="http://schemas.openxmlformats.org/officeDocument/2006/relationships/image" Target="../media/image39.png"/><Relationship Id="rId4" Type="http://schemas.openxmlformats.org/officeDocument/2006/relationships/image" Target="../media/image37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altLang="en-US" dirty="0"/>
              <a:t>Dictionary Abstract Data Structure</a:t>
            </a:r>
            <a:br>
              <a:rPr lang="en-US" altLang="en-US" dirty="0"/>
            </a:br>
            <a:r>
              <a:rPr lang="en-US" altLang="en-US"/>
              <a:t>Hash functions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1800" y="4572000"/>
            <a:ext cx="6400800" cy="1752600"/>
          </a:xfrm>
        </p:spPr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Marzieh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Eskandari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NJIT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16D31-EE31-4FF5-8650-4AF66F9EB76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1/66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8540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022" y="842111"/>
            <a:ext cx="6449786" cy="5114026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400" dirty="0"/>
              <a:t>We assign </a:t>
            </a:r>
            <a:r>
              <a:rPr lang="en-US" sz="2400" dirty="0">
                <a:solidFill>
                  <a:srgbClr val="00B050"/>
                </a:solidFill>
              </a:rPr>
              <a:t>keys to elements </a:t>
            </a:r>
            <a:r>
              <a:rPr lang="en-US" sz="2400" dirty="0"/>
              <a:t>and then use those keys later to look up or remove elements: (</a:t>
            </a:r>
            <a:r>
              <a:rPr lang="en-US" sz="2400" dirty="0" err="1"/>
              <a:t>k,e</a:t>
            </a:r>
            <a:r>
              <a:rPr lang="en-US" sz="2400" dirty="0"/>
              <a:t>)</a:t>
            </a:r>
          </a:p>
          <a:p>
            <a:r>
              <a:rPr lang="en-US" sz="2400" dirty="0"/>
              <a:t>This functionality defines a data structure known as a </a:t>
            </a:r>
            <a:r>
              <a:rPr lang="en-US" sz="2400" dirty="0">
                <a:solidFill>
                  <a:srgbClr val="FF0000"/>
                </a:solidFill>
              </a:rPr>
              <a:t>dictionary </a:t>
            </a:r>
            <a:r>
              <a:rPr lang="en-US" sz="2400" dirty="0"/>
              <a:t>or</a:t>
            </a:r>
            <a:r>
              <a:rPr lang="en-US" sz="2400" dirty="0">
                <a:solidFill>
                  <a:srgbClr val="FF0000"/>
                </a:solidFill>
              </a:rPr>
              <a:t> map</a:t>
            </a:r>
            <a:r>
              <a:rPr lang="en-US" sz="2400" dirty="0"/>
              <a:t>. </a:t>
            </a:r>
          </a:p>
          <a:p>
            <a:r>
              <a:rPr lang="en-US" sz="2400" dirty="0"/>
              <a:t>This structure supports methods for the </a:t>
            </a:r>
            <a:r>
              <a:rPr lang="en-US" sz="2400" dirty="0">
                <a:solidFill>
                  <a:srgbClr val="00B0F0"/>
                </a:solidFill>
              </a:rPr>
              <a:t>insertion, removal</a:t>
            </a:r>
            <a:r>
              <a:rPr lang="en-US" sz="2400" dirty="0"/>
              <a:t>, and </a:t>
            </a:r>
            <a:r>
              <a:rPr lang="en-US" sz="2400" dirty="0">
                <a:solidFill>
                  <a:srgbClr val="00B0F0"/>
                </a:solidFill>
              </a:rPr>
              <a:t>searching</a:t>
            </a:r>
            <a:r>
              <a:rPr lang="en-US" sz="2400" dirty="0"/>
              <a:t> of values in terms of keys associated with those values.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9CC12-6AC2-4BE7-BD7A-DC57A247C97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2/66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681F5A-B728-414C-952A-82F7E08AC52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20000" contrast="20000"/>
          </a:blip>
          <a:stretch>
            <a:fillRect/>
          </a:stretch>
        </p:blipFill>
        <p:spPr>
          <a:xfrm>
            <a:off x="7384034" y="2345971"/>
            <a:ext cx="4579366" cy="282484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B4000F-9A0C-4996-AE4F-E850C7A9F04D}"/>
              </a:ext>
            </a:extLst>
          </p:cNvPr>
          <p:cNvSpPr txBox="1"/>
          <p:nvPr/>
        </p:nvSpPr>
        <p:spPr>
          <a:xfrm>
            <a:off x="7724146" y="5529532"/>
            <a:ext cx="4335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Keys are like labels assigned to file folders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B45F1-8BD0-4DD0-9C97-CF61A4BD3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AC661-75DC-464D-A210-6B0B5EF29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2767061"/>
          </a:xfrm>
        </p:spPr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dirty="0">
                <a:solidFill>
                  <a:srgbClr val="FF0000"/>
                </a:solidFill>
              </a:rPr>
              <a:t>map</a:t>
            </a:r>
            <a:r>
              <a:rPr lang="en-US" sz="2400" dirty="0"/>
              <a:t> stores a collection of </a:t>
            </a:r>
            <a:r>
              <a:rPr lang="en-US" sz="2400" dirty="0">
                <a:solidFill>
                  <a:srgbClr val="FF0000"/>
                </a:solidFill>
              </a:rPr>
              <a:t>key-value pairs</a:t>
            </a:r>
            <a:r>
              <a:rPr lang="en-US" sz="2400" dirty="0"/>
              <a:t>, (k, v), which we call </a:t>
            </a:r>
            <a:r>
              <a:rPr lang="en-US" sz="2400" dirty="0">
                <a:solidFill>
                  <a:srgbClr val="00B050"/>
                </a:solidFill>
              </a:rPr>
              <a:t>items</a:t>
            </a:r>
            <a:r>
              <a:rPr lang="en-US" sz="2400" dirty="0"/>
              <a:t>, where </a:t>
            </a:r>
            <a:r>
              <a:rPr lang="en-US" sz="2400" dirty="0">
                <a:solidFill>
                  <a:srgbClr val="00B0F0"/>
                </a:solidFill>
              </a:rPr>
              <a:t>k is a key </a:t>
            </a:r>
            <a:r>
              <a:rPr lang="en-US" sz="2400" dirty="0"/>
              <a:t>and </a:t>
            </a:r>
            <a:r>
              <a:rPr lang="en-US" sz="2400" dirty="0">
                <a:solidFill>
                  <a:srgbClr val="7030A0"/>
                </a:solidFill>
              </a:rPr>
              <a:t>v is a value </a:t>
            </a:r>
            <a:r>
              <a:rPr lang="en-US" sz="2400" dirty="0"/>
              <a:t>that is associated with that key. </a:t>
            </a:r>
          </a:p>
          <a:p>
            <a:r>
              <a:rPr lang="en-US" sz="2400" dirty="0"/>
              <a:t>For example, in a map storing student records (such as the student’s name, address, and course grades), the key might be the student’s ID number. </a:t>
            </a:r>
          </a:p>
          <a:p>
            <a:r>
              <a:rPr lang="en-US" sz="2400" dirty="0"/>
              <a:t>We assume here that keys are </a:t>
            </a:r>
            <a:r>
              <a:rPr lang="en-US" sz="2400" b="1" dirty="0">
                <a:solidFill>
                  <a:srgbClr val="00B050"/>
                </a:solidFill>
              </a:rPr>
              <a:t>unique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/>
              <a:t>then the key associated with an object can be viewed as an “</a:t>
            </a:r>
            <a:r>
              <a:rPr lang="en-US" sz="2400" dirty="0">
                <a:solidFill>
                  <a:srgbClr val="7030A0"/>
                </a:solidFill>
              </a:rPr>
              <a:t>address</a:t>
            </a:r>
            <a:r>
              <a:rPr lang="en-US" sz="2400" dirty="0"/>
              <a:t>” for that object in memory.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49436-DB2D-4446-97DB-B72315FFF2D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3/66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2421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B45F1-8BD0-4DD0-9C97-CF61A4BD3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Multimap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AC661-75DC-464D-A210-6B0B5EF29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656718"/>
          </a:xfrm>
        </p:spPr>
        <p:txBody>
          <a:bodyPr>
            <a:normAutofit/>
          </a:bodyPr>
          <a:lstStyle/>
          <a:p>
            <a:r>
              <a:rPr lang="en-US" sz="2000" dirty="0"/>
              <a:t>A map that allows for </a:t>
            </a:r>
            <a:r>
              <a:rPr lang="en-US" sz="2000" dirty="0">
                <a:solidFill>
                  <a:srgbClr val="7030A0"/>
                </a:solidFill>
              </a:rPr>
              <a:t>multiple values for the same key </a:t>
            </a:r>
            <a:r>
              <a:rPr lang="en-US" sz="2000" dirty="0"/>
              <a:t>is called a </a:t>
            </a:r>
            <a:r>
              <a:rPr lang="en-US" sz="2000" i="1" dirty="0">
                <a:solidFill>
                  <a:srgbClr val="FF0000"/>
                </a:solidFill>
              </a:rPr>
              <a:t>multimap</a:t>
            </a:r>
            <a:r>
              <a:rPr lang="en-US" sz="2000" i="1" dirty="0"/>
              <a:t>.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CAA92-32ED-4204-9692-BB1F7516A31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4/66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6630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4202B-C602-4F2F-8871-FB162C2D0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54A05-E1E5-49EC-A79A-B74295C71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2554790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As </a:t>
            </a:r>
            <a:r>
              <a:rPr lang="en-US" sz="2000" i="1" dirty="0"/>
              <a:t>map </a:t>
            </a:r>
            <a:r>
              <a:rPr lang="en-US" sz="2000" dirty="0"/>
              <a:t>data structure, </a:t>
            </a:r>
            <a:r>
              <a:rPr lang="en-US" sz="2000" i="1" dirty="0"/>
              <a:t>M</a:t>
            </a:r>
            <a:r>
              <a:rPr lang="en-US" sz="2000" dirty="0"/>
              <a:t>, supports the following fundamental methods:</a:t>
            </a:r>
          </a:p>
          <a:p>
            <a:pPr marL="633222" indent="-514350">
              <a:buFont typeface="+mj-lt"/>
              <a:buAutoNum type="arabicPeriod"/>
            </a:pPr>
            <a:r>
              <a:rPr lang="en-US" sz="2000" b="1" dirty="0"/>
              <a:t>get(</a:t>
            </a:r>
            <a:r>
              <a:rPr lang="en-US" sz="2000" b="1" i="1" dirty="0"/>
              <a:t>k</a:t>
            </a:r>
            <a:r>
              <a:rPr lang="en-US" sz="2000" b="1" dirty="0"/>
              <a:t>): </a:t>
            </a:r>
            <a:r>
              <a:rPr lang="en-US" sz="2000" dirty="0"/>
              <a:t>If </a:t>
            </a:r>
            <a:r>
              <a:rPr lang="en-US" sz="2000" i="1" dirty="0"/>
              <a:t>M </a:t>
            </a:r>
            <a:r>
              <a:rPr lang="en-US" sz="2000" dirty="0"/>
              <a:t>contains an item with key equal to </a:t>
            </a:r>
            <a:r>
              <a:rPr lang="en-US" sz="2000" i="1" dirty="0"/>
              <a:t>k</a:t>
            </a:r>
            <a:r>
              <a:rPr lang="en-US" sz="2000" dirty="0"/>
              <a:t>, then </a:t>
            </a:r>
            <a:r>
              <a:rPr lang="en-US" sz="2000" dirty="0">
                <a:solidFill>
                  <a:srgbClr val="FF0000"/>
                </a:solidFill>
              </a:rPr>
              <a:t>return the value </a:t>
            </a:r>
            <a:r>
              <a:rPr lang="en-US" sz="2000" dirty="0"/>
              <a:t>of such an item; else return a special element NULL.</a:t>
            </a:r>
          </a:p>
          <a:p>
            <a:pPr marL="633222" indent="-514350">
              <a:buFont typeface="+mj-lt"/>
              <a:buAutoNum type="arabicPeriod"/>
            </a:pPr>
            <a:r>
              <a:rPr lang="en-US" sz="2000" b="1" dirty="0"/>
              <a:t>put(</a:t>
            </a:r>
            <a:r>
              <a:rPr lang="en-US" sz="2000" b="1" i="1" dirty="0"/>
              <a:t>k, v</a:t>
            </a:r>
            <a:r>
              <a:rPr lang="en-US" sz="2000" b="1" dirty="0"/>
              <a:t>): </a:t>
            </a:r>
            <a:r>
              <a:rPr lang="en-US" sz="2000" dirty="0">
                <a:solidFill>
                  <a:srgbClr val="00B0F0"/>
                </a:solidFill>
              </a:rPr>
              <a:t>Insert an item </a:t>
            </a:r>
            <a:r>
              <a:rPr lang="en-US" sz="2000" dirty="0"/>
              <a:t>with key </a:t>
            </a:r>
            <a:r>
              <a:rPr lang="en-US" sz="2000" i="1" dirty="0"/>
              <a:t>k </a:t>
            </a:r>
            <a:r>
              <a:rPr lang="en-US" sz="2000" dirty="0"/>
              <a:t>and value </a:t>
            </a:r>
            <a:r>
              <a:rPr lang="en-US" sz="2000" i="1" dirty="0"/>
              <a:t>v</a:t>
            </a:r>
            <a:r>
              <a:rPr lang="en-US" sz="2000" dirty="0"/>
              <a:t>; if there is already an item with key </a:t>
            </a:r>
            <a:r>
              <a:rPr lang="en-US" sz="2000" i="1" dirty="0"/>
              <a:t>k</a:t>
            </a:r>
            <a:r>
              <a:rPr lang="en-US" sz="2000" dirty="0"/>
              <a:t>, then replace its value with </a:t>
            </a:r>
            <a:r>
              <a:rPr lang="en-US" sz="2000" i="1" dirty="0"/>
              <a:t>v</a:t>
            </a:r>
            <a:r>
              <a:rPr lang="en-US" sz="2000" dirty="0"/>
              <a:t>.</a:t>
            </a:r>
          </a:p>
          <a:p>
            <a:pPr marL="633222" indent="-514350">
              <a:buFont typeface="+mj-lt"/>
              <a:buAutoNum type="arabicPeriod"/>
            </a:pPr>
            <a:r>
              <a:rPr lang="en-US" sz="2000" b="1" dirty="0"/>
              <a:t>remove(</a:t>
            </a:r>
            <a:r>
              <a:rPr lang="en-US" sz="2000" b="1" i="1" dirty="0"/>
              <a:t>k</a:t>
            </a:r>
            <a:r>
              <a:rPr lang="en-US" sz="2000" b="1" dirty="0"/>
              <a:t>): </a:t>
            </a:r>
            <a:r>
              <a:rPr lang="en-US" sz="2000" dirty="0">
                <a:solidFill>
                  <a:srgbClr val="00B050"/>
                </a:solidFill>
              </a:rPr>
              <a:t>Remove</a:t>
            </a:r>
            <a:r>
              <a:rPr lang="en-US" sz="2000" dirty="0"/>
              <a:t> from </a:t>
            </a:r>
            <a:r>
              <a:rPr lang="en-US" sz="2000" i="1" dirty="0"/>
              <a:t>M </a:t>
            </a:r>
            <a:r>
              <a:rPr lang="en-US" sz="2000" dirty="0"/>
              <a:t>an </a:t>
            </a:r>
            <a:r>
              <a:rPr lang="en-US" sz="2000" dirty="0">
                <a:solidFill>
                  <a:srgbClr val="00B050"/>
                </a:solidFill>
              </a:rPr>
              <a:t>item with key </a:t>
            </a:r>
            <a:r>
              <a:rPr lang="en-US" sz="2000" dirty="0"/>
              <a:t>equal to </a:t>
            </a:r>
            <a:r>
              <a:rPr lang="en-US" sz="2000" i="1" dirty="0"/>
              <a:t>k</a:t>
            </a:r>
            <a:r>
              <a:rPr lang="en-US" sz="2000" dirty="0"/>
              <a:t>, and return this item. If </a:t>
            </a:r>
            <a:r>
              <a:rPr lang="en-US" sz="2000" i="1" dirty="0"/>
              <a:t>M </a:t>
            </a:r>
            <a:r>
              <a:rPr lang="en-US" sz="2000" dirty="0"/>
              <a:t>has no such item, then return the special element NULL.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1C681-1A85-4FDE-8573-64468EC0DB2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5/66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8469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7FDC9-8257-4D5B-A935-F402F851F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36738"/>
            <a:ext cx="10972800" cy="1252728"/>
          </a:xfrm>
        </p:spPr>
        <p:txBody>
          <a:bodyPr/>
          <a:lstStyle/>
          <a:p>
            <a:r>
              <a:rPr lang="en-US" dirty="0"/>
              <a:t>Implementing a map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57B954-9529-4422-B281-E53CF0BF70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7"/>
                <a:ext cx="10367115" cy="1599568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In some cases, the universe of </a:t>
                </a:r>
                <a:r>
                  <a:rPr lang="en-US" sz="2000" dirty="0">
                    <a:solidFill>
                      <a:srgbClr val="FF0000"/>
                    </a:solidFill>
                  </a:rPr>
                  <a:t>keys</a:t>
                </a:r>
                <a:r>
                  <a:rPr lang="en-US" sz="2000" dirty="0"/>
                  <a:t> that will be used for a map is the set of integers in the </a:t>
                </a:r>
                <a:r>
                  <a:rPr lang="en-US" sz="2000" dirty="0">
                    <a:solidFill>
                      <a:srgbClr val="FF0000"/>
                    </a:solidFill>
                  </a:rPr>
                  <a:t>range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− 1],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/>
                  <a:t>for a reasonably small value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r>
                  <a:rPr lang="en-US" sz="2000" dirty="0"/>
                  <a:t>For implementing a map: we can use an </a:t>
                </a:r>
                <a:r>
                  <a:rPr lang="en-US" sz="2000" dirty="0">
                    <a:solidFill>
                      <a:srgbClr val="00B050"/>
                    </a:solidFill>
                  </a:rPr>
                  <a:t>array</a:t>
                </a:r>
                <a:r>
                  <a:rPr lang="en-US" sz="2000" dirty="0"/>
                  <a:t>,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, of size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/>
                  <a:t>.</a:t>
                </a:r>
                <a:endParaRPr lang="en-US" sz="2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57B954-9529-4422-B281-E53CF0BF70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7"/>
                <a:ext cx="10367115" cy="1599568"/>
              </a:xfrm>
              <a:blipFill>
                <a:blip r:embed="rId4"/>
                <a:stretch>
                  <a:fillRect l="-294" r="-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7A3EC-BFE8-4485-BAD8-45B5B9CF08D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6/66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171974-C85E-404B-B6AA-574F1F2403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758174"/>
              </p:ext>
            </p:extLst>
          </p:nvPr>
        </p:nvGraphicFramePr>
        <p:xfrm>
          <a:off x="1799174" y="4360780"/>
          <a:ext cx="7931150" cy="1014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3115">
                  <a:extLst>
                    <a:ext uri="{9D8B030D-6E8A-4147-A177-3AD203B41FA5}">
                      <a16:colId xmlns:a16="http://schemas.microsoft.com/office/drawing/2014/main" val="3373373627"/>
                    </a:ext>
                  </a:extLst>
                </a:gridCol>
                <a:gridCol w="793115">
                  <a:extLst>
                    <a:ext uri="{9D8B030D-6E8A-4147-A177-3AD203B41FA5}">
                      <a16:colId xmlns:a16="http://schemas.microsoft.com/office/drawing/2014/main" val="2351002617"/>
                    </a:ext>
                  </a:extLst>
                </a:gridCol>
                <a:gridCol w="793115">
                  <a:extLst>
                    <a:ext uri="{9D8B030D-6E8A-4147-A177-3AD203B41FA5}">
                      <a16:colId xmlns:a16="http://schemas.microsoft.com/office/drawing/2014/main" val="1608893047"/>
                    </a:ext>
                  </a:extLst>
                </a:gridCol>
                <a:gridCol w="793115">
                  <a:extLst>
                    <a:ext uri="{9D8B030D-6E8A-4147-A177-3AD203B41FA5}">
                      <a16:colId xmlns:a16="http://schemas.microsoft.com/office/drawing/2014/main" val="1805906147"/>
                    </a:ext>
                  </a:extLst>
                </a:gridCol>
                <a:gridCol w="793115">
                  <a:extLst>
                    <a:ext uri="{9D8B030D-6E8A-4147-A177-3AD203B41FA5}">
                      <a16:colId xmlns:a16="http://schemas.microsoft.com/office/drawing/2014/main" val="482087259"/>
                    </a:ext>
                  </a:extLst>
                </a:gridCol>
                <a:gridCol w="793115">
                  <a:extLst>
                    <a:ext uri="{9D8B030D-6E8A-4147-A177-3AD203B41FA5}">
                      <a16:colId xmlns:a16="http://schemas.microsoft.com/office/drawing/2014/main" val="3336035939"/>
                    </a:ext>
                  </a:extLst>
                </a:gridCol>
                <a:gridCol w="793115">
                  <a:extLst>
                    <a:ext uri="{9D8B030D-6E8A-4147-A177-3AD203B41FA5}">
                      <a16:colId xmlns:a16="http://schemas.microsoft.com/office/drawing/2014/main" val="181486039"/>
                    </a:ext>
                  </a:extLst>
                </a:gridCol>
                <a:gridCol w="793115">
                  <a:extLst>
                    <a:ext uri="{9D8B030D-6E8A-4147-A177-3AD203B41FA5}">
                      <a16:colId xmlns:a16="http://schemas.microsoft.com/office/drawing/2014/main" val="3408604830"/>
                    </a:ext>
                  </a:extLst>
                </a:gridCol>
                <a:gridCol w="793115">
                  <a:extLst>
                    <a:ext uri="{9D8B030D-6E8A-4147-A177-3AD203B41FA5}">
                      <a16:colId xmlns:a16="http://schemas.microsoft.com/office/drawing/2014/main" val="2866569122"/>
                    </a:ext>
                  </a:extLst>
                </a:gridCol>
                <a:gridCol w="793115">
                  <a:extLst>
                    <a:ext uri="{9D8B030D-6E8A-4147-A177-3AD203B41FA5}">
                      <a16:colId xmlns:a16="http://schemas.microsoft.com/office/drawing/2014/main" val="2918100105"/>
                    </a:ext>
                  </a:extLst>
                </a:gridCol>
              </a:tblGrid>
              <a:tr h="390678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…</a:t>
                      </a:r>
                      <a:endParaRPr lang="en-US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…</a:t>
                      </a:r>
                      <a:endParaRPr lang="en-US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N-1</a:t>
                      </a:r>
                      <a:endParaRPr lang="en-US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806899"/>
                  </a:ext>
                </a:extLst>
              </a:tr>
              <a:tr h="623964">
                <a:tc>
                  <a:txBody>
                    <a:bodyPr/>
                    <a:lstStyle/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9815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56C759C-C858-4C68-B45B-6F5A54F130E2}"/>
              </a:ext>
            </a:extLst>
          </p:cNvPr>
          <p:cNvSpPr txBox="1"/>
          <p:nvPr/>
        </p:nvSpPr>
        <p:spPr>
          <a:xfrm>
            <a:off x="1191986" y="486810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5425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D1592-FCB5-44A7-AEC2-11315EE29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Lookup Tables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C7C4D7-4E4E-4FE3-9A06-B4058E2711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7"/>
                <a:ext cx="11029615" cy="1099822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We can use </a:t>
                </a:r>
                <a:r>
                  <a:rPr lang="en-US" sz="2000" i="1" dirty="0"/>
                  <a:t>A </a:t>
                </a:r>
                <a:r>
                  <a:rPr lang="en-US" sz="2000" dirty="0"/>
                  <a:t>to store any key-value </a:t>
                </a:r>
                <a:r>
                  <a:rPr lang="en-US" sz="2000" dirty="0">
                    <a:solidFill>
                      <a:srgbClr val="FF0000"/>
                    </a:solidFill>
                  </a:rPr>
                  <a:t>pair (</a:t>
                </a:r>
                <a:r>
                  <a:rPr lang="en-US" sz="2000" i="1" dirty="0">
                    <a:solidFill>
                      <a:srgbClr val="FF0000"/>
                    </a:solidFill>
                  </a:rPr>
                  <a:t>k, v</a:t>
                </a:r>
                <a:r>
                  <a:rPr lang="en-US" sz="2000" dirty="0">
                    <a:solidFill>
                      <a:srgbClr val="FF0000"/>
                    </a:solidFill>
                  </a:rPr>
                  <a:t>) </a:t>
                </a:r>
                <a:r>
                  <a:rPr lang="en-US" sz="2000" dirty="0"/>
                  <a:t>by placing that pair in the </a:t>
                </a:r>
                <a:r>
                  <a:rPr lang="en-US" sz="2000" dirty="0">
                    <a:solidFill>
                      <a:srgbClr val="FF0000"/>
                    </a:solidFill>
                  </a:rPr>
                  <a:t>cell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. We refer to this implementation as a </a:t>
                </a:r>
                <a:r>
                  <a:rPr lang="en-US" sz="2000" i="1" dirty="0">
                    <a:solidFill>
                      <a:srgbClr val="00B050"/>
                    </a:solidFill>
                  </a:rPr>
                  <a:t>lookup table.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C7C4D7-4E4E-4FE3-9A06-B4058E2711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7"/>
                <a:ext cx="11029615" cy="1099822"/>
              </a:xfrm>
              <a:blipFill>
                <a:blip r:embed="rId4"/>
                <a:stretch>
                  <a:fillRect l="-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171F2A-8A9C-459B-8A9F-25FFC0C3F5A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7/66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9C4456A-F9C0-4475-A87E-0E06812C1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106390"/>
              </p:ext>
            </p:extLst>
          </p:nvPr>
        </p:nvGraphicFramePr>
        <p:xfrm>
          <a:off x="1799174" y="4360780"/>
          <a:ext cx="7931150" cy="1014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3115">
                  <a:extLst>
                    <a:ext uri="{9D8B030D-6E8A-4147-A177-3AD203B41FA5}">
                      <a16:colId xmlns:a16="http://schemas.microsoft.com/office/drawing/2014/main" val="3373373627"/>
                    </a:ext>
                  </a:extLst>
                </a:gridCol>
                <a:gridCol w="793115">
                  <a:extLst>
                    <a:ext uri="{9D8B030D-6E8A-4147-A177-3AD203B41FA5}">
                      <a16:colId xmlns:a16="http://schemas.microsoft.com/office/drawing/2014/main" val="2351002617"/>
                    </a:ext>
                  </a:extLst>
                </a:gridCol>
                <a:gridCol w="793115">
                  <a:extLst>
                    <a:ext uri="{9D8B030D-6E8A-4147-A177-3AD203B41FA5}">
                      <a16:colId xmlns:a16="http://schemas.microsoft.com/office/drawing/2014/main" val="1608893047"/>
                    </a:ext>
                  </a:extLst>
                </a:gridCol>
                <a:gridCol w="793115">
                  <a:extLst>
                    <a:ext uri="{9D8B030D-6E8A-4147-A177-3AD203B41FA5}">
                      <a16:colId xmlns:a16="http://schemas.microsoft.com/office/drawing/2014/main" val="1805906147"/>
                    </a:ext>
                  </a:extLst>
                </a:gridCol>
                <a:gridCol w="793115">
                  <a:extLst>
                    <a:ext uri="{9D8B030D-6E8A-4147-A177-3AD203B41FA5}">
                      <a16:colId xmlns:a16="http://schemas.microsoft.com/office/drawing/2014/main" val="482087259"/>
                    </a:ext>
                  </a:extLst>
                </a:gridCol>
                <a:gridCol w="793115">
                  <a:extLst>
                    <a:ext uri="{9D8B030D-6E8A-4147-A177-3AD203B41FA5}">
                      <a16:colId xmlns:a16="http://schemas.microsoft.com/office/drawing/2014/main" val="3336035939"/>
                    </a:ext>
                  </a:extLst>
                </a:gridCol>
                <a:gridCol w="793115">
                  <a:extLst>
                    <a:ext uri="{9D8B030D-6E8A-4147-A177-3AD203B41FA5}">
                      <a16:colId xmlns:a16="http://schemas.microsoft.com/office/drawing/2014/main" val="181486039"/>
                    </a:ext>
                  </a:extLst>
                </a:gridCol>
                <a:gridCol w="793115">
                  <a:extLst>
                    <a:ext uri="{9D8B030D-6E8A-4147-A177-3AD203B41FA5}">
                      <a16:colId xmlns:a16="http://schemas.microsoft.com/office/drawing/2014/main" val="3408604830"/>
                    </a:ext>
                  </a:extLst>
                </a:gridCol>
                <a:gridCol w="793115">
                  <a:extLst>
                    <a:ext uri="{9D8B030D-6E8A-4147-A177-3AD203B41FA5}">
                      <a16:colId xmlns:a16="http://schemas.microsoft.com/office/drawing/2014/main" val="2866569122"/>
                    </a:ext>
                  </a:extLst>
                </a:gridCol>
                <a:gridCol w="793115">
                  <a:extLst>
                    <a:ext uri="{9D8B030D-6E8A-4147-A177-3AD203B41FA5}">
                      <a16:colId xmlns:a16="http://schemas.microsoft.com/office/drawing/2014/main" val="2918100105"/>
                    </a:ext>
                  </a:extLst>
                </a:gridCol>
              </a:tblGrid>
              <a:tr h="39067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N-1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806899"/>
                  </a:ext>
                </a:extLst>
              </a:tr>
              <a:tr h="623964">
                <a:tc>
                  <a:txBody>
                    <a:bodyPr/>
                    <a:lstStyle/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(</a:t>
                      </a:r>
                      <a:r>
                        <a:rPr lang="en-US" dirty="0" err="1">
                          <a:latin typeface="Arial Rounded MT Bold" panose="020F0704030504030204" pitchFamily="34" charset="0"/>
                        </a:rPr>
                        <a:t>k,v</a:t>
                      </a:r>
                      <a:r>
                        <a:rPr lang="en-US" dirty="0">
                          <a:latin typeface="Arial Rounded MT Bold" panose="020F0704030504030204" pitchFamily="34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98158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25B62A5-C564-4D8A-AB8B-3E855A4E0057}"/>
              </a:ext>
            </a:extLst>
          </p:cNvPr>
          <p:cNvSpPr txBox="1"/>
          <p:nvPr/>
        </p:nvSpPr>
        <p:spPr>
          <a:xfrm>
            <a:off x="1191986" y="486810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7530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11B00-4C7F-47C0-B5F4-453FE6D99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7" name="Slide Number Placeholder 56">
            <a:extLst>
              <a:ext uri="{FF2B5EF4-FFF2-40B4-BE49-F238E27FC236}">
                <a16:creationId xmlns:a16="http://schemas.microsoft.com/office/drawing/2014/main" id="{90B21C76-B567-4BD5-8EF7-A2EA6E53B5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8/66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19DE7F-FBD5-40C0-9FAE-DE7611E65F65}"/>
              </a:ext>
            </a:extLst>
          </p:cNvPr>
          <p:cNvSpPr/>
          <p:nvPr/>
        </p:nvSpPr>
        <p:spPr>
          <a:xfrm>
            <a:off x="3648061" y="1954381"/>
            <a:ext cx="990600" cy="9906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A43B04-4324-4FDB-808A-A4A3B390F2F1}"/>
              </a:ext>
            </a:extLst>
          </p:cNvPr>
          <p:cNvSpPr/>
          <p:nvPr/>
        </p:nvSpPr>
        <p:spPr>
          <a:xfrm>
            <a:off x="5604769" y="1954381"/>
            <a:ext cx="990600" cy="9906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60446B-59AD-4AC0-A924-0C0454E3E9C3}"/>
              </a:ext>
            </a:extLst>
          </p:cNvPr>
          <p:cNvSpPr/>
          <p:nvPr/>
        </p:nvSpPr>
        <p:spPr>
          <a:xfrm>
            <a:off x="6595369" y="1954381"/>
            <a:ext cx="990600" cy="9906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4CB3D0-8CBB-4DED-9497-87037C55E492}"/>
              </a:ext>
            </a:extLst>
          </p:cNvPr>
          <p:cNvSpPr/>
          <p:nvPr/>
        </p:nvSpPr>
        <p:spPr>
          <a:xfrm>
            <a:off x="2665625" y="1954381"/>
            <a:ext cx="990600" cy="9906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049049-C92F-40DA-B3B8-080C8F45D9D7}"/>
              </a:ext>
            </a:extLst>
          </p:cNvPr>
          <p:cNvSpPr/>
          <p:nvPr/>
        </p:nvSpPr>
        <p:spPr>
          <a:xfrm>
            <a:off x="7585969" y="1954381"/>
            <a:ext cx="990600" cy="9906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84ADE9-A188-4294-9942-8BF97E8E0826}"/>
              </a:ext>
            </a:extLst>
          </p:cNvPr>
          <p:cNvSpPr/>
          <p:nvPr/>
        </p:nvSpPr>
        <p:spPr>
          <a:xfrm>
            <a:off x="4639322" y="1954381"/>
            <a:ext cx="990600" cy="9906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99A1F1A-2420-40EF-8BF1-C5C56701462B}"/>
              </a:ext>
            </a:extLst>
          </p:cNvPr>
          <p:cNvSpPr txBox="1"/>
          <p:nvPr/>
        </p:nvSpPr>
        <p:spPr>
          <a:xfrm>
            <a:off x="1049088" y="4134676"/>
            <a:ext cx="479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rial Rounded MT Bold" panose="020F0704030504030204" pitchFamily="34" charset="0"/>
              </a:rPr>
              <a:t>B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195BE2C-DC17-41A0-9375-368A33D45746}"/>
              </a:ext>
            </a:extLst>
          </p:cNvPr>
          <p:cNvSpPr txBox="1"/>
          <p:nvPr/>
        </p:nvSpPr>
        <p:spPr>
          <a:xfrm>
            <a:off x="3641474" y="2143683"/>
            <a:ext cx="9877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Rounded MT Bold" panose="020F0704030504030204" pitchFamily="34" charset="0"/>
              </a:rPr>
              <a:t>(2,d)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81E5024-7931-409E-879C-F630F1C4CDC3}"/>
              </a:ext>
            </a:extLst>
          </p:cNvPr>
          <p:cNvSpPr txBox="1"/>
          <p:nvPr/>
        </p:nvSpPr>
        <p:spPr>
          <a:xfrm>
            <a:off x="2670579" y="2143683"/>
            <a:ext cx="958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Rounded MT Bold" panose="020F0704030504030204" pitchFamily="34" charset="0"/>
              </a:rPr>
              <a:t>(3,v)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1A2B6CF-BC26-4757-AF1F-556BB5050FC2}"/>
              </a:ext>
            </a:extLst>
          </p:cNvPr>
          <p:cNvSpPr txBox="1"/>
          <p:nvPr/>
        </p:nvSpPr>
        <p:spPr>
          <a:xfrm>
            <a:off x="5659639" y="2151971"/>
            <a:ext cx="9877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Rounded MT Bold" panose="020F0704030504030204" pitchFamily="34" charset="0"/>
              </a:rPr>
              <a:t>(0,b)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171193A-0108-47A9-8EB3-2E9CE9F09187}"/>
              </a:ext>
            </a:extLst>
          </p:cNvPr>
          <p:cNvSpPr txBox="1"/>
          <p:nvPr/>
        </p:nvSpPr>
        <p:spPr>
          <a:xfrm>
            <a:off x="6595369" y="2143683"/>
            <a:ext cx="10807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Rounded MT Bold" panose="020F0704030504030204" pitchFamily="34" charset="0"/>
              </a:rPr>
              <a:t>(9,m)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A01C601-34E7-4592-9E1B-7421F75822F8}"/>
              </a:ext>
            </a:extLst>
          </p:cNvPr>
          <p:cNvSpPr txBox="1"/>
          <p:nvPr/>
        </p:nvSpPr>
        <p:spPr>
          <a:xfrm>
            <a:off x="7585969" y="2143683"/>
            <a:ext cx="9765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Rounded MT Bold" panose="020F0704030504030204" pitchFamily="34" charset="0"/>
              </a:rPr>
              <a:t>(5,e)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A3DB776-366E-4F3C-8E00-B8A8832755F3}"/>
              </a:ext>
            </a:extLst>
          </p:cNvPr>
          <p:cNvSpPr txBox="1"/>
          <p:nvPr/>
        </p:nvSpPr>
        <p:spPr>
          <a:xfrm>
            <a:off x="4662752" y="2143683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Rounded MT Bold" panose="020F0704030504030204" pitchFamily="34" charset="0"/>
              </a:rPr>
              <a:t>(6,h)</a:t>
            </a:r>
          </a:p>
        </p:txBody>
      </p: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158E8959-49C0-4162-A1AC-19076A959F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802393"/>
              </p:ext>
            </p:extLst>
          </p:nvPr>
        </p:nvGraphicFramePr>
        <p:xfrm>
          <a:off x="1792512" y="3639640"/>
          <a:ext cx="8082200" cy="11413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876755637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86560008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528973797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402981954"/>
                    </a:ext>
                  </a:extLst>
                </a:gridCol>
              </a:tblGrid>
              <a:tr h="43749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8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9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7038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sp>
        <p:nvSpPr>
          <p:cNvPr id="59" name="TextBox 58">
            <a:extLst>
              <a:ext uri="{FF2B5EF4-FFF2-40B4-BE49-F238E27FC236}">
                <a16:creationId xmlns:a16="http://schemas.microsoft.com/office/drawing/2014/main" id="{59EDB452-F4F5-4D18-A8BA-44DDCADED322}"/>
              </a:ext>
            </a:extLst>
          </p:cNvPr>
          <p:cNvSpPr txBox="1"/>
          <p:nvPr/>
        </p:nvSpPr>
        <p:spPr>
          <a:xfrm>
            <a:off x="3383795" y="4173991"/>
            <a:ext cx="873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(2,d)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DD2401C-5A60-434B-81AB-0FD711FB68B1}"/>
              </a:ext>
            </a:extLst>
          </p:cNvPr>
          <p:cNvSpPr txBox="1"/>
          <p:nvPr/>
        </p:nvSpPr>
        <p:spPr>
          <a:xfrm>
            <a:off x="4225313" y="4173991"/>
            <a:ext cx="8483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(3,v)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B9BC9C-FFF7-434B-A429-941C05EFFA40}"/>
              </a:ext>
            </a:extLst>
          </p:cNvPr>
          <p:cNvSpPr txBox="1"/>
          <p:nvPr/>
        </p:nvSpPr>
        <p:spPr>
          <a:xfrm>
            <a:off x="1792512" y="4153268"/>
            <a:ext cx="873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(0,b)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46A22EA-436F-4753-83BC-7C3935F99D24}"/>
              </a:ext>
            </a:extLst>
          </p:cNvPr>
          <p:cNvSpPr txBox="1"/>
          <p:nvPr/>
        </p:nvSpPr>
        <p:spPr>
          <a:xfrm>
            <a:off x="8981009" y="4196231"/>
            <a:ext cx="1251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(9,m)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ACBE6D3-FE7E-4E7D-9B50-F2DB662EA16E}"/>
              </a:ext>
            </a:extLst>
          </p:cNvPr>
          <p:cNvSpPr txBox="1"/>
          <p:nvPr/>
        </p:nvSpPr>
        <p:spPr>
          <a:xfrm>
            <a:off x="5789797" y="4203698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(5,e)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240266-6960-41BD-9AB4-88CC011B3F77}"/>
              </a:ext>
            </a:extLst>
          </p:cNvPr>
          <p:cNvSpPr txBox="1"/>
          <p:nvPr/>
        </p:nvSpPr>
        <p:spPr>
          <a:xfrm>
            <a:off x="6586805" y="4165703"/>
            <a:ext cx="867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(6,h)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CBA5D9A-9DF3-4F82-B252-0242B0731F8E}"/>
              </a:ext>
            </a:extLst>
          </p:cNvPr>
          <p:cNvCxnSpPr>
            <a:cxnSpLocks/>
          </p:cNvCxnSpPr>
          <p:nvPr/>
        </p:nvCxnSpPr>
        <p:spPr>
          <a:xfrm>
            <a:off x="3160808" y="2944981"/>
            <a:ext cx="1468320" cy="786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7C7E8C-9975-4F1B-B1C8-73569500BDFE}"/>
              </a:ext>
            </a:extLst>
          </p:cNvPr>
          <p:cNvCxnSpPr>
            <a:stCxn id="4" idx="2"/>
          </p:cNvCxnSpPr>
          <p:nvPr/>
        </p:nvCxnSpPr>
        <p:spPr>
          <a:xfrm flipH="1">
            <a:off x="3827929" y="2944981"/>
            <a:ext cx="315432" cy="786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0D53897-2E70-4A48-8384-F45AC0000FEF}"/>
              </a:ext>
            </a:extLst>
          </p:cNvPr>
          <p:cNvCxnSpPr>
            <a:cxnSpLocks/>
          </p:cNvCxnSpPr>
          <p:nvPr/>
        </p:nvCxnSpPr>
        <p:spPr>
          <a:xfrm>
            <a:off x="5126095" y="2944778"/>
            <a:ext cx="1894482" cy="7863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694B4DB-6A7B-4683-9F27-0F032E08AEB5}"/>
              </a:ext>
            </a:extLst>
          </p:cNvPr>
          <p:cNvCxnSpPr>
            <a:cxnSpLocks/>
          </p:cNvCxnSpPr>
          <p:nvPr/>
        </p:nvCxnSpPr>
        <p:spPr>
          <a:xfrm flipH="1">
            <a:off x="2229490" y="2953066"/>
            <a:ext cx="3924669" cy="712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2D0ED3F-61DE-4A7D-9C9C-E60988E9F16B}"/>
              </a:ext>
            </a:extLst>
          </p:cNvPr>
          <p:cNvCxnSpPr>
            <a:cxnSpLocks/>
          </p:cNvCxnSpPr>
          <p:nvPr/>
        </p:nvCxnSpPr>
        <p:spPr>
          <a:xfrm>
            <a:off x="7080742" y="2953066"/>
            <a:ext cx="2385987" cy="7780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3AEFFE5-D5B6-472F-8236-F6E06AB2331C}"/>
              </a:ext>
            </a:extLst>
          </p:cNvPr>
          <p:cNvCxnSpPr>
            <a:cxnSpLocks/>
          </p:cNvCxnSpPr>
          <p:nvPr/>
        </p:nvCxnSpPr>
        <p:spPr>
          <a:xfrm flipH="1">
            <a:off x="6214324" y="2944778"/>
            <a:ext cx="1902170" cy="758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387365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59" grpId="0"/>
      <p:bldP spid="60" grpId="0"/>
      <p:bldP spid="61" grpId="0"/>
      <p:bldP spid="62" grpId="0"/>
      <p:bldP spid="63" grpId="0"/>
      <p:bldP spid="6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7FDC9-8257-4D5B-A935-F402F851F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Lookup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7B954-9529-4422-B281-E53CF0BF7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28895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We perform the map operations as follows:</a:t>
            </a:r>
          </a:p>
          <a:p>
            <a:pPr marL="633222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To perform a </a:t>
            </a:r>
            <a:r>
              <a:rPr lang="en-US" sz="2000" dirty="0">
                <a:solidFill>
                  <a:srgbClr val="00B050"/>
                </a:solidFill>
              </a:rPr>
              <a:t>put(</a:t>
            </a:r>
            <a:r>
              <a:rPr lang="en-US" sz="2000" i="1" dirty="0">
                <a:solidFill>
                  <a:srgbClr val="00B050"/>
                </a:solidFill>
              </a:rPr>
              <a:t>k, v</a:t>
            </a:r>
            <a:r>
              <a:rPr lang="en-US" sz="2000" dirty="0">
                <a:solidFill>
                  <a:srgbClr val="00B050"/>
                </a:solidFill>
              </a:rPr>
              <a:t>) </a:t>
            </a:r>
            <a:r>
              <a:rPr lang="en-US" sz="2000" dirty="0"/>
              <a:t>operation, we </a:t>
            </a:r>
            <a:r>
              <a:rPr lang="en-US" sz="2000" dirty="0">
                <a:solidFill>
                  <a:srgbClr val="00B050"/>
                </a:solidFill>
              </a:rPr>
              <a:t>assign (</a:t>
            </a:r>
            <a:r>
              <a:rPr lang="en-US" sz="2000" i="1" dirty="0">
                <a:solidFill>
                  <a:srgbClr val="00B050"/>
                </a:solidFill>
              </a:rPr>
              <a:t>k, v</a:t>
            </a:r>
            <a:r>
              <a:rPr lang="en-US" sz="2000" dirty="0">
                <a:solidFill>
                  <a:srgbClr val="00B050"/>
                </a:solidFill>
              </a:rPr>
              <a:t>) to </a:t>
            </a:r>
            <a:r>
              <a:rPr lang="en-US" sz="2000" i="1" dirty="0">
                <a:solidFill>
                  <a:srgbClr val="00B050"/>
                </a:solidFill>
              </a:rPr>
              <a:t>A</a:t>
            </a:r>
            <a:r>
              <a:rPr lang="en-US" sz="2000" dirty="0">
                <a:solidFill>
                  <a:srgbClr val="00B050"/>
                </a:solidFill>
              </a:rPr>
              <a:t>[</a:t>
            </a:r>
            <a:r>
              <a:rPr lang="en-US" sz="2000" i="1" dirty="0">
                <a:solidFill>
                  <a:srgbClr val="00B050"/>
                </a:solidFill>
              </a:rPr>
              <a:t>k</a:t>
            </a:r>
            <a:r>
              <a:rPr lang="en-US" sz="2000" dirty="0">
                <a:solidFill>
                  <a:srgbClr val="00B050"/>
                </a:solidFill>
              </a:rPr>
              <a:t>].</a:t>
            </a:r>
          </a:p>
          <a:p>
            <a:pPr marL="633222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To perform a </a:t>
            </a:r>
            <a:r>
              <a:rPr lang="en-US" sz="2000" dirty="0">
                <a:solidFill>
                  <a:srgbClr val="00B0F0"/>
                </a:solidFill>
              </a:rPr>
              <a:t>get(</a:t>
            </a:r>
            <a:r>
              <a:rPr lang="en-US" sz="2000" i="1" dirty="0">
                <a:solidFill>
                  <a:srgbClr val="00B0F0"/>
                </a:solidFill>
              </a:rPr>
              <a:t>k</a:t>
            </a:r>
            <a:r>
              <a:rPr lang="en-US" sz="2000" dirty="0">
                <a:solidFill>
                  <a:srgbClr val="00B0F0"/>
                </a:solidFill>
              </a:rPr>
              <a:t>) </a:t>
            </a:r>
            <a:r>
              <a:rPr lang="en-US" sz="2000" dirty="0"/>
              <a:t>operation, we </a:t>
            </a:r>
            <a:r>
              <a:rPr lang="en-US" sz="2000" dirty="0">
                <a:solidFill>
                  <a:srgbClr val="00B0F0"/>
                </a:solidFill>
              </a:rPr>
              <a:t>return </a:t>
            </a:r>
            <a:r>
              <a:rPr lang="en-US" sz="2000" i="1" dirty="0">
                <a:solidFill>
                  <a:srgbClr val="00B0F0"/>
                </a:solidFill>
              </a:rPr>
              <a:t>A</a:t>
            </a:r>
            <a:r>
              <a:rPr lang="en-US" sz="2000" dirty="0">
                <a:solidFill>
                  <a:srgbClr val="00B0F0"/>
                </a:solidFill>
              </a:rPr>
              <a:t>[</a:t>
            </a:r>
            <a:r>
              <a:rPr lang="en-US" sz="2000" i="1" dirty="0">
                <a:solidFill>
                  <a:srgbClr val="00B0F0"/>
                </a:solidFill>
              </a:rPr>
              <a:t>k</a:t>
            </a:r>
            <a:r>
              <a:rPr lang="en-US" sz="2000" dirty="0">
                <a:solidFill>
                  <a:srgbClr val="00B0F0"/>
                </a:solidFill>
              </a:rPr>
              <a:t>]</a:t>
            </a:r>
            <a:r>
              <a:rPr lang="en-US" sz="2000" dirty="0"/>
              <a:t>.</a:t>
            </a:r>
          </a:p>
          <a:p>
            <a:pPr marL="633222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To perform a </a:t>
            </a:r>
            <a:r>
              <a:rPr lang="en-US" sz="2000" dirty="0">
                <a:solidFill>
                  <a:srgbClr val="7030A0"/>
                </a:solidFill>
              </a:rPr>
              <a:t>remove(</a:t>
            </a:r>
            <a:r>
              <a:rPr lang="en-US" sz="2000" i="1" dirty="0">
                <a:solidFill>
                  <a:srgbClr val="7030A0"/>
                </a:solidFill>
              </a:rPr>
              <a:t>k</a:t>
            </a:r>
            <a:r>
              <a:rPr lang="en-US" sz="2000" dirty="0">
                <a:solidFill>
                  <a:srgbClr val="7030A0"/>
                </a:solidFill>
              </a:rPr>
              <a:t>)</a:t>
            </a:r>
            <a:r>
              <a:rPr lang="en-US" sz="2000" dirty="0"/>
              <a:t> operation, we </a:t>
            </a:r>
            <a:r>
              <a:rPr lang="en-US" sz="2000" dirty="0">
                <a:solidFill>
                  <a:srgbClr val="7030A0"/>
                </a:solidFill>
              </a:rPr>
              <a:t>return </a:t>
            </a:r>
            <a:r>
              <a:rPr lang="en-US" sz="2000" i="1" dirty="0">
                <a:solidFill>
                  <a:srgbClr val="7030A0"/>
                </a:solidFill>
              </a:rPr>
              <a:t>A</a:t>
            </a:r>
            <a:r>
              <a:rPr lang="en-US" sz="2000" dirty="0">
                <a:solidFill>
                  <a:srgbClr val="7030A0"/>
                </a:solidFill>
              </a:rPr>
              <a:t>[</a:t>
            </a:r>
            <a:r>
              <a:rPr lang="en-US" sz="2000" i="1" dirty="0">
                <a:solidFill>
                  <a:srgbClr val="7030A0"/>
                </a:solidFill>
              </a:rPr>
              <a:t>k</a:t>
            </a:r>
            <a:r>
              <a:rPr lang="en-US" sz="2000" dirty="0">
                <a:solidFill>
                  <a:srgbClr val="7030A0"/>
                </a:solidFill>
              </a:rPr>
              <a:t>]</a:t>
            </a:r>
            <a:r>
              <a:rPr lang="en-US" sz="2000" dirty="0"/>
              <a:t> and then we </a:t>
            </a:r>
            <a:r>
              <a:rPr lang="en-US" sz="2000" dirty="0">
                <a:solidFill>
                  <a:srgbClr val="7030A0"/>
                </a:solidFill>
              </a:rPr>
              <a:t>assign the NULL item to </a:t>
            </a:r>
            <a:r>
              <a:rPr lang="en-US" sz="2000" i="1" dirty="0">
                <a:solidFill>
                  <a:srgbClr val="7030A0"/>
                </a:solidFill>
              </a:rPr>
              <a:t>A</a:t>
            </a:r>
            <a:r>
              <a:rPr lang="en-US" sz="2000" dirty="0">
                <a:solidFill>
                  <a:srgbClr val="7030A0"/>
                </a:solidFill>
              </a:rPr>
              <a:t>[</a:t>
            </a:r>
            <a:r>
              <a:rPr lang="en-US" sz="2000" i="1" dirty="0">
                <a:solidFill>
                  <a:srgbClr val="7030A0"/>
                </a:solidFill>
              </a:rPr>
              <a:t>k</a:t>
            </a:r>
            <a:r>
              <a:rPr lang="en-US" sz="2000" dirty="0">
                <a:solidFill>
                  <a:srgbClr val="7030A0"/>
                </a:solidFill>
              </a:rPr>
              <a:t>].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B6E4F8-BCCF-461C-A620-B519A7E6AAA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9/66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9556AA-2EBC-4CA1-B7C5-2B6C91E4E372}"/>
              </a:ext>
            </a:extLst>
          </p:cNvPr>
          <p:cNvSpPr txBox="1"/>
          <p:nvPr/>
        </p:nvSpPr>
        <p:spPr>
          <a:xfrm rot="19691691">
            <a:off x="9843813" y="5460348"/>
            <a:ext cx="1045479" cy="5847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O(1)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808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5788E-DF53-4578-A222-F6758DA77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BFFF86-ECBE-4277-8D41-9BCECDC32B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4421" y="2351313"/>
                <a:ext cx="11363158" cy="3118759"/>
              </a:xfrm>
            </p:spPr>
            <p:txBody>
              <a:bodyPr>
                <a:noAutofit/>
              </a:bodyPr>
              <a:lstStyle/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dirty="0"/>
                  <a:t>Keys are </a:t>
                </a:r>
                <a:r>
                  <a:rPr lang="en-US" sz="2400" u="sng" dirty="0"/>
                  <a:t>integers</a:t>
                </a:r>
                <a:r>
                  <a:rPr lang="en-US" sz="2400" dirty="0"/>
                  <a:t> BUT NOT in a range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− 1]</m:t>
                    </m:r>
                  </m:oMath>
                </a14:m>
                <a:r>
                  <a:rPr lang="en-US" sz="2400" dirty="0"/>
                  <a:t> for a reasonable small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/>
                  <a:t>: Define a function to bring them into the range 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/>
                  <a:t>Keys </a:t>
                </a:r>
                <a:r>
                  <a:rPr lang="en-US" sz="2400" dirty="0"/>
                  <a:t>are </a:t>
                </a:r>
                <a:r>
                  <a:rPr lang="en-US" sz="2400" u="sng" dirty="0"/>
                  <a:t>NOT single integers</a:t>
                </a:r>
                <a:r>
                  <a:rPr lang="en-US" sz="2400" dirty="0"/>
                  <a:t>, they can be viewed as a </a:t>
                </a:r>
                <a:r>
                  <a:rPr lang="en-US" sz="2400" i="1" dirty="0"/>
                  <a:t>d</a:t>
                </a:r>
                <a:r>
                  <a:rPr lang="en-US" sz="2400" dirty="0"/>
                  <a:t>-tuple, of the form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 . . . , 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 err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in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∈ [0,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sz="2400" dirty="0"/>
                  <a:t>, for a reasonable small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/>
                  <a:t>:  Define a function to map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 . . . , 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 err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to a single integer in the range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BFFF86-ECBE-4277-8D41-9BCECDC32B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4421" y="2351313"/>
                <a:ext cx="11363158" cy="3118759"/>
              </a:xfrm>
              <a:blipFill>
                <a:blip r:embed="rId4"/>
                <a:stretch>
                  <a:fillRect l="-751" t="-5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6D60C-DD42-44DE-902E-2AD6566B62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10/66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5922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5788E-DF53-4578-A222-F6758DA77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BFFF86-ECBE-4277-8D41-9BCECDC32B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4421" y="1909483"/>
                <a:ext cx="11363158" cy="3560590"/>
              </a:xfrm>
            </p:spPr>
            <p:txBody>
              <a:bodyPr>
                <a:noAutofit/>
              </a:bodyPr>
              <a:lstStyle/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[2,5,12543, 3487782,445, 34, 1, 56,94898]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belong to the range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3487782]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b="0" i="0" dirty="0">
                    <a:solidFill>
                      <a:schemeClr val="tx1"/>
                    </a:solidFill>
                    <a:latin typeface="+mj-lt"/>
                  </a:rPr>
                  <a:t>list of words: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𝐻𝑒𝑙𝑙𝑜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</m:d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72,101,108,108,108,111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range of components is: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[0,255]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List of IP addresses: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192.168.1.1=(192,168,1,1)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range of components is: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[0,255]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BFFF86-ECBE-4277-8D41-9BCECDC32B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4421" y="1909483"/>
                <a:ext cx="11363158" cy="3560590"/>
              </a:xfrm>
              <a:blipFill>
                <a:blip r:embed="rId4"/>
                <a:stretch>
                  <a:fillRect l="-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6D60C-DD42-44DE-902E-2AD6566B62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11/66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1081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5788E-DF53-4578-A222-F6758DA77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6D60C-DD42-44DE-902E-2AD6566B62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12/66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03802F-3055-4725-BDC3-950C0E9177C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6703"/>
          <a:stretch/>
        </p:blipFill>
        <p:spPr>
          <a:xfrm>
            <a:off x="5666107" y="2029620"/>
            <a:ext cx="5551621" cy="2917743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52CA1CB-D2D9-4315-A6F6-298662A77AB9}"/>
              </a:ext>
            </a:extLst>
          </p:cNvPr>
          <p:cNvGraphicFramePr>
            <a:graphicFrameLocks noGrp="1"/>
          </p:cNvGraphicFramePr>
          <p:nvPr/>
        </p:nvGraphicFramePr>
        <p:xfrm>
          <a:off x="5806094" y="4947363"/>
          <a:ext cx="5281001" cy="441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91">
                  <a:extLst>
                    <a:ext uri="{9D8B030D-6E8A-4147-A177-3AD203B41FA5}">
                      <a16:colId xmlns:a16="http://schemas.microsoft.com/office/drawing/2014/main" val="4214237615"/>
                    </a:ext>
                  </a:extLst>
                </a:gridCol>
                <a:gridCol w="480091">
                  <a:extLst>
                    <a:ext uri="{9D8B030D-6E8A-4147-A177-3AD203B41FA5}">
                      <a16:colId xmlns:a16="http://schemas.microsoft.com/office/drawing/2014/main" val="4145054272"/>
                    </a:ext>
                  </a:extLst>
                </a:gridCol>
                <a:gridCol w="480091">
                  <a:extLst>
                    <a:ext uri="{9D8B030D-6E8A-4147-A177-3AD203B41FA5}">
                      <a16:colId xmlns:a16="http://schemas.microsoft.com/office/drawing/2014/main" val="1661507078"/>
                    </a:ext>
                  </a:extLst>
                </a:gridCol>
                <a:gridCol w="480091">
                  <a:extLst>
                    <a:ext uri="{9D8B030D-6E8A-4147-A177-3AD203B41FA5}">
                      <a16:colId xmlns:a16="http://schemas.microsoft.com/office/drawing/2014/main" val="3809908441"/>
                    </a:ext>
                  </a:extLst>
                </a:gridCol>
                <a:gridCol w="480091">
                  <a:extLst>
                    <a:ext uri="{9D8B030D-6E8A-4147-A177-3AD203B41FA5}">
                      <a16:colId xmlns:a16="http://schemas.microsoft.com/office/drawing/2014/main" val="205581018"/>
                    </a:ext>
                  </a:extLst>
                </a:gridCol>
                <a:gridCol w="480091">
                  <a:extLst>
                    <a:ext uri="{9D8B030D-6E8A-4147-A177-3AD203B41FA5}">
                      <a16:colId xmlns:a16="http://schemas.microsoft.com/office/drawing/2014/main" val="2387492267"/>
                    </a:ext>
                  </a:extLst>
                </a:gridCol>
                <a:gridCol w="480091">
                  <a:extLst>
                    <a:ext uri="{9D8B030D-6E8A-4147-A177-3AD203B41FA5}">
                      <a16:colId xmlns:a16="http://schemas.microsoft.com/office/drawing/2014/main" val="287830725"/>
                    </a:ext>
                  </a:extLst>
                </a:gridCol>
                <a:gridCol w="480091">
                  <a:extLst>
                    <a:ext uri="{9D8B030D-6E8A-4147-A177-3AD203B41FA5}">
                      <a16:colId xmlns:a16="http://schemas.microsoft.com/office/drawing/2014/main" val="531651599"/>
                    </a:ext>
                  </a:extLst>
                </a:gridCol>
                <a:gridCol w="480091">
                  <a:extLst>
                    <a:ext uri="{9D8B030D-6E8A-4147-A177-3AD203B41FA5}">
                      <a16:colId xmlns:a16="http://schemas.microsoft.com/office/drawing/2014/main" val="2619092629"/>
                    </a:ext>
                  </a:extLst>
                </a:gridCol>
                <a:gridCol w="480091">
                  <a:extLst>
                    <a:ext uri="{9D8B030D-6E8A-4147-A177-3AD203B41FA5}">
                      <a16:colId xmlns:a16="http://schemas.microsoft.com/office/drawing/2014/main" val="1515791718"/>
                    </a:ext>
                  </a:extLst>
                </a:gridCol>
                <a:gridCol w="480091">
                  <a:extLst>
                    <a:ext uri="{9D8B030D-6E8A-4147-A177-3AD203B41FA5}">
                      <a16:colId xmlns:a16="http://schemas.microsoft.com/office/drawing/2014/main" val="2514890359"/>
                    </a:ext>
                  </a:extLst>
                </a:gridCol>
              </a:tblGrid>
              <a:tr h="4410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6330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BFFF86-ECBE-4277-8D41-9BCECDC32B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3556" y="1691842"/>
                <a:ext cx="5887950" cy="3263879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If keys are NOT integers in the range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− 1]</m:t>
                    </m:r>
                  </m:oMath>
                </a14:m>
                <a:r>
                  <a:rPr lang="en-US" sz="2000" dirty="0"/>
                  <a:t>:</a:t>
                </a:r>
              </a:p>
              <a:p>
                <a:pPr marL="118872" indent="0">
                  <a:buNone/>
                </a:pPr>
                <a:r>
                  <a:rPr lang="en-US" sz="2000" dirty="0"/>
                  <a:t>  </a:t>
                </a:r>
              </a:p>
              <a:p>
                <a:pPr marL="118872" indent="0">
                  <a:buNone/>
                </a:pPr>
                <a:r>
                  <a:rPr lang="en-US" sz="2000" dirty="0"/>
                  <a:t>We use a function,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called a </a:t>
                </a:r>
                <a:r>
                  <a:rPr lang="en-US" sz="2000" dirty="0">
                    <a:solidFill>
                      <a:srgbClr val="FF0000"/>
                    </a:solidFill>
                  </a:rPr>
                  <a:t>hash function</a:t>
                </a:r>
                <a:r>
                  <a:rPr lang="en-US" sz="2000" dirty="0"/>
                  <a:t>, that </a:t>
                </a:r>
                <a:r>
                  <a:rPr lang="en-US" sz="2000" dirty="0">
                    <a:solidFill>
                      <a:srgbClr val="00B0F0"/>
                    </a:solidFill>
                  </a:rPr>
                  <a:t>maps </a:t>
                </a:r>
                <a:r>
                  <a:rPr lang="en-US" sz="2000" dirty="0"/>
                  <a:t>each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𝑘𝑒𝑦</m:t>
                    </m:r>
                  </m:oMath>
                </a14:m>
                <a:r>
                  <a:rPr lang="en-US" sz="2000" dirty="0"/>
                  <a:t> k</a:t>
                </a:r>
                <a:r>
                  <a:rPr lang="en-US" sz="2000" dirty="0">
                    <a:solidFill>
                      <a:srgbClr val="00B0F0"/>
                    </a:solidFill>
                  </a:rPr>
                  <a:t> </a:t>
                </a:r>
                <a:r>
                  <a:rPr lang="en-US" sz="2000" dirty="0"/>
                  <a:t>to</a:t>
                </a:r>
                <a:r>
                  <a:rPr lang="en-US" sz="2000" dirty="0">
                    <a:solidFill>
                      <a:srgbClr val="00B0F0"/>
                    </a:solidFill>
                  </a:rPr>
                  <a:t> </a:t>
                </a:r>
                <a:r>
                  <a:rPr lang="en-US" sz="2000" dirty="0"/>
                  <a:t>an</a:t>
                </a:r>
                <a:r>
                  <a:rPr lang="en-US" sz="2000" dirty="0">
                    <a:solidFill>
                      <a:srgbClr val="00B0F0"/>
                    </a:solidFill>
                  </a:rPr>
                  <a:t> integer in the range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sz="20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− 1].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BFFF86-ECBE-4277-8D41-9BCECDC32B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3556" y="1691842"/>
                <a:ext cx="5887950" cy="3263879"/>
              </a:xfrm>
              <a:blipFill>
                <a:blip r:embed="rId5"/>
                <a:stretch>
                  <a:fillRect l="-621" r="-1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829001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5788E-DF53-4578-A222-F6758DA77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Function: Collision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BFFF86-ECBE-4277-8D41-9BCECDC32B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599" y="1775192"/>
                <a:ext cx="11155137" cy="306622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/>
                  <a:t>One complication that we have to deal with when using this approach, is that it is possible that the </a:t>
                </a:r>
                <a:r>
                  <a:rPr lang="en-US" sz="2000" dirty="0">
                    <a:solidFill>
                      <a:srgbClr val="FF0000"/>
                    </a:solidFill>
                  </a:rPr>
                  <a:t>hash function</a:t>
                </a:r>
                <a:r>
                  <a:rPr lang="en-US" sz="2000" dirty="0"/>
                  <a:t>, </a:t>
                </a:r>
                <a:r>
                  <a:rPr lang="en-US" sz="2000" i="1" dirty="0"/>
                  <a:t>h</a:t>
                </a:r>
                <a:r>
                  <a:rPr lang="en-US" sz="2000" dirty="0"/>
                  <a:t>, could </a:t>
                </a:r>
                <a:r>
                  <a:rPr lang="en-US" sz="2000" dirty="0">
                    <a:solidFill>
                      <a:srgbClr val="FF0000"/>
                    </a:solidFill>
                  </a:rPr>
                  <a:t>map two distinct keys to the same location </a:t>
                </a:r>
                <a:r>
                  <a:rPr lang="en-US" sz="2000" dirty="0"/>
                  <a:t>in </a:t>
                </a:r>
                <a:r>
                  <a:rPr lang="en-US" sz="2000" i="1" dirty="0"/>
                  <a:t>A</a:t>
                </a:r>
                <a:r>
                  <a:rPr lang="en-US" sz="2000" dirty="0"/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/>
                  <a:t>We could have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r>
                  <a:rPr lang="en-US" sz="2000" dirty="0"/>
                  <a:t> 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≠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000" dirty="0"/>
                  <a:t>, for two keys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in our map.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/>
                  <a:t>We refer to </a:t>
                </a:r>
                <a:r>
                  <a:rPr lang="en-US" sz="2000" dirty="0">
                    <a:solidFill>
                      <a:srgbClr val="00B050"/>
                    </a:solidFill>
                  </a:rPr>
                  <a:t>such a pair of keys with the same hash value, </a:t>
                </a:r>
                <a:r>
                  <a:rPr lang="en-US" sz="2000" i="1" dirty="0">
                    <a:solidFill>
                      <a:srgbClr val="00B050"/>
                    </a:solidFill>
                  </a:rPr>
                  <a:t>j</a:t>
                </a:r>
                <a:r>
                  <a:rPr lang="en-US" sz="2000" dirty="0"/>
                  <a:t>, as causing a </a:t>
                </a:r>
                <a:r>
                  <a:rPr lang="en-US" sz="2000" i="1" dirty="0">
                    <a:solidFill>
                      <a:srgbClr val="00B0F0"/>
                    </a:solidFill>
                  </a:rPr>
                  <a:t>collision </a:t>
                </a:r>
                <a:r>
                  <a:rPr lang="en-US" sz="2000" dirty="0">
                    <a:solidFill>
                      <a:srgbClr val="00B0F0"/>
                    </a:solidFill>
                  </a:rPr>
                  <a:t>at </a:t>
                </a:r>
                <a:r>
                  <a:rPr lang="en-US" sz="2000" i="1" dirty="0">
                    <a:solidFill>
                      <a:srgbClr val="00B0F0"/>
                    </a:solidFill>
                  </a:rPr>
                  <a:t>j</a:t>
                </a:r>
                <a:r>
                  <a:rPr lang="en-US" sz="20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BFFF86-ECBE-4277-8D41-9BCECDC32B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599" y="1775192"/>
                <a:ext cx="11155137" cy="3066229"/>
              </a:xfrm>
              <a:blipFill>
                <a:blip r:embed="rId4"/>
                <a:stretch>
                  <a:fillRect l="-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F6A3A-CDDB-446E-AD54-78ECF96D9EF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13/66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5963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0FAB7-4F5E-4927-B3B9-AF6BCF479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Functions: 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4FF6BC-7B51-49A9-858A-4A420F970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11029615" cy="1444877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Suppose that we want to store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257</m:t>
                    </m:r>
                  </m:oMath>
                </a14:m>
                <a:r>
                  <a:rPr lang="en-US" sz="2000" dirty="0"/>
                  <a:t>.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(257) = 4</m:t>
                    </m:r>
                  </m:oMath>
                </a14:m>
                <a:r>
                  <a:rPr lang="en-US" sz="2000" dirty="0"/>
                  <a:t>, then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257</m:t>
                    </m:r>
                  </m:oMath>
                </a14:m>
                <a:r>
                  <a:rPr lang="en-US" sz="2000" dirty="0"/>
                  <a:t> should be stored at location 4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This position is already occupied. In this case we say that a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collision</a:t>
                </a:r>
                <a:r>
                  <a:rPr lang="en-US" sz="2000" b="1" dirty="0"/>
                  <a:t> </a:t>
                </a:r>
                <a:r>
                  <a:rPr lang="en-US" sz="2000" dirty="0"/>
                  <a:t>has occurred.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4FF6BC-7B51-49A9-858A-4A420F970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029615" cy="1444877"/>
              </a:xfrm>
              <a:blipFill>
                <a:blip r:embed="rId4"/>
                <a:stretch>
                  <a:fillRect l="-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4658F9-53E5-4798-BBAD-F29717FFDAB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14/66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5B740AC-2FAF-4A01-892B-7B9E56FED7EE}"/>
              </a:ext>
            </a:extLst>
          </p:cNvPr>
          <p:cNvGrpSpPr/>
          <p:nvPr/>
        </p:nvGrpSpPr>
        <p:grpSpPr>
          <a:xfrm>
            <a:off x="1227494" y="5155847"/>
            <a:ext cx="9541067" cy="1444877"/>
            <a:chOff x="1227494" y="5155847"/>
            <a:chExt cx="9541067" cy="144487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350F554-0BCB-4CBC-856D-D11686AA8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27494" y="5155847"/>
              <a:ext cx="9541067" cy="1444877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E922A30-605A-4A85-926C-FBA2EDC549EA}"/>
                </a:ext>
              </a:extLst>
            </p:cNvPr>
            <p:cNvSpPr/>
            <p:nvPr/>
          </p:nvSpPr>
          <p:spPr>
            <a:xfrm>
              <a:off x="6604907" y="5510893"/>
              <a:ext cx="571500" cy="5061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4DA8FF-217F-4C12-B439-5AACCA0102AA}"/>
                  </a:ext>
                </a:extLst>
              </p:cNvPr>
              <p:cNvSpPr txBox="1"/>
              <p:nvPr/>
            </p:nvSpPr>
            <p:spPr>
              <a:xfrm>
                <a:off x="4939553" y="4500284"/>
                <a:ext cx="6335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257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4DA8FF-217F-4C12-B439-5AACCA010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553" y="4500284"/>
                <a:ext cx="63350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267FDA3-CC48-4C5F-9684-BC56228746E3}"/>
              </a:ext>
            </a:extLst>
          </p:cNvPr>
          <p:cNvCxnSpPr>
            <a:stCxn id="7" idx="2"/>
          </p:cNvCxnSpPr>
          <p:nvPr/>
        </p:nvCxnSpPr>
        <p:spPr>
          <a:xfrm flipH="1">
            <a:off x="5244353" y="4869616"/>
            <a:ext cx="11954" cy="4207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015043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850EA-02E3-4991-958D-33244E470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functions on integer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5D4DF-4C41-4E69-B307-98310E40E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75192"/>
            <a:ext cx="11122479" cy="3237679"/>
          </a:xfrm>
        </p:spPr>
        <p:txBody>
          <a:bodyPr>
            <a:normAutofit/>
          </a:bodyPr>
          <a:lstStyle/>
          <a:p>
            <a:r>
              <a:rPr lang="en-US" sz="2200" dirty="0"/>
              <a:t>In the case that we can view the key k as a single integer, there are a number of different kinds of  hash functions, such as:</a:t>
            </a:r>
          </a:p>
          <a:p>
            <a:pPr marL="118872" indent="0">
              <a:buNone/>
            </a:pPr>
            <a:endParaRPr lang="en-US" sz="2200" dirty="0"/>
          </a:p>
          <a:p>
            <a:pPr marL="1620774" lvl="4" indent="-514350">
              <a:buFont typeface="+mj-lt"/>
              <a:buAutoNum type="arabicPeriod"/>
            </a:pPr>
            <a:r>
              <a:rPr lang="en-US" sz="2200" dirty="0"/>
              <a:t>Modular Division</a:t>
            </a:r>
          </a:p>
          <a:p>
            <a:pPr marL="1620774" lvl="4" indent="-514350">
              <a:buFont typeface="+mj-lt"/>
              <a:buAutoNum type="arabicPeriod"/>
            </a:pPr>
            <a:r>
              <a:rPr lang="en-US" sz="2200" dirty="0"/>
              <a:t>Random Linear Functions</a:t>
            </a:r>
          </a:p>
          <a:p>
            <a:pPr marL="1620774" lvl="4" indent="-514350">
              <a:buFont typeface="+mj-lt"/>
              <a:buAutoNum type="arabicPeriod"/>
            </a:pPr>
            <a:r>
              <a:rPr lang="en-US" sz="2200" dirty="0"/>
              <a:t>Random Polynomial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70BA8-5CAD-46A7-A575-C50D03B6E36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15/66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865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3C2E7-9697-4134-A068-4F96EEAC1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Modular Division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AFF553-E6FA-4DA9-9CCE-314C54734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7"/>
                <a:ext cx="11029615" cy="2334354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/>
                  <a:t>In the case that we can view the key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 as a single integer, perhaps the simplest hash function is to use modular division to compress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 into the range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− 1] </m:t>
                    </m:r>
                  </m:oMath>
                </a14:m>
                <a:r>
                  <a:rPr lang="en-US" sz="2800" dirty="0"/>
                  <a:t>as follows:</a:t>
                </a:r>
              </a:p>
              <a:p>
                <a:endParaRPr lang="en-US" sz="1400" dirty="0"/>
              </a:p>
              <a:p>
                <a:pPr marL="11887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80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8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8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8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8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AFF553-E6FA-4DA9-9CCE-314C54734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7"/>
                <a:ext cx="11029615" cy="2334354"/>
              </a:xfrm>
              <a:blipFill>
                <a:blip r:embed="rId4"/>
                <a:stretch>
                  <a:fillRect l="-773" t="-1828" r="-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EA3D6-55D5-4281-BF31-EB3CE6AFB20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16/66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F26C865-9268-4FE2-A2DF-575A24652397}"/>
              </a:ext>
            </a:extLst>
          </p:cNvPr>
          <p:cNvGrpSpPr/>
          <p:nvPr/>
        </p:nvGrpSpPr>
        <p:grpSpPr>
          <a:xfrm>
            <a:off x="1227494" y="5278060"/>
            <a:ext cx="9541067" cy="1444877"/>
            <a:chOff x="1227494" y="5278060"/>
            <a:chExt cx="9541067" cy="144487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B2BD5BD-A991-4EA6-8460-E530A070EB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27494" y="5278060"/>
              <a:ext cx="9541067" cy="1444877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161C196-A343-4924-B6F9-6B1ED0F5D6C0}"/>
                </a:ext>
              </a:extLst>
            </p:cNvPr>
            <p:cNvSpPr/>
            <p:nvPr/>
          </p:nvSpPr>
          <p:spPr>
            <a:xfrm>
              <a:off x="6555921" y="5649658"/>
              <a:ext cx="571500" cy="5061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2CDC097-0890-4F09-A5F4-7528B8CFBBE5}"/>
                  </a:ext>
                </a:extLst>
              </p:cNvPr>
              <p:cNvSpPr/>
              <p:nvPr/>
            </p:nvSpPr>
            <p:spPr>
              <a:xfrm>
                <a:off x="1423439" y="5035439"/>
                <a:ext cx="213879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11</m:t>
                      </m:r>
                    </m:oMath>
                  </m:oMathPara>
                </a14:m>
                <a:endParaRPr lang="en-US" sz="20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2CDC097-0890-4F09-A5F4-7528B8CFBB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439" y="5035439"/>
                <a:ext cx="2138791" cy="400110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28533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84BAA-782A-4B87-96DB-031AC87F8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Random Linear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62E3F1-2CD2-4AD5-9273-9CE03E1756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0608" y="1609344"/>
                <a:ext cx="11029615" cy="5138928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/>
                  <a:t>A more sophisticated compression function, is a </a:t>
                </a:r>
                <a:r>
                  <a:rPr lang="en-US" sz="2800" i="1" dirty="0"/>
                  <a:t>random linear hash function</a:t>
                </a:r>
                <a:r>
                  <a:rPr lang="en-US" sz="2800" dirty="0"/>
                  <a:t>. </a:t>
                </a:r>
              </a:p>
              <a:p>
                <a:r>
                  <a:rPr lang="en-US" sz="2800" dirty="0"/>
                  <a:t>In this case, we define a </a:t>
                </a:r>
                <a:r>
                  <a:rPr lang="en-US" sz="2800" i="1" dirty="0"/>
                  <a:t>random linear hash function</a:t>
                </a:r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800" dirty="0"/>
                  <a:t>, for an integer key,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, as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118872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pt-BR" sz="28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8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 = (</m:t>
                      </m:r>
                      <m:r>
                        <a:rPr lang="pt-BR" sz="28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𝑎𝑘</m:t>
                      </m:r>
                      <m:r>
                        <a:rPr lang="pt-BR" sz="28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pt-BR" sz="28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28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pt-BR" sz="28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pt-BR" sz="28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pt-BR" sz="2800" i="1" dirty="0">
                  <a:solidFill>
                    <a:srgbClr val="00B050"/>
                  </a:solidFill>
                </a:endParaRPr>
              </a:p>
              <a:p>
                <a:pPr marL="118872" indent="0">
                  <a:buNone/>
                </a:pPr>
                <a:endParaRPr lang="en-US" sz="1100" dirty="0"/>
              </a:p>
              <a:p>
                <a:pPr marL="118872" indent="0">
                  <a:buNone/>
                </a:pPr>
                <a:r>
                  <a:rPr lang="en-US" sz="2800" dirty="0"/>
                  <a:t> where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800" i="1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>
                    <a:solidFill>
                      <a:srgbClr val="FF0000"/>
                    </a:solidFill>
                  </a:rPr>
                  <a:t>is a prime number</a:t>
                </a:r>
                <a:r>
                  <a:rPr lang="en-US" sz="2800" dirty="0"/>
                  <a:t>, and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0 &lt; </m:t>
                    </m:r>
                    <m:r>
                      <a:rPr lang="en-US" sz="28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en-US" sz="28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and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 ≤ </m:t>
                    </m:r>
                    <m:r>
                      <a:rPr lang="en-US" sz="28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en-US" sz="28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are independent random integers.</a:t>
                </a:r>
                <a:endParaRPr lang="en-US" sz="2800" dirty="0">
                  <a:solidFill>
                    <a:srgbClr val="D296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62E3F1-2CD2-4AD5-9273-9CE03E1756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0608" y="1609344"/>
                <a:ext cx="11029615" cy="5138928"/>
              </a:xfrm>
              <a:blipFill>
                <a:blip r:embed="rId4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D0B5C-DD07-4F76-96FA-D20041CA730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17/66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9448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1187C-B488-49E1-84D3-87F0A6E23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F53C2-85ED-4288-8241-5A2DF47B040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18/66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D1182DD-D7A6-467C-B719-7BAFF8827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930477"/>
              </p:ext>
            </p:extLst>
          </p:nvPr>
        </p:nvGraphicFramePr>
        <p:xfrm>
          <a:off x="2755900" y="5333999"/>
          <a:ext cx="565754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876755637"/>
                    </a:ext>
                  </a:extLst>
                </a:gridCol>
              </a:tblGrid>
              <a:tr h="2506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703874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44</a:t>
                      </a:r>
                    </a:p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25</a:t>
                      </a:r>
                    </a:p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67</a:t>
                      </a:r>
                    </a:p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32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DE1117-6AE6-4F82-B86A-FF13EDB07C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922460"/>
              </p:ext>
            </p:extLst>
          </p:nvPr>
        </p:nvGraphicFramePr>
        <p:xfrm>
          <a:off x="3498849" y="2858316"/>
          <a:ext cx="4041100" cy="10696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70387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44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67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32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30661C2-0F1C-4C73-9FE3-6A2D60CF2EF3}"/>
                  </a:ext>
                </a:extLst>
              </p:cNvPr>
              <p:cNvSpPr/>
              <p:nvPr/>
            </p:nvSpPr>
            <p:spPr>
              <a:xfrm>
                <a:off x="266915" y="1885357"/>
                <a:ext cx="3324180" cy="9614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 = (2</m:t>
                      </m:r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+ 4) </m:t>
                      </m:r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7</m:t>
                      </m:r>
                    </m:oMath>
                  </m:oMathPara>
                </a14:m>
                <a:endParaRPr lang="en-US" sz="2000" dirty="0">
                  <a:solidFill>
                    <a:srgbClr val="00B05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0 &lt; 2 &lt; 7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 ≤ 4 &lt; 7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30661C2-0F1C-4C73-9FE3-6A2D60CF2E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15" y="1885357"/>
                <a:ext cx="3324180" cy="961417"/>
              </a:xfrm>
              <a:prstGeom prst="rect">
                <a:avLst/>
              </a:prstGeom>
              <a:blipFill>
                <a:blip r:embed="rId4"/>
                <a:stretch>
                  <a:fillRect b="-10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922DEF7-5BC4-40B9-99DF-EDF1BE3B4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175868"/>
              </p:ext>
            </p:extLst>
          </p:nvPr>
        </p:nvGraphicFramePr>
        <p:xfrm>
          <a:off x="3498849" y="4420200"/>
          <a:ext cx="808220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135090452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82873049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53621917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9674970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49348540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23646952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4212676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31765307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299282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10729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2977510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AA4FCA-C70B-4635-9051-07B5AEB46C4F}"/>
              </a:ext>
            </a:extLst>
          </p:cNvPr>
          <p:cNvCxnSpPr/>
          <p:nvPr/>
        </p:nvCxnSpPr>
        <p:spPr>
          <a:xfrm>
            <a:off x="3886200" y="404866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5E76544-44A5-4960-BE53-DBDB4CAFC447}"/>
              </a:ext>
            </a:extLst>
          </p:cNvPr>
          <p:cNvCxnSpPr/>
          <p:nvPr/>
        </p:nvCxnSpPr>
        <p:spPr>
          <a:xfrm>
            <a:off x="4699907" y="404866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2022B4-49FE-4822-8916-108549B21E6A}"/>
              </a:ext>
            </a:extLst>
          </p:cNvPr>
          <p:cNvCxnSpPr/>
          <p:nvPr/>
        </p:nvCxnSpPr>
        <p:spPr>
          <a:xfrm>
            <a:off x="5516336" y="404866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4CFA86-D915-4350-9ADD-7536398BF284}"/>
              </a:ext>
            </a:extLst>
          </p:cNvPr>
          <p:cNvCxnSpPr/>
          <p:nvPr/>
        </p:nvCxnSpPr>
        <p:spPr>
          <a:xfrm>
            <a:off x="6330043" y="404866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2D96D90-5D97-4D24-A335-306B7774BEEA}"/>
              </a:ext>
            </a:extLst>
          </p:cNvPr>
          <p:cNvCxnSpPr/>
          <p:nvPr/>
        </p:nvCxnSpPr>
        <p:spPr>
          <a:xfrm>
            <a:off x="7116536" y="404866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321416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742E2-8ED5-41B4-AFD4-05C28B201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Random Polynomial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B5FA14-D59D-4550-A0EF-9719B0958C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1873164"/>
                <a:ext cx="10946779" cy="4625609"/>
              </a:xfrm>
            </p:spPr>
            <p:txBody>
              <a:bodyPr>
                <a:normAutofit/>
              </a:bodyPr>
              <a:lstStyle/>
              <a:p>
                <a:r>
                  <a:rPr lang="en-US" sz="2200" dirty="0"/>
                  <a:t>We may use a random polynomial hash function,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200" dirty="0"/>
                  <a:t>, which is defined as</a:t>
                </a:r>
              </a:p>
              <a:p>
                <a:endParaRPr lang="en-US" sz="2400" dirty="0"/>
              </a:p>
              <a:p>
                <a:pPr marL="11887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−2 </m:t>
                          </m:r>
                        </m:sub>
                      </m:sSub>
                      <m:r>
                        <a:rPr lang="en-US" sz="2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lang="en-US" sz="2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sz="2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2400" dirty="0">
                  <a:solidFill>
                    <a:srgbClr val="00B050"/>
                  </a:solidFill>
                </a:endParaRPr>
              </a:p>
              <a:p>
                <a:pPr marL="118872" indent="0">
                  <a:buNone/>
                </a:pPr>
                <a:endParaRPr lang="en-US" sz="2000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endParaRPr lang="en-US" sz="2400" dirty="0"/>
              </a:p>
              <a:p>
                <a:endParaRPr lang="en-US" sz="2400" dirty="0"/>
              </a:p>
              <a:p>
                <a:pPr marL="118872" indent="0">
                  <a:buNone/>
                </a:pPr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is prime and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’s are independent uniformly random integers in the range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− 1],</m:t>
                    </m:r>
                  </m:oMath>
                </a14:m>
                <a:r>
                  <a:rPr lang="en-US" sz="2400" dirty="0"/>
                  <a:t> such that at least one of the coefficients 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. . . ,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sz="2400" dirty="0"/>
                  <a:t>is nonzero.</a:t>
                </a:r>
                <a:endParaRPr lang="en-US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B5FA14-D59D-4550-A0EF-9719B0958C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1873164"/>
                <a:ext cx="10946779" cy="4625609"/>
              </a:xfrm>
              <a:blipFill>
                <a:blip r:embed="rId4"/>
                <a:stretch>
                  <a:fillRect l="-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5384D-B599-4FEA-9B6C-01AD62110ED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19/66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DF9279-5938-49A2-A02B-10BB55CA2C38}"/>
              </a:ext>
            </a:extLst>
          </p:cNvPr>
          <p:cNvSpPr txBox="1"/>
          <p:nvPr/>
        </p:nvSpPr>
        <p:spPr>
          <a:xfrm>
            <a:off x="581192" y="3739414"/>
            <a:ext cx="1695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By Horner’s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64A3801-1B66-46F8-856A-268D4DDAB778}"/>
                  </a:ext>
                </a:extLst>
              </p:cNvPr>
              <p:cNvSpPr/>
              <p:nvPr/>
            </p:nvSpPr>
            <p:spPr>
              <a:xfrm>
                <a:off x="1539240" y="4069246"/>
                <a:ext cx="7641336" cy="50687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marL="11887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  <m:r>
                                <a:rPr lang="en-US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+…+</m:t>
                              </m:r>
                              <m:r>
                                <a:rPr lang="en-US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d>
                                <m:dPr>
                                  <m:ctrlPr>
                                    <a:rPr lang="en-US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 + </m:t>
                                  </m:r>
                                  <m:r>
                                    <a:rPr lang="en-US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d>
                                    <m:dPr>
                                      <m:ctrlPr>
                                        <a:rPr lang="en-US" i="1" dirty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i="1" dirty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+ </m:t>
                                      </m:r>
                                      <m:r>
                                        <a:rPr lang="en-US" i="1" dirty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… </m:t>
                              </m:r>
                            </m:e>
                          </m:d>
                        </m:e>
                      </m:d>
                      <m:r>
                        <a:rPr lang="en-US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2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64A3801-1B66-46F8-856A-268D4DDAB7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9240" y="4069246"/>
                <a:ext cx="7641336" cy="5068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4317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1187C-B488-49E1-84D3-87F0A6E23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F53C2-85ED-4288-8241-5A2DF47B040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20/66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D1182DD-D7A6-467C-B719-7BAFF8827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770293"/>
              </p:ext>
            </p:extLst>
          </p:nvPr>
        </p:nvGraphicFramePr>
        <p:xfrm>
          <a:off x="4501425" y="4574282"/>
          <a:ext cx="565754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876755637"/>
                    </a:ext>
                  </a:extLst>
                </a:gridCol>
              </a:tblGrid>
              <a:tr h="2506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703874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25</a:t>
                      </a:r>
                    </a:p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67</a:t>
                      </a:r>
                    </a:p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32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89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44</a:t>
                      </a:r>
                    </a:p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DE1117-6AE6-4F82-B86A-FF13EDB07C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382856"/>
              </p:ext>
            </p:extLst>
          </p:nvPr>
        </p:nvGraphicFramePr>
        <p:xfrm>
          <a:off x="4791985" y="2149400"/>
          <a:ext cx="4849320" cy="10696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70387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44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67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32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89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30661C2-0F1C-4C73-9FE3-6A2D60CF2EF3}"/>
                  </a:ext>
                </a:extLst>
              </p:cNvPr>
              <p:cNvSpPr/>
              <p:nvPr/>
            </p:nvSpPr>
            <p:spPr>
              <a:xfrm>
                <a:off x="305749" y="1791449"/>
                <a:ext cx="10045259" cy="22863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18872" indent="0">
                  <a:buNone/>
                </a:pPr>
                <a:r>
                  <a:rPr lang="en-US" sz="2000" i="1" dirty="0">
                    <a:solidFill>
                      <a:srgbClr val="00B0F0"/>
                    </a:solidFill>
                    <a:latin typeface="Cambria Math" panose="02040503050406030204" pitchFamily="18" charset="0"/>
                  </a:rPr>
                  <a:t>N=7</a:t>
                </a:r>
              </a:p>
              <a:p>
                <a:pPr marL="118872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=3: {</m:t>
                      </m:r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}={3,2,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 dirty="0"/>
              </a:p>
              <a:p>
                <a:pPr marL="118872" indent="0">
                  <a:buNone/>
                </a:pPr>
                <a:endParaRPr lang="en-US" sz="2000" dirty="0"/>
              </a:p>
              <a:p>
                <a:pPr marL="118872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US" sz="20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US" sz="2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+4</m:t>
                          </m:r>
                        </m:e>
                      </m:d>
                      <m:r>
                        <a:rPr lang="en-US" sz="2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7 </m:t>
                      </m:r>
                    </m:oMath>
                  </m:oMathPara>
                </a14:m>
                <a:endParaRPr lang="en-US" sz="2000" b="0" dirty="0">
                  <a:solidFill>
                    <a:srgbClr val="00B050"/>
                  </a:solidFill>
                </a:endParaRPr>
              </a:p>
              <a:p>
                <a:pPr marL="118872"/>
                <a:endParaRPr lang="en-US" sz="2000" dirty="0">
                  <a:solidFill>
                    <a:srgbClr val="00B050"/>
                  </a:solidFill>
                </a:endParaRPr>
              </a:p>
              <a:p>
                <a:pPr marL="118872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4+</m:t>
                          </m:r>
                          <m:r>
                            <a:rPr lang="en-US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sz="20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2+3</m:t>
                              </m:r>
                              <m:r>
                                <a:rPr lang="en-US" sz="20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7</m:t>
                      </m:r>
                    </m:oMath>
                  </m:oMathPara>
                </a14:m>
                <a:endParaRPr lang="en-US" sz="2000" dirty="0">
                  <a:solidFill>
                    <a:srgbClr val="00B050"/>
                  </a:solidFill>
                </a:endParaRPr>
              </a:p>
              <a:p>
                <a:pPr marL="118872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30661C2-0F1C-4C73-9FE3-6A2D60CF2E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49" y="1791449"/>
                <a:ext cx="10045259" cy="2286395"/>
              </a:xfrm>
              <a:prstGeom prst="rect">
                <a:avLst/>
              </a:prstGeom>
              <a:blipFill>
                <a:blip r:embed="rId4"/>
                <a:stretch>
                  <a:fillRect t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922DEF7-5BC4-40B9-99DF-EDF1BE3B4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372240"/>
              </p:ext>
            </p:extLst>
          </p:nvPr>
        </p:nvGraphicFramePr>
        <p:xfrm>
          <a:off x="4791985" y="3711284"/>
          <a:ext cx="808220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135090452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82873049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53621917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9674970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49348540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23646952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4212676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31765307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299282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10729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6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6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2977510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AA4FCA-C70B-4635-9051-07B5AEB46C4F}"/>
              </a:ext>
            </a:extLst>
          </p:cNvPr>
          <p:cNvCxnSpPr/>
          <p:nvPr/>
        </p:nvCxnSpPr>
        <p:spPr>
          <a:xfrm>
            <a:off x="5179336" y="3339751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5E76544-44A5-4960-BE53-DBDB4CAFC447}"/>
              </a:ext>
            </a:extLst>
          </p:cNvPr>
          <p:cNvCxnSpPr/>
          <p:nvPr/>
        </p:nvCxnSpPr>
        <p:spPr>
          <a:xfrm>
            <a:off x="5993043" y="3339751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2022B4-49FE-4822-8916-108549B21E6A}"/>
              </a:ext>
            </a:extLst>
          </p:cNvPr>
          <p:cNvCxnSpPr/>
          <p:nvPr/>
        </p:nvCxnSpPr>
        <p:spPr>
          <a:xfrm>
            <a:off x="6809472" y="3339751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4CFA86-D915-4350-9ADD-7536398BF284}"/>
              </a:ext>
            </a:extLst>
          </p:cNvPr>
          <p:cNvCxnSpPr/>
          <p:nvPr/>
        </p:nvCxnSpPr>
        <p:spPr>
          <a:xfrm>
            <a:off x="7623179" y="3339751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2D96D90-5D97-4D24-A335-306B7774BEEA}"/>
              </a:ext>
            </a:extLst>
          </p:cNvPr>
          <p:cNvCxnSpPr/>
          <p:nvPr/>
        </p:nvCxnSpPr>
        <p:spPr>
          <a:xfrm>
            <a:off x="8409672" y="3339751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D3B4D25-DAAA-4498-A218-B36113433F51}"/>
              </a:ext>
            </a:extLst>
          </p:cNvPr>
          <p:cNvCxnSpPr/>
          <p:nvPr/>
        </p:nvCxnSpPr>
        <p:spPr>
          <a:xfrm>
            <a:off x="9223379" y="3339751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318326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8A676-459C-4239-A220-F2BA15B5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Viewing Keys as Tuples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6B2F3E-63F0-4F60-84AF-AD68A60D5F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If keys are not single integers, they can be viewed as a </a:t>
                </a:r>
                <a:r>
                  <a:rPr lang="en-US" sz="2400" i="1" dirty="0"/>
                  <a:t>d</a:t>
                </a:r>
                <a:r>
                  <a:rPr lang="en-US" sz="2400" dirty="0"/>
                  <a:t>-tuple, of the form</a:t>
                </a:r>
              </a:p>
              <a:p>
                <a:pPr marL="11887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 . . . , 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err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 dirty="0" err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118872" indent="0">
                  <a:buNone/>
                </a:pPr>
                <a:endParaRPr lang="en-US" sz="2400" dirty="0"/>
              </a:p>
              <a:p>
                <a:pPr marL="118872" indent="0">
                  <a:buNone/>
                </a:pPr>
                <a:r>
                  <a:rPr lang="en-US" sz="2400" dirty="0"/>
                  <a:t>where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is an integer in range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−1],</m:t>
                    </m:r>
                  </m:oMath>
                </a14:m>
                <a:r>
                  <a:rPr lang="en-US" sz="2400" dirty="0"/>
                  <a:t> for some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6B2F3E-63F0-4F60-84AF-AD68A60D5F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0098A-D6E8-426C-AED4-E677B7F7A7B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21/66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8905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7EDDD-828C-481C-8903-E4D010EA5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Viewing Keys as Tuples: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7EE1A7-534B-4A05-91F9-9D3EF808B0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599" y="1775192"/>
                <a:ext cx="11165457" cy="462560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/>
                  <a:t>For example, if our keys are </a:t>
                </a:r>
                <a:r>
                  <a:rPr lang="en-US" sz="2400" dirty="0">
                    <a:solidFill>
                      <a:srgbClr val="00B050"/>
                    </a:solidFill>
                  </a:rPr>
                  <a:t>character strings </a:t>
                </a:r>
                <a:r>
                  <a:rPr lang="en-US" sz="2400" dirty="0"/>
                  <a:t>(such as words taken from web pages) then it is probably most natural to view such keys as </a:t>
                </a:r>
                <a:r>
                  <a:rPr lang="en-US" sz="2400" dirty="0">
                    <a:solidFill>
                      <a:srgbClr val="00B050"/>
                    </a:solidFill>
                  </a:rPr>
                  <a:t>tuples: 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err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400" i="1" dirty="0" err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err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400" i="1" dirty="0" err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err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 dirty="0" err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err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 dirty="0" err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err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</m:d>
                    <m:r>
                      <a:rPr lang="en-US" sz="24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72,101,108,108,108,111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If our keys are </a:t>
                </a:r>
                <a:r>
                  <a:rPr lang="en-US" sz="2400" dirty="0">
                    <a:solidFill>
                      <a:srgbClr val="FF0000"/>
                    </a:solidFill>
                  </a:rPr>
                  <a:t>fixed length IP addresses </a:t>
                </a:r>
                <a:r>
                  <a:rPr lang="en-US" sz="2400" dirty="0"/>
                  <a:t>of destination domains on the Internet, then it is probably most natural to view them as </a:t>
                </a:r>
                <a:r>
                  <a:rPr lang="en-US" sz="2400" dirty="0">
                    <a:solidFill>
                      <a:srgbClr val="FF0000"/>
                    </a:solidFill>
                  </a:rPr>
                  <a:t>single integers: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192.168.1.1=(192,168,1,1)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7EE1A7-534B-4A05-91F9-9D3EF808B0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599" y="1775192"/>
                <a:ext cx="11165457" cy="4625609"/>
              </a:xfrm>
              <a:blipFill>
                <a:blip r:embed="rId4"/>
                <a:stretch>
                  <a:fillRect l="-546" r="-1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99BBC-04BC-4E16-ACB7-25FF8FFCD94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22/66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57641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850EA-02E3-4991-958D-33244E470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functions on tuples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5D4DF-4C41-4E69-B307-98310E40EE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599" y="1775192"/>
                <a:ext cx="11122479" cy="4625609"/>
              </a:xfrm>
            </p:spPr>
            <p:txBody>
              <a:bodyPr>
                <a:normAutofit/>
              </a:bodyPr>
              <a:lstStyle/>
              <a:p>
                <a:r>
                  <a:rPr lang="en-US" sz="2200" dirty="0"/>
                  <a:t>In the case when each of our keys,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 dirty="0"/>
                  <a:t>, is a </a:t>
                </a:r>
                <a:r>
                  <a:rPr lang="en-US" sz="2200" i="1" dirty="0"/>
                  <a:t>d</a:t>
                </a:r>
                <a:r>
                  <a:rPr lang="en-US" sz="2200" dirty="0"/>
                  <a:t>-tuple, of the form</a:t>
                </a:r>
              </a:p>
              <a:p>
                <a:pPr marL="11887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20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200" i="1" dirty="0" smtClean="0">
                              <a:latin typeface="Cambria Math" panose="02040503050406030204" pitchFamily="18" charset="0"/>
                            </a:rPr>
                            <m:t>, . . . , </m:t>
                          </m:r>
                          <m:sSub>
                            <m:sSub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 err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i="1" dirty="0" err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118872" indent="0">
                  <a:buNone/>
                </a:pPr>
                <a:r>
                  <a:rPr lang="en-US" sz="2200" dirty="0"/>
                  <a:t>There are a number of different kinds of  hash functions, such as:</a:t>
                </a:r>
              </a:p>
              <a:p>
                <a:pPr marL="118872" indent="0">
                  <a:buNone/>
                </a:pPr>
                <a:endParaRPr lang="en-US" sz="2200" dirty="0"/>
              </a:p>
              <a:p>
                <a:pPr marL="1620774" lvl="4" indent="-514350">
                  <a:buFont typeface="+mj-lt"/>
                  <a:buAutoNum type="arabicPeriod"/>
                </a:pPr>
                <a:r>
                  <a:rPr lang="en-US" sz="2200" dirty="0"/>
                  <a:t>Summing Components</a:t>
                </a:r>
              </a:p>
              <a:p>
                <a:pPr marL="1620774" lvl="4" indent="-514350">
                  <a:buFont typeface="+mj-lt"/>
                  <a:buAutoNum type="arabicPeriod"/>
                </a:pPr>
                <a:r>
                  <a:rPr lang="en-US" sz="2200" dirty="0"/>
                  <a:t>Polynomial-Evaluation</a:t>
                </a:r>
              </a:p>
              <a:p>
                <a:pPr marL="1620774" lvl="4" indent="-514350">
                  <a:buFont typeface="+mj-lt"/>
                  <a:buAutoNum type="arabicPeriod"/>
                </a:pPr>
                <a:r>
                  <a:rPr lang="en-US" sz="2200" dirty="0"/>
                  <a:t>Tabulation-based</a:t>
                </a:r>
              </a:p>
              <a:p>
                <a:pPr marL="633222" indent="-514350">
                  <a:buFont typeface="+mj-lt"/>
                  <a:buAutoNum type="arabicPeriod"/>
                </a:pPr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5D4DF-4C41-4E69-B307-98310E40EE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599" y="1775192"/>
                <a:ext cx="11122479" cy="4625609"/>
              </a:xfrm>
              <a:blipFill>
                <a:blip r:embed="rId4"/>
                <a:stretch>
                  <a:fillRect l="-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70BA8-5CAD-46A7-A575-C50D03B6E36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23/66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2791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850EA-02E3-4991-958D-33244E470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function: Summing Components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5D4DF-4C41-4E69-B307-98310E40EE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200" dirty="0"/>
                  <a:t>In the case when each of our keys,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 dirty="0"/>
                  <a:t>, is a </a:t>
                </a:r>
                <a:r>
                  <a:rPr lang="en-US" sz="2200" i="1" dirty="0"/>
                  <a:t>d</a:t>
                </a:r>
                <a:r>
                  <a:rPr lang="en-US" sz="2200" dirty="0"/>
                  <a:t>-tuple, of the form</a:t>
                </a:r>
              </a:p>
              <a:p>
                <a:pPr marL="11887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20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200" i="1" dirty="0" smtClean="0">
                              <a:latin typeface="Cambria Math" panose="02040503050406030204" pitchFamily="18" charset="0"/>
                            </a:rPr>
                            <m:t>, . . . , </m:t>
                          </m:r>
                          <m:sSub>
                            <m:sSub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 err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i="1" dirty="0" err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118872" indent="0">
                  <a:buNone/>
                </a:pPr>
                <a:r>
                  <a:rPr lang="en-US" sz="2200" dirty="0"/>
                  <a:t>one possible hash function we could use is </a:t>
                </a:r>
                <a:r>
                  <a:rPr lang="en-US" sz="2200" dirty="0">
                    <a:solidFill>
                      <a:srgbClr val="FF0000"/>
                    </a:solidFill>
                  </a:rPr>
                  <a:t>to sum up the different components</a:t>
                </a:r>
                <a:r>
                  <a:rPr lang="en-US" sz="2200" dirty="0"/>
                  <a:t> in each key. That is, we could compute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200" dirty="0"/>
                  <a:t>as</a:t>
                </a:r>
              </a:p>
              <a:p>
                <a:pPr marL="11887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5D4DF-4C41-4E69-B307-98310E40EE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3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AFDD1-8B0D-4B2C-B7B5-D1DEA03D7AB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24/66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43126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32C7-F9B2-4363-A099-69DD779CF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E1F8F-9925-44F4-B525-38CA1803EC4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25/66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800D429-AB78-4413-8A4E-2BBEDDF0F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912053"/>
              </p:ext>
            </p:extLst>
          </p:nvPr>
        </p:nvGraphicFramePr>
        <p:xfrm>
          <a:off x="484196" y="1791262"/>
          <a:ext cx="8184320" cy="923838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818432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18432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18432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18432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18432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18432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  <a:gridCol w="818432">
                  <a:extLst>
                    <a:ext uri="{9D8B030D-6E8A-4147-A177-3AD203B41FA5}">
                      <a16:colId xmlns:a16="http://schemas.microsoft.com/office/drawing/2014/main" val="2876755637"/>
                    </a:ext>
                  </a:extLst>
                </a:gridCol>
                <a:gridCol w="818432">
                  <a:extLst>
                    <a:ext uri="{9D8B030D-6E8A-4147-A177-3AD203B41FA5}">
                      <a16:colId xmlns:a16="http://schemas.microsoft.com/office/drawing/2014/main" val="1865600081"/>
                    </a:ext>
                  </a:extLst>
                </a:gridCol>
                <a:gridCol w="818432">
                  <a:extLst>
                    <a:ext uri="{9D8B030D-6E8A-4147-A177-3AD203B41FA5}">
                      <a16:colId xmlns:a16="http://schemas.microsoft.com/office/drawing/2014/main" val="1528973797"/>
                    </a:ext>
                  </a:extLst>
                </a:gridCol>
                <a:gridCol w="818432">
                  <a:extLst>
                    <a:ext uri="{9D8B030D-6E8A-4147-A177-3AD203B41FA5}">
                      <a16:colId xmlns:a16="http://schemas.microsoft.com/office/drawing/2014/main" val="1402981954"/>
                    </a:ext>
                  </a:extLst>
                </a:gridCol>
              </a:tblGrid>
              <a:tr h="33537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8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9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58846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(2,9,1)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(3,8,8)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(4,3,0)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(2,2,4)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(5,3,3)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(1,8,0)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(4,1,5)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(9,1,6)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(2,2,1)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(4,6,4)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D980E37-BCEC-4A07-AC74-92D412F85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810114"/>
              </p:ext>
            </p:extLst>
          </p:nvPr>
        </p:nvGraphicFramePr>
        <p:xfrm>
          <a:off x="497801" y="3728768"/>
          <a:ext cx="7920260" cy="543743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792026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2876755637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1865600081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1528973797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1402981954"/>
                    </a:ext>
                  </a:extLst>
                </a:gridCol>
              </a:tblGrid>
              <a:tr h="54374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00D4209-5BE6-4A79-9166-283050CCAFBC}"/>
              </a:ext>
            </a:extLst>
          </p:cNvPr>
          <p:cNvCxnSpPr/>
          <p:nvPr/>
        </p:nvCxnSpPr>
        <p:spPr>
          <a:xfrm>
            <a:off x="852495" y="2885914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EA9D1C-568B-4C15-8EA8-96F63FA6B571}"/>
              </a:ext>
            </a:extLst>
          </p:cNvPr>
          <p:cNvCxnSpPr/>
          <p:nvPr/>
        </p:nvCxnSpPr>
        <p:spPr>
          <a:xfrm>
            <a:off x="1674367" y="2899524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098F41-1A70-4823-8628-C3D1B8DB0EC2}"/>
              </a:ext>
            </a:extLst>
          </p:cNvPr>
          <p:cNvCxnSpPr/>
          <p:nvPr/>
        </p:nvCxnSpPr>
        <p:spPr>
          <a:xfrm>
            <a:off x="2474467" y="2891357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89DAFD-CFB5-41F7-A8A3-EF154197C242}"/>
              </a:ext>
            </a:extLst>
          </p:cNvPr>
          <p:cNvCxnSpPr/>
          <p:nvPr/>
        </p:nvCxnSpPr>
        <p:spPr>
          <a:xfrm>
            <a:off x="3296339" y="2904967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00A301-9A8E-47C0-9433-141CF9E34EB1}"/>
              </a:ext>
            </a:extLst>
          </p:cNvPr>
          <p:cNvCxnSpPr/>
          <p:nvPr/>
        </p:nvCxnSpPr>
        <p:spPr>
          <a:xfrm>
            <a:off x="4074668" y="2891357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A91C58D-A866-404D-A810-02F92C6E0AFC}"/>
              </a:ext>
            </a:extLst>
          </p:cNvPr>
          <p:cNvCxnSpPr/>
          <p:nvPr/>
        </p:nvCxnSpPr>
        <p:spPr>
          <a:xfrm>
            <a:off x="4896540" y="2896803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8E5A1DD-6D68-4A31-9C4E-F124539F4790}"/>
              </a:ext>
            </a:extLst>
          </p:cNvPr>
          <p:cNvCxnSpPr/>
          <p:nvPr/>
        </p:nvCxnSpPr>
        <p:spPr>
          <a:xfrm>
            <a:off x="5696640" y="2904964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0F9599-644C-414B-ADF4-452AD4716A11}"/>
              </a:ext>
            </a:extLst>
          </p:cNvPr>
          <p:cNvCxnSpPr/>
          <p:nvPr/>
        </p:nvCxnSpPr>
        <p:spPr>
          <a:xfrm>
            <a:off x="6518512" y="2894082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D5BDA67-C16E-42A3-8606-2BC1E3570F7A}"/>
              </a:ext>
            </a:extLst>
          </p:cNvPr>
          <p:cNvCxnSpPr/>
          <p:nvPr/>
        </p:nvCxnSpPr>
        <p:spPr>
          <a:xfrm>
            <a:off x="7258747" y="2866862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0881B2F-1D28-4514-BCF4-4DA345DB7954}"/>
              </a:ext>
            </a:extLst>
          </p:cNvPr>
          <p:cNvCxnSpPr/>
          <p:nvPr/>
        </p:nvCxnSpPr>
        <p:spPr>
          <a:xfrm>
            <a:off x="8080619" y="2864144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5BCB6EF-01D0-4812-8690-CDF96B621752}"/>
                  </a:ext>
                </a:extLst>
              </p:cNvPr>
              <p:cNvSpPr/>
              <p:nvPr/>
            </p:nvSpPr>
            <p:spPr>
              <a:xfrm>
                <a:off x="8591899" y="2729338"/>
                <a:ext cx="1536383" cy="8769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5BCB6EF-01D0-4812-8690-CDF96B6217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1899" y="2729338"/>
                <a:ext cx="1536383" cy="8769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356F21D-71FE-4E39-B4D8-AA8FFFC9F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383642"/>
              </p:ext>
            </p:extLst>
          </p:nvPr>
        </p:nvGraphicFramePr>
        <p:xfrm>
          <a:off x="497801" y="5040504"/>
          <a:ext cx="7920260" cy="543743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792026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2876755637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1865600081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1528973797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1402981954"/>
                    </a:ext>
                  </a:extLst>
                </a:gridCol>
              </a:tblGrid>
              <a:tr h="54374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5146CCB-444E-463F-B9F7-2FA92DB1CCFF}"/>
              </a:ext>
            </a:extLst>
          </p:cNvPr>
          <p:cNvCxnSpPr/>
          <p:nvPr/>
        </p:nvCxnSpPr>
        <p:spPr>
          <a:xfrm>
            <a:off x="866100" y="4272511"/>
            <a:ext cx="0" cy="671106"/>
          </a:xfrm>
          <a:prstGeom prst="straightConnector1">
            <a:avLst/>
          </a:prstGeom>
          <a:ln w="28575">
            <a:solidFill>
              <a:srgbClr val="2FC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CCB9C39-50F3-4E84-A63D-A9B3B6A6CC6C}"/>
              </a:ext>
            </a:extLst>
          </p:cNvPr>
          <p:cNvCxnSpPr/>
          <p:nvPr/>
        </p:nvCxnSpPr>
        <p:spPr>
          <a:xfrm>
            <a:off x="1687972" y="4286121"/>
            <a:ext cx="0" cy="671106"/>
          </a:xfrm>
          <a:prstGeom prst="straightConnector1">
            <a:avLst/>
          </a:prstGeom>
          <a:ln w="28575">
            <a:solidFill>
              <a:srgbClr val="2FC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C6EE98D-D7C4-4B25-A924-A56139C1AB2D}"/>
              </a:ext>
            </a:extLst>
          </p:cNvPr>
          <p:cNvCxnSpPr/>
          <p:nvPr/>
        </p:nvCxnSpPr>
        <p:spPr>
          <a:xfrm>
            <a:off x="2488072" y="4277954"/>
            <a:ext cx="0" cy="671106"/>
          </a:xfrm>
          <a:prstGeom prst="straightConnector1">
            <a:avLst/>
          </a:prstGeom>
          <a:ln w="28575">
            <a:solidFill>
              <a:srgbClr val="2FC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B548F10-8EAE-44FF-BACB-609475DAB73E}"/>
              </a:ext>
            </a:extLst>
          </p:cNvPr>
          <p:cNvCxnSpPr/>
          <p:nvPr/>
        </p:nvCxnSpPr>
        <p:spPr>
          <a:xfrm>
            <a:off x="3309944" y="4291564"/>
            <a:ext cx="0" cy="671106"/>
          </a:xfrm>
          <a:prstGeom prst="straightConnector1">
            <a:avLst/>
          </a:prstGeom>
          <a:ln w="28575">
            <a:solidFill>
              <a:srgbClr val="2FC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891F900-7971-4D97-81AE-ED76AC675792}"/>
              </a:ext>
            </a:extLst>
          </p:cNvPr>
          <p:cNvCxnSpPr/>
          <p:nvPr/>
        </p:nvCxnSpPr>
        <p:spPr>
          <a:xfrm>
            <a:off x="4088273" y="4277954"/>
            <a:ext cx="0" cy="671106"/>
          </a:xfrm>
          <a:prstGeom prst="straightConnector1">
            <a:avLst/>
          </a:prstGeom>
          <a:ln w="28575">
            <a:solidFill>
              <a:srgbClr val="2FC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16F2C2D-CA28-4697-B52B-64FEE52E68CA}"/>
              </a:ext>
            </a:extLst>
          </p:cNvPr>
          <p:cNvCxnSpPr/>
          <p:nvPr/>
        </p:nvCxnSpPr>
        <p:spPr>
          <a:xfrm>
            <a:off x="4910145" y="4283400"/>
            <a:ext cx="0" cy="671106"/>
          </a:xfrm>
          <a:prstGeom prst="straightConnector1">
            <a:avLst/>
          </a:prstGeom>
          <a:ln w="28575">
            <a:solidFill>
              <a:srgbClr val="2FC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3A618C6-A66F-446B-A05B-8969787B7440}"/>
              </a:ext>
            </a:extLst>
          </p:cNvPr>
          <p:cNvCxnSpPr/>
          <p:nvPr/>
        </p:nvCxnSpPr>
        <p:spPr>
          <a:xfrm>
            <a:off x="5710245" y="4291561"/>
            <a:ext cx="0" cy="671106"/>
          </a:xfrm>
          <a:prstGeom prst="straightConnector1">
            <a:avLst/>
          </a:prstGeom>
          <a:ln w="28575">
            <a:solidFill>
              <a:srgbClr val="2FC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62E60E5-5AC1-4D7D-9E14-29BFD7C72746}"/>
              </a:ext>
            </a:extLst>
          </p:cNvPr>
          <p:cNvCxnSpPr/>
          <p:nvPr/>
        </p:nvCxnSpPr>
        <p:spPr>
          <a:xfrm>
            <a:off x="6532117" y="4280679"/>
            <a:ext cx="0" cy="671106"/>
          </a:xfrm>
          <a:prstGeom prst="straightConnector1">
            <a:avLst/>
          </a:prstGeom>
          <a:ln w="28575">
            <a:solidFill>
              <a:srgbClr val="2FC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B6C4854-0643-4DC9-9552-7E772BF8DC89}"/>
              </a:ext>
            </a:extLst>
          </p:cNvPr>
          <p:cNvCxnSpPr/>
          <p:nvPr/>
        </p:nvCxnSpPr>
        <p:spPr>
          <a:xfrm>
            <a:off x="7272352" y="4253459"/>
            <a:ext cx="0" cy="671106"/>
          </a:xfrm>
          <a:prstGeom prst="straightConnector1">
            <a:avLst/>
          </a:prstGeom>
          <a:ln w="28575">
            <a:solidFill>
              <a:srgbClr val="2FC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C815423-A197-420A-AAB0-BF6B1FC3B477}"/>
              </a:ext>
            </a:extLst>
          </p:cNvPr>
          <p:cNvCxnSpPr/>
          <p:nvPr/>
        </p:nvCxnSpPr>
        <p:spPr>
          <a:xfrm>
            <a:off x="8094224" y="4250741"/>
            <a:ext cx="0" cy="671106"/>
          </a:xfrm>
          <a:prstGeom prst="straightConnector1">
            <a:avLst/>
          </a:prstGeom>
          <a:ln w="28575">
            <a:solidFill>
              <a:srgbClr val="2FC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0E52952-3FA6-4D1D-B33E-8EF8CDB94520}"/>
                  </a:ext>
                </a:extLst>
              </p:cNvPr>
              <p:cNvSpPr/>
              <p:nvPr/>
            </p:nvSpPr>
            <p:spPr>
              <a:xfrm>
                <a:off x="8599115" y="4091531"/>
                <a:ext cx="2391680" cy="8711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2FC9FF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2FC9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2FC9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 smtClean="0">
                          <a:solidFill>
                            <a:srgbClr val="2FC9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2FC9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rgbClr val="2FC9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2FC9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2FC9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2FC9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2FC9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2FC9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solidFill>
                            <a:srgbClr val="2FC9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2FC9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en-US" b="0" i="1" smtClean="0">
                          <a:solidFill>
                            <a:srgbClr val="2FC9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13</m:t>
                      </m:r>
                    </m:oMath>
                  </m:oMathPara>
                </a14:m>
                <a:endParaRPr lang="en-US" dirty="0">
                  <a:solidFill>
                    <a:srgbClr val="2FC9FF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0E52952-3FA6-4D1D-B33E-8EF8CDB945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9115" y="4091531"/>
                <a:ext cx="2391680" cy="8711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5E2A1154-B15D-425E-A881-F524E7CD4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269843"/>
              </p:ext>
            </p:extLst>
          </p:nvPr>
        </p:nvGraphicFramePr>
        <p:xfrm>
          <a:off x="232623" y="5718369"/>
          <a:ext cx="10823124" cy="923838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832548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32548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32548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32548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32548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32548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  <a:gridCol w="832548">
                  <a:extLst>
                    <a:ext uri="{9D8B030D-6E8A-4147-A177-3AD203B41FA5}">
                      <a16:colId xmlns:a16="http://schemas.microsoft.com/office/drawing/2014/main" val="2876755637"/>
                    </a:ext>
                  </a:extLst>
                </a:gridCol>
                <a:gridCol w="832548">
                  <a:extLst>
                    <a:ext uri="{9D8B030D-6E8A-4147-A177-3AD203B41FA5}">
                      <a16:colId xmlns:a16="http://schemas.microsoft.com/office/drawing/2014/main" val="1865600081"/>
                    </a:ext>
                  </a:extLst>
                </a:gridCol>
                <a:gridCol w="832548">
                  <a:extLst>
                    <a:ext uri="{9D8B030D-6E8A-4147-A177-3AD203B41FA5}">
                      <a16:colId xmlns:a16="http://schemas.microsoft.com/office/drawing/2014/main" val="1528973797"/>
                    </a:ext>
                  </a:extLst>
                </a:gridCol>
                <a:gridCol w="832548">
                  <a:extLst>
                    <a:ext uri="{9D8B030D-6E8A-4147-A177-3AD203B41FA5}">
                      <a16:colId xmlns:a16="http://schemas.microsoft.com/office/drawing/2014/main" val="1402981954"/>
                    </a:ext>
                  </a:extLst>
                </a:gridCol>
                <a:gridCol w="832548">
                  <a:extLst>
                    <a:ext uri="{9D8B030D-6E8A-4147-A177-3AD203B41FA5}">
                      <a16:colId xmlns:a16="http://schemas.microsoft.com/office/drawing/2014/main" val="643810811"/>
                    </a:ext>
                  </a:extLst>
                </a:gridCol>
                <a:gridCol w="832548">
                  <a:extLst>
                    <a:ext uri="{9D8B030D-6E8A-4147-A177-3AD203B41FA5}">
                      <a16:colId xmlns:a16="http://schemas.microsoft.com/office/drawing/2014/main" val="438694757"/>
                    </a:ext>
                  </a:extLst>
                </a:gridCol>
                <a:gridCol w="832548">
                  <a:extLst>
                    <a:ext uri="{9D8B030D-6E8A-4147-A177-3AD203B41FA5}">
                      <a16:colId xmlns:a16="http://schemas.microsoft.com/office/drawing/2014/main" val="2091056514"/>
                    </a:ext>
                  </a:extLst>
                </a:gridCol>
              </a:tblGrid>
              <a:tr h="33537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588465">
                <a:tc>
                  <a:txBody>
                    <a:bodyPr/>
                    <a:lstStyle/>
                    <a:p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(4,6,4)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(9,1,6)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(2,2,1)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(3,8,8)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(4,3,0)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(2,2,4)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(1,8,0)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(4,1,5)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(5,3,3)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(2,9,1)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575889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0C1F5-A6DE-4E12-AEFF-A8F73127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XORing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BAFEB-A34D-4B84-B6F5-E2B4562C8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A slight variation on this theme is to compute an </a:t>
            </a:r>
            <a:r>
              <a:rPr lang="en-US" sz="2200" dirty="0">
                <a:solidFill>
                  <a:srgbClr val="FF0000"/>
                </a:solidFill>
              </a:rPr>
              <a:t>exclusive-or </a:t>
            </a:r>
            <a:r>
              <a:rPr lang="en-US" sz="2200" dirty="0"/>
              <a:t>of all the components of a key, which could be written mathematically as: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pPr marL="118872" indent="0">
              <a:buNone/>
            </a:pPr>
            <a:r>
              <a:rPr lang="en-US" sz="2200" dirty="0"/>
              <a:t>where ⊕</a:t>
            </a:r>
            <a:r>
              <a:rPr lang="en-US" sz="2200" i="1" dirty="0"/>
              <a:t> </a:t>
            </a:r>
            <a:r>
              <a:rPr lang="en-US" sz="2200" dirty="0"/>
              <a:t>denotes the bitwise exclusive-or (XOR) operation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BD5EC-AA0A-4A03-9456-21415F242E6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26/66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1A9DC1-7C4E-4F3B-B032-E01358941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0820" y="3714899"/>
            <a:ext cx="2383216" cy="67400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243723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32C7-F9B2-4363-A099-69DD779CF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E1F8F-9925-44F4-B525-38CA1803EC4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27/66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800D429-AB78-4413-8A4E-2BBEDDF0F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661484"/>
              </p:ext>
            </p:extLst>
          </p:nvPr>
        </p:nvGraphicFramePr>
        <p:xfrm>
          <a:off x="609598" y="2015943"/>
          <a:ext cx="8241780" cy="923838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824178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24178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24178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24178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24178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24178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  <a:gridCol w="824178">
                  <a:extLst>
                    <a:ext uri="{9D8B030D-6E8A-4147-A177-3AD203B41FA5}">
                      <a16:colId xmlns:a16="http://schemas.microsoft.com/office/drawing/2014/main" val="2876755637"/>
                    </a:ext>
                  </a:extLst>
                </a:gridCol>
                <a:gridCol w="824178">
                  <a:extLst>
                    <a:ext uri="{9D8B030D-6E8A-4147-A177-3AD203B41FA5}">
                      <a16:colId xmlns:a16="http://schemas.microsoft.com/office/drawing/2014/main" val="1865600081"/>
                    </a:ext>
                  </a:extLst>
                </a:gridCol>
                <a:gridCol w="824178">
                  <a:extLst>
                    <a:ext uri="{9D8B030D-6E8A-4147-A177-3AD203B41FA5}">
                      <a16:colId xmlns:a16="http://schemas.microsoft.com/office/drawing/2014/main" val="1528973797"/>
                    </a:ext>
                  </a:extLst>
                </a:gridCol>
                <a:gridCol w="824178">
                  <a:extLst>
                    <a:ext uri="{9D8B030D-6E8A-4147-A177-3AD203B41FA5}">
                      <a16:colId xmlns:a16="http://schemas.microsoft.com/office/drawing/2014/main" val="1402981954"/>
                    </a:ext>
                  </a:extLst>
                </a:gridCol>
              </a:tblGrid>
              <a:tr h="33537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58846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(2,9,1)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(3,8,8)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(4,3,0)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(2,2,4)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(5,3,3)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(1,8,0)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(4,1,5)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(9,1,6)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(2,2,1)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(4,6,4)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D980E37-BCEC-4A07-AC74-92D412F85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622758"/>
              </p:ext>
            </p:extLst>
          </p:nvPr>
        </p:nvGraphicFramePr>
        <p:xfrm>
          <a:off x="623205" y="3953449"/>
          <a:ext cx="7920260" cy="543743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792026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2876755637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1865600081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1528973797"/>
                    </a:ext>
                  </a:extLst>
                </a:gridCol>
                <a:gridCol w="792026">
                  <a:extLst>
                    <a:ext uri="{9D8B030D-6E8A-4147-A177-3AD203B41FA5}">
                      <a16:colId xmlns:a16="http://schemas.microsoft.com/office/drawing/2014/main" val="1402981954"/>
                    </a:ext>
                  </a:extLst>
                </a:gridCol>
              </a:tblGrid>
              <a:tr h="54374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00D4209-5BE6-4A79-9166-283050CCAFBC}"/>
              </a:ext>
            </a:extLst>
          </p:cNvPr>
          <p:cNvCxnSpPr/>
          <p:nvPr/>
        </p:nvCxnSpPr>
        <p:spPr>
          <a:xfrm>
            <a:off x="977899" y="3110595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EA9D1C-568B-4C15-8EA8-96F63FA6B571}"/>
              </a:ext>
            </a:extLst>
          </p:cNvPr>
          <p:cNvCxnSpPr/>
          <p:nvPr/>
        </p:nvCxnSpPr>
        <p:spPr>
          <a:xfrm>
            <a:off x="1799771" y="3124205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098F41-1A70-4823-8628-C3D1B8DB0EC2}"/>
              </a:ext>
            </a:extLst>
          </p:cNvPr>
          <p:cNvCxnSpPr/>
          <p:nvPr/>
        </p:nvCxnSpPr>
        <p:spPr>
          <a:xfrm>
            <a:off x="2599871" y="3116038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89DAFD-CFB5-41F7-A8A3-EF154197C242}"/>
              </a:ext>
            </a:extLst>
          </p:cNvPr>
          <p:cNvCxnSpPr/>
          <p:nvPr/>
        </p:nvCxnSpPr>
        <p:spPr>
          <a:xfrm>
            <a:off x="3421743" y="3129648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00A301-9A8E-47C0-9433-141CF9E34EB1}"/>
              </a:ext>
            </a:extLst>
          </p:cNvPr>
          <p:cNvCxnSpPr/>
          <p:nvPr/>
        </p:nvCxnSpPr>
        <p:spPr>
          <a:xfrm>
            <a:off x="4200072" y="3116038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A91C58D-A866-404D-A810-02F92C6E0AFC}"/>
              </a:ext>
            </a:extLst>
          </p:cNvPr>
          <p:cNvCxnSpPr/>
          <p:nvPr/>
        </p:nvCxnSpPr>
        <p:spPr>
          <a:xfrm>
            <a:off x="5021944" y="3121484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8E5A1DD-6D68-4A31-9C4E-F124539F4790}"/>
              </a:ext>
            </a:extLst>
          </p:cNvPr>
          <p:cNvCxnSpPr/>
          <p:nvPr/>
        </p:nvCxnSpPr>
        <p:spPr>
          <a:xfrm>
            <a:off x="5822044" y="3129645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0F9599-644C-414B-ADF4-452AD4716A11}"/>
              </a:ext>
            </a:extLst>
          </p:cNvPr>
          <p:cNvCxnSpPr/>
          <p:nvPr/>
        </p:nvCxnSpPr>
        <p:spPr>
          <a:xfrm>
            <a:off x="6643916" y="3118763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D5BDA67-C16E-42A3-8606-2BC1E3570F7A}"/>
              </a:ext>
            </a:extLst>
          </p:cNvPr>
          <p:cNvCxnSpPr/>
          <p:nvPr/>
        </p:nvCxnSpPr>
        <p:spPr>
          <a:xfrm>
            <a:off x="7384151" y="3091543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0881B2F-1D28-4514-BCF4-4DA345DB7954}"/>
              </a:ext>
            </a:extLst>
          </p:cNvPr>
          <p:cNvCxnSpPr/>
          <p:nvPr/>
        </p:nvCxnSpPr>
        <p:spPr>
          <a:xfrm>
            <a:off x="8206023" y="3088825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5BCB6EF-01D0-4812-8690-CDF96B621752}"/>
                  </a:ext>
                </a:extLst>
              </p:cNvPr>
              <p:cNvSpPr/>
              <p:nvPr/>
            </p:nvSpPr>
            <p:spPr>
              <a:xfrm>
                <a:off x="8365845" y="3212678"/>
                <a:ext cx="1907765" cy="3857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5BCB6EF-01D0-4812-8690-CDF96B6217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5845" y="3212678"/>
                <a:ext cx="1907765" cy="385747"/>
              </a:xfrm>
              <a:prstGeom prst="rect">
                <a:avLst/>
              </a:prstGeom>
              <a:blipFill>
                <a:blip r:embed="rId4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5E2A1154-B15D-425E-A881-F524E7CD4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599767"/>
              </p:ext>
            </p:extLst>
          </p:nvPr>
        </p:nvGraphicFramePr>
        <p:xfrm>
          <a:off x="116070" y="4599572"/>
          <a:ext cx="11990580" cy="923745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799372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799372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799372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799372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799372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799372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  <a:gridCol w="799372">
                  <a:extLst>
                    <a:ext uri="{9D8B030D-6E8A-4147-A177-3AD203B41FA5}">
                      <a16:colId xmlns:a16="http://schemas.microsoft.com/office/drawing/2014/main" val="2876755637"/>
                    </a:ext>
                  </a:extLst>
                </a:gridCol>
                <a:gridCol w="799372">
                  <a:extLst>
                    <a:ext uri="{9D8B030D-6E8A-4147-A177-3AD203B41FA5}">
                      <a16:colId xmlns:a16="http://schemas.microsoft.com/office/drawing/2014/main" val="1865600081"/>
                    </a:ext>
                  </a:extLst>
                </a:gridCol>
                <a:gridCol w="799372">
                  <a:extLst>
                    <a:ext uri="{9D8B030D-6E8A-4147-A177-3AD203B41FA5}">
                      <a16:colId xmlns:a16="http://schemas.microsoft.com/office/drawing/2014/main" val="1528973797"/>
                    </a:ext>
                  </a:extLst>
                </a:gridCol>
                <a:gridCol w="799372">
                  <a:extLst>
                    <a:ext uri="{9D8B030D-6E8A-4147-A177-3AD203B41FA5}">
                      <a16:colId xmlns:a16="http://schemas.microsoft.com/office/drawing/2014/main" val="1402981954"/>
                    </a:ext>
                  </a:extLst>
                </a:gridCol>
                <a:gridCol w="799372">
                  <a:extLst>
                    <a:ext uri="{9D8B030D-6E8A-4147-A177-3AD203B41FA5}">
                      <a16:colId xmlns:a16="http://schemas.microsoft.com/office/drawing/2014/main" val="643810811"/>
                    </a:ext>
                  </a:extLst>
                </a:gridCol>
                <a:gridCol w="799372">
                  <a:extLst>
                    <a:ext uri="{9D8B030D-6E8A-4147-A177-3AD203B41FA5}">
                      <a16:colId xmlns:a16="http://schemas.microsoft.com/office/drawing/2014/main" val="438694757"/>
                    </a:ext>
                  </a:extLst>
                </a:gridCol>
                <a:gridCol w="799372">
                  <a:extLst>
                    <a:ext uri="{9D8B030D-6E8A-4147-A177-3AD203B41FA5}">
                      <a16:colId xmlns:a16="http://schemas.microsoft.com/office/drawing/2014/main" val="2091056514"/>
                    </a:ext>
                  </a:extLst>
                </a:gridCol>
                <a:gridCol w="799372">
                  <a:extLst>
                    <a:ext uri="{9D8B030D-6E8A-4147-A177-3AD203B41FA5}">
                      <a16:colId xmlns:a16="http://schemas.microsoft.com/office/drawing/2014/main" val="3938077551"/>
                    </a:ext>
                  </a:extLst>
                </a:gridCol>
                <a:gridCol w="799372">
                  <a:extLst>
                    <a:ext uri="{9D8B030D-6E8A-4147-A177-3AD203B41FA5}">
                      <a16:colId xmlns:a16="http://schemas.microsoft.com/office/drawing/2014/main" val="1371228900"/>
                    </a:ext>
                  </a:extLst>
                </a:gridCol>
              </a:tblGrid>
              <a:tr h="3168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5884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(4,1,5)</a:t>
                      </a:r>
                      <a:endParaRPr lang="en-US" sz="14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(2,2,1)</a:t>
                      </a:r>
                      <a:endParaRPr lang="en-US" sz="14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 Rounded MT Bold" panose="020F0704030504030204" pitchFamily="34" charset="0"/>
                        </a:rPr>
                        <a:t>(3,8,8)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(2,2,4)</a:t>
                      </a:r>
                      <a:endParaRPr lang="en-US" sz="14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(5,3,3)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(4,6,4)</a:t>
                      </a:r>
                      <a:endParaRPr lang="en-US" sz="14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 Rounded MT Bold" panose="020F0704030504030204" pitchFamily="34" charset="0"/>
                        </a:rPr>
                        <a:t>(4,3,0)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 (1,8,0)</a:t>
                      </a:r>
                      <a:endParaRPr lang="en-US" sz="14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 Rounded MT Bold" panose="020F0704030504030204" pitchFamily="34" charset="0"/>
                        </a:rPr>
                        <a:t>(2,9,1)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(9,1,6)</a:t>
                      </a:r>
                      <a:endParaRPr lang="en-US" sz="1400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136962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0C1F5-A6DE-4E12-AEFF-A8F73127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Summing Components: Collision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BAFEB-A34D-4B84-B6F5-E2B4562C8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75192"/>
            <a:ext cx="11208589" cy="4625609"/>
          </a:xfrm>
        </p:spPr>
        <p:txBody>
          <a:bodyPr>
            <a:normAutofit/>
          </a:bodyPr>
          <a:lstStyle/>
          <a:p>
            <a:r>
              <a:rPr lang="en-US" sz="2200" dirty="0"/>
              <a:t>Unfortunately, </a:t>
            </a:r>
            <a:r>
              <a:rPr lang="en-US" sz="2200" dirty="0">
                <a:solidFill>
                  <a:srgbClr val="FF0000"/>
                </a:solidFill>
              </a:rPr>
              <a:t>such hash functions</a:t>
            </a:r>
            <a:r>
              <a:rPr lang="en-US" sz="2200" dirty="0"/>
              <a:t>, which consist of either summing or XORing the components of each key, are actually </a:t>
            </a:r>
            <a:r>
              <a:rPr lang="en-US" sz="2200" dirty="0">
                <a:solidFill>
                  <a:srgbClr val="FF0000"/>
                </a:solidFill>
              </a:rPr>
              <a:t>not that good </a:t>
            </a:r>
            <a:r>
              <a:rPr lang="en-US" sz="2200" dirty="0"/>
              <a:t>in most applications.</a:t>
            </a:r>
          </a:p>
          <a:p>
            <a:r>
              <a:rPr lang="en-US" sz="2200" dirty="0"/>
              <a:t>Such a function is fairly poor at avoiding </a:t>
            </a:r>
            <a:r>
              <a:rPr lang="en-US" sz="2200" dirty="0">
                <a:solidFill>
                  <a:srgbClr val="00B050"/>
                </a:solidFill>
              </a:rPr>
              <a:t>collisions</a:t>
            </a:r>
            <a:r>
              <a:rPr lang="en-US" sz="2200" dirty="0"/>
              <a:t> for some cases.</a:t>
            </a:r>
          </a:p>
          <a:p>
            <a:endParaRPr lang="en-US" sz="2200" dirty="0"/>
          </a:p>
          <a:p>
            <a:r>
              <a:rPr lang="en-US" sz="2200" dirty="0"/>
              <a:t>For example, consider such a hash function for a character string </a:t>
            </a:r>
            <a:r>
              <a:rPr lang="en-US" sz="2200" i="1" dirty="0"/>
              <a:t>s </a:t>
            </a:r>
            <a:r>
              <a:rPr lang="en-US" sz="2200" dirty="0"/>
              <a:t>that </a:t>
            </a:r>
            <a:r>
              <a:rPr lang="en-US" sz="2200" dirty="0">
                <a:solidFill>
                  <a:srgbClr val="7030A0"/>
                </a:solidFill>
              </a:rPr>
              <a:t>sums the ASCII values </a:t>
            </a:r>
            <a:r>
              <a:rPr lang="en-US" sz="2200" dirty="0"/>
              <a:t>of the characters in </a:t>
            </a:r>
            <a:r>
              <a:rPr lang="en-US" sz="2200" i="1" dirty="0"/>
              <a:t>s</a:t>
            </a:r>
            <a:r>
              <a:rPr lang="en-US" sz="2200" dirty="0"/>
              <a:t>. </a:t>
            </a:r>
          </a:p>
          <a:p>
            <a:r>
              <a:rPr lang="en-US" sz="2200" dirty="0"/>
              <a:t>This hash function produces lots of unwanted collisions  for some words such as: </a:t>
            </a:r>
          </a:p>
          <a:p>
            <a:pPr marL="118872" indent="0" algn="ctr">
              <a:buNone/>
            </a:pPr>
            <a:r>
              <a:rPr lang="en-US" sz="2200" dirty="0">
                <a:solidFill>
                  <a:srgbClr val="2FC9FF"/>
                </a:solidFill>
              </a:rPr>
              <a:t>"stop", "tops", "pots", "spot"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8B66E-A6FB-48A6-9DFC-55C6CC253A3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28/66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22431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B43DA-0299-4FE7-9577-9AC44A405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Polynomial-Evaluation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EB09F5-C602-4A24-B887-A661D9FE17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7"/>
                <a:ext cx="11029615" cy="2791554"/>
              </a:xfrm>
            </p:spPr>
            <p:txBody>
              <a:bodyPr>
                <a:normAutofit/>
              </a:bodyPr>
              <a:lstStyle/>
              <a:p>
                <a:r>
                  <a:rPr lang="en-US" sz="2200" dirty="0"/>
                  <a:t>A better hash code in such cases should somehow </a:t>
                </a:r>
                <a:r>
                  <a:rPr lang="en-US" sz="2200" dirty="0">
                    <a:solidFill>
                      <a:srgbClr val="00B050"/>
                    </a:solidFill>
                  </a:rPr>
                  <a:t>take into consideration the positions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00B050"/>
                    </a:solidFill>
                  </a:rPr>
                  <a:t>’s</a:t>
                </a:r>
                <a:r>
                  <a:rPr lang="en-US" sz="2200" dirty="0"/>
                  <a:t>. That is, each index, </a:t>
                </a:r>
                <a:r>
                  <a:rPr lang="en-US" sz="2200" dirty="0" err="1"/>
                  <a:t>i</a:t>
                </a:r>
                <a:r>
                  <a:rPr lang="en-US" sz="2200" dirty="0"/>
                  <a:t>, should play a role in the hash function in some way.</a:t>
                </a:r>
              </a:p>
              <a:p>
                <a:r>
                  <a:rPr lang="en-US" sz="2200" dirty="0"/>
                  <a:t>Choose a nonzero constant,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200" dirty="0"/>
                  <a:t>, and use as a hash function the following:</a:t>
                </a:r>
              </a:p>
              <a:p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EB09F5-C602-4A24-B887-A661D9FE17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7"/>
                <a:ext cx="11029615" cy="2791554"/>
              </a:xfrm>
              <a:blipFill>
                <a:blip r:embed="rId4"/>
                <a:stretch>
                  <a:fillRect l="-3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92E42-8330-4E04-860A-486A27D43C9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29/66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559ED3-2991-4A8E-A609-DABA294DA4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0185" y="4417063"/>
            <a:ext cx="7651630" cy="6560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589963-9A0F-4798-8C9E-8BB6DD7316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7479" y="5560074"/>
            <a:ext cx="9640452" cy="65600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8E7638-F69E-402A-BF96-A7B8D8403198}"/>
              </a:ext>
            </a:extLst>
          </p:cNvPr>
          <p:cNvSpPr txBox="1"/>
          <p:nvPr/>
        </p:nvSpPr>
        <p:spPr>
          <a:xfrm>
            <a:off x="853010" y="5191900"/>
            <a:ext cx="1695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By Horner’s rule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2340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32C7-F9B2-4363-A099-69DD779CF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E1F8F-9925-44F4-B525-38CA1803EC4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30/66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800D429-AB78-4413-8A4E-2BBEDDF0F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62136"/>
              </p:ext>
            </p:extLst>
          </p:nvPr>
        </p:nvGraphicFramePr>
        <p:xfrm>
          <a:off x="609598" y="1942465"/>
          <a:ext cx="8314930" cy="923838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831493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31493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31493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31493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31493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31493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  <a:gridCol w="831493">
                  <a:extLst>
                    <a:ext uri="{9D8B030D-6E8A-4147-A177-3AD203B41FA5}">
                      <a16:colId xmlns:a16="http://schemas.microsoft.com/office/drawing/2014/main" val="2876755637"/>
                    </a:ext>
                  </a:extLst>
                </a:gridCol>
                <a:gridCol w="831493">
                  <a:extLst>
                    <a:ext uri="{9D8B030D-6E8A-4147-A177-3AD203B41FA5}">
                      <a16:colId xmlns:a16="http://schemas.microsoft.com/office/drawing/2014/main" val="1865600081"/>
                    </a:ext>
                  </a:extLst>
                </a:gridCol>
                <a:gridCol w="831493">
                  <a:extLst>
                    <a:ext uri="{9D8B030D-6E8A-4147-A177-3AD203B41FA5}">
                      <a16:colId xmlns:a16="http://schemas.microsoft.com/office/drawing/2014/main" val="1528973797"/>
                    </a:ext>
                  </a:extLst>
                </a:gridCol>
                <a:gridCol w="831493">
                  <a:extLst>
                    <a:ext uri="{9D8B030D-6E8A-4147-A177-3AD203B41FA5}">
                      <a16:colId xmlns:a16="http://schemas.microsoft.com/office/drawing/2014/main" val="1402981954"/>
                    </a:ext>
                  </a:extLst>
                </a:gridCol>
              </a:tblGrid>
              <a:tr h="33537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58846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(2,9,1)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(3,8,8)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(4,3,0)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(2,2,4)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(5,3,3)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(1,8,0)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(4,1,5)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(9,1,6)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(2,2,1)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(4,6,4)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D980E37-BCEC-4A07-AC74-92D412F85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187255"/>
              </p:ext>
            </p:extLst>
          </p:nvPr>
        </p:nvGraphicFramePr>
        <p:xfrm>
          <a:off x="623204" y="3879971"/>
          <a:ext cx="8301320" cy="543743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830132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30132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30132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30132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30132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30132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  <a:gridCol w="830132">
                  <a:extLst>
                    <a:ext uri="{9D8B030D-6E8A-4147-A177-3AD203B41FA5}">
                      <a16:colId xmlns:a16="http://schemas.microsoft.com/office/drawing/2014/main" val="2876755637"/>
                    </a:ext>
                  </a:extLst>
                </a:gridCol>
                <a:gridCol w="830132">
                  <a:extLst>
                    <a:ext uri="{9D8B030D-6E8A-4147-A177-3AD203B41FA5}">
                      <a16:colId xmlns:a16="http://schemas.microsoft.com/office/drawing/2014/main" val="1865600081"/>
                    </a:ext>
                  </a:extLst>
                </a:gridCol>
                <a:gridCol w="830132">
                  <a:extLst>
                    <a:ext uri="{9D8B030D-6E8A-4147-A177-3AD203B41FA5}">
                      <a16:colId xmlns:a16="http://schemas.microsoft.com/office/drawing/2014/main" val="1528973797"/>
                    </a:ext>
                  </a:extLst>
                </a:gridCol>
                <a:gridCol w="830132">
                  <a:extLst>
                    <a:ext uri="{9D8B030D-6E8A-4147-A177-3AD203B41FA5}">
                      <a16:colId xmlns:a16="http://schemas.microsoft.com/office/drawing/2014/main" val="1402981954"/>
                    </a:ext>
                  </a:extLst>
                </a:gridCol>
              </a:tblGrid>
              <a:tr h="54374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27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36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22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29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23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44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32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00D4209-5BE6-4A79-9166-283050CCAFBC}"/>
              </a:ext>
            </a:extLst>
          </p:cNvPr>
          <p:cNvCxnSpPr/>
          <p:nvPr/>
        </p:nvCxnSpPr>
        <p:spPr>
          <a:xfrm>
            <a:off x="977899" y="3037117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EA9D1C-568B-4C15-8EA8-96F63FA6B571}"/>
              </a:ext>
            </a:extLst>
          </p:cNvPr>
          <p:cNvCxnSpPr/>
          <p:nvPr/>
        </p:nvCxnSpPr>
        <p:spPr>
          <a:xfrm>
            <a:off x="1808915" y="3050727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098F41-1A70-4823-8628-C3D1B8DB0EC2}"/>
              </a:ext>
            </a:extLst>
          </p:cNvPr>
          <p:cNvCxnSpPr/>
          <p:nvPr/>
        </p:nvCxnSpPr>
        <p:spPr>
          <a:xfrm>
            <a:off x="2673023" y="3042560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89DAFD-CFB5-41F7-A8A3-EF154197C242}"/>
              </a:ext>
            </a:extLst>
          </p:cNvPr>
          <p:cNvCxnSpPr/>
          <p:nvPr/>
        </p:nvCxnSpPr>
        <p:spPr>
          <a:xfrm>
            <a:off x="3494895" y="3056170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00A301-9A8E-47C0-9433-141CF9E34EB1}"/>
              </a:ext>
            </a:extLst>
          </p:cNvPr>
          <p:cNvCxnSpPr/>
          <p:nvPr/>
        </p:nvCxnSpPr>
        <p:spPr>
          <a:xfrm>
            <a:off x="4410384" y="3042560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A91C58D-A866-404D-A810-02F92C6E0AFC}"/>
              </a:ext>
            </a:extLst>
          </p:cNvPr>
          <p:cNvCxnSpPr/>
          <p:nvPr/>
        </p:nvCxnSpPr>
        <p:spPr>
          <a:xfrm>
            <a:off x="5232256" y="3048006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8E5A1DD-6D68-4A31-9C4E-F124539F4790}"/>
              </a:ext>
            </a:extLst>
          </p:cNvPr>
          <p:cNvCxnSpPr/>
          <p:nvPr/>
        </p:nvCxnSpPr>
        <p:spPr>
          <a:xfrm>
            <a:off x="6032356" y="3056167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0F9599-644C-414B-ADF4-452AD4716A11}"/>
              </a:ext>
            </a:extLst>
          </p:cNvPr>
          <p:cNvCxnSpPr/>
          <p:nvPr/>
        </p:nvCxnSpPr>
        <p:spPr>
          <a:xfrm>
            <a:off x="6854228" y="3045285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D5BDA67-C16E-42A3-8606-2BC1E3570F7A}"/>
              </a:ext>
            </a:extLst>
          </p:cNvPr>
          <p:cNvCxnSpPr/>
          <p:nvPr/>
        </p:nvCxnSpPr>
        <p:spPr>
          <a:xfrm>
            <a:off x="7594463" y="3018065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0881B2F-1D28-4514-BCF4-4DA345DB7954}"/>
              </a:ext>
            </a:extLst>
          </p:cNvPr>
          <p:cNvCxnSpPr/>
          <p:nvPr/>
        </p:nvCxnSpPr>
        <p:spPr>
          <a:xfrm>
            <a:off x="8416335" y="3015347"/>
            <a:ext cx="0" cy="671106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5E2A1154-B15D-425E-A881-F524E7CD4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528114"/>
              </p:ext>
            </p:extLst>
          </p:nvPr>
        </p:nvGraphicFramePr>
        <p:xfrm>
          <a:off x="116071" y="4526094"/>
          <a:ext cx="11912911" cy="923745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16636">
                  <a:extLst>
                    <a:ext uri="{9D8B030D-6E8A-4147-A177-3AD203B41FA5}">
                      <a16:colId xmlns:a16="http://schemas.microsoft.com/office/drawing/2014/main" val="989300699"/>
                    </a:ext>
                  </a:extLst>
                </a:gridCol>
                <a:gridCol w="84769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360620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16429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08214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  <a:gridCol w="824593">
                  <a:extLst>
                    <a:ext uri="{9D8B030D-6E8A-4147-A177-3AD203B41FA5}">
                      <a16:colId xmlns:a16="http://schemas.microsoft.com/office/drawing/2014/main" val="2876755637"/>
                    </a:ext>
                  </a:extLst>
                </a:gridCol>
                <a:gridCol w="849086">
                  <a:extLst>
                    <a:ext uri="{9D8B030D-6E8A-4147-A177-3AD203B41FA5}">
                      <a16:colId xmlns:a16="http://schemas.microsoft.com/office/drawing/2014/main" val="1865600081"/>
                    </a:ext>
                  </a:extLst>
                </a:gridCol>
                <a:gridCol w="208679">
                  <a:extLst>
                    <a:ext uri="{9D8B030D-6E8A-4147-A177-3AD203B41FA5}">
                      <a16:colId xmlns:a16="http://schemas.microsoft.com/office/drawing/2014/main" val="1528973797"/>
                    </a:ext>
                  </a:extLst>
                </a:gridCol>
                <a:gridCol w="1015964">
                  <a:extLst>
                    <a:ext uri="{9D8B030D-6E8A-4147-A177-3AD203B41FA5}">
                      <a16:colId xmlns:a16="http://schemas.microsoft.com/office/drawing/2014/main" val="1402981954"/>
                    </a:ext>
                  </a:extLst>
                </a:gridCol>
                <a:gridCol w="391885">
                  <a:extLst>
                    <a:ext uri="{9D8B030D-6E8A-4147-A177-3AD203B41FA5}">
                      <a16:colId xmlns:a16="http://schemas.microsoft.com/office/drawing/2014/main" val="643810811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438694757"/>
                    </a:ext>
                  </a:extLst>
                </a:gridCol>
                <a:gridCol w="416379">
                  <a:extLst>
                    <a:ext uri="{9D8B030D-6E8A-4147-A177-3AD203B41FA5}">
                      <a16:colId xmlns:a16="http://schemas.microsoft.com/office/drawing/2014/main" val="836006628"/>
                    </a:ext>
                  </a:extLst>
                </a:gridCol>
                <a:gridCol w="889907">
                  <a:extLst>
                    <a:ext uri="{9D8B030D-6E8A-4147-A177-3AD203B41FA5}">
                      <a16:colId xmlns:a16="http://schemas.microsoft.com/office/drawing/2014/main" val="2091056514"/>
                    </a:ext>
                  </a:extLst>
                </a:gridCol>
                <a:gridCol w="351064">
                  <a:extLst>
                    <a:ext uri="{9D8B030D-6E8A-4147-A177-3AD203B41FA5}">
                      <a16:colId xmlns:a16="http://schemas.microsoft.com/office/drawing/2014/main" val="3037963276"/>
                    </a:ext>
                  </a:extLst>
                </a:gridCol>
                <a:gridCol w="865414">
                  <a:extLst>
                    <a:ext uri="{9D8B030D-6E8A-4147-A177-3AD203B41FA5}">
                      <a16:colId xmlns:a16="http://schemas.microsoft.com/office/drawing/2014/main" val="3938077551"/>
                    </a:ext>
                  </a:extLst>
                </a:gridCol>
                <a:gridCol w="241010">
                  <a:extLst>
                    <a:ext uri="{9D8B030D-6E8A-4147-A177-3AD203B41FA5}">
                      <a16:colId xmlns:a16="http://schemas.microsoft.com/office/drawing/2014/main" val="3861042331"/>
                    </a:ext>
                  </a:extLst>
                </a:gridCol>
                <a:gridCol w="864158">
                  <a:extLst>
                    <a:ext uri="{9D8B030D-6E8A-4147-A177-3AD203B41FA5}">
                      <a16:colId xmlns:a16="http://schemas.microsoft.com/office/drawing/2014/main" val="1371228900"/>
                    </a:ext>
                  </a:extLst>
                </a:gridCol>
              </a:tblGrid>
              <a:tr h="3168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16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…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22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23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27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29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32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36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9900"/>
                          </a:solidFill>
                          <a:latin typeface="Arial Rounded MT Bold" panose="020F0704030504030204" pitchFamily="34" charset="0"/>
                        </a:rPr>
                        <a:t>44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5884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(2,2,1)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(2,2,4)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  <a:p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(1,8,0)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(4,3,0)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(4,1,5)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(2,9,1)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(5,3,3)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(4,6,4)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(3,8,8)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(9,1,6)</a:t>
                      </a: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4038FDD-387D-41A9-8556-5E962612F23F}"/>
                  </a:ext>
                </a:extLst>
              </p:cNvPr>
              <p:cNvSpPr/>
              <p:nvPr/>
            </p:nvSpPr>
            <p:spPr>
              <a:xfrm>
                <a:off x="8717303" y="2880541"/>
                <a:ext cx="1958870" cy="8711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3−</m:t>
                                  </m:r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4038FDD-387D-41A9-8556-5E962612F2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7303" y="2880541"/>
                <a:ext cx="1958870" cy="8711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7385710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9EC02-0D11-49BE-8FCF-43AC4C2AF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Tabulation-based hash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635C9D-17CC-4278-AFE4-4CF34CA0B3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5825" y="1663049"/>
                <a:ext cx="11240220" cy="462560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/>
                  <a:t>Assume that all our keys are of the form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, . . . , 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 err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, for a fixed </a:t>
                </a:r>
                <a:r>
                  <a:rPr lang="en-US" sz="2400" i="1" dirty="0"/>
                  <a:t>d</a:t>
                </a:r>
                <a:r>
                  <a:rPr lang="en-US" sz="2400" dirty="0"/>
                  <a:t>, and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is in the range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− 1]</m:t>
                    </m:r>
                  </m:oMath>
                </a14:m>
                <a:r>
                  <a:rPr lang="en-US" sz="2400" dirty="0"/>
                  <a:t>. Then we  can initialize </a:t>
                </a:r>
                <a:r>
                  <a:rPr lang="en-US" sz="2400" i="1" dirty="0">
                    <a:solidFill>
                      <a:srgbClr val="FF0000"/>
                    </a:solidFill>
                  </a:rPr>
                  <a:t>d </a:t>
                </a:r>
                <a:r>
                  <a:rPr lang="en-US" sz="2400" dirty="0">
                    <a:solidFill>
                      <a:srgbClr val="FF0000"/>
                    </a:solidFill>
                  </a:rPr>
                  <a:t>tables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, . . . ,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2400" dirty="0"/>
                  <a:t>, of </a:t>
                </a:r>
                <a:r>
                  <a:rPr lang="en-US" sz="2400" dirty="0">
                    <a:solidFill>
                      <a:srgbClr val="FF0000"/>
                    </a:solidFill>
                  </a:rPr>
                  <a:t>size </a:t>
                </a:r>
                <a:r>
                  <a:rPr lang="en-US" sz="2400" i="1" dirty="0">
                    <a:solidFill>
                      <a:srgbClr val="FF0000"/>
                    </a:solidFill>
                  </a:rPr>
                  <a:t>M </a:t>
                </a:r>
                <a:r>
                  <a:rPr lang="en-US" sz="2400" dirty="0">
                    <a:solidFill>
                      <a:srgbClr val="FF0000"/>
                    </a:solidFill>
                  </a:rPr>
                  <a:t>each</a:t>
                </a:r>
                <a:r>
                  <a:rPr lang="en-US" sz="2400" dirty="0"/>
                  <a:t>, so that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is a uniformly chosen independent </a:t>
                </a:r>
                <a:r>
                  <a:rPr lang="en-US" sz="2400" dirty="0">
                    <a:solidFill>
                      <a:srgbClr val="00B0F0"/>
                    </a:solidFill>
                  </a:rPr>
                  <a:t>random number in the range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− 1]</m:t>
                    </m:r>
                  </m:oMath>
                </a14:m>
                <a:r>
                  <a:rPr lang="en-US" sz="2400" dirty="0">
                    <a:solidFill>
                      <a:srgbClr val="00B0F0"/>
                    </a:solidFill>
                  </a:rPr>
                  <a:t>. </a:t>
                </a:r>
                <a:r>
                  <a:rPr lang="en-US" sz="2400" dirty="0"/>
                  <a:t>We then can compute the hash function,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as:</a:t>
                </a:r>
              </a:p>
              <a:p>
                <a:pPr marL="118872" indent="0">
                  <a:lnSpc>
                    <a:spcPct val="150000"/>
                  </a:lnSpc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635C9D-17CC-4278-AFE4-4CF34CA0B3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5825" y="1663049"/>
                <a:ext cx="11240220" cy="4625609"/>
              </a:xfrm>
              <a:blipFill>
                <a:blip r:embed="rId4"/>
                <a:stretch>
                  <a:fillRect l="-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AE1ACF-6924-475B-A380-0461CC999F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31/66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6074E6-276E-408E-B575-E51323B9B1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3873" y="5506156"/>
            <a:ext cx="6223942" cy="7059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4611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32C7-F9B2-4363-A099-69DD779CF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E1F8F-9925-44F4-B525-38CA1803EC4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32/66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800D429-AB78-4413-8A4E-2BBEDDF0F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76779"/>
              </p:ext>
            </p:extLst>
          </p:nvPr>
        </p:nvGraphicFramePr>
        <p:xfrm>
          <a:off x="2123788" y="1839933"/>
          <a:ext cx="7174557" cy="954225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797173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797173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797173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797173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797173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797173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  <a:gridCol w="797173">
                  <a:extLst>
                    <a:ext uri="{9D8B030D-6E8A-4147-A177-3AD203B41FA5}">
                      <a16:colId xmlns:a16="http://schemas.microsoft.com/office/drawing/2014/main" val="2876755637"/>
                    </a:ext>
                  </a:extLst>
                </a:gridCol>
                <a:gridCol w="797173">
                  <a:extLst>
                    <a:ext uri="{9D8B030D-6E8A-4147-A177-3AD203B41FA5}">
                      <a16:colId xmlns:a16="http://schemas.microsoft.com/office/drawing/2014/main" val="1865600081"/>
                    </a:ext>
                  </a:extLst>
                </a:gridCol>
                <a:gridCol w="797173">
                  <a:extLst>
                    <a:ext uri="{9D8B030D-6E8A-4147-A177-3AD203B41FA5}">
                      <a16:colId xmlns:a16="http://schemas.microsoft.com/office/drawing/2014/main" val="2808082690"/>
                    </a:ext>
                  </a:extLst>
                </a:gridCol>
              </a:tblGrid>
              <a:tr h="3353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588465">
                <a:tc>
                  <a:txBody>
                    <a:bodyPr/>
                    <a:lstStyle/>
                    <a:p>
                      <a:r>
                        <a:rPr lang="en-US" dirty="0"/>
                        <a:t>(2,4,1)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(3,7,6)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(4,3,0)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mss10"/>
                          <a:ea typeface="+mn-ea"/>
                          <a:cs typeface="+mn-cs"/>
                        </a:rPr>
                        <a:t>(2,2,4)</a:t>
                      </a:r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mss10"/>
                          <a:ea typeface="+mn-ea"/>
                          <a:cs typeface="+mn-cs"/>
                        </a:rPr>
                        <a:t>(5,3,3)</a:t>
                      </a:r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mss10"/>
                          <a:ea typeface="+mn-ea"/>
                          <a:cs typeface="+mn-cs"/>
                        </a:rPr>
                        <a:t>(1,2,0)</a:t>
                      </a:r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mss10"/>
                          <a:ea typeface="+mn-ea"/>
                          <a:cs typeface="+mn-cs"/>
                        </a:rPr>
                        <a:t>(4,1,5)</a:t>
                      </a:r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mss10"/>
                          <a:ea typeface="+mn-ea"/>
                          <a:cs typeface="+mn-cs"/>
                        </a:rPr>
                        <a:t>(5,1,6)</a:t>
                      </a:r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mss10"/>
                          <a:ea typeface="+mn-ea"/>
                          <a:cs typeface="+mn-cs"/>
                        </a:rPr>
                        <a:t>(2,1,6)</a:t>
                      </a:r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3328A34-8093-4BAB-889C-9DA58B0A5883}"/>
                  </a:ext>
                </a:extLst>
              </p:cNvPr>
              <p:cNvSpPr txBox="1"/>
              <p:nvPr/>
            </p:nvSpPr>
            <p:spPr>
              <a:xfrm>
                <a:off x="6219139" y="3025349"/>
                <a:ext cx="4457182" cy="1015663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US" sz="2000" dirty="0">
                  <a:solidFill>
                    <a:srgbClr val="7030A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000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en-US" sz="2000" b="0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0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[0,</m:t>
                      </m:r>
                      <m:r>
                        <a:rPr lang="en-US" sz="20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0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−1]=[0,7]</m:t>
                      </m:r>
                    </m:oMath>
                  </m:oMathPara>
                </a14:m>
                <a:endParaRPr lang="en-US" sz="2000" dirty="0">
                  <a:solidFill>
                    <a:srgbClr val="7030A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0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=11⇒[0,</m:t>
                      </m:r>
                      <m:r>
                        <a:rPr lang="en-US" sz="20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0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−1]={0,1,2,3,…,10}</m:t>
                      </m:r>
                    </m:oMath>
                  </m:oMathPara>
                </a14:m>
                <a:endParaRPr lang="en-US" sz="20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3328A34-8093-4BAB-889C-9DA58B0A5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9139" y="3025349"/>
                <a:ext cx="4457182" cy="1015663"/>
              </a:xfrm>
              <a:prstGeom prst="rect">
                <a:avLst/>
              </a:prstGeom>
              <a:blipFill>
                <a:blip r:embed="rId4"/>
                <a:stretch>
                  <a:fillRect b="-4734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17368ED-A8E1-4FC4-9EB9-A2A1838308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8824595"/>
                  </p:ext>
                </p:extLst>
              </p:nvPr>
            </p:nvGraphicFramePr>
            <p:xfrm>
              <a:off x="1845129" y="2883081"/>
              <a:ext cx="862864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51155">
                      <a:extLst>
                        <a:ext uri="{9D8B030D-6E8A-4147-A177-3AD203B41FA5}">
                          <a16:colId xmlns:a16="http://schemas.microsoft.com/office/drawing/2014/main" val="3491925400"/>
                        </a:ext>
                      </a:extLst>
                    </a:gridCol>
                    <a:gridCol w="511709">
                      <a:extLst>
                        <a:ext uri="{9D8B030D-6E8A-4147-A177-3AD203B41FA5}">
                          <a16:colId xmlns:a16="http://schemas.microsoft.com/office/drawing/2014/main" val="36164561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155776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374807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2567066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020693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9250831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835183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2515157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7776150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672193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17368ED-A8E1-4FC4-9EB9-A2A1838308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8824595"/>
                  </p:ext>
                </p:extLst>
              </p:nvPr>
            </p:nvGraphicFramePr>
            <p:xfrm>
              <a:off x="1845129" y="2883081"/>
              <a:ext cx="862864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51155">
                      <a:extLst>
                        <a:ext uri="{9D8B030D-6E8A-4147-A177-3AD203B41FA5}">
                          <a16:colId xmlns:a16="http://schemas.microsoft.com/office/drawing/2014/main" val="3491925400"/>
                        </a:ext>
                      </a:extLst>
                    </a:gridCol>
                    <a:gridCol w="511709">
                      <a:extLst>
                        <a:ext uri="{9D8B030D-6E8A-4147-A177-3AD203B41FA5}">
                          <a16:colId xmlns:a16="http://schemas.microsoft.com/office/drawing/2014/main" val="36164561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8235" r="-2353" b="-8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5776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374807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2567066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020693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9250831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835183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2515157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7776150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6721937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99BB23DB-DCAA-42C0-85A7-6CFA8AD210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4977564"/>
                  </p:ext>
                </p:extLst>
              </p:nvPr>
            </p:nvGraphicFramePr>
            <p:xfrm>
              <a:off x="3286861" y="2883081"/>
              <a:ext cx="862864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51155">
                      <a:extLst>
                        <a:ext uri="{9D8B030D-6E8A-4147-A177-3AD203B41FA5}">
                          <a16:colId xmlns:a16="http://schemas.microsoft.com/office/drawing/2014/main" val="3491925400"/>
                        </a:ext>
                      </a:extLst>
                    </a:gridCol>
                    <a:gridCol w="511709">
                      <a:extLst>
                        <a:ext uri="{9D8B030D-6E8A-4147-A177-3AD203B41FA5}">
                          <a16:colId xmlns:a16="http://schemas.microsoft.com/office/drawing/2014/main" val="36164561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155776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374807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2567066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020693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9250831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835183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2515157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7776150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672193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99BB23DB-DCAA-42C0-85A7-6CFA8AD210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4977564"/>
                  </p:ext>
                </p:extLst>
              </p:nvPr>
            </p:nvGraphicFramePr>
            <p:xfrm>
              <a:off x="3286861" y="2883081"/>
              <a:ext cx="862864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51155">
                      <a:extLst>
                        <a:ext uri="{9D8B030D-6E8A-4147-A177-3AD203B41FA5}">
                          <a16:colId xmlns:a16="http://schemas.microsoft.com/office/drawing/2014/main" val="3491925400"/>
                        </a:ext>
                      </a:extLst>
                    </a:gridCol>
                    <a:gridCol w="511709">
                      <a:extLst>
                        <a:ext uri="{9D8B030D-6E8A-4147-A177-3AD203B41FA5}">
                          <a16:colId xmlns:a16="http://schemas.microsoft.com/office/drawing/2014/main" val="36164561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69048" r="-2381" b="-8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5776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374807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2567066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020693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9250831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835183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2515157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7776150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6721937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952838F8-EB2E-4D23-9011-894D57307B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3340517"/>
                  </p:ext>
                </p:extLst>
              </p:nvPr>
            </p:nvGraphicFramePr>
            <p:xfrm>
              <a:off x="4587177" y="2883081"/>
              <a:ext cx="862864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51155">
                      <a:extLst>
                        <a:ext uri="{9D8B030D-6E8A-4147-A177-3AD203B41FA5}">
                          <a16:colId xmlns:a16="http://schemas.microsoft.com/office/drawing/2014/main" val="3491925400"/>
                        </a:ext>
                      </a:extLst>
                    </a:gridCol>
                    <a:gridCol w="511709">
                      <a:extLst>
                        <a:ext uri="{9D8B030D-6E8A-4147-A177-3AD203B41FA5}">
                          <a16:colId xmlns:a16="http://schemas.microsoft.com/office/drawing/2014/main" val="36164561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155776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374807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2567066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020693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9250831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835183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2515157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7776150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672193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952838F8-EB2E-4D23-9011-894D57307B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3340517"/>
                  </p:ext>
                </p:extLst>
              </p:nvPr>
            </p:nvGraphicFramePr>
            <p:xfrm>
              <a:off x="4587177" y="2883081"/>
              <a:ext cx="862864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51155">
                      <a:extLst>
                        <a:ext uri="{9D8B030D-6E8A-4147-A177-3AD203B41FA5}">
                          <a16:colId xmlns:a16="http://schemas.microsoft.com/office/drawing/2014/main" val="3491925400"/>
                        </a:ext>
                      </a:extLst>
                    </a:gridCol>
                    <a:gridCol w="511709">
                      <a:extLst>
                        <a:ext uri="{9D8B030D-6E8A-4147-A177-3AD203B41FA5}">
                          <a16:colId xmlns:a16="http://schemas.microsoft.com/office/drawing/2014/main" val="36164561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68235" r="-2353" b="-8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5776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374807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2567066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020693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9250831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835183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2515157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7776150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6721937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491766-BB35-4948-A468-A8105B50E417}"/>
              </a:ext>
            </a:extLst>
          </p:cNvPr>
          <p:cNvCxnSpPr/>
          <p:nvPr/>
        </p:nvCxnSpPr>
        <p:spPr>
          <a:xfrm>
            <a:off x="1387929" y="3290207"/>
            <a:ext cx="0" cy="3012622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FDBC732-57E5-4120-9115-72924C644252}"/>
              </a:ext>
            </a:extLst>
          </p:cNvPr>
          <p:cNvSpPr/>
          <p:nvPr/>
        </p:nvSpPr>
        <p:spPr>
          <a:xfrm>
            <a:off x="950477" y="4367195"/>
            <a:ext cx="3818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C0ABF164-3D42-4EEF-A94B-FA83552F5577}"/>
              </a:ext>
            </a:extLst>
          </p:cNvPr>
          <p:cNvSpPr/>
          <p:nvPr/>
        </p:nvSpPr>
        <p:spPr>
          <a:xfrm rot="16200000">
            <a:off x="3720095" y="4711650"/>
            <a:ext cx="210830" cy="3403443"/>
          </a:xfrm>
          <a:prstGeom prst="leftBrace">
            <a:avLst>
              <a:gd name="adj1" fmla="val 28571"/>
              <a:gd name="adj2" fmla="val 48916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B28A954-B690-4C26-AB74-27B43E449A5A}"/>
              </a:ext>
            </a:extLst>
          </p:cNvPr>
          <p:cNvSpPr/>
          <p:nvPr/>
        </p:nvSpPr>
        <p:spPr>
          <a:xfrm>
            <a:off x="3672263" y="6518787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94D6C66-DB55-4CD2-9C8C-D93135F929F8}"/>
                  </a:ext>
                </a:extLst>
              </p:cNvPr>
              <p:cNvSpPr/>
              <p:nvPr/>
            </p:nvSpPr>
            <p:spPr>
              <a:xfrm>
                <a:off x="5964684" y="4272203"/>
                <a:ext cx="5081594" cy="2107180"/>
              </a:xfrm>
              <a:prstGeom prst="rect">
                <a:avLst/>
              </a:prstGeom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2,4,1</m:t>
                        </m:r>
                      </m:e>
                    </m:d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⊕1⊕0</m:t>
                    </m:r>
                    <m:r>
                      <a:rPr lang="en-US" b="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=0=0</m:t>
                    </m:r>
                  </m:oMath>
                </a14:m>
                <a:endParaRPr lang="en-US" b="0" dirty="0">
                  <a:solidFill>
                    <a:srgbClr val="00B0F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b="0" dirty="0">
                  <a:solidFill>
                    <a:srgbClr val="00B0F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0⊕0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⊕00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1=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94D6C66-DB55-4CD2-9C8C-D93135F929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684" y="4272203"/>
                <a:ext cx="5081594" cy="2107180"/>
              </a:xfrm>
              <a:prstGeom prst="rect">
                <a:avLst/>
              </a:prstGeom>
              <a:blipFill>
                <a:blip r:embed="rId8"/>
                <a:stretch>
                  <a:fillRect b="-1153"/>
                </a:stretch>
              </a:blip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5833996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C4831-FF57-4C07-A0AE-17414BF32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Collisions and Rehashing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42163-268B-4AC7-BFD1-2B4FD79A6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7541"/>
            <a:ext cx="11029615" cy="3678303"/>
          </a:xfrm>
        </p:spPr>
        <p:txBody>
          <a:bodyPr>
            <a:normAutofit/>
          </a:bodyPr>
          <a:lstStyle/>
          <a:p>
            <a:r>
              <a:rPr lang="en-US" sz="2800" dirty="0"/>
              <a:t>There are some methods for handling collisions:</a:t>
            </a:r>
          </a:p>
          <a:p>
            <a:pPr marL="1410462" lvl="3" indent="-514350">
              <a:buFont typeface="+mj-lt"/>
              <a:buAutoNum type="arabicPeriod"/>
            </a:pPr>
            <a:r>
              <a:rPr lang="en-US" sz="2800"/>
              <a:t>Chaining Method</a:t>
            </a:r>
            <a:endParaRPr lang="en-US" sz="2800" dirty="0"/>
          </a:p>
          <a:p>
            <a:pPr marL="1410462" lvl="3" indent="-514350">
              <a:buFont typeface="+mj-lt"/>
              <a:buAutoNum type="arabicPeriod"/>
            </a:pPr>
            <a:r>
              <a:rPr lang="en-US" sz="2800" dirty="0"/>
              <a:t>Linear Probing</a:t>
            </a:r>
          </a:p>
          <a:p>
            <a:pPr marL="1410462" lvl="3" indent="-514350">
              <a:buFont typeface="+mj-lt"/>
              <a:buAutoNum type="arabicPeriod"/>
            </a:pPr>
            <a:r>
              <a:rPr lang="en-US" sz="2800" dirty="0"/>
              <a:t>Quadratic Probing</a:t>
            </a:r>
          </a:p>
          <a:p>
            <a:pPr marL="1410462" lvl="3" indent="-514350">
              <a:buFont typeface="+mj-lt"/>
              <a:buAutoNum type="arabicPeriod"/>
            </a:pPr>
            <a:r>
              <a:rPr lang="en-US" sz="2800" dirty="0"/>
              <a:t>Double Hashing</a:t>
            </a:r>
          </a:p>
          <a:p>
            <a:pPr marL="1410462" lvl="3" indent="-514350">
              <a:buFont typeface="+mj-lt"/>
              <a:buAutoNum type="arabicPeriod"/>
            </a:pPr>
            <a:r>
              <a:rPr lang="en-US" sz="2800" dirty="0"/>
              <a:t>Cuckoo Hashing</a:t>
            </a:r>
          </a:p>
          <a:p>
            <a:pPr marL="1410462" lvl="3" indent="-514350">
              <a:buFont typeface="+mj-lt"/>
              <a:buAutoNum type="arabicPeriod"/>
            </a:pP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C5580-F3BC-432F-99AB-55ACCDC536E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33/66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BB0B5646-9588-4A12-9D30-82E23CEEFED4}"/>
              </a:ext>
            </a:extLst>
          </p:cNvPr>
          <p:cNvSpPr/>
          <p:nvPr/>
        </p:nvSpPr>
        <p:spPr>
          <a:xfrm>
            <a:off x="4855463" y="3648456"/>
            <a:ext cx="329185" cy="1490472"/>
          </a:xfrm>
          <a:prstGeom prst="rightBrace">
            <a:avLst>
              <a:gd name="adj1" fmla="val 55272"/>
              <a:gd name="adj2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7772B6-5DDD-4677-800B-2E593385BE22}"/>
              </a:ext>
            </a:extLst>
          </p:cNvPr>
          <p:cNvSpPr txBox="1"/>
          <p:nvPr/>
        </p:nvSpPr>
        <p:spPr>
          <a:xfrm>
            <a:off x="5184648" y="4132026"/>
            <a:ext cx="1484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Open address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761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C4831-FF57-4C07-A0AE-17414BF32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Chaining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A42163-268B-4AC7-BFD1-2B4FD79A6B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75192"/>
                <a:ext cx="6926036" cy="462560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200" dirty="0"/>
                  <a:t>Chaining method: A simple and efficient way for dealing with collisions is to have each </a:t>
                </a:r>
                <a:r>
                  <a:rPr lang="en-US" sz="2200" dirty="0">
                    <a:solidFill>
                      <a:srgbClr val="00B0F0"/>
                    </a:solidFill>
                  </a:rPr>
                  <a:t>bucket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i="1" dirty="0" err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/>
                  <a:t> store a </a:t>
                </a:r>
                <a:r>
                  <a:rPr lang="en-US" sz="2200" dirty="0">
                    <a:solidFill>
                      <a:srgbClr val="00B0F0"/>
                    </a:solidFill>
                  </a:rPr>
                  <a:t>linked list </a:t>
                </a:r>
                <a:r>
                  <a:rPr lang="en-US" sz="2200" dirty="0"/>
                  <a:t>that holds items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200" dirty="0"/>
                  <a:t>such that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200" i="1" dirty="0" err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200" dirty="0">
                    <a:solidFill>
                      <a:srgbClr val="00B050"/>
                    </a:solidFill>
                  </a:rPr>
                  <a:t>Example of a hash table of size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lang="en-US" sz="2200" dirty="0">
                    <a:solidFill>
                      <a:srgbClr val="00B050"/>
                    </a:solidFill>
                  </a:rPr>
                  <a:t>, storing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2200" dirty="0">
                    <a:solidFill>
                      <a:srgbClr val="00B050"/>
                    </a:solidFill>
                  </a:rPr>
                  <a:t> integer keys, with collisions resolved by the chaining method. The hash function in this case is </a:t>
                </a:r>
                <a14:m>
                  <m:oMath xmlns:m="http://schemas.openxmlformats.org/officeDocument/2006/math">
                    <m:r>
                      <a:rPr lang="da-DK" sz="2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da-DK" sz="2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da-DK" sz="2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da-DK" sz="2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da-DK" sz="2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da-DK" sz="2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sz="2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da-DK" sz="2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13</m:t>
                    </m:r>
                  </m:oMath>
                </a14:m>
                <a:r>
                  <a:rPr lang="da-DK" sz="2200" dirty="0">
                    <a:solidFill>
                      <a:srgbClr val="00B050"/>
                    </a:solidFill>
                  </a:rPr>
                  <a:t>.</a:t>
                </a:r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A42163-268B-4AC7-BFD1-2B4FD79A6B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75192"/>
                <a:ext cx="6926036" cy="4625609"/>
              </a:xfrm>
              <a:blipFill>
                <a:blip r:embed="rId4"/>
                <a:stretch>
                  <a:fillRect l="-616" r="-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C5580-F3BC-432F-99AB-55ACCDC536E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34/66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8EBFB8-8B76-4C04-AFB9-BC92AF36AA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6882" y="1775192"/>
            <a:ext cx="3385518" cy="484109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989992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C4831-FF57-4C07-A0AE-17414BF32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A42163-268B-4AC7-BFD1-2B4FD79A6B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4134" y="1836641"/>
                <a:ext cx="10972800" cy="1999405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In this strategy, if we try to insert an item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/>
                  <a:t>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that is already occupied, where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then we try next at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+ 1)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. If it is occupied, then we try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+ 2)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],</m:t>
                    </m:r>
                  </m:oMath>
                </a14:m>
                <a:r>
                  <a:rPr lang="en-US" sz="2400" dirty="0"/>
                  <a:t> and so on, until we find an empty cell 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that can accept the new item.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A42163-268B-4AC7-BFD1-2B4FD79A6B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4134" y="1836641"/>
                <a:ext cx="10972800" cy="1999405"/>
              </a:xfrm>
              <a:blipFill>
                <a:blip r:embed="rId4"/>
                <a:stretch>
                  <a:fillRect l="-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C5580-F3BC-432F-99AB-55ACCDC536E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35/66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E62839-BF57-456B-BEE1-5F6333AC8848}"/>
              </a:ext>
            </a:extLst>
          </p:cNvPr>
          <p:cNvSpPr/>
          <p:nvPr/>
        </p:nvSpPr>
        <p:spPr>
          <a:xfrm>
            <a:off x="4690379" y="6381987"/>
            <a:ext cx="18822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a-DK" i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h</a:t>
            </a:r>
            <a:r>
              <a:rPr lang="da-DK" dirty="0">
                <a:solidFill>
                  <a:srgbClr val="00B0F0"/>
                </a:solidFill>
                <a:latin typeface="Arial Rounded MT Bold" panose="020F0704030504030204" pitchFamily="34" charset="0"/>
              </a:rPr>
              <a:t>(</a:t>
            </a:r>
            <a:r>
              <a:rPr lang="da-DK" i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k</a:t>
            </a:r>
            <a:r>
              <a:rPr lang="da-DK" dirty="0">
                <a:solidFill>
                  <a:srgbClr val="00B0F0"/>
                </a:solidFill>
                <a:latin typeface="Arial Rounded MT Bold" panose="020F0704030504030204" pitchFamily="34" charset="0"/>
              </a:rPr>
              <a:t>) = </a:t>
            </a:r>
            <a:r>
              <a:rPr lang="da-DK" i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k </a:t>
            </a:r>
            <a:r>
              <a:rPr lang="da-DK" dirty="0">
                <a:solidFill>
                  <a:srgbClr val="00B0F0"/>
                </a:solidFill>
                <a:latin typeface="Arial Rounded MT Bold" panose="020F0704030504030204" pitchFamily="34" charset="0"/>
              </a:rPr>
              <a:t>mod 11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0F20738-A9C5-4537-95CA-F3484BA61D1F}"/>
              </a:ext>
            </a:extLst>
          </p:cNvPr>
          <p:cNvGrpSpPr/>
          <p:nvPr/>
        </p:nvGrpSpPr>
        <p:grpSpPr>
          <a:xfrm>
            <a:off x="1578560" y="4824860"/>
            <a:ext cx="8683948" cy="1315077"/>
            <a:chOff x="1570396" y="4477382"/>
            <a:chExt cx="8683948" cy="131507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9E61B28-3AA5-413B-8D90-62A8C0EB7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70396" y="4477382"/>
              <a:ext cx="8683948" cy="1315077"/>
            </a:xfrm>
            <a:prstGeom prst="rect">
              <a:avLst/>
            </a:prstGeom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03782A7-1EC7-4C59-B28A-E73BB698ACAE}"/>
                </a:ext>
              </a:extLst>
            </p:cNvPr>
            <p:cNvSpPr/>
            <p:nvPr/>
          </p:nvSpPr>
          <p:spPr>
            <a:xfrm>
              <a:off x="6515100" y="4819261"/>
              <a:ext cx="449036" cy="3977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7C4F4B2-1413-47B7-B129-8CD185AEBDC7}"/>
              </a:ext>
            </a:extLst>
          </p:cNvPr>
          <p:cNvSpPr txBox="1"/>
          <p:nvPr/>
        </p:nvSpPr>
        <p:spPr>
          <a:xfrm>
            <a:off x="4269919" y="473185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25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F64AD14-C1C8-4D60-91FA-AFBD92CD802F}"/>
              </a:ext>
            </a:extLst>
          </p:cNvPr>
          <p:cNvSpPr/>
          <p:nvPr/>
        </p:nvSpPr>
        <p:spPr>
          <a:xfrm>
            <a:off x="4479271" y="4439376"/>
            <a:ext cx="756117" cy="653571"/>
          </a:xfrm>
          <a:prstGeom prst="arc">
            <a:avLst>
              <a:gd name="adj1" fmla="val 11065057"/>
              <a:gd name="adj2" fmla="val 179115"/>
            </a:avLst>
          </a:prstGeom>
          <a:ln w="28575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448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C4831-FF57-4C07-A0AE-17414BF32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C5580-F3BC-432F-99AB-55ACCDC536E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36/66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E62839-BF57-456B-BEE1-5F6333AC8848}"/>
              </a:ext>
            </a:extLst>
          </p:cNvPr>
          <p:cNvSpPr/>
          <p:nvPr/>
        </p:nvSpPr>
        <p:spPr>
          <a:xfrm>
            <a:off x="4690379" y="6381987"/>
            <a:ext cx="18822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a-DK" i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h</a:t>
            </a:r>
            <a:r>
              <a:rPr lang="da-DK" dirty="0">
                <a:solidFill>
                  <a:srgbClr val="00B0F0"/>
                </a:solidFill>
                <a:latin typeface="Arial Rounded MT Bold" panose="020F0704030504030204" pitchFamily="34" charset="0"/>
              </a:rPr>
              <a:t>(</a:t>
            </a:r>
            <a:r>
              <a:rPr lang="da-DK" i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k</a:t>
            </a:r>
            <a:r>
              <a:rPr lang="da-DK" dirty="0">
                <a:solidFill>
                  <a:srgbClr val="00B0F0"/>
                </a:solidFill>
                <a:latin typeface="Arial Rounded MT Bold" panose="020F0704030504030204" pitchFamily="34" charset="0"/>
              </a:rPr>
              <a:t>) = </a:t>
            </a:r>
            <a:r>
              <a:rPr lang="da-DK" i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k </a:t>
            </a:r>
            <a:r>
              <a:rPr lang="da-DK" dirty="0">
                <a:solidFill>
                  <a:srgbClr val="00B0F0"/>
                </a:solidFill>
                <a:latin typeface="Arial Rounded MT Bold" panose="020F0704030504030204" pitchFamily="34" charset="0"/>
              </a:rPr>
              <a:t>mod 11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0F20738-A9C5-4537-95CA-F3484BA61D1F}"/>
              </a:ext>
            </a:extLst>
          </p:cNvPr>
          <p:cNvGrpSpPr/>
          <p:nvPr/>
        </p:nvGrpSpPr>
        <p:grpSpPr>
          <a:xfrm>
            <a:off x="1578560" y="4824860"/>
            <a:ext cx="8683948" cy="1315077"/>
            <a:chOff x="1570396" y="4477382"/>
            <a:chExt cx="8683948" cy="131507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9E61B28-3AA5-413B-8D90-62A8C0EB7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70396" y="4477382"/>
              <a:ext cx="8683948" cy="1315077"/>
            </a:xfrm>
            <a:prstGeom prst="rect">
              <a:avLst/>
            </a:prstGeom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03782A7-1EC7-4C59-B28A-E73BB698ACAE}"/>
                </a:ext>
              </a:extLst>
            </p:cNvPr>
            <p:cNvSpPr/>
            <p:nvPr/>
          </p:nvSpPr>
          <p:spPr>
            <a:xfrm>
              <a:off x="6515100" y="4819261"/>
              <a:ext cx="449036" cy="3977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7C4F4B2-1413-47B7-B129-8CD185AEBDC7}"/>
              </a:ext>
            </a:extLst>
          </p:cNvPr>
          <p:cNvSpPr txBox="1"/>
          <p:nvPr/>
        </p:nvSpPr>
        <p:spPr>
          <a:xfrm>
            <a:off x="4269919" y="473185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25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F64AD14-C1C8-4D60-91FA-AFBD92CD802F}"/>
              </a:ext>
            </a:extLst>
          </p:cNvPr>
          <p:cNvSpPr/>
          <p:nvPr/>
        </p:nvSpPr>
        <p:spPr>
          <a:xfrm>
            <a:off x="4479271" y="4312024"/>
            <a:ext cx="1464329" cy="924358"/>
          </a:xfrm>
          <a:prstGeom prst="arc">
            <a:avLst>
              <a:gd name="adj1" fmla="val 11065057"/>
              <a:gd name="adj2" fmla="val 179115"/>
            </a:avLst>
          </a:prstGeom>
          <a:ln w="28575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EC5AE40A-1537-43D2-AD13-E549A96014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4134" y="1836641"/>
                <a:ext cx="10972800" cy="199940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306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30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90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24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160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19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2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25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28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In this strategy, if we try to insert an item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/>
                  <a:t>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that is already occupied, where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then we try next at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+ 1)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. If it is occupied, then we try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+ 2)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],</m:t>
                    </m:r>
                  </m:oMath>
                </a14:m>
                <a:r>
                  <a:rPr lang="en-US" sz="2400" dirty="0"/>
                  <a:t> and so on, until we find an empty cell 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that can accept the new item.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EC5AE40A-1537-43D2-AD13-E549A9601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34" y="1836641"/>
                <a:ext cx="10972800" cy="1999405"/>
              </a:xfrm>
              <a:prstGeom prst="rect">
                <a:avLst/>
              </a:prstGeom>
              <a:blipFill>
                <a:blip r:embed="rId5"/>
                <a:stretch>
                  <a:fillRect l="-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0571492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C4831-FF57-4C07-A0AE-17414BF32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C5580-F3BC-432F-99AB-55ACCDC536E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37/66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E62839-BF57-456B-BEE1-5F6333AC8848}"/>
              </a:ext>
            </a:extLst>
          </p:cNvPr>
          <p:cNvSpPr/>
          <p:nvPr/>
        </p:nvSpPr>
        <p:spPr>
          <a:xfrm>
            <a:off x="4690379" y="6381987"/>
            <a:ext cx="18822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a-DK" i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h</a:t>
            </a:r>
            <a:r>
              <a:rPr lang="da-DK" dirty="0">
                <a:solidFill>
                  <a:srgbClr val="00B0F0"/>
                </a:solidFill>
                <a:latin typeface="Arial Rounded MT Bold" panose="020F0704030504030204" pitchFamily="34" charset="0"/>
              </a:rPr>
              <a:t>(</a:t>
            </a:r>
            <a:r>
              <a:rPr lang="da-DK" i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k</a:t>
            </a:r>
            <a:r>
              <a:rPr lang="da-DK" dirty="0">
                <a:solidFill>
                  <a:srgbClr val="00B0F0"/>
                </a:solidFill>
                <a:latin typeface="Arial Rounded MT Bold" panose="020F0704030504030204" pitchFamily="34" charset="0"/>
              </a:rPr>
              <a:t>) = </a:t>
            </a:r>
            <a:r>
              <a:rPr lang="da-DK" i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k </a:t>
            </a:r>
            <a:r>
              <a:rPr lang="da-DK" dirty="0">
                <a:solidFill>
                  <a:srgbClr val="00B0F0"/>
                </a:solidFill>
                <a:latin typeface="Arial Rounded MT Bold" panose="020F0704030504030204" pitchFamily="34" charset="0"/>
              </a:rPr>
              <a:t>mod 11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0F20738-A9C5-4537-95CA-F3484BA61D1F}"/>
              </a:ext>
            </a:extLst>
          </p:cNvPr>
          <p:cNvGrpSpPr/>
          <p:nvPr/>
        </p:nvGrpSpPr>
        <p:grpSpPr>
          <a:xfrm>
            <a:off x="1578560" y="4824860"/>
            <a:ext cx="8683948" cy="1315077"/>
            <a:chOff x="1570396" y="4477382"/>
            <a:chExt cx="8683948" cy="131507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9E61B28-3AA5-413B-8D90-62A8C0EB7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70396" y="4477382"/>
              <a:ext cx="8683948" cy="1315077"/>
            </a:xfrm>
            <a:prstGeom prst="rect">
              <a:avLst/>
            </a:prstGeom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03782A7-1EC7-4C59-B28A-E73BB698ACAE}"/>
                </a:ext>
              </a:extLst>
            </p:cNvPr>
            <p:cNvSpPr/>
            <p:nvPr/>
          </p:nvSpPr>
          <p:spPr>
            <a:xfrm>
              <a:off x="6515100" y="4819261"/>
              <a:ext cx="449036" cy="3977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7C4F4B2-1413-47B7-B129-8CD185AEBDC7}"/>
              </a:ext>
            </a:extLst>
          </p:cNvPr>
          <p:cNvSpPr txBox="1"/>
          <p:nvPr/>
        </p:nvSpPr>
        <p:spPr>
          <a:xfrm>
            <a:off x="4269919" y="473185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25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F64AD14-C1C8-4D60-91FA-AFBD92CD802F}"/>
              </a:ext>
            </a:extLst>
          </p:cNvPr>
          <p:cNvSpPr/>
          <p:nvPr/>
        </p:nvSpPr>
        <p:spPr>
          <a:xfrm>
            <a:off x="4479271" y="4312024"/>
            <a:ext cx="2190470" cy="1013800"/>
          </a:xfrm>
          <a:prstGeom prst="arc">
            <a:avLst>
              <a:gd name="adj1" fmla="val 11065057"/>
              <a:gd name="adj2" fmla="val 179115"/>
            </a:avLst>
          </a:prstGeom>
          <a:ln w="28575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1849170E-8C09-4C71-BD0D-74A89FA5B7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4134" y="1836641"/>
                <a:ext cx="10972800" cy="1999405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In this strategy, if we try to insert an item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/>
                  <a:t>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that is already occupied, where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then we try next at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+ 1)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. If it is occupied, then we try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+ 2)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],</m:t>
                    </m:r>
                  </m:oMath>
                </a14:m>
                <a:r>
                  <a:rPr lang="en-US" sz="2400" dirty="0"/>
                  <a:t> and so on, until we find an empty cell 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that can accept the new item.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1849170E-8C09-4C71-BD0D-74A89FA5B7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4134" y="1836641"/>
                <a:ext cx="10972800" cy="1999405"/>
              </a:xfrm>
              <a:blipFill>
                <a:blip r:embed="rId5"/>
                <a:stretch>
                  <a:fillRect l="-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7542998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C4831-FF57-4C07-A0AE-17414BF32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C5580-F3BC-432F-99AB-55ACCDC536E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38/66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E62839-BF57-456B-BEE1-5F6333AC8848}"/>
              </a:ext>
            </a:extLst>
          </p:cNvPr>
          <p:cNvSpPr/>
          <p:nvPr/>
        </p:nvSpPr>
        <p:spPr>
          <a:xfrm>
            <a:off x="4690379" y="6381987"/>
            <a:ext cx="18822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a-DK" i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h</a:t>
            </a:r>
            <a:r>
              <a:rPr lang="da-DK" dirty="0">
                <a:solidFill>
                  <a:srgbClr val="00B0F0"/>
                </a:solidFill>
                <a:latin typeface="Arial Rounded MT Bold" panose="020F0704030504030204" pitchFamily="34" charset="0"/>
              </a:rPr>
              <a:t>(</a:t>
            </a:r>
            <a:r>
              <a:rPr lang="da-DK" i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k</a:t>
            </a:r>
            <a:r>
              <a:rPr lang="da-DK" dirty="0">
                <a:solidFill>
                  <a:srgbClr val="00B0F0"/>
                </a:solidFill>
                <a:latin typeface="Arial Rounded MT Bold" panose="020F0704030504030204" pitchFamily="34" charset="0"/>
              </a:rPr>
              <a:t>) = </a:t>
            </a:r>
            <a:r>
              <a:rPr lang="da-DK" i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k </a:t>
            </a:r>
            <a:r>
              <a:rPr lang="da-DK" dirty="0">
                <a:solidFill>
                  <a:srgbClr val="00B0F0"/>
                </a:solidFill>
                <a:latin typeface="Arial Rounded MT Bold" panose="020F0704030504030204" pitchFamily="34" charset="0"/>
              </a:rPr>
              <a:t>mod 11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0F20738-A9C5-4537-95CA-F3484BA61D1F}"/>
              </a:ext>
            </a:extLst>
          </p:cNvPr>
          <p:cNvGrpSpPr/>
          <p:nvPr/>
        </p:nvGrpSpPr>
        <p:grpSpPr>
          <a:xfrm>
            <a:off x="1578560" y="4824860"/>
            <a:ext cx="8683948" cy="1315077"/>
            <a:chOff x="1570396" y="4477382"/>
            <a:chExt cx="8683948" cy="131507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9E61B28-3AA5-413B-8D90-62A8C0EB7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70396" y="4477382"/>
              <a:ext cx="8683948" cy="1315077"/>
            </a:xfrm>
            <a:prstGeom prst="rect">
              <a:avLst/>
            </a:prstGeom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03782A7-1EC7-4C59-B28A-E73BB698ACAE}"/>
                </a:ext>
              </a:extLst>
            </p:cNvPr>
            <p:cNvSpPr/>
            <p:nvPr/>
          </p:nvSpPr>
          <p:spPr>
            <a:xfrm>
              <a:off x="6515100" y="4819261"/>
              <a:ext cx="449036" cy="3977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7C4F4B2-1413-47B7-B129-8CD185AEBDC7}"/>
              </a:ext>
            </a:extLst>
          </p:cNvPr>
          <p:cNvSpPr txBox="1"/>
          <p:nvPr/>
        </p:nvSpPr>
        <p:spPr>
          <a:xfrm>
            <a:off x="6492140" y="518093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25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F64AD14-C1C8-4D60-91FA-AFBD92CD802F}"/>
              </a:ext>
            </a:extLst>
          </p:cNvPr>
          <p:cNvSpPr/>
          <p:nvPr/>
        </p:nvSpPr>
        <p:spPr>
          <a:xfrm>
            <a:off x="4479271" y="4312024"/>
            <a:ext cx="2190470" cy="1013800"/>
          </a:xfrm>
          <a:prstGeom prst="arc">
            <a:avLst>
              <a:gd name="adj1" fmla="val 11065057"/>
              <a:gd name="adj2" fmla="val 179115"/>
            </a:avLst>
          </a:prstGeom>
          <a:ln w="28575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6C104892-BCFB-4BE8-AED9-717A760801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4134" y="1836641"/>
                <a:ext cx="10972800" cy="199940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306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30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90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24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160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19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2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25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28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In this strategy, if we try to insert an item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/>
                  <a:t>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that is already occupied, where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then we try next at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+ 1)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. If it is occupied, then we try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+ 2)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],</m:t>
                    </m:r>
                  </m:oMath>
                </a14:m>
                <a:r>
                  <a:rPr lang="en-US" sz="2400" dirty="0"/>
                  <a:t> and so on, until we find an empty cell 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that can accept the new item.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6C104892-BCFB-4BE8-AED9-717A76080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34" y="1836641"/>
                <a:ext cx="10972800" cy="1999405"/>
              </a:xfrm>
              <a:prstGeom prst="rect">
                <a:avLst/>
              </a:prstGeom>
              <a:blipFill>
                <a:blip r:embed="rId5"/>
                <a:stretch>
                  <a:fillRect l="-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0215987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28168-71A6-4501-BE73-BECE8F532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979600-892C-4A36-A0CC-8F54F43AB0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0591" y="1830880"/>
                <a:ext cx="10237890" cy="1956010"/>
              </a:xfrm>
            </p:spPr>
            <p:txBody>
              <a:bodyPr>
                <a:normAutofit/>
              </a:bodyPr>
              <a:lstStyle/>
              <a:p>
                <a:r>
                  <a:rPr lang="en-US" sz="2200" dirty="0"/>
                  <a:t>We are trying to insert an item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200" dirty="0"/>
                  <a:t>into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/>
                  <a:t> that is already occupied, where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): </m:t>
                    </m:r>
                  </m:oMath>
                </a14:m>
                <a:r>
                  <a:rPr lang="en-US" sz="2200" dirty="0"/>
                  <a:t>Another strategy, known as </a:t>
                </a:r>
                <a:r>
                  <a:rPr lang="en-US" sz="2200" i="1" dirty="0">
                    <a:solidFill>
                      <a:srgbClr val="00B0F0"/>
                    </a:solidFill>
                  </a:rPr>
                  <a:t>quadratic probing</a:t>
                </a:r>
                <a:r>
                  <a:rPr lang="en-US" sz="2200" dirty="0"/>
                  <a:t>, involves iteratively trying the cells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[(</m:t>
                    </m:r>
                    <m:r>
                      <a:rPr lang="en-US" sz="22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 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= 0, 1, 2, . . ., </m:t>
                    </m:r>
                  </m:oMath>
                </a14:m>
                <a:r>
                  <a:rPr lang="en-US" sz="2200" dirty="0"/>
                  <a:t>where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2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22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sz="22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200" dirty="0"/>
                  <a:t>, until finding an empty cell.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979600-892C-4A36-A0CC-8F54F43AB0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0591" y="1830880"/>
                <a:ext cx="10237890" cy="1956010"/>
              </a:xfrm>
              <a:blipFill>
                <a:blip r:embed="rId4"/>
                <a:stretch>
                  <a:fillRect l="-476" r="-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DB6E0-9A90-4AE7-9BB0-972FF68D168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39/66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A38659-874D-4F26-9302-23EC616A3944}"/>
              </a:ext>
            </a:extLst>
          </p:cNvPr>
          <p:cNvSpPr/>
          <p:nvPr/>
        </p:nvSpPr>
        <p:spPr>
          <a:xfrm>
            <a:off x="1857371" y="6216135"/>
            <a:ext cx="18822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a-DK" i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h</a:t>
            </a:r>
            <a:r>
              <a:rPr lang="da-DK" dirty="0">
                <a:solidFill>
                  <a:srgbClr val="00B0F0"/>
                </a:solidFill>
                <a:latin typeface="Arial Rounded MT Bold" panose="020F0704030504030204" pitchFamily="34" charset="0"/>
              </a:rPr>
              <a:t>(</a:t>
            </a:r>
            <a:r>
              <a:rPr lang="da-DK" i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k</a:t>
            </a:r>
            <a:r>
              <a:rPr lang="da-DK" dirty="0">
                <a:solidFill>
                  <a:srgbClr val="00B0F0"/>
                </a:solidFill>
                <a:latin typeface="Arial Rounded MT Bold" panose="020F0704030504030204" pitchFamily="34" charset="0"/>
              </a:rPr>
              <a:t>) = </a:t>
            </a:r>
            <a:r>
              <a:rPr lang="da-DK" i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k </a:t>
            </a:r>
            <a:r>
              <a:rPr lang="da-DK" dirty="0">
                <a:solidFill>
                  <a:srgbClr val="00B0F0"/>
                </a:solidFill>
                <a:latin typeface="Arial Rounded MT Bold" panose="020F0704030504030204" pitchFamily="34" charset="0"/>
              </a:rPr>
              <a:t>mod 11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3669152-608C-4A1C-8307-E0C479AAAE1B}"/>
              </a:ext>
            </a:extLst>
          </p:cNvPr>
          <p:cNvGrpSpPr/>
          <p:nvPr/>
        </p:nvGrpSpPr>
        <p:grpSpPr>
          <a:xfrm>
            <a:off x="1578560" y="4824860"/>
            <a:ext cx="8683948" cy="1315077"/>
            <a:chOff x="1570396" y="4477382"/>
            <a:chExt cx="8683948" cy="131507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6EBA26A-0E80-4459-8887-0ED6EDA9B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70396" y="4477382"/>
              <a:ext cx="8683948" cy="1315077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DAD0466-653C-46ED-99AA-0F2CB2EFDD72}"/>
                </a:ext>
              </a:extLst>
            </p:cNvPr>
            <p:cNvSpPr/>
            <p:nvPr/>
          </p:nvSpPr>
          <p:spPr>
            <a:xfrm>
              <a:off x="6515100" y="4819261"/>
              <a:ext cx="449036" cy="3977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6BF6AF5-C099-4359-A703-68EFB16E803E}"/>
              </a:ext>
            </a:extLst>
          </p:cNvPr>
          <p:cNvSpPr txBox="1"/>
          <p:nvPr/>
        </p:nvSpPr>
        <p:spPr>
          <a:xfrm>
            <a:off x="1069520" y="4103311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Add(25)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703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28168-71A6-4501-BE73-BECE8F532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Probing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DB6E0-9A90-4AE7-9BB0-972FF68D168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40/66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A38659-874D-4F26-9302-23EC616A3944}"/>
              </a:ext>
            </a:extLst>
          </p:cNvPr>
          <p:cNvSpPr/>
          <p:nvPr/>
        </p:nvSpPr>
        <p:spPr>
          <a:xfrm>
            <a:off x="1857371" y="6216135"/>
            <a:ext cx="18822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a-DK" i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h</a:t>
            </a:r>
            <a:r>
              <a:rPr lang="da-DK" dirty="0">
                <a:solidFill>
                  <a:srgbClr val="00B0F0"/>
                </a:solidFill>
                <a:latin typeface="Arial Rounded MT Bold" panose="020F0704030504030204" pitchFamily="34" charset="0"/>
              </a:rPr>
              <a:t>(</a:t>
            </a:r>
            <a:r>
              <a:rPr lang="da-DK" i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k</a:t>
            </a:r>
            <a:r>
              <a:rPr lang="da-DK" dirty="0">
                <a:solidFill>
                  <a:srgbClr val="00B0F0"/>
                </a:solidFill>
                <a:latin typeface="Arial Rounded MT Bold" panose="020F0704030504030204" pitchFamily="34" charset="0"/>
              </a:rPr>
              <a:t>) = </a:t>
            </a:r>
            <a:r>
              <a:rPr lang="da-DK" i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k </a:t>
            </a:r>
            <a:r>
              <a:rPr lang="da-DK" dirty="0">
                <a:solidFill>
                  <a:srgbClr val="00B0F0"/>
                </a:solidFill>
                <a:latin typeface="Arial Rounded MT Bold" panose="020F0704030504030204" pitchFamily="34" charset="0"/>
              </a:rPr>
              <a:t>mod 11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3669152-608C-4A1C-8307-E0C479AAAE1B}"/>
              </a:ext>
            </a:extLst>
          </p:cNvPr>
          <p:cNvGrpSpPr/>
          <p:nvPr/>
        </p:nvGrpSpPr>
        <p:grpSpPr>
          <a:xfrm>
            <a:off x="1578560" y="4824860"/>
            <a:ext cx="8683948" cy="1315077"/>
            <a:chOff x="1570396" y="4477382"/>
            <a:chExt cx="8683948" cy="131507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6EBA26A-0E80-4459-8887-0ED6EDA9B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70396" y="4477382"/>
              <a:ext cx="8683948" cy="1315077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DAD0466-653C-46ED-99AA-0F2CB2EFDD72}"/>
                </a:ext>
              </a:extLst>
            </p:cNvPr>
            <p:cNvSpPr/>
            <p:nvPr/>
          </p:nvSpPr>
          <p:spPr>
            <a:xfrm>
              <a:off x="6515100" y="4819261"/>
              <a:ext cx="449036" cy="3977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8D0848E-18A7-4D21-A9D6-BAF4F2DE33D4}"/>
              </a:ext>
            </a:extLst>
          </p:cNvPr>
          <p:cNvSpPr txBox="1"/>
          <p:nvPr/>
        </p:nvSpPr>
        <p:spPr>
          <a:xfrm>
            <a:off x="4269919" y="473185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25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4128A389-C961-4D98-864F-D13FE3910223}"/>
              </a:ext>
            </a:extLst>
          </p:cNvPr>
          <p:cNvSpPr/>
          <p:nvPr/>
        </p:nvSpPr>
        <p:spPr>
          <a:xfrm>
            <a:off x="4479271" y="4439376"/>
            <a:ext cx="756117" cy="653571"/>
          </a:xfrm>
          <a:prstGeom prst="arc">
            <a:avLst>
              <a:gd name="adj1" fmla="val 11065057"/>
              <a:gd name="adj2" fmla="val 179115"/>
            </a:avLst>
          </a:prstGeom>
          <a:ln w="28575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C9C1E6A0-1446-4156-A8C9-42CA140A26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0591" y="1830880"/>
                <a:ext cx="10237890" cy="1956010"/>
              </a:xfrm>
            </p:spPr>
            <p:txBody>
              <a:bodyPr>
                <a:normAutofit/>
              </a:bodyPr>
              <a:lstStyle/>
              <a:p>
                <a:r>
                  <a:rPr lang="en-US" sz="2200" dirty="0"/>
                  <a:t>We are trying to insert an item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200" dirty="0"/>
                  <a:t>into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/>
                  <a:t> that is already occupied, where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): </m:t>
                    </m:r>
                  </m:oMath>
                </a14:m>
                <a:r>
                  <a:rPr lang="en-US" sz="2200" dirty="0"/>
                  <a:t>Another strategy, known as </a:t>
                </a:r>
                <a:r>
                  <a:rPr lang="en-US" sz="2200" i="1" dirty="0">
                    <a:solidFill>
                      <a:srgbClr val="00B0F0"/>
                    </a:solidFill>
                  </a:rPr>
                  <a:t>quadratic probing</a:t>
                </a:r>
                <a:r>
                  <a:rPr lang="en-US" sz="2200" dirty="0"/>
                  <a:t>, involves iteratively trying the cells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[(</m:t>
                    </m:r>
                    <m:r>
                      <a:rPr lang="en-US" sz="22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 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= 0, 1, 2, . . ., </m:t>
                    </m:r>
                  </m:oMath>
                </a14:m>
                <a:r>
                  <a:rPr lang="en-US" sz="2200" dirty="0"/>
                  <a:t>where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2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22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sz="22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200" dirty="0"/>
                  <a:t>, until finding an empty cell. 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C9C1E6A0-1446-4156-A8C9-42CA140A26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0591" y="1830880"/>
                <a:ext cx="10237890" cy="1956010"/>
              </a:xfrm>
              <a:blipFill>
                <a:blip r:embed="rId5"/>
                <a:stretch>
                  <a:fillRect l="-476" r="-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787045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28168-71A6-4501-BE73-BECE8F532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Probing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DB6E0-9A90-4AE7-9BB0-972FF68D168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41/66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A38659-874D-4F26-9302-23EC616A3944}"/>
              </a:ext>
            </a:extLst>
          </p:cNvPr>
          <p:cNvSpPr/>
          <p:nvPr/>
        </p:nvSpPr>
        <p:spPr>
          <a:xfrm>
            <a:off x="1857371" y="6216135"/>
            <a:ext cx="18822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a-DK" i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h</a:t>
            </a:r>
            <a:r>
              <a:rPr lang="da-DK" dirty="0">
                <a:solidFill>
                  <a:srgbClr val="00B0F0"/>
                </a:solidFill>
                <a:latin typeface="Arial Rounded MT Bold" panose="020F0704030504030204" pitchFamily="34" charset="0"/>
              </a:rPr>
              <a:t>(</a:t>
            </a:r>
            <a:r>
              <a:rPr lang="da-DK" i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k</a:t>
            </a:r>
            <a:r>
              <a:rPr lang="da-DK" dirty="0">
                <a:solidFill>
                  <a:srgbClr val="00B0F0"/>
                </a:solidFill>
                <a:latin typeface="Arial Rounded MT Bold" panose="020F0704030504030204" pitchFamily="34" charset="0"/>
              </a:rPr>
              <a:t>) = </a:t>
            </a:r>
            <a:r>
              <a:rPr lang="da-DK" i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k </a:t>
            </a:r>
            <a:r>
              <a:rPr lang="da-DK" dirty="0">
                <a:solidFill>
                  <a:srgbClr val="00B0F0"/>
                </a:solidFill>
                <a:latin typeface="Arial Rounded MT Bold" panose="020F0704030504030204" pitchFamily="34" charset="0"/>
              </a:rPr>
              <a:t>mod 11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3669152-608C-4A1C-8307-E0C479AAAE1B}"/>
              </a:ext>
            </a:extLst>
          </p:cNvPr>
          <p:cNvGrpSpPr/>
          <p:nvPr/>
        </p:nvGrpSpPr>
        <p:grpSpPr>
          <a:xfrm>
            <a:off x="1578560" y="4824860"/>
            <a:ext cx="8683948" cy="1315077"/>
            <a:chOff x="1570396" y="4477382"/>
            <a:chExt cx="8683948" cy="131507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6EBA26A-0E80-4459-8887-0ED6EDA9B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70396" y="4477382"/>
              <a:ext cx="8683948" cy="1315077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DAD0466-653C-46ED-99AA-0F2CB2EFDD72}"/>
                </a:ext>
              </a:extLst>
            </p:cNvPr>
            <p:cNvSpPr/>
            <p:nvPr/>
          </p:nvSpPr>
          <p:spPr>
            <a:xfrm>
              <a:off x="6515100" y="4819261"/>
              <a:ext cx="449036" cy="3977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6BF6AF5-C099-4359-A703-68EFB16E803E}"/>
              </a:ext>
            </a:extLst>
          </p:cNvPr>
          <p:cNvSpPr txBox="1"/>
          <p:nvPr/>
        </p:nvSpPr>
        <p:spPr>
          <a:xfrm>
            <a:off x="4270401" y="456399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25</a:t>
            </a: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C2C253EF-CCEA-4BAE-A912-384FEC0DF50D}"/>
              </a:ext>
            </a:extLst>
          </p:cNvPr>
          <p:cNvSpPr/>
          <p:nvPr/>
        </p:nvSpPr>
        <p:spPr>
          <a:xfrm>
            <a:off x="4479270" y="4010747"/>
            <a:ext cx="2901675" cy="1315077"/>
          </a:xfrm>
          <a:prstGeom prst="arc">
            <a:avLst>
              <a:gd name="adj1" fmla="val 11065057"/>
              <a:gd name="adj2" fmla="val 179115"/>
            </a:avLst>
          </a:prstGeom>
          <a:ln w="28575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4E494365-6BED-4D8C-94D9-B6C561C1A9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0591" y="1830880"/>
                <a:ext cx="10237890" cy="1956010"/>
              </a:xfrm>
            </p:spPr>
            <p:txBody>
              <a:bodyPr>
                <a:normAutofit/>
              </a:bodyPr>
              <a:lstStyle/>
              <a:p>
                <a:r>
                  <a:rPr lang="en-US" sz="2200" dirty="0"/>
                  <a:t>We are trying to insert an item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200" dirty="0"/>
                  <a:t>into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/>
                  <a:t> that is already occupied, where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): </m:t>
                    </m:r>
                  </m:oMath>
                </a14:m>
                <a:r>
                  <a:rPr lang="en-US" sz="2200" dirty="0"/>
                  <a:t>Another strategy, known as </a:t>
                </a:r>
                <a:r>
                  <a:rPr lang="en-US" sz="2200" i="1" dirty="0">
                    <a:solidFill>
                      <a:srgbClr val="00B0F0"/>
                    </a:solidFill>
                  </a:rPr>
                  <a:t>quadratic probing</a:t>
                </a:r>
                <a:r>
                  <a:rPr lang="en-US" sz="2200" dirty="0"/>
                  <a:t>, involves iteratively trying the cells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[(</m:t>
                    </m:r>
                    <m:r>
                      <a:rPr lang="en-US" sz="22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 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= 0, 1, 2, . . ., </m:t>
                    </m:r>
                  </m:oMath>
                </a14:m>
                <a:r>
                  <a:rPr lang="en-US" sz="2200" dirty="0"/>
                  <a:t>where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2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22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sz="22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200" dirty="0"/>
                  <a:t>, until finding an empty cell. 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4E494365-6BED-4D8C-94D9-B6C561C1A9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0591" y="1830880"/>
                <a:ext cx="10237890" cy="1956010"/>
              </a:xfrm>
              <a:blipFill>
                <a:blip r:embed="rId5"/>
                <a:stretch>
                  <a:fillRect l="-476" r="-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5225717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28168-71A6-4501-BE73-BECE8F532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Probing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DB6E0-9A90-4AE7-9BB0-972FF68D168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42/66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A38659-874D-4F26-9302-23EC616A3944}"/>
              </a:ext>
            </a:extLst>
          </p:cNvPr>
          <p:cNvSpPr/>
          <p:nvPr/>
        </p:nvSpPr>
        <p:spPr>
          <a:xfrm>
            <a:off x="1857371" y="6216135"/>
            <a:ext cx="18822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a-DK" i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h</a:t>
            </a:r>
            <a:r>
              <a:rPr lang="da-DK" dirty="0">
                <a:solidFill>
                  <a:srgbClr val="00B0F0"/>
                </a:solidFill>
                <a:latin typeface="Arial Rounded MT Bold" panose="020F0704030504030204" pitchFamily="34" charset="0"/>
              </a:rPr>
              <a:t>(</a:t>
            </a:r>
            <a:r>
              <a:rPr lang="da-DK" i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k</a:t>
            </a:r>
            <a:r>
              <a:rPr lang="da-DK" dirty="0">
                <a:solidFill>
                  <a:srgbClr val="00B0F0"/>
                </a:solidFill>
                <a:latin typeface="Arial Rounded MT Bold" panose="020F0704030504030204" pitchFamily="34" charset="0"/>
              </a:rPr>
              <a:t>) = </a:t>
            </a:r>
            <a:r>
              <a:rPr lang="da-DK" i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k </a:t>
            </a:r>
            <a:r>
              <a:rPr lang="da-DK" dirty="0">
                <a:solidFill>
                  <a:srgbClr val="00B0F0"/>
                </a:solidFill>
                <a:latin typeface="Arial Rounded MT Bold" panose="020F0704030504030204" pitchFamily="34" charset="0"/>
              </a:rPr>
              <a:t>mod 11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3669152-608C-4A1C-8307-E0C479AAAE1B}"/>
              </a:ext>
            </a:extLst>
          </p:cNvPr>
          <p:cNvGrpSpPr/>
          <p:nvPr/>
        </p:nvGrpSpPr>
        <p:grpSpPr>
          <a:xfrm>
            <a:off x="1578560" y="4824860"/>
            <a:ext cx="8683948" cy="1315077"/>
            <a:chOff x="1570396" y="4477382"/>
            <a:chExt cx="8683948" cy="131507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6EBA26A-0E80-4459-8887-0ED6EDA9B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70396" y="4477382"/>
              <a:ext cx="8683948" cy="1315077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DAD0466-653C-46ED-99AA-0F2CB2EFDD72}"/>
                </a:ext>
              </a:extLst>
            </p:cNvPr>
            <p:cNvSpPr/>
            <p:nvPr/>
          </p:nvSpPr>
          <p:spPr>
            <a:xfrm>
              <a:off x="6515100" y="4819261"/>
              <a:ext cx="449036" cy="3977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AC71A28-1FED-4924-A0BC-1D8F299B1A5D}"/>
              </a:ext>
            </a:extLst>
          </p:cNvPr>
          <p:cNvSpPr txBox="1"/>
          <p:nvPr/>
        </p:nvSpPr>
        <p:spPr>
          <a:xfrm>
            <a:off x="7274378" y="516673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EB0F4BFF-2B1F-4377-B6CF-4C292D1E09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0591" y="1830880"/>
                <a:ext cx="10237890" cy="1956010"/>
              </a:xfrm>
            </p:spPr>
            <p:txBody>
              <a:bodyPr>
                <a:normAutofit/>
              </a:bodyPr>
              <a:lstStyle/>
              <a:p>
                <a:r>
                  <a:rPr lang="en-US" sz="2200" dirty="0"/>
                  <a:t>We are trying to insert an item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200" dirty="0"/>
                  <a:t>into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/>
                  <a:t> that is already occupied, where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): </m:t>
                    </m:r>
                  </m:oMath>
                </a14:m>
                <a:r>
                  <a:rPr lang="en-US" sz="2200" dirty="0"/>
                  <a:t>Another strategy, known as </a:t>
                </a:r>
                <a:r>
                  <a:rPr lang="en-US" sz="2200" i="1" dirty="0">
                    <a:solidFill>
                      <a:srgbClr val="00B0F0"/>
                    </a:solidFill>
                  </a:rPr>
                  <a:t>quadratic probing</a:t>
                </a:r>
                <a:r>
                  <a:rPr lang="en-US" sz="2200" dirty="0"/>
                  <a:t>, involves iteratively trying the cells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[(</m:t>
                    </m:r>
                    <m:r>
                      <a:rPr lang="en-US" sz="22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 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= 0, 1, 2, . . ., </m:t>
                    </m:r>
                  </m:oMath>
                </a14:m>
                <a:r>
                  <a:rPr lang="en-US" sz="2200" dirty="0"/>
                  <a:t>where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2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22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sz="22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200" dirty="0"/>
                  <a:t>, until finding an empty cell. </a:t>
                </a: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EB0F4BFF-2B1F-4377-B6CF-4C292D1E09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0591" y="1830880"/>
                <a:ext cx="10237890" cy="1956010"/>
              </a:xfrm>
              <a:blipFill>
                <a:blip r:embed="rId5"/>
                <a:stretch>
                  <a:fillRect l="-476" r="-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5205038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C5C57-2DC2-475D-91B9-F86B8DF16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Hashing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2A0B84-B194-4ED9-9BDE-98B3F744E7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8150" y="1007749"/>
                <a:ext cx="10972800" cy="462560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200" dirty="0"/>
                  <a:t>In this approach, we choose </a:t>
                </a:r>
                <a:r>
                  <a:rPr lang="en-US" sz="2200" dirty="0">
                    <a:solidFill>
                      <a:srgbClr val="00B050"/>
                    </a:solidFill>
                  </a:rPr>
                  <a:t>a secondary hash function,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sz="2200" dirty="0">
                    <a:solidFill>
                      <a:srgbClr val="00B050"/>
                    </a:solidFill>
                  </a:rPr>
                  <a:t>, </a:t>
                </a:r>
                <a:r>
                  <a:rPr lang="en-US" sz="2200" dirty="0"/>
                  <a:t>and if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200" i="1" dirty="0"/>
                  <a:t> </a:t>
                </a:r>
                <a:r>
                  <a:rPr lang="en-US" sz="2200" dirty="0"/>
                  <a:t>maps some key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 i="1" dirty="0"/>
                  <a:t> </a:t>
                </a:r>
                <a:r>
                  <a:rPr lang="en-US" sz="2200" dirty="0"/>
                  <a:t>to a bucket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/>
                  <a:t>, with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, that is already occupied, then we </a:t>
                </a:r>
                <a:r>
                  <a:rPr lang="en-US" sz="2200" dirty="0">
                    <a:solidFill>
                      <a:srgbClr val="FF0000"/>
                    </a:solidFill>
                  </a:rPr>
                  <a:t>iteratively try the buckets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[(</m:t>
                    </m:r>
                    <m:r>
                      <a:rPr lang="en-US" sz="22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 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sz="2200" dirty="0"/>
                  <a:t>next,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= 1, 2, 3, . . ., </m:t>
                    </m:r>
                  </m:oMath>
                </a14:m>
                <a:r>
                  <a:rPr lang="en-US" sz="2200" dirty="0"/>
                  <a:t>where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200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200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200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200" dirty="0"/>
                  <a:t>A common choice is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’(</m:t>
                    </m:r>
                    <m:r>
                      <a:rPr lang="en-US" sz="22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2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2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− (</m:t>
                    </m:r>
                    <m:r>
                      <a:rPr lang="en-US" sz="22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2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2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, for some prime number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&lt;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200" dirty="0"/>
                  <a:t>.  Also,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200" i="1" dirty="0"/>
                  <a:t> </a:t>
                </a:r>
                <a:r>
                  <a:rPr lang="en-US" sz="2200" dirty="0"/>
                  <a:t>should be a prime.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2A0B84-B194-4ED9-9BDE-98B3F744E7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8150" y="1007749"/>
                <a:ext cx="10972800" cy="4625609"/>
              </a:xfrm>
              <a:blipFill>
                <a:blip r:embed="rId4"/>
                <a:stretch>
                  <a:fillRect l="-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B2F5C-5093-4A1A-BF2E-E3781982A24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43/66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23956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1187C-B488-49E1-84D3-87F0A6E23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F53C2-85ED-4288-8241-5A2DF47B040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44/66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D1182DD-D7A6-467C-B719-7BAFF8827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042192"/>
              </p:ext>
            </p:extLst>
          </p:nvPr>
        </p:nvGraphicFramePr>
        <p:xfrm>
          <a:off x="3155949" y="5065672"/>
          <a:ext cx="565754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876755637"/>
                    </a:ext>
                  </a:extLst>
                </a:gridCol>
              </a:tblGrid>
              <a:tr h="2506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703874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25</a:t>
                      </a:r>
                    </a:p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67</a:t>
                      </a:r>
                    </a:p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32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89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44</a:t>
                      </a:r>
                    </a:p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DE1117-6AE6-4F82-B86A-FF13EDB07C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840505"/>
              </p:ext>
            </p:extLst>
          </p:nvPr>
        </p:nvGraphicFramePr>
        <p:xfrm>
          <a:off x="3458026" y="2858316"/>
          <a:ext cx="4849320" cy="10696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70387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44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67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32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89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30661C2-0F1C-4C73-9FE3-6A2D60CF2EF3}"/>
                  </a:ext>
                </a:extLst>
              </p:cNvPr>
              <p:cNvSpPr/>
              <p:nvPr/>
            </p:nvSpPr>
            <p:spPr>
              <a:xfrm>
                <a:off x="346570" y="1964664"/>
                <a:ext cx="885458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18872"/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sz="2000" b="0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sz="2000" b="0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sz="20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+4</m:t>
                        </m:r>
                      </m:e>
                    </m:d>
                    <m:r>
                      <a:rPr lang="en-US" sz="20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0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7</m:t>
                    </m:r>
                  </m:oMath>
                </a14:m>
                <a:r>
                  <a:rPr lang="en-US" sz="2000" b="0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  <a:t>      </a:t>
                </a:r>
                <a:r>
                  <a:rPr lang="en-US" sz="2000" dirty="0"/>
                  <a:t>Random Polynomial Functions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>
                  <a:solidFill>
                    <a:srgbClr val="00B050"/>
                  </a:solidFill>
                </a:endParaRPr>
              </a:p>
              <a:p>
                <a:pPr marL="118872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30661C2-0F1C-4C73-9FE3-6A2D60CF2E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70" y="1964664"/>
                <a:ext cx="8854580" cy="707886"/>
              </a:xfrm>
              <a:prstGeom prst="rect">
                <a:avLst/>
              </a:prstGeom>
              <a:blipFill>
                <a:blip r:embed="rId4"/>
                <a:stretch>
                  <a:fillRect t="-4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922DEF7-5BC4-40B9-99DF-EDF1BE3B4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60108"/>
              </p:ext>
            </p:extLst>
          </p:nvPr>
        </p:nvGraphicFramePr>
        <p:xfrm>
          <a:off x="3458026" y="4420200"/>
          <a:ext cx="808220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135090452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82873049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53621917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9674970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49348540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23646952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4212676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31765307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299282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10729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6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2977510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AA4FCA-C70B-4635-9051-07B5AEB46C4F}"/>
              </a:ext>
            </a:extLst>
          </p:cNvPr>
          <p:cNvCxnSpPr/>
          <p:nvPr/>
        </p:nvCxnSpPr>
        <p:spPr>
          <a:xfrm>
            <a:off x="3845377" y="404866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5E76544-44A5-4960-BE53-DBDB4CAFC447}"/>
              </a:ext>
            </a:extLst>
          </p:cNvPr>
          <p:cNvCxnSpPr/>
          <p:nvPr/>
        </p:nvCxnSpPr>
        <p:spPr>
          <a:xfrm>
            <a:off x="4659084" y="404866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2022B4-49FE-4822-8916-108549B21E6A}"/>
              </a:ext>
            </a:extLst>
          </p:cNvPr>
          <p:cNvCxnSpPr/>
          <p:nvPr/>
        </p:nvCxnSpPr>
        <p:spPr>
          <a:xfrm>
            <a:off x="5475513" y="404866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4CFA86-D915-4350-9ADD-7536398BF284}"/>
              </a:ext>
            </a:extLst>
          </p:cNvPr>
          <p:cNvCxnSpPr/>
          <p:nvPr/>
        </p:nvCxnSpPr>
        <p:spPr>
          <a:xfrm>
            <a:off x="6289220" y="404866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2D96D90-5D97-4D24-A335-306B7774BEEA}"/>
              </a:ext>
            </a:extLst>
          </p:cNvPr>
          <p:cNvCxnSpPr/>
          <p:nvPr/>
        </p:nvCxnSpPr>
        <p:spPr>
          <a:xfrm>
            <a:off x="7075713" y="404866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D3B4D25-DAAA-4498-A218-B36113433F51}"/>
              </a:ext>
            </a:extLst>
          </p:cNvPr>
          <p:cNvCxnSpPr/>
          <p:nvPr/>
        </p:nvCxnSpPr>
        <p:spPr>
          <a:xfrm>
            <a:off x="7889420" y="404866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2095008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B1473-847C-47AC-8BB7-843B2DA79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6F38F-5E5E-45AA-B8A8-6E867085CD8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45/66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E2CE55F-B141-49A0-845B-6AB165690119}"/>
                  </a:ext>
                </a:extLst>
              </p:cNvPr>
              <p:cNvSpPr/>
              <p:nvPr/>
            </p:nvSpPr>
            <p:spPr>
              <a:xfrm>
                <a:off x="205161" y="2113997"/>
                <a:ext cx="3460178" cy="1477328"/>
              </a:xfrm>
              <a:prstGeom prst="rect">
                <a:avLst/>
              </a:prstGeom>
              <a:ln>
                <a:solidFill>
                  <a:srgbClr val="FF2F2F"/>
                </a:solidFill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’</m:t>
                    </m:r>
                    <m:d>
                      <m:dPr>
                        <m:ctrlPr>
                          <a:rPr lang="en-US" sz="20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20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0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00B0F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2000" dirty="0">
                  <a:solidFill>
                    <a:srgbClr val="00B0F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0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US" sz="2000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2000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000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[(</m:t>
                      </m:r>
                      <m:r>
                        <a:rPr lang="en-US" sz="2000" i="1" dirty="0" err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)) 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E2CE55F-B141-49A0-845B-6AB1656901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61" y="2113997"/>
                <a:ext cx="3460178" cy="14773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2F2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2D74C15-BB59-4DA4-BE2B-F4F9F806A2B8}"/>
                  </a:ext>
                </a:extLst>
              </p:cNvPr>
              <p:cNvSpPr/>
              <p:nvPr/>
            </p:nvSpPr>
            <p:spPr>
              <a:xfrm>
                <a:off x="258655" y="4114247"/>
                <a:ext cx="2968826" cy="1938992"/>
              </a:xfrm>
              <a:prstGeom prst="rect">
                <a:avLst/>
              </a:prstGeom>
              <a:ln>
                <a:solidFill>
                  <a:srgbClr val="FF2F2F"/>
                </a:solidFill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i="1" dirty="0">
                    <a:solidFill>
                      <a:srgbClr val="00B0F0"/>
                    </a:solidFill>
                    <a:latin typeface="Cambria Math" panose="02040503050406030204" pitchFamily="18" charset="0"/>
                  </a:rPr>
                  <a:t>N=7, q=3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000" i="1" dirty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 dirty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3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00B0F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0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US" sz="2000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2000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000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[(</m:t>
                      </m:r>
                      <m:r>
                        <a:rPr lang="en-US" sz="2000" i="1" dirty="0" err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)) 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7]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2D74C15-BB59-4DA4-BE2B-F4F9F806A2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55" y="4114247"/>
                <a:ext cx="2968826" cy="1938992"/>
              </a:xfrm>
              <a:prstGeom prst="rect">
                <a:avLst/>
              </a:prstGeom>
              <a:blipFill>
                <a:blip r:embed="rId5"/>
                <a:stretch>
                  <a:fillRect l="-1840"/>
                </a:stretch>
              </a:blipFill>
              <a:ln>
                <a:solidFill>
                  <a:srgbClr val="FF2F2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FDFE9F9-787B-47E2-B734-D3BC1AAFF6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100278"/>
              </p:ext>
            </p:extLst>
          </p:nvPr>
        </p:nvGraphicFramePr>
        <p:xfrm>
          <a:off x="4756149" y="4315294"/>
          <a:ext cx="565754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876755637"/>
                    </a:ext>
                  </a:extLst>
                </a:gridCol>
              </a:tblGrid>
              <a:tr h="2506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703874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25</a:t>
                      </a:r>
                    </a:p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67</a:t>
                      </a:r>
                    </a:p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32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89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44</a:t>
                      </a:r>
                    </a:p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96BD3E7F-168A-4F38-86FE-D427F4A21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80926"/>
              </p:ext>
            </p:extLst>
          </p:nvPr>
        </p:nvGraphicFramePr>
        <p:xfrm>
          <a:off x="5058226" y="2107938"/>
          <a:ext cx="4849320" cy="10696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70387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44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67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32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89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3C372FF-CCA6-448E-88E5-5844DCEDC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276718"/>
              </p:ext>
            </p:extLst>
          </p:nvPr>
        </p:nvGraphicFramePr>
        <p:xfrm>
          <a:off x="5058226" y="3669822"/>
          <a:ext cx="808220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135090452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82873049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53621917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9674970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49348540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23646952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4212676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31765307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299282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10729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6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2977510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4BF218D-5142-4CC8-9784-0A8EC0197F32}"/>
              </a:ext>
            </a:extLst>
          </p:cNvPr>
          <p:cNvCxnSpPr/>
          <p:nvPr/>
        </p:nvCxnSpPr>
        <p:spPr>
          <a:xfrm>
            <a:off x="5445577" y="3298289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25C7357-7F9C-47B6-AC3F-4C4F920E2358}"/>
              </a:ext>
            </a:extLst>
          </p:cNvPr>
          <p:cNvCxnSpPr/>
          <p:nvPr/>
        </p:nvCxnSpPr>
        <p:spPr>
          <a:xfrm>
            <a:off x="6259284" y="3298289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8EFDFDE-E857-4B0D-9629-50786FF303A8}"/>
              </a:ext>
            </a:extLst>
          </p:cNvPr>
          <p:cNvCxnSpPr/>
          <p:nvPr/>
        </p:nvCxnSpPr>
        <p:spPr>
          <a:xfrm>
            <a:off x="7075713" y="3298289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ADB7A76-C656-4681-AEF7-C8C458EF920E}"/>
              </a:ext>
            </a:extLst>
          </p:cNvPr>
          <p:cNvCxnSpPr/>
          <p:nvPr/>
        </p:nvCxnSpPr>
        <p:spPr>
          <a:xfrm>
            <a:off x="7889420" y="3298289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87E455A-AF42-455F-BCBD-E650C0E2EDF1}"/>
              </a:ext>
            </a:extLst>
          </p:cNvPr>
          <p:cNvCxnSpPr/>
          <p:nvPr/>
        </p:nvCxnSpPr>
        <p:spPr>
          <a:xfrm>
            <a:off x="8675913" y="3298289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96A7835-3C35-4D7F-A8A2-B69735210B53}"/>
              </a:ext>
            </a:extLst>
          </p:cNvPr>
          <p:cNvCxnSpPr/>
          <p:nvPr/>
        </p:nvCxnSpPr>
        <p:spPr>
          <a:xfrm>
            <a:off x="9489620" y="3298289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997235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B1473-847C-47AC-8BB7-843B2DA79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6F38F-5E5E-45AA-B8A8-6E867085CD8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46/66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D7D363-12DE-4FEA-AC90-6C32EFE84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749116"/>
              </p:ext>
            </p:extLst>
          </p:nvPr>
        </p:nvGraphicFramePr>
        <p:xfrm>
          <a:off x="4959803" y="5404153"/>
          <a:ext cx="5657540" cy="10696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876755637"/>
                    </a:ext>
                  </a:extLst>
                </a:gridCol>
              </a:tblGrid>
              <a:tr h="25069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703874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58B05D6-0925-4444-96D0-FA81758691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375959"/>
              </p:ext>
            </p:extLst>
          </p:nvPr>
        </p:nvGraphicFramePr>
        <p:xfrm>
          <a:off x="5363913" y="3470163"/>
          <a:ext cx="484932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135090452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82873049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53621917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9674970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49348540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236469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6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297751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2D74C15-BB59-4DA4-BE2B-F4F9F806A2B8}"/>
                  </a:ext>
                </a:extLst>
              </p:cNvPr>
              <p:cNvSpPr/>
              <p:nvPr/>
            </p:nvSpPr>
            <p:spPr>
              <a:xfrm>
                <a:off x="381705" y="1998767"/>
                <a:ext cx="2968826" cy="1938992"/>
              </a:xfrm>
              <a:prstGeom prst="rect">
                <a:avLst/>
              </a:prstGeom>
              <a:ln>
                <a:solidFill>
                  <a:srgbClr val="FF2F2F"/>
                </a:solidFill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i="1" dirty="0">
                    <a:solidFill>
                      <a:srgbClr val="00B0F0"/>
                    </a:solidFill>
                    <a:latin typeface="Cambria Math" panose="02040503050406030204" pitchFamily="18" charset="0"/>
                  </a:rPr>
                  <a:t>N=7, q=3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000" i="1" dirty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 dirty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3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00B0F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, j=1,2,…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[(</m:t>
                      </m:r>
                      <m:r>
                        <a:rPr lang="en-US" sz="2000" i="1" dirty="0" err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)) 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7]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2D74C15-BB59-4DA4-BE2B-F4F9F806A2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05" y="1998767"/>
                <a:ext cx="2968826" cy="1938992"/>
              </a:xfrm>
              <a:prstGeom prst="rect">
                <a:avLst/>
              </a:prstGeom>
              <a:blipFill>
                <a:blip r:embed="rId4"/>
                <a:stretch>
                  <a:fillRect l="-2045"/>
                </a:stretch>
              </a:blipFill>
              <a:ln>
                <a:solidFill>
                  <a:srgbClr val="FF2F2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5D0C8EE-8987-4030-8F95-11280E4B3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733280"/>
              </p:ext>
            </p:extLst>
          </p:nvPr>
        </p:nvGraphicFramePr>
        <p:xfrm>
          <a:off x="3758745" y="4603216"/>
          <a:ext cx="808220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135090452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82873049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53621917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9674970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49348540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23646952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4212676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31765307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299282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10729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2977510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10202A0-D4A1-4610-ABD8-4DE9D6A1B66F}"/>
              </a:ext>
            </a:extLst>
          </p:cNvPr>
          <p:cNvCxnSpPr/>
          <p:nvPr/>
        </p:nvCxnSpPr>
        <p:spPr>
          <a:xfrm>
            <a:off x="5776232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D97742A-8935-419C-A9DF-02C01F1843EE}"/>
              </a:ext>
            </a:extLst>
          </p:cNvPr>
          <p:cNvCxnSpPr/>
          <p:nvPr/>
        </p:nvCxnSpPr>
        <p:spPr>
          <a:xfrm>
            <a:off x="6589939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5555D65-CE6A-453C-BD92-1296F912E50E}"/>
              </a:ext>
            </a:extLst>
          </p:cNvPr>
          <p:cNvCxnSpPr/>
          <p:nvPr/>
        </p:nvCxnSpPr>
        <p:spPr>
          <a:xfrm>
            <a:off x="7376432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9BD8A87-8C6E-46B9-8E28-5362866901B1}"/>
              </a:ext>
            </a:extLst>
          </p:cNvPr>
          <p:cNvCxnSpPr/>
          <p:nvPr/>
        </p:nvCxnSpPr>
        <p:spPr>
          <a:xfrm>
            <a:off x="8190139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44B3DB3-00DA-43E6-83E7-7B569BE027F3}"/>
              </a:ext>
            </a:extLst>
          </p:cNvPr>
          <p:cNvCxnSpPr/>
          <p:nvPr/>
        </p:nvCxnSpPr>
        <p:spPr>
          <a:xfrm>
            <a:off x="9006568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F73D3F5-064E-410F-9D1B-22213D16CE38}"/>
              </a:ext>
            </a:extLst>
          </p:cNvPr>
          <p:cNvCxnSpPr/>
          <p:nvPr/>
        </p:nvCxnSpPr>
        <p:spPr>
          <a:xfrm>
            <a:off x="9820275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E01FF718-0214-4947-B39D-D347D5F14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612464"/>
              </p:ext>
            </p:extLst>
          </p:nvPr>
        </p:nvGraphicFramePr>
        <p:xfrm>
          <a:off x="5384797" y="1846596"/>
          <a:ext cx="4849320" cy="10696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70387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44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67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32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89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EEEDB92-69EA-46D8-9DC4-F84DEA16507F}"/>
              </a:ext>
            </a:extLst>
          </p:cNvPr>
          <p:cNvCxnSpPr/>
          <p:nvPr/>
        </p:nvCxnSpPr>
        <p:spPr>
          <a:xfrm>
            <a:off x="5772148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4D05161-B032-4967-883E-72E15E3E50D6}"/>
              </a:ext>
            </a:extLst>
          </p:cNvPr>
          <p:cNvCxnSpPr/>
          <p:nvPr/>
        </p:nvCxnSpPr>
        <p:spPr>
          <a:xfrm>
            <a:off x="6585855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E781B9D-1EA6-4AA8-A66C-6F597FF63723}"/>
              </a:ext>
            </a:extLst>
          </p:cNvPr>
          <p:cNvCxnSpPr/>
          <p:nvPr/>
        </p:nvCxnSpPr>
        <p:spPr>
          <a:xfrm>
            <a:off x="7402284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79CF0CC-B3C1-488D-93FA-A99D9A081044}"/>
              </a:ext>
            </a:extLst>
          </p:cNvPr>
          <p:cNvCxnSpPr/>
          <p:nvPr/>
        </p:nvCxnSpPr>
        <p:spPr>
          <a:xfrm>
            <a:off x="8215991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E5B199E-D3A0-4485-97B1-BB2348AF9A60}"/>
              </a:ext>
            </a:extLst>
          </p:cNvPr>
          <p:cNvCxnSpPr/>
          <p:nvPr/>
        </p:nvCxnSpPr>
        <p:spPr>
          <a:xfrm>
            <a:off x="9002484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47D1812-050F-4457-96C6-5C43A3D5E747}"/>
              </a:ext>
            </a:extLst>
          </p:cNvPr>
          <p:cNvCxnSpPr/>
          <p:nvPr/>
        </p:nvCxnSpPr>
        <p:spPr>
          <a:xfrm>
            <a:off x="9816191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1775351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B1473-847C-47AC-8BB7-843B2DA79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6F38F-5E5E-45AA-B8A8-6E867085CD8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47/66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D7D363-12DE-4FEA-AC90-6C32EFE84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048056"/>
              </p:ext>
            </p:extLst>
          </p:nvPr>
        </p:nvGraphicFramePr>
        <p:xfrm>
          <a:off x="4959803" y="5404153"/>
          <a:ext cx="5657540" cy="10696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876755637"/>
                    </a:ext>
                  </a:extLst>
                </a:gridCol>
              </a:tblGrid>
              <a:tr h="2506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703874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44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2D74C15-BB59-4DA4-BE2B-F4F9F806A2B8}"/>
                  </a:ext>
                </a:extLst>
              </p:cNvPr>
              <p:cNvSpPr/>
              <p:nvPr/>
            </p:nvSpPr>
            <p:spPr>
              <a:xfrm>
                <a:off x="381705" y="1990593"/>
                <a:ext cx="2968826" cy="1938992"/>
              </a:xfrm>
              <a:prstGeom prst="rect">
                <a:avLst/>
              </a:prstGeom>
              <a:ln>
                <a:solidFill>
                  <a:srgbClr val="FF2F2F"/>
                </a:solidFill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i="1" dirty="0">
                    <a:solidFill>
                      <a:srgbClr val="00B0F0"/>
                    </a:solidFill>
                    <a:latin typeface="Cambria Math" panose="02040503050406030204" pitchFamily="18" charset="0"/>
                  </a:rPr>
                  <a:t>N=7, q=3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000" i="1" dirty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 dirty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3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00B0F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, j=1,2,…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[(</m:t>
                      </m:r>
                      <m:r>
                        <a:rPr lang="en-US" sz="2000" i="1" dirty="0" err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)) 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7]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2D74C15-BB59-4DA4-BE2B-F4F9F806A2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05" y="1990593"/>
                <a:ext cx="2968826" cy="1938992"/>
              </a:xfrm>
              <a:prstGeom prst="rect">
                <a:avLst/>
              </a:prstGeom>
              <a:blipFill>
                <a:blip r:embed="rId4"/>
                <a:stretch>
                  <a:fillRect l="-2045"/>
                </a:stretch>
              </a:blipFill>
              <a:ln>
                <a:solidFill>
                  <a:srgbClr val="FF2F2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F599625A-8BB8-4F34-A4E8-80DD2DD76B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760835"/>
              </p:ext>
            </p:extLst>
          </p:nvPr>
        </p:nvGraphicFramePr>
        <p:xfrm>
          <a:off x="5363913" y="3470163"/>
          <a:ext cx="484932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135090452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82873049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53621917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9674970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49348540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236469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6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2977510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D4889F6E-98E9-4586-B3B5-1AC1A343E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826259"/>
              </p:ext>
            </p:extLst>
          </p:nvPr>
        </p:nvGraphicFramePr>
        <p:xfrm>
          <a:off x="3758745" y="4603216"/>
          <a:ext cx="808220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135090452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82873049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53621917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9674970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49348540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23646952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4212676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31765307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299282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10729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2977510"/>
                  </a:ext>
                </a:extLst>
              </a:tr>
            </a:tbl>
          </a:graphicData>
        </a:graphic>
      </p:graphicFrame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11FDE69-99A1-4304-8A5A-C5A013C8A6C1}"/>
              </a:ext>
            </a:extLst>
          </p:cNvPr>
          <p:cNvCxnSpPr/>
          <p:nvPr/>
        </p:nvCxnSpPr>
        <p:spPr>
          <a:xfrm>
            <a:off x="5776232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F007E22-D05A-44B6-B945-11CC15F310BA}"/>
              </a:ext>
            </a:extLst>
          </p:cNvPr>
          <p:cNvCxnSpPr/>
          <p:nvPr/>
        </p:nvCxnSpPr>
        <p:spPr>
          <a:xfrm>
            <a:off x="6589939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8E69ABF-42DF-4EB7-BD72-579C8278E334}"/>
              </a:ext>
            </a:extLst>
          </p:cNvPr>
          <p:cNvCxnSpPr/>
          <p:nvPr/>
        </p:nvCxnSpPr>
        <p:spPr>
          <a:xfrm>
            <a:off x="7376432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5C29980-4E9C-45B3-B645-EE55D75EFA3C}"/>
              </a:ext>
            </a:extLst>
          </p:cNvPr>
          <p:cNvCxnSpPr/>
          <p:nvPr/>
        </p:nvCxnSpPr>
        <p:spPr>
          <a:xfrm>
            <a:off x="8190139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CA5EE55-5060-4DEA-91F0-FE235528AB61}"/>
              </a:ext>
            </a:extLst>
          </p:cNvPr>
          <p:cNvCxnSpPr/>
          <p:nvPr/>
        </p:nvCxnSpPr>
        <p:spPr>
          <a:xfrm>
            <a:off x="9006568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71A0735-2177-4CF8-85F8-A1CFF486D35A}"/>
              </a:ext>
            </a:extLst>
          </p:cNvPr>
          <p:cNvCxnSpPr/>
          <p:nvPr/>
        </p:nvCxnSpPr>
        <p:spPr>
          <a:xfrm>
            <a:off x="9820275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53DD816E-E3B6-4DE3-A4F6-6E9DBD4FA0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662086"/>
              </p:ext>
            </p:extLst>
          </p:nvPr>
        </p:nvGraphicFramePr>
        <p:xfrm>
          <a:off x="5384797" y="1846596"/>
          <a:ext cx="4849320" cy="10696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70387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44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67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32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89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E5B9BEF-0FF7-4218-8C19-A3C4913256EB}"/>
              </a:ext>
            </a:extLst>
          </p:cNvPr>
          <p:cNvCxnSpPr/>
          <p:nvPr/>
        </p:nvCxnSpPr>
        <p:spPr>
          <a:xfrm>
            <a:off x="5772148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B2C8EB1-0608-4EE0-89F3-A18392248112}"/>
              </a:ext>
            </a:extLst>
          </p:cNvPr>
          <p:cNvCxnSpPr/>
          <p:nvPr/>
        </p:nvCxnSpPr>
        <p:spPr>
          <a:xfrm>
            <a:off x="6585855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0480059-F769-4AD4-827B-614E73CFDA5D}"/>
              </a:ext>
            </a:extLst>
          </p:cNvPr>
          <p:cNvCxnSpPr/>
          <p:nvPr/>
        </p:nvCxnSpPr>
        <p:spPr>
          <a:xfrm>
            <a:off x="7402284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082423B-0A7D-41EF-BD16-60B938609252}"/>
              </a:ext>
            </a:extLst>
          </p:cNvPr>
          <p:cNvCxnSpPr/>
          <p:nvPr/>
        </p:nvCxnSpPr>
        <p:spPr>
          <a:xfrm>
            <a:off x="8215991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2FC8AE2-B111-43EF-902C-602D50350BDF}"/>
              </a:ext>
            </a:extLst>
          </p:cNvPr>
          <p:cNvCxnSpPr/>
          <p:nvPr/>
        </p:nvCxnSpPr>
        <p:spPr>
          <a:xfrm>
            <a:off x="9002484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D331001-8AC7-4FC9-9C51-84117BD110FC}"/>
              </a:ext>
            </a:extLst>
          </p:cNvPr>
          <p:cNvCxnSpPr/>
          <p:nvPr/>
        </p:nvCxnSpPr>
        <p:spPr>
          <a:xfrm>
            <a:off x="9816191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0685087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B1473-847C-47AC-8BB7-843B2DA79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6F38F-5E5E-45AA-B8A8-6E867085CD8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48/66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D7D363-12DE-4FEA-AC90-6C32EFE84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505462"/>
              </p:ext>
            </p:extLst>
          </p:nvPr>
        </p:nvGraphicFramePr>
        <p:xfrm>
          <a:off x="4959803" y="5404153"/>
          <a:ext cx="5657540" cy="10696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876755637"/>
                    </a:ext>
                  </a:extLst>
                </a:gridCol>
              </a:tblGrid>
              <a:tr h="2506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703874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44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2D74C15-BB59-4DA4-BE2B-F4F9F806A2B8}"/>
                  </a:ext>
                </a:extLst>
              </p:cNvPr>
              <p:cNvSpPr/>
              <p:nvPr/>
            </p:nvSpPr>
            <p:spPr>
              <a:xfrm>
                <a:off x="381705" y="2006921"/>
                <a:ext cx="2968826" cy="1938992"/>
              </a:xfrm>
              <a:prstGeom prst="rect">
                <a:avLst/>
              </a:prstGeom>
              <a:ln>
                <a:solidFill>
                  <a:srgbClr val="FF2F2F"/>
                </a:solidFill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i="1" dirty="0">
                    <a:solidFill>
                      <a:srgbClr val="00B0F0"/>
                    </a:solidFill>
                    <a:latin typeface="Cambria Math" panose="02040503050406030204" pitchFamily="18" charset="0"/>
                  </a:rPr>
                  <a:t>N=7, q=3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000" i="1" dirty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 dirty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3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00B0F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, j=1,2,…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[(</m:t>
                      </m:r>
                      <m:r>
                        <a:rPr lang="en-US" sz="2000" i="1" dirty="0" err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)) 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7]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2D74C15-BB59-4DA4-BE2B-F4F9F806A2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05" y="2006921"/>
                <a:ext cx="2968826" cy="1938992"/>
              </a:xfrm>
              <a:prstGeom prst="rect">
                <a:avLst/>
              </a:prstGeom>
              <a:blipFill>
                <a:blip r:embed="rId4"/>
                <a:stretch>
                  <a:fillRect l="-2045"/>
                </a:stretch>
              </a:blipFill>
              <a:ln>
                <a:solidFill>
                  <a:srgbClr val="FF2F2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1CF924-254D-4A34-BCF8-09863F5216AA}"/>
                  </a:ext>
                </a:extLst>
              </p:cNvPr>
              <p:cNvSpPr txBox="1"/>
              <p:nvPr/>
            </p:nvSpPr>
            <p:spPr>
              <a:xfrm>
                <a:off x="350734" y="4081739"/>
                <a:ext cx="4183133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’(23)=3−(23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3)=1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(1)=1.1=1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(6+1)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7=0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1CF924-254D-4A34-BCF8-09863F521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734" y="4081739"/>
                <a:ext cx="4183133" cy="1569660"/>
              </a:xfrm>
              <a:prstGeom prst="rect">
                <a:avLst/>
              </a:prstGeom>
              <a:blipFill>
                <a:blip r:embed="rId5"/>
                <a:stretch>
                  <a:fillRect l="-13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4184BECB-AEBE-4FC9-9A29-CCCD6BF41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70274"/>
              </p:ext>
            </p:extLst>
          </p:nvPr>
        </p:nvGraphicFramePr>
        <p:xfrm>
          <a:off x="5363913" y="3470163"/>
          <a:ext cx="484932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135090452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82873049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53621917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9674970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49348540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236469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6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2977510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FA937C7F-FBB2-495F-949B-08A8D7B2F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814573"/>
              </p:ext>
            </p:extLst>
          </p:nvPr>
        </p:nvGraphicFramePr>
        <p:xfrm>
          <a:off x="3758745" y="4603216"/>
          <a:ext cx="808220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135090452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82873049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53621917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9674970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49348540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23646952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4212676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31765307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299282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10729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2977510"/>
                  </a:ext>
                </a:extLst>
              </a:tr>
            </a:tbl>
          </a:graphicData>
        </a:graphic>
      </p:graphicFrame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0EBBEC4-D103-4FBA-A50F-E71739DABA71}"/>
              </a:ext>
            </a:extLst>
          </p:cNvPr>
          <p:cNvCxnSpPr/>
          <p:nvPr/>
        </p:nvCxnSpPr>
        <p:spPr>
          <a:xfrm>
            <a:off x="5776232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4EC4FA5-C1AE-4281-9067-4CF4206E3EE4}"/>
              </a:ext>
            </a:extLst>
          </p:cNvPr>
          <p:cNvCxnSpPr/>
          <p:nvPr/>
        </p:nvCxnSpPr>
        <p:spPr>
          <a:xfrm>
            <a:off x="6589939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8C1F52E-6360-4B78-9640-1C3F52D3DDF2}"/>
              </a:ext>
            </a:extLst>
          </p:cNvPr>
          <p:cNvCxnSpPr/>
          <p:nvPr/>
        </p:nvCxnSpPr>
        <p:spPr>
          <a:xfrm>
            <a:off x="7376432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6612D37-36AB-401A-8D80-72B474A449CB}"/>
              </a:ext>
            </a:extLst>
          </p:cNvPr>
          <p:cNvCxnSpPr/>
          <p:nvPr/>
        </p:nvCxnSpPr>
        <p:spPr>
          <a:xfrm>
            <a:off x="8190139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1FE866E-77BD-42B2-A569-4CE36E77777A}"/>
              </a:ext>
            </a:extLst>
          </p:cNvPr>
          <p:cNvCxnSpPr/>
          <p:nvPr/>
        </p:nvCxnSpPr>
        <p:spPr>
          <a:xfrm>
            <a:off x="9006568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67D0DDE-BBB4-464D-9352-75CEB2E3C583}"/>
              </a:ext>
            </a:extLst>
          </p:cNvPr>
          <p:cNvCxnSpPr/>
          <p:nvPr/>
        </p:nvCxnSpPr>
        <p:spPr>
          <a:xfrm>
            <a:off x="9820275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9A51563D-C971-40D2-923B-E4BE94242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337030"/>
              </p:ext>
            </p:extLst>
          </p:nvPr>
        </p:nvGraphicFramePr>
        <p:xfrm>
          <a:off x="5384797" y="1846596"/>
          <a:ext cx="4849320" cy="10696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70387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44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67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32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89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1503EE6-D362-4DDF-B76F-F784006A396E}"/>
              </a:ext>
            </a:extLst>
          </p:cNvPr>
          <p:cNvCxnSpPr/>
          <p:nvPr/>
        </p:nvCxnSpPr>
        <p:spPr>
          <a:xfrm>
            <a:off x="5772148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7331B7F-2A6B-44E9-A3A1-C755FF18EFE8}"/>
              </a:ext>
            </a:extLst>
          </p:cNvPr>
          <p:cNvCxnSpPr/>
          <p:nvPr/>
        </p:nvCxnSpPr>
        <p:spPr>
          <a:xfrm>
            <a:off x="6585855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E7902D7-53ED-4476-B563-BFA9729A3AB5}"/>
              </a:ext>
            </a:extLst>
          </p:cNvPr>
          <p:cNvCxnSpPr/>
          <p:nvPr/>
        </p:nvCxnSpPr>
        <p:spPr>
          <a:xfrm>
            <a:off x="7402284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66036B9-3DE6-4677-B9B2-21A96C06A870}"/>
              </a:ext>
            </a:extLst>
          </p:cNvPr>
          <p:cNvCxnSpPr/>
          <p:nvPr/>
        </p:nvCxnSpPr>
        <p:spPr>
          <a:xfrm>
            <a:off x="8215991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E746696-F1F7-4F7A-B204-FAEB1FE1A932}"/>
              </a:ext>
            </a:extLst>
          </p:cNvPr>
          <p:cNvCxnSpPr/>
          <p:nvPr/>
        </p:nvCxnSpPr>
        <p:spPr>
          <a:xfrm>
            <a:off x="9002484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FB7C6FF-4425-4278-8BF2-8EC1611E25EE}"/>
              </a:ext>
            </a:extLst>
          </p:cNvPr>
          <p:cNvCxnSpPr/>
          <p:nvPr/>
        </p:nvCxnSpPr>
        <p:spPr>
          <a:xfrm>
            <a:off x="9816191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835668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B1473-847C-47AC-8BB7-843B2DA79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6F38F-5E5E-45AA-B8A8-6E867085CD8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49/66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D7D363-12DE-4FEA-AC90-6C32EFE84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6324"/>
              </p:ext>
            </p:extLst>
          </p:nvPr>
        </p:nvGraphicFramePr>
        <p:xfrm>
          <a:off x="4959803" y="5404153"/>
          <a:ext cx="5657540" cy="10696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876755637"/>
                    </a:ext>
                  </a:extLst>
                </a:gridCol>
              </a:tblGrid>
              <a:tr h="2506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70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23</a:t>
                      </a:r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44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2D74C15-BB59-4DA4-BE2B-F4F9F806A2B8}"/>
                  </a:ext>
                </a:extLst>
              </p:cNvPr>
              <p:cNvSpPr/>
              <p:nvPr/>
            </p:nvSpPr>
            <p:spPr>
              <a:xfrm>
                <a:off x="381705" y="1998761"/>
                <a:ext cx="2968826" cy="1938992"/>
              </a:xfrm>
              <a:prstGeom prst="rect">
                <a:avLst/>
              </a:prstGeom>
              <a:ln>
                <a:solidFill>
                  <a:srgbClr val="FF2F2F"/>
                </a:solidFill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i="1" dirty="0">
                    <a:solidFill>
                      <a:srgbClr val="00B0F0"/>
                    </a:solidFill>
                    <a:latin typeface="Cambria Math" panose="02040503050406030204" pitchFamily="18" charset="0"/>
                  </a:rPr>
                  <a:t>N=7, q=3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000" i="1" dirty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 dirty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3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00B0F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, j=1,2,…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[(</m:t>
                      </m:r>
                      <m:r>
                        <a:rPr lang="en-US" sz="2000" i="1" dirty="0" err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)) 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7]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2D74C15-BB59-4DA4-BE2B-F4F9F806A2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05" y="1998761"/>
                <a:ext cx="2968826" cy="1938992"/>
              </a:xfrm>
              <a:prstGeom prst="rect">
                <a:avLst/>
              </a:prstGeom>
              <a:blipFill>
                <a:blip r:embed="rId4"/>
                <a:stretch>
                  <a:fillRect l="-2045"/>
                </a:stretch>
              </a:blipFill>
              <a:ln>
                <a:solidFill>
                  <a:srgbClr val="FF2F2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1CF924-254D-4A34-BCF8-09863F5216AA}"/>
                  </a:ext>
                </a:extLst>
              </p:cNvPr>
              <p:cNvSpPr txBox="1"/>
              <p:nvPr/>
            </p:nvSpPr>
            <p:spPr>
              <a:xfrm>
                <a:off x="350734" y="4081739"/>
                <a:ext cx="4183133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’(23)=3−(23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3)=1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(1)=1.1=1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(6+1)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7=0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1CF924-254D-4A34-BCF8-09863F521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734" y="4081739"/>
                <a:ext cx="4183133" cy="1569660"/>
              </a:xfrm>
              <a:prstGeom prst="rect">
                <a:avLst/>
              </a:prstGeom>
              <a:blipFill>
                <a:blip r:embed="rId4"/>
                <a:stretch>
                  <a:fillRect l="-13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60F07E62-D87D-4E75-A401-A40D27A9B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054775"/>
              </p:ext>
            </p:extLst>
          </p:nvPr>
        </p:nvGraphicFramePr>
        <p:xfrm>
          <a:off x="5363913" y="3470163"/>
          <a:ext cx="484932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135090452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82873049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53621917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9674970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49348540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236469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6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2977510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039388C7-CB40-4D18-ACC5-6F6BDDAC3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792884"/>
              </p:ext>
            </p:extLst>
          </p:nvPr>
        </p:nvGraphicFramePr>
        <p:xfrm>
          <a:off x="3758745" y="4603216"/>
          <a:ext cx="808220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135090452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82873049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53621917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9674970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49348540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23646952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4212676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31765307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299282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10729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2977510"/>
                  </a:ext>
                </a:extLst>
              </a:tr>
            </a:tbl>
          </a:graphicData>
        </a:graphic>
      </p:graphicFrame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3DB1463-F5F1-4A62-8E76-8EB44059733B}"/>
              </a:ext>
            </a:extLst>
          </p:cNvPr>
          <p:cNvCxnSpPr/>
          <p:nvPr/>
        </p:nvCxnSpPr>
        <p:spPr>
          <a:xfrm>
            <a:off x="5776232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520C15D-CF5D-4527-AC08-F7EDEFCEA4ED}"/>
              </a:ext>
            </a:extLst>
          </p:cNvPr>
          <p:cNvCxnSpPr/>
          <p:nvPr/>
        </p:nvCxnSpPr>
        <p:spPr>
          <a:xfrm>
            <a:off x="6589939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280DBBF-E2F2-4C46-8D3D-EA266A85C5A2}"/>
              </a:ext>
            </a:extLst>
          </p:cNvPr>
          <p:cNvCxnSpPr/>
          <p:nvPr/>
        </p:nvCxnSpPr>
        <p:spPr>
          <a:xfrm>
            <a:off x="7376432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D2645A9-0540-4319-A61E-6BE7CFFD7FB8}"/>
              </a:ext>
            </a:extLst>
          </p:cNvPr>
          <p:cNvCxnSpPr/>
          <p:nvPr/>
        </p:nvCxnSpPr>
        <p:spPr>
          <a:xfrm>
            <a:off x="8190139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0C68831-12B1-433D-9345-24228EEC95F2}"/>
              </a:ext>
            </a:extLst>
          </p:cNvPr>
          <p:cNvCxnSpPr/>
          <p:nvPr/>
        </p:nvCxnSpPr>
        <p:spPr>
          <a:xfrm>
            <a:off x="9006568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B4F74A8-A853-4686-8C3A-95908FA21479}"/>
              </a:ext>
            </a:extLst>
          </p:cNvPr>
          <p:cNvCxnSpPr/>
          <p:nvPr/>
        </p:nvCxnSpPr>
        <p:spPr>
          <a:xfrm>
            <a:off x="9820275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F325EE9D-095B-4E86-972F-1EBB862F74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115929"/>
              </p:ext>
            </p:extLst>
          </p:nvPr>
        </p:nvGraphicFramePr>
        <p:xfrm>
          <a:off x="5384797" y="1846596"/>
          <a:ext cx="4849320" cy="10696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70387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44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67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32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89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6FEA259-E454-4AF8-90FD-132E73155981}"/>
              </a:ext>
            </a:extLst>
          </p:cNvPr>
          <p:cNvCxnSpPr/>
          <p:nvPr/>
        </p:nvCxnSpPr>
        <p:spPr>
          <a:xfrm>
            <a:off x="5772148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565BC0D-C01C-47F7-ACF7-32860FCFE7F3}"/>
              </a:ext>
            </a:extLst>
          </p:cNvPr>
          <p:cNvCxnSpPr/>
          <p:nvPr/>
        </p:nvCxnSpPr>
        <p:spPr>
          <a:xfrm>
            <a:off x="6585855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8EE63EF-C565-4B35-BD50-36E28A9CE6F3}"/>
              </a:ext>
            </a:extLst>
          </p:cNvPr>
          <p:cNvCxnSpPr/>
          <p:nvPr/>
        </p:nvCxnSpPr>
        <p:spPr>
          <a:xfrm>
            <a:off x="7402284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8EBC44F-F26D-4FCC-9477-C9ECA4E799DC}"/>
              </a:ext>
            </a:extLst>
          </p:cNvPr>
          <p:cNvCxnSpPr/>
          <p:nvPr/>
        </p:nvCxnSpPr>
        <p:spPr>
          <a:xfrm>
            <a:off x="8215991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BC648ED-D010-4139-9A54-7E8CCBC42E01}"/>
              </a:ext>
            </a:extLst>
          </p:cNvPr>
          <p:cNvCxnSpPr/>
          <p:nvPr/>
        </p:nvCxnSpPr>
        <p:spPr>
          <a:xfrm>
            <a:off x="9002484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54D0AAF-C4A6-43AB-AE98-CAE1AE86A38A}"/>
              </a:ext>
            </a:extLst>
          </p:cNvPr>
          <p:cNvCxnSpPr/>
          <p:nvPr/>
        </p:nvCxnSpPr>
        <p:spPr>
          <a:xfrm>
            <a:off x="9816191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5942527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B1473-847C-47AC-8BB7-843B2DA79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6F38F-5E5E-45AA-B8A8-6E867085CD8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50/66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D7D363-12DE-4FEA-AC90-6C32EFE84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322660"/>
              </p:ext>
            </p:extLst>
          </p:nvPr>
        </p:nvGraphicFramePr>
        <p:xfrm>
          <a:off x="4959803" y="5404153"/>
          <a:ext cx="5657540" cy="10696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876755637"/>
                    </a:ext>
                  </a:extLst>
                </a:gridCol>
              </a:tblGrid>
              <a:tr h="2506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70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23</a:t>
                      </a:r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44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2D74C15-BB59-4DA4-BE2B-F4F9F806A2B8}"/>
                  </a:ext>
                </a:extLst>
              </p:cNvPr>
              <p:cNvSpPr/>
              <p:nvPr/>
            </p:nvSpPr>
            <p:spPr>
              <a:xfrm>
                <a:off x="381705" y="2006921"/>
                <a:ext cx="2968826" cy="1938992"/>
              </a:xfrm>
              <a:prstGeom prst="rect">
                <a:avLst/>
              </a:prstGeom>
              <a:ln>
                <a:solidFill>
                  <a:srgbClr val="FF2F2F"/>
                </a:solidFill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i="1" dirty="0">
                    <a:solidFill>
                      <a:srgbClr val="00B0F0"/>
                    </a:solidFill>
                    <a:latin typeface="Cambria Math" panose="02040503050406030204" pitchFamily="18" charset="0"/>
                  </a:rPr>
                  <a:t>N=7, q=3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000" i="1" dirty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 dirty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3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00B0F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, j=1,2,…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[(</m:t>
                      </m:r>
                      <m:r>
                        <a:rPr lang="en-US" sz="2000" i="1" dirty="0" err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)) 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7]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2D74C15-BB59-4DA4-BE2B-F4F9F806A2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05" y="2006921"/>
                <a:ext cx="2968826" cy="1938992"/>
              </a:xfrm>
              <a:prstGeom prst="rect">
                <a:avLst/>
              </a:prstGeom>
              <a:blipFill>
                <a:blip r:embed="rId4"/>
                <a:stretch>
                  <a:fillRect l="-2045"/>
                </a:stretch>
              </a:blipFill>
              <a:ln>
                <a:solidFill>
                  <a:srgbClr val="FF2F2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1CF924-254D-4A34-BCF8-09863F5216AA}"/>
                  </a:ext>
                </a:extLst>
              </p:cNvPr>
              <p:cNvSpPr txBox="1"/>
              <p:nvPr/>
            </p:nvSpPr>
            <p:spPr>
              <a:xfrm>
                <a:off x="381704" y="4081739"/>
                <a:ext cx="4121193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’(67)=3−(67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3)=2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(1)=1.2=2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(4+2)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7=6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1CF924-254D-4A34-BCF8-09863F521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04" y="4081739"/>
                <a:ext cx="4121193" cy="1569660"/>
              </a:xfrm>
              <a:prstGeom prst="rect">
                <a:avLst/>
              </a:prstGeom>
              <a:blipFill>
                <a:blip r:embed="rId5"/>
                <a:stretch>
                  <a:fillRect l="-13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53E964E-872E-44BD-929E-5558EC9D9104}"/>
              </a:ext>
            </a:extLst>
          </p:cNvPr>
          <p:cNvSpPr txBox="1"/>
          <p:nvPr/>
        </p:nvSpPr>
        <p:spPr>
          <a:xfrm>
            <a:off x="2765280" y="4617611"/>
            <a:ext cx="5036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</a:rPr>
              <a:t>X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6765EAE5-9FD5-447C-B49C-F63A2493B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161688"/>
              </p:ext>
            </p:extLst>
          </p:nvPr>
        </p:nvGraphicFramePr>
        <p:xfrm>
          <a:off x="5363913" y="3470163"/>
          <a:ext cx="484932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135090452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82873049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53621917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9674970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49348540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236469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6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2977510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A0D6658B-F7E8-4BEB-BF17-F296AF47AD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559608"/>
              </p:ext>
            </p:extLst>
          </p:nvPr>
        </p:nvGraphicFramePr>
        <p:xfrm>
          <a:off x="3758745" y="4603216"/>
          <a:ext cx="808220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135090452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82873049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53621917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9674970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49348540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23646952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4212676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31765307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299282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10729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2977510"/>
                  </a:ext>
                </a:extLst>
              </a:tr>
            </a:tbl>
          </a:graphicData>
        </a:graphic>
      </p:graphicFrame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153E9F1-39A0-4ADA-BE00-B8E944F7C458}"/>
              </a:ext>
            </a:extLst>
          </p:cNvPr>
          <p:cNvCxnSpPr/>
          <p:nvPr/>
        </p:nvCxnSpPr>
        <p:spPr>
          <a:xfrm>
            <a:off x="5776232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4341DE2-6EEE-4EA3-A7CD-4B0A1750A8C4}"/>
              </a:ext>
            </a:extLst>
          </p:cNvPr>
          <p:cNvCxnSpPr/>
          <p:nvPr/>
        </p:nvCxnSpPr>
        <p:spPr>
          <a:xfrm>
            <a:off x="6589939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3E1C36D-92EB-4928-944D-CD9BFE60343F}"/>
              </a:ext>
            </a:extLst>
          </p:cNvPr>
          <p:cNvCxnSpPr/>
          <p:nvPr/>
        </p:nvCxnSpPr>
        <p:spPr>
          <a:xfrm>
            <a:off x="7376432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CEF9B10-1F1B-410C-944F-28574E2DBB81}"/>
              </a:ext>
            </a:extLst>
          </p:cNvPr>
          <p:cNvCxnSpPr/>
          <p:nvPr/>
        </p:nvCxnSpPr>
        <p:spPr>
          <a:xfrm>
            <a:off x="8190139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8DA4E30-770E-42E1-A721-9F87F35CA21B}"/>
              </a:ext>
            </a:extLst>
          </p:cNvPr>
          <p:cNvCxnSpPr/>
          <p:nvPr/>
        </p:nvCxnSpPr>
        <p:spPr>
          <a:xfrm>
            <a:off x="9006568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01B20D1-F31B-4084-AF1F-E5B3DEE05DC7}"/>
              </a:ext>
            </a:extLst>
          </p:cNvPr>
          <p:cNvCxnSpPr/>
          <p:nvPr/>
        </p:nvCxnSpPr>
        <p:spPr>
          <a:xfrm>
            <a:off x="9820275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20DE2B65-B8C4-4B29-B7EF-68258A3C3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774343"/>
              </p:ext>
            </p:extLst>
          </p:nvPr>
        </p:nvGraphicFramePr>
        <p:xfrm>
          <a:off x="5384797" y="1846596"/>
          <a:ext cx="4849320" cy="10696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70387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44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67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32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89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950AE3-AB92-4657-B728-A840AC75E3E4}"/>
              </a:ext>
            </a:extLst>
          </p:cNvPr>
          <p:cNvCxnSpPr/>
          <p:nvPr/>
        </p:nvCxnSpPr>
        <p:spPr>
          <a:xfrm>
            <a:off x="5772148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EF6585F-1210-44CC-B1D3-1A10473F8D61}"/>
              </a:ext>
            </a:extLst>
          </p:cNvPr>
          <p:cNvCxnSpPr/>
          <p:nvPr/>
        </p:nvCxnSpPr>
        <p:spPr>
          <a:xfrm>
            <a:off x="6585855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E3F1164-5A44-45DB-8285-401356AB37E8}"/>
              </a:ext>
            </a:extLst>
          </p:cNvPr>
          <p:cNvCxnSpPr/>
          <p:nvPr/>
        </p:nvCxnSpPr>
        <p:spPr>
          <a:xfrm>
            <a:off x="7402284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DBF1B5B-C1AC-46CA-A2EB-F12529174F0F}"/>
              </a:ext>
            </a:extLst>
          </p:cNvPr>
          <p:cNvCxnSpPr/>
          <p:nvPr/>
        </p:nvCxnSpPr>
        <p:spPr>
          <a:xfrm>
            <a:off x="8215991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3D5DE94-496D-4B2C-BE39-CD30E30657EF}"/>
              </a:ext>
            </a:extLst>
          </p:cNvPr>
          <p:cNvCxnSpPr/>
          <p:nvPr/>
        </p:nvCxnSpPr>
        <p:spPr>
          <a:xfrm>
            <a:off x="9002484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5D5CDEE-788C-4AAC-8AAE-1418BB19E0FB}"/>
              </a:ext>
            </a:extLst>
          </p:cNvPr>
          <p:cNvCxnSpPr/>
          <p:nvPr/>
        </p:nvCxnSpPr>
        <p:spPr>
          <a:xfrm>
            <a:off x="9816191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544378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B1473-847C-47AC-8BB7-843B2DA79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6F38F-5E5E-45AA-B8A8-6E867085CD8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51/66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D7D363-12DE-4FEA-AC90-6C32EFE84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249181"/>
              </p:ext>
            </p:extLst>
          </p:nvPr>
        </p:nvGraphicFramePr>
        <p:xfrm>
          <a:off x="4959803" y="5404153"/>
          <a:ext cx="5657540" cy="10696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876755637"/>
                    </a:ext>
                  </a:extLst>
                </a:gridCol>
              </a:tblGrid>
              <a:tr h="2506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70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23</a:t>
                      </a:r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67</a:t>
                      </a:r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44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2D74C15-BB59-4DA4-BE2B-F4F9F806A2B8}"/>
                  </a:ext>
                </a:extLst>
              </p:cNvPr>
              <p:cNvSpPr/>
              <p:nvPr/>
            </p:nvSpPr>
            <p:spPr>
              <a:xfrm>
                <a:off x="381705" y="1998759"/>
                <a:ext cx="2968826" cy="1938992"/>
              </a:xfrm>
              <a:prstGeom prst="rect">
                <a:avLst/>
              </a:prstGeom>
              <a:ln>
                <a:solidFill>
                  <a:srgbClr val="FF2F2F"/>
                </a:solidFill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i="1" dirty="0">
                    <a:solidFill>
                      <a:srgbClr val="00B0F0"/>
                    </a:solidFill>
                    <a:latin typeface="Cambria Math" panose="02040503050406030204" pitchFamily="18" charset="0"/>
                  </a:rPr>
                  <a:t>N=7, q=3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000" i="1" dirty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 dirty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3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00B0F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, j=1,2,…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[(</m:t>
                      </m:r>
                      <m:r>
                        <a:rPr lang="en-US" sz="2000" i="1" dirty="0" err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)) 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7]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2D74C15-BB59-4DA4-BE2B-F4F9F806A2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05" y="1998759"/>
                <a:ext cx="2968826" cy="1938992"/>
              </a:xfrm>
              <a:prstGeom prst="rect">
                <a:avLst/>
              </a:prstGeom>
              <a:blipFill>
                <a:blip r:embed="rId4"/>
                <a:stretch>
                  <a:fillRect l="-2045"/>
                </a:stretch>
              </a:blipFill>
              <a:ln>
                <a:solidFill>
                  <a:srgbClr val="FF2F2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1CF924-254D-4A34-BCF8-09863F5216AA}"/>
                  </a:ext>
                </a:extLst>
              </p:cNvPr>
              <p:cNvSpPr txBox="1"/>
              <p:nvPr/>
            </p:nvSpPr>
            <p:spPr>
              <a:xfrm>
                <a:off x="381704" y="4081739"/>
                <a:ext cx="4121193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’(67)=3−(67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3)=2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(2)=2.2=4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(4+4)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7=1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1CF924-254D-4A34-BCF8-09863F521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04" y="4081739"/>
                <a:ext cx="4121193" cy="1569660"/>
              </a:xfrm>
              <a:prstGeom prst="rect">
                <a:avLst/>
              </a:prstGeom>
              <a:blipFill>
                <a:blip r:embed="rId5"/>
                <a:stretch>
                  <a:fillRect l="-13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D0BC0DF5-84D6-4749-AE58-E6C56AF0B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162713"/>
              </p:ext>
            </p:extLst>
          </p:nvPr>
        </p:nvGraphicFramePr>
        <p:xfrm>
          <a:off x="5363913" y="3470163"/>
          <a:ext cx="484932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135090452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82873049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53621917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9674970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49348540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236469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6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2977510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F57AA592-D41E-42AA-8107-D74926EBF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19897"/>
              </p:ext>
            </p:extLst>
          </p:nvPr>
        </p:nvGraphicFramePr>
        <p:xfrm>
          <a:off x="3758745" y="4603216"/>
          <a:ext cx="808220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135090452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82873049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53621917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9674970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49348540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23646952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4212676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31765307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299282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10729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2977510"/>
                  </a:ext>
                </a:extLst>
              </a:tr>
            </a:tbl>
          </a:graphicData>
        </a:graphic>
      </p:graphicFrame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D505CD4-445A-4380-B132-E0C181E5FD50}"/>
              </a:ext>
            </a:extLst>
          </p:cNvPr>
          <p:cNvCxnSpPr/>
          <p:nvPr/>
        </p:nvCxnSpPr>
        <p:spPr>
          <a:xfrm>
            <a:off x="5776232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CDCE91D-C4F5-4E5F-828C-45D6F01D76CE}"/>
              </a:ext>
            </a:extLst>
          </p:cNvPr>
          <p:cNvCxnSpPr/>
          <p:nvPr/>
        </p:nvCxnSpPr>
        <p:spPr>
          <a:xfrm>
            <a:off x="6589939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0239114-6FF3-4C81-B654-F2DAB86A82BE}"/>
              </a:ext>
            </a:extLst>
          </p:cNvPr>
          <p:cNvCxnSpPr/>
          <p:nvPr/>
        </p:nvCxnSpPr>
        <p:spPr>
          <a:xfrm>
            <a:off x="7376432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05E8A93-91A8-4426-BEAF-6EA46CC18F5D}"/>
              </a:ext>
            </a:extLst>
          </p:cNvPr>
          <p:cNvCxnSpPr/>
          <p:nvPr/>
        </p:nvCxnSpPr>
        <p:spPr>
          <a:xfrm>
            <a:off x="8190139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2030E99-BC8E-402A-B2D3-629D794A17F8}"/>
              </a:ext>
            </a:extLst>
          </p:cNvPr>
          <p:cNvCxnSpPr/>
          <p:nvPr/>
        </p:nvCxnSpPr>
        <p:spPr>
          <a:xfrm>
            <a:off x="9006568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06E4B96-A14C-440A-855D-1FE461AE5405}"/>
              </a:ext>
            </a:extLst>
          </p:cNvPr>
          <p:cNvCxnSpPr/>
          <p:nvPr/>
        </p:nvCxnSpPr>
        <p:spPr>
          <a:xfrm>
            <a:off x="9820275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C005866B-15F1-4F2E-BC03-EA1FD2CAD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539679"/>
              </p:ext>
            </p:extLst>
          </p:nvPr>
        </p:nvGraphicFramePr>
        <p:xfrm>
          <a:off x="5384797" y="1846596"/>
          <a:ext cx="4849320" cy="10696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70387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44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67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32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89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56A0394-1C87-4AD6-89B5-E38A3EB14ED6}"/>
              </a:ext>
            </a:extLst>
          </p:cNvPr>
          <p:cNvCxnSpPr/>
          <p:nvPr/>
        </p:nvCxnSpPr>
        <p:spPr>
          <a:xfrm>
            <a:off x="5772148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7EEF69A-BD9F-4739-AC77-9DAABEBD2321}"/>
              </a:ext>
            </a:extLst>
          </p:cNvPr>
          <p:cNvCxnSpPr/>
          <p:nvPr/>
        </p:nvCxnSpPr>
        <p:spPr>
          <a:xfrm>
            <a:off x="6585855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80AD0D6-5DB0-419D-BB98-097894AD0389}"/>
              </a:ext>
            </a:extLst>
          </p:cNvPr>
          <p:cNvCxnSpPr/>
          <p:nvPr/>
        </p:nvCxnSpPr>
        <p:spPr>
          <a:xfrm>
            <a:off x="7402284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4F39F91-9D37-4B2A-96E0-3AFAA414694B}"/>
              </a:ext>
            </a:extLst>
          </p:cNvPr>
          <p:cNvCxnSpPr/>
          <p:nvPr/>
        </p:nvCxnSpPr>
        <p:spPr>
          <a:xfrm>
            <a:off x="8215991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7F11950-DB23-47EA-B582-97D355126AC0}"/>
              </a:ext>
            </a:extLst>
          </p:cNvPr>
          <p:cNvCxnSpPr/>
          <p:nvPr/>
        </p:nvCxnSpPr>
        <p:spPr>
          <a:xfrm>
            <a:off x="9002484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517C610-7707-44A1-81DE-978A755888AB}"/>
              </a:ext>
            </a:extLst>
          </p:cNvPr>
          <p:cNvCxnSpPr/>
          <p:nvPr/>
        </p:nvCxnSpPr>
        <p:spPr>
          <a:xfrm>
            <a:off x="9816191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6721283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B1473-847C-47AC-8BB7-843B2DA79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6F38F-5E5E-45AA-B8A8-6E867085CD8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52/66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D7D363-12DE-4FEA-AC90-6C32EFE84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893563"/>
              </p:ext>
            </p:extLst>
          </p:nvPr>
        </p:nvGraphicFramePr>
        <p:xfrm>
          <a:off x="4959803" y="5404153"/>
          <a:ext cx="5657540" cy="10696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876755637"/>
                    </a:ext>
                  </a:extLst>
                </a:gridCol>
              </a:tblGrid>
              <a:tr h="2506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70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23</a:t>
                      </a:r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67</a:t>
                      </a:r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32</a:t>
                      </a:r>
                      <a:endParaRPr lang="en-US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44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2D74C15-BB59-4DA4-BE2B-F4F9F806A2B8}"/>
                  </a:ext>
                </a:extLst>
              </p:cNvPr>
              <p:cNvSpPr/>
              <p:nvPr/>
            </p:nvSpPr>
            <p:spPr>
              <a:xfrm>
                <a:off x="381705" y="1998757"/>
                <a:ext cx="2968826" cy="1938992"/>
              </a:xfrm>
              <a:prstGeom prst="rect">
                <a:avLst/>
              </a:prstGeom>
              <a:ln>
                <a:solidFill>
                  <a:srgbClr val="FF2F2F"/>
                </a:solidFill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i="1" dirty="0">
                    <a:solidFill>
                      <a:srgbClr val="00B0F0"/>
                    </a:solidFill>
                    <a:latin typeface="Cambria Math" panose="02040503050406030204" pitchFamily="18" charset="0"/>
                  </a:rPr>
                  <a:t>N=7, q=3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000" i="1" dirty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 dirty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0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3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00B0F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, j=1,2,…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[(</m:t>
                      </m:r>
                      <m:r>
                        <a:rPr lang="en-US" sz="2000" i="1" dirty="0" err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)) 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7]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2D74C15-BB59-4DA4-BE2B-F4F9F806A2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05" y="1998757"/>
                <a:ext cx="2968826" cy="1938992"/>
              </a:xfrm>
              <a:prstGeom prst="rect">
                <a:avLst/>
              </a:prstGeom>
              <a:blipFill>
                <a:blip r:embed="rId4"/>
                <a:stretch>
                  <a:fillRect l="-2045"/>
                </a:stretch>
              </a:blipFill>
              <a:ln>
                <a:solidFill>
                  <a:srgbClr val="FF2F2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1CF924-254D-4A34-BCF8-09863F5216AA}"/>
                  </a:ext>
                </a:extLst>
              </p:cNvPr>
              <p:cNvSpPr txBox="1"/>
              <p:nvPr/>
            </p:nvSpPr>
            <p:spPr>
              <a:xfrm>
                <a:off x="381704" y="4081739"/>
                <a:ext cx="4121193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’(32)=3−(32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3)=1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(1)=1.1=1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(4+1)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7=5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1CF924-254D-4A34-BCF8-09863F521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04" y="4081739"/>
                <a:ext cx="4121193" cy="1569660"/>
              </a:xfrm>
              <a:prstGeom prst="rect">
                <a:avLst/>
              </a:prstGeom>
              <a:blipFill>
                <a:blip r:embed="rId5"/>
                <a:stretch>
                  <a:fillRect l="-13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4A37BB60-ECAD-4991-8D93-6A4597EB34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9419"/>
              </p:ext>
            </p:extLst>
          </p:nvPr>
        </p:nvGraphicFramePr>
        <p:xfrm>
          <a:off x="5363913" y="3470163"/>
          <a:ext cx="484932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135090452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82873049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53621917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9674970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49348540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236469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6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2977510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47F6F620-EDD6-4987-A29D-EC6F3DB182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553781"/>
              </p:ext>
            </p:extLst>
          </p:nvPr>
        </p:nvGraphicFramePr>
        <p:xfrm>
          <a:off x="3758745" y="4603216"/>
          <a:ext cx="808220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135090452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82873049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536219179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9674970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49348540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23646952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4212676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331765307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29928246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910729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2977510"/>
                  </a:ext>
                </a:extLst>
              </a:tr>
            </a:tbl>
          </a:graphicData>
        </a:graphic>
      </p:graphicFrame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368A40C-0A9E-474C-B88F-FD2262960A06}"/>
              </a:ext>
            </a:extLst>
          </p:cNvPr>
          <p:cNvCxnSpPr/>
          <p:nvPr/>
        </p:nvCxnSpPr>
        <p:spPr>
          <a:xfrm>
            <a:off x="5776232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D0345DF-D975-4422-9781-C8C3AD974D29}"/>
              </a:ext>
            </a:extLst>
          </p:cNvPr>
          <p:cNvCxnSpPr/>
          <p:nvPr/>
        </p:nvCxnSpPr>
        <p:spPr>
          <a:xfrm>
            <a:off x="6589939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3F28B01-C60D-4D7B-8400-183AFBEB8728}"/>
              </a:ext>
            </a:extLst>
          </p:cNvPr>
          <p:cNvCxnSpPr/>
          <p:nvPr/>
        </p:nvCxnSpPr>
        <p:spPr>
          <a:xfrm>
            <a:off x="7376432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1617A57-C450-4AA2-834F-6EF7CBEAC65D}"/>
              </a:ext>
            </a:extLst>
          </p:cNvPr>
          <p:cNvCxnSpPr/>
          <p:nvPr/>
        </p:nvCxnSpPr>
        <p:spPr>
          <a:xfrm>
            <a:off x="8190139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C0E9D9C-E503-4329-9CF2-8FBE204C19EA}"/>
              </a:ext>
            </a:extLst>
          </p:cNvPr>
          <p:cNvCxnSpPr/>
          <p:nvPr/>
        </p:nvCxnSpPr>
        <p:spPr>
          <a:xfrm>
            <a:off x="9006568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D7F12F1-8A3B-4320-828B-2C13569993F6}"/>
              </a:ext>
            </a:extLst>
          </p:cNvPr>
          <p:cNvCxnSpPr/>
          <p:nvPr/>
        </p:nvCxnSpPr>
        <p:spPr>
          <a:xfrm>
            <a:off x="9820275" y="4231683"/>
            <a:ext cx="0" cy="3859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C1D15B24-0581-41EC-A0E1-9ADEBF0B8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386260"/>
              </p:ext>
            </p:extLst>
          </p:nvPr>
        </p:nvGraphicFramePr>
        <p:xfrm>
          <a:off x="5384797" y="1846596"/>
          <a:ext cx="4849320" cy="10696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220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808220">
                  <a:extLst>
                    <a:ext uri="{9D8B030D-6E8A-4147-A177-3AD203B41FA5}">
                      <a16:colId xmlns:a16="http://schemas.microsoft.com/office/drawing/2014/main" val="1999862792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70387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44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23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67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32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89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6616529-C146-4897-9560-0540DABB7E84}"/>
              </a:ext>
            </a:extLst>
          </p:cNvPr>
          <p:cNvCxnSpPr/>
          <p:nvPr/>
        </p:nvCxnSpPr>
        <p:spPr>
          <a:xfrm>
            <a:off x="5772148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D104BB5-B040-4A9E-A028-F50F1392F485}"/>
              </a:ext>
            </a:extLst>
          </p:cNvPr>
          <p:cNvCxnSpPr/>
          <p:nvPr/>
        </p:nvCxnSpPr>
        <p:spPr>
          <a:xfrm>
            <a:off x="6585855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59019B2-1437-47C2-9FF7-DA3070231D9C}"/>
              </a:ext>
            </a:extLst>
          </p:cNvPr>
          <p:cNvCxnSpPr/>
          <p:nvPr/>
        </p:nvCxnSpPr>
        <p:spPr>
          <a:xfrm>
            <a:off x="7402284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0062AAF-E897-4DB1-86E2-7A6D27DDC160}"/>
              </a:ext>
            </a:extLst>
          </p:cNvPr>
          <p:cNvCxnSpPr/>
          <p:nvPr/>
        </p:nvCxnSpPr>
        <p:spPr>
          <a:xfrm>
            <a:off x="8215991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79C9CE0-97C9-40CE-A910-06DEE5E0F43D}"/>
              </a:ext>
            </a:extLst>
          </p:cNvPr>
          <p:cNvCxnSpPr/>
          <p:nvPr/>
        </p:nvCxnSpPr>
        <p:spPr>
          <a:xfrm>
            <a:off x="9002484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93FF0C3-46AD-4E92-AF1E-970EA6075AAC}"/>
              </a:ext>
            </a:extLst>
          </p:cNvPr>
          <p:cNvCxnSpPr/>
          <p:nvPr/>
        </p:nvCxnSpPr>
        <p:spPr>
          <a:xfrm>
            <a:off x="9816191" y="3036947"/>
            <a:ext cx="0" cy="385928"/>
          </a:xfrm>
          <a:prstGeom prst="straightConnector1">
            <a:avLst/>
          </a:prstGeom>
          <a:ln w="28575">
            <a:solidFill>
              <a:srgbClr val="FF2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1760243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C5C57-2DC2-475D-91B9-F86B8DF16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Cuckoo 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A0B84-B194-4ED9-9BDE-98B3F744E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329" y="1799684"/>
            <a:ext cx="10972800" cy="387449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Cuckoo hashing</a:t>
            </a:r>
            <a:r>
              <a:rPr lang="en-US" sz="2400" dirty="0"/>
              <a:t> is a type of </a:t>
            </a:r>
            <a:r>
              <a:rPr lang="en-US" sz="2400" b="1" dirty="0"/>
              <a:t>hashing</a:t>
            </a:r>
            <a:r>
              <a:rPr lang="en-US" sz="2400" dirty="0"/>
              <a:t> algorithm used in hash tables to resolve collisions. The idea behind cuckoo hashing is to use </a:t>
            </a:r>
            <a:r>
              <a:rPr lang="en-US" sz="2400" b="1" dirty="0"/>
              <a:t>multiple hash functions</a:t>
            </a:r>
            <a:r>
              <a:rPr lang="en-US" sz="2400" dirty="0"/>
              <a:t> and two (or more) hash tables. If a collision occurs, the existing element is "kicked out" and reinserted using another hash function. This process can repeat until all elements are placed or a maximum number of displacements is reached, at which point the hash table may be resized.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B2F5C-5093-4A1A-BF2E-E3781982A24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53/66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08059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1187C-B488-49E1-84D3-87F0A6E23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F53C2-85ED-4288-8241-5A2DF47B040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54/66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DE1117-6AE6-4F82-B86A-FF13EDB07C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204669"/>
              </p:ext>
            </p:extLst>
          </p:nvPr>
        </p:nvGraphicFramePr>
        <p:xfrm>
          <a:off x="5031122" y="1974882"/>
          <a:ext cx="2258785" cy="6631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757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</a:tblGrid>
              <a:tr h="2899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35832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30661C2-0F1C-4C73-9FE3-6A2D60CF2EF3}"/>
                  </a:ext>
                </a:extLst>
              </p:cNvPr>
              <p:cNvSpPr/>
              <p:nvPr/>
            </p:nvSpPr>
            <p:spPr>
              <a:xfrm>
                <a:off x="747422" y="1979218"/>
                <a:ext cx="2888076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1887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dirty="0" smtClean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 dirty="0" smtClean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a-DK" sz="2000" i="1" dirty="0" smtClean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2000" i="1" dirty="0" smtClean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dirty="0" smtClean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000" b="0" i="1" dirty="0" smtClean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2000" i="1" dirty="0">
                  <a:solidFill>
                    <a:srgbClr val="E373A3"/>
                  </a:solidFill>
                  <a:latin typeface="Cambria Math" panose="02040503050406030204" pitchFamily="18" charset="0"/>
                </a:endParaRPr>
              </a:p>
              <a:p>
                <a:pPr marL="11887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sz="2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  5</m:t>
                      </m:r>
                    </m:oMath>
                  </m:oMathPara>
                </a14:m>
                <a:endParaRPr lang="en-US" sz="2000" dirty="0">
                  <a:solidFill>
                    <a:srgbClr val="00B050"/>
                  </a:solidFill>
                </a:endParaRPr>
              </a:p>
              <a:p>
                <a:pPr marL="118872"/>
                <a:endParaRPr lang="en-US" sz="2000" dirty="0"/>
              </a:p>
              <a:p>
                <a:pPr marL="118872"/>
                <a:r>
                  <a:rPr lang="en-US" sz="2000" dirty="0"/>
                  <a:t>Input: 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10,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20,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30,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30661C2-0F1C-4C73-9FE3-6A2D60CF2E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22" y="1979218"/>
                <a:ext cx="2888076" cy="1631216"/>
              </a:xfrm>
              <a:prstGeom prst="rect">
                <a:avLst/>
              </a:prstGeom>
              <a:blipFill>
                <a:blip r:embed="rId4"/>
                <a:stretch>
                  <a:fillRect b="-5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69AB26D7-D772-4E08-B672-8EEE9D545A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04" y="3848693"/>
            <a:ext cx="3067597" cy="1894942"/>
          </a:xfrm>
          <a:prstGeom prst="rect">
            <a:avLst/>
          </a:prstGeom>
        </p:spPr>
      </p:pic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B0C36A80-B3FA-479A-8746-61D1D2CC9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645310"/>
              </p:ext>
            </p:extLst>
          </p:nvPr>
        </p:nvGraphicFramePr>
        <p:xfrm>
          <a:off x="8215193" y="1974882"/>
          <a:ext cx="2258785" cy="6631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757">
                  <a:extLst>
                    <a:ext uri="{9D8B030D-6E8A-4147-A177-3AD203B41FA5}">
                      <a16:colId xmlns:a16="http://schemas.microsoft.com/office/drawing/2014/main" val="1868333223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4144297809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805927127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1254326899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1123546617"/>
                    </a:ext>
                  </a:extLst>
                </a:gridCol>
              </a:tblGrid>
              <a:tr h="2899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0033572"/>
                  </a:ext>
                </a:extLst>
              </a:tr>
              <a:tr h="35832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78654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1777084B-C2AD-49B7-82BA-4BBBDB7CA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298876"/>
              </p:ext>
            </p:extLst>
          </p:nvPr>
        </p:nvGraphicFramePr>
        <p:xfrm>
          <a:off x="5031122" y="2705783"/>
          <a:ext cx="2258785" cy="6631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757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</a:tblGrid>
              <a:tr h="2899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3583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62E2E785-CAC6-4F03-AD3A-0087FD7CE0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181691"/>
              </p:ext>
            </p:extLst>
          </p:nvPr>
        </p:nvGraphicFramePr>
        <p:xfrm>
          <a:off x="8215193" y="2705783"/>
          <a:ext cx="2258785" cy="6631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757">
                  <a:extLst>
                    <a:ext uri="{9D8B030D-6E8A-4147-A177-3AD203B41FA5}">
                      <a16:colId xmlns:a16="http://schemas.microsoft.com/office/drawing/2014/main" val="1868333223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4144297809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805927127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1254326899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1123546617"/>
                    </a:ext>
                  </a:extLst>
                </a:gridCol>
              </a:tblGrid>
              <a:tr h="2899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0033572"/>
                  </a:ext>
                </a:extLst>
              </a:tr>
              <a:tr h="35832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78654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AD50577A-A9CC-4265-8E1C-142B54670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162786"/>
              </p:ext>
            </p:extLst>
          </p:nvPr>
        </p:nvGraphicFramePr>
        <p:xfrm>
          <a:off x="5031122" y="3554939"/>
          <a:ext cx="2258785" cy="6631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757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</a:tblGrid>
              <a:tr h="2899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3583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20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CC119D06-E577-4D00-99AF-DF2C69928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927554"/>
              </p:ext>
            </p:extLst>
          </p:nvPr>
        </p:nvGraphicFramePr>
        <p:xfrm>
          <a:off x="8215193" y="3554939"/>
          <a:ext cx="2258785" cy="6631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757">
                  <a:extLst>
                    <a:ext uri="{9D8B030D-6E8A-4147-A177-3AD203B41FA5}">
                      <a16:colId xmlns:a16="http://schemas.microsoft.com/office/drawing/2014/main" val="1868333223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4144297809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805927127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1254326899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1123546617"/>
                    </a:ext>
                  </a:extLst>
                </a:gridCol>
              </a:tblGrid>
              <a:tr h="2899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0033572"/>
                  </a:ext>
                </a:extLst>
              </a:tr>
              <a:tr h="35832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786543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5F59D0F2-58CF-4EEA-BA61-B1640C901D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861271"/>
              </p:ext>
            </p:extLst>
          </p:nvPr>
        </p:nvGraphicFramePr>
        <p:xfrm>
          <a:off x="5031122" y="4270731"/>
          <a:ext cx="2258785" cy="6631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757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</a:tblGrid>
              <a:tr h="2899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3583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30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8804FCDF-28F9-4EBF-BA04-A9EDFEB74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157419"/>
              </p:ext>
            </p:extLst>
          </p:nvPr>
        </p:nvGraphicFramePr>
        <p:xfrm>
          <a:off x="8215193" y="4270731"/>
          <a:ext cx="2258785" cy="6631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757">
                  <a:extLst>
                    <a:ext uri="{9D8B030D-6E8A-4147-A177-3AD203B41FA5}">
                      <a16:colId xmlns:a16="http://schemas.microsoft.com/office/drawing/2014/main" val="1868333223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4144297809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805927127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1254326899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1123546617"/>
                    </a:ext>
                  </a:extLst>
                </a:gridCol>
              </a:tblGrid>
              <a:tr h="2899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0033572"/>
                  </a:ext>
                </a:extLst>
              </a:tr>
              <a:tr h="35832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20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786543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EA183EBE-2E65-49FF-9471-C59952225A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334644"/>
              </p:ext>
            </p:extLst>
          </p:nvPr>
        </p:nvGraphicFramePr>
        <p:xfrm>
          <a:off x="5031122" y="5080510"/>
          <a:ext cx="2258785" cy="6631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757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</a:tblGrid>
              <a:tr h="2899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3583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25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87B23799-99E7-451C-B5A5-48F6E1211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616610"/>
              </p:ext>
            </p:extLst>
          </p:nvPr>
        </p:nvGraphicFramePr>
        <p:xfrm>
          <a:off x="8215193" y="5080510"/>
          <a:ext cx="2258785" cy="6631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757">
                  <a:extLst>
                    <a:ext uri="{9D8B030D-6E8A-4147-A177-3AD203B41FA5}">
                      <a16:colId xmlns:a16="http://schemas.microsoft.com/office/drawing/2014/main" val="1868333223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4144297809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805927127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1254326899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1123546617"/>
                    </a:ext>
                  </a:extLst>
                </a:gridCol>
              </a:tblGrid>
              <a:tr h="2899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0033572"/>
                  </a:ext>
                </a:extLst>
              </a:tr>
              <a:tr h="358325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30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20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78654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767541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277F-DB69-44E7-BFE3-F803E20C2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E4AC5F-4B3E-4446-A24E-A803B0CCDF2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55/66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77DE8E-8950-4473-858A-2059959C5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660607"/>
              </p:ext>
            </p:extLst>
          </p:nvPr>
        </p:nvGraphicFramePr>
        <p:xfrm>
          <a:off x="3662391" y="2006111"/>
          <a:ext cx="3255308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21FF34-7F1D-47B7-B021-78ABD3FC5A7D}"/>
                  </a:ext>
                </a:extLst>
              </p:cNvPr>
              <p:cNvSpPr/>
              <p:nvPr/>
            </p:nvSpPr>
            <p:spPr>
              <a:xfrm>
                <a:off x="358588" y="1847587"/>
                <a:ext cx="3183190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1887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 dirty="0" smtClean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 7</m:t>
                      </m:r>
                    </m:oMath>
                  </m:oMathPara>
                </a14:m>
                <a:endParaRPr lang="en-US" sz="2000" i="1" dirty="0">
                  <a:solidFill>
                    <a:srgbClr val="E373A3"/>
                  </a:solidFill>
                  <a:latin typeface="Cambria Math" panose="02040503050406030204" pitchFamily="18" charset="0"/>
                </a:endParaRPr>
              </a:p>
              <a:p>
                <a:pPr marL="11887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US" sz="2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7)</m:t>
                      </m:r>
                    </m:oMath>
                  </m:oMathPara>
                </a14:m>
                <a:endParaRPr lang="en-US" sz="2000" dirty="0"/>
              </a:p>
              <a:p>
                <a:pPr marL="118872"/>
                <a:endParaRPr lang="en-US" sz="2000" dirty="0"/>
              </a:p>
              <a:p>
                <a:pPr marL="118872"/>
                <a:r>
                  <a:rPr lang="en-US" sz="2000" dirty="0"/>
                  <a:t>Input: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[6,5,11,2,14,12,9,3]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21FF34-7F1D-47B7-B021-78ABD3FC5A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588" y="1847587"/>
                <a:ext cx="3183190" cy="1631216"/>
              </a:xfrm>
              <a:prstGeom prst="rect">
                <a:avLst/>
              </a:prstGeom>
              <a:blipFill>
                <a:blip r:embed="rId4"/>
                <a:stretch>
                  <a:fillRect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AE71978-2BAF-4D6D-8DEC-174E4A2EF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222684"/>
              </p:ext>
            </p:extLst>
          </p:nvPr>
        </p:nvGraphicFramePr>
        <p:xfrm>
          <a:off x="7325679" y="2006111"/>
          <a:ext cx="3720352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69330139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BC944590-ED5B-4200-8BF2-8030B0D7BC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33" y="3610434"/>
            <a:ext cx="2857899" cy="305795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4765225-A58A-4E4D-B4D3-730067B32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471144"/>
              </p:ext>
            </p:extLst>
          </p:nvPr>
        </p:nvGraphicFramePr>
        <p:xfrm>
          <a:off x="3653429" y="3220167"/>
          <a:ext cx="3255308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EF17959-5DA4-42D9-B20C-BBE4551F1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732936"/>
              </p:ext>
            </p:extLst>
          </p:nvPr>
        </p:nvGraphicFramePr>
        <p:xfrm>
          <a:off x="7316717" y="3220167"/>
          <a:ext cx="3720352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69330139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27C03BB-4EA0-4A2A-9471-79E8D63093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718783"/>
              </p:ext>
            </p:extLst>
          </p:nvPr>
        </p:nvGraphicFramePr>
        <p:xfrm>
          <a:off x="3653429" y="4392681"/>
          <a:ext cx="3255308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110C345-0BE8-4A42-8EA1-A78749F621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380347"/>
              </p:ext>
            </p:extLst>
          </p:nvPr>
        </p:nvGraphicFramePr>
        <p:xfrm>
          <a:off x="7316717" y="4392681"/>
          <a:ext cx="3720352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69330139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1691D2E-970A-493F-A289-EF7B965B4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05975"/>
              </p:ext>
            </p:extLst>
          </p:nvPr>
        </p:nvGraphicFramePr>
        <p:xfrm>
          <a:off x="3653429" y="5506288"/>
          <a:ext cx="3255308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4E293DB-DC63-4153-B6A1-FAC3C2D52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905047"/>
              </p:ext>
            </p:extLst>
          </p:nvPr>
        </p:nvGraphicFramePr>
        <p:xfrm>
          <a:off x="7316717" y="5506288"/>
          <a:ext cx="3720352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69330139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384388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277F-DB69-44E7-BFE3-F803E20C2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E4AC5F-4B3E-4446-A24E-A803B0CCDF2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56/66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21FF34-7F1D-47B7-B021-78ABD3FC5A7D}"/>
                  </a:ext>
                </a:extLst>
              </p:cNvPr>
              <p:cNvSpPr/>
              <p:nvPr/>
            </p:nvSpPr>
            <p:spPr>
              <a:xfrm>
                <a:off x="358588" y="1847587"/>
                <a:ext cx="3183190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1887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 dirty="0" smtClean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 7</m:t>
                      </m:r>
                    </m:oMath>
                  </m:oMathPara>
                </a14:m>
                <a:endParaRPr lang="en-US" sz="2000" i="1" dirty="0">
                  <a:solidFill>
                    <a:srgbClr val="E373A3"/>
                  </a:solidFill>
                  <a:latin typeface="Cambria Math" panose="02040503050406030204" pitchFamily="18" charset="0"/>
                </a:endParaRPr>
              </a:p>
              <a:p>
                <a:pPr marL="11887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US" sz="2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7)</m:t>
                      </m:r>
                    </m:oMath>
                  </m:oMathPara>
                </a14:m>
                <a:endParaRPr lang="en-US" sz="2000" dirty="0"/>
              </a:p>
              <a:p>
                <a:pPr marL="118872"/>
                <a:endParaRPr lang="en-US" sz="2000" dirty="0"/>
              </a:p>
              <a:p>
                <a:pPr marL="118872"/>
                <a:r>
                  <a:rPr lang="en-US" sz="2000" dirty="0"/>
                  <a:t>Input: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[6,5,11,2,14,12,9,3]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21FF34-7F1D-47B7-B021-78ABD3FC5A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588" y="1847587"/>
                <a:ext cx="3183190" cy="1631216"/>
              </a:xfrm>
              <a:prstGeom prst="rect">
                <a:avLst/>
              </a:prstGeom>
              <a:blipFill>
                <a:blip r:embed="rId4"/>
                <a:stretch>
                  <a:fillRect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BC944590-ED5B-4200-8BF2-8030B0D7BC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33" y="3610434"/>
            <a:ext cx="2857899" cy="3057952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D3BC73E-5F29-4D90-824D-A4467918B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225527"/>
              </p:ext>
            </p:extLst>
          </p:nvPr>
        </p:nvGraphicFramePr>
        <p:xfrm>
          <a:off x="4083734" y="3179137"/>
          <a:ext cx="3255308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9CA78AA-D64F-468E-80D5-CDDEE54E7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24108"/>
              </p:ext>
            </p:extLst>
          </p:nvPr>
        </p:nvGraphicFramePr>
        <p:xfrm>
          <a:off x="7747022" y="3179137"/>
          <a:ext cx="3720352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69330139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D867A0E-C292-4C91-868A-5D73361CEF06}"/>
              </a:ext>
            </a:extLst>
          </p:cNvPr>
          <p:cNvCxnSpPr>
            <a:cxnSpLocks/>
          </p:cNvCxnSpPr>
          <p:nvPr/>
        </p:nvCxnSpPr>
        <p:spPr>
          <a:xfrm>
            <a:off x="5800165" y="2513823"/>
            <a:ext cx="295835" cy="605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C818A60-1F5F-4A60-8D3D-8D2BF98051BE}"/>
              </a:ext>
            </a:extLst>
          </p:cNvPr>
          <p:cNvSpPr txBox="1"/>
          <p:nvPr/>
        </p:nvSpPr>
        <p:spPr>
          <a:xfrm>
            <a:off x="5561347" y="226288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43710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277F-DB69-44E7-BFE3-F803E20C2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E4AC5F-4B3E-4446-A24E-A803B0CCDF2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57/66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21FF34-7F1D-47B7-B021-78ABD3FC5A7D}"/>
                  </a:ext>
                </a:extLst>
              </p:cNvPr>
              <p:cNvSpPr/>
              <p:nvPr/>
            </p:nvSpPr>
            <p:spPr>
              <a:xfrm>
                <a:off x="358588" y="1847587"/>
                <a:ext cx="3183190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1887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 dirty="0" smtClean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 7</m:t>
                      </m:r>
                    </m:oMath>
                  </m:oMathPara>
                </a14:m>
                <a:endParaRPr lang="en-US" sz="2000" i="1" dirty="0">
                  <a:solidFill>
                    <a:srgbClr val="E373A3"/>
                  </a:solidFill>
                  <a:latin typeface="Cambria Math" panose="02040503050406030204" pitchFamily="18" charset="0"/>
                </a:endParaRPr>
              </a:p>
              <a:p>
                <a:pPr marL="11887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US" sz="2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7)</m:t>
                      </m:r>
                    </m:oMath>
                  </m:oMathPara>
                </a14:m>
                <a:endParaRPr lang="en-US" sz="2000" dirty="0"/>
              </a:p>
              <a:p>
                <a:pPr marL="118872"/>
                <a:endParaRPr lang="en-US" sz="2000" dirty="0"/>
              </a:p>
              <a:p>
                <a:pPr marL="118872"/>
                <a:r>
                  <a:rPr lang="en-US" sz="2000" dirty="0"/>
                  <a:t>Input: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[6,5,11,2,14,12,9,3]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21FF34-7F1D-47B7-B021-78ABD3FC5A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588" y="1847587"/>
                <a:ext cx="3183190" cy="1631216"/>
              </a:xfrm>
              <a:prstGeom prst="rect">
                <a:avLst/>
              </a:prstGeom>
              <a:blipFill>
                <a:blip r:embed="rId4"/>
                <a:stretch>
                  <a:fillRect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BC944590-ED5B-4200-8BF2-8030B0D7BC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33" y="3610434"/>
            <a:ext cx="2857899" cy="3057952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D3BC73E-5F29-4D90-824D-A4467918BBEF}"/>
              </a:ext>
            </a:extLst>
          </p:cNvPr>
          <p:cNvGraphicFramePr>
            <a:graphicFrameLocks noGrp="1"/>
          </p:cNvGraphicFramePr>
          <p:nvPr/>
        </p:nvGraphicFramePr>
        <p:xfrm>
          <a:off x="4083734" y="3179137"/>
          <a:ext cx="3255308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Gill Sans MT (Body)"/>
                        </a:rPr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9CA78AA-D64F-468E-80D5-CDDEE54E7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356196"/>
              </p:ext>
            </p:extLst>
          </p:nvPr>
        </p:nvGraphicFramePr>
        <p:xfrm>
          <a:off x="7747022" y="3179137"/>
          <a:ext cx="3720352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69330139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65BA899D-8710-4981-8D0B-CC9DBE8072DF}"/>
              </a:ext>
            </a:extLst>
          </p:cNvPr>
          <p:cNvSpPr txBox="1"/>
          <p:nvPr/>
        </p:nvSpPr>
        <p:spPr>
          <a:xfrm>
            <a:off x="7273096" y="480303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4AFB3FA3-400D-422C-9558-538CE18418E7}"/>
              </a:ext>
            </a:extLst>
          </p:cNvPr>
          <p:cNvSpPr/>
          <p:nvPr/>
        </p:nvSpPr>
        <p:spPr>
          <a:xfrm>
            <a:off x="6119368" y="3399269"/>
            <a:ext cx="2722954" cy="1403762"/>
          </a:xfrm>
          <a:prstGeom prst="arc">
            <a:avLst>
              <a:gd name="adj1" fmla="val 128855"/>
              <a:gd name="adj2" fmla="val 10750127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01213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277F-DB69-44E7-BFE3-F803E20C2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E4AC5F-4B3E-4446-A24E-A803B0CCDF2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58/66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21FF34-7F1D-47B7-B021-78ABD3FC5A7D}"/>
                  </a:ext>
                </a:extLst>
              </p:cNvPr>
              <p:cNvSpPr/>
              <p:nvPr/>
            </p:nvSpPr>
            <p:spPr>
              <a:xfrm>
                <a:off x="358588" y="1847587"/>
                <a:ext cx="3183190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1887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 dirty="0" smtClean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 7</m:t>
                      </m:r>
                    </m:oMath>
                  </m:oMathPara>
                </a14:m>
                <a:endParaRPr lang="en-US" sz="2000" i="1" dirty="0">
                  <a:solidFill>
                    <a:srgbClr val="E373A3"/>
                  </a:solidFill>
                  <a:latin typeface="Cambria Math" panose="02040503050406030204" pitchFamily="18" charset="0"/>
                </a:endParaRPr>
              </a:p>
              <a:p>
                <a:pPr marL="11887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US" sz="2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7)</m:t>
                      </m:r>
                    </m:oMath>
                  </m:oMathPara>
                </a14:m>
                <a:endParaRPr lang="en-US" sz="2000" dirty="0"/>
              </a:p>
              <a:p>
                <a:pPr marL="118872"/>
                <a:endParaRPr lang="en-US" sz="2000" dirty="0"/>
              </a:p>
              <a:p>
                <a:pPr marL="118872"/>
                <a:r>
                  <a:rPr lang="en-US" sz="2000" dirty="0"/>
                  <a:t>Input: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[6,5,11,2,14,12,9,3]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21FF34-7F1D-47B7-B021-78ABD3FC5A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588" y="1847587"/>
                <a:ext cx="3183190" cy="1631216"/>
              </a:xfrm>
              <a:prstGeom prst="rect">
                <a:avLst/>
              </a:prstGeom>
              <a:blipFill>
                <a:blip r:embed="rId4"/>
                <a:stretch>
                  <a:fillRect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BC944590-ED5B-4200-8BF2-8030B0D7BC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33" y="3610434"/>
            <a:ext cx="2857899" cy="3057952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D3BC73E-5F29-4D90-824D-A4467918B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055635"/>
              </p:ext>
            </p:extLst>
          </p:nvPr>
        </p:nvGraphicFramePr>
        <p:xfrm>
          <a:off x="4083734" y="3179137"/>
          <a:ext cx="3255308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Gill Sans MT (Body)"/>
                        </a:rPr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9CA78AA-D64F-468E-80D5-CDDEE54E7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419043"/>
              </p:ext>
            </p:extLst>
          </p:nvPr>
        </p:nvGraphicFramePr>
        <p:xfrm>
          <a:off x="7747022" y="3179137"/>
          <a:ext cx="3720352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69330139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sp>
        <p:nvSpPr>
          <p:cNvPr id="28" name="Arc 27">
            <a:extLst>
              <a:ext uri="{FF2B5EF4-FFF2-40B4-BE49-F238E27FC236}">
                <a16:creationId xmlns:a16="http://schemas.microsoft.com/office/drawing/2014/main" id="{6A4AFC34-8CC0-42A2-B43B-4D3D280368EA}"/>
              </a:ext>
            </a:extLst>
          </p:cNvPr>
          <p:cNvSpPr/>
          <p:nvPr/>
        </p:nvSpPr>
        <p:spPr>
          <a:xfrm rot="10800000">
            <a:off x="6181555" y="2477256"/>
            <a:ext cx="2722954" cy="1403762"/>
          </a:xfrm>
          <a:prstGeom prst="arc">
            <a:avLst>
              <a:gd name="adj1" fmla="val 128855"/>
              <a:gd name="adj2" fmla="val 10750127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917FB9-3BBC-4266-82B1-206EE0D11E42}"/>
              </a:ext>
            </a:extLst>
          </p:cNvPr>
          <p:cNvSpPr/>
          <p:nvPr/>
        </p:nvSpPr>
        <p:spPr>
          <a:xfrm>
            <a:off x="7446940" y="213187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21231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277F-DB69-44E7-BFE3-F803E20C2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E4AC5F-4B3E-4446-A24E-A803B0CCDF2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59/66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21FF34-7F1D-47B7-B021-78ABD3FC5A7D}"/>
                  </a:ext>
                </a:extLst>
              </p:cNvPr>
              <p:cNvSpPr/>
              <p:nvPr/>
            </p:nvSpPr>
            <p:spPr>
              <a:xfrm>
                <a:off x="358588" y="1847587"/>
                <a:ext cx="3183190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1887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 dirty="0" smtClean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 7</m:t>
                      </m:r>
                    </m:oMath>
                  </m:oMathPara>
                </a14:m>
                <a:endParaRPr lang="en-US" sz="2000" i="1" dirty="0">
                  <a:solidFill>
                    <a:srgbClr val="E373A3"/>
                  </a:solidFill>
                  <a:latin typeface="Cambria Math" panose="02040503050406030204" pitchFamily="18" charset="0"/>
                </a:endParaRPr>
              </a:p>
              <a:p>
                <a:pPr marL="11887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US" sz="2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7)</m:t>
                      </m:r>
                    </m:oMath>
                  </m:oMathPara>
                </a14:m>
                <a:endParaRPr lang="en-US" sz="2000" dirty="0"/>
              </a:p>
              <a:p>
                <a:pPr marL="118872"/>
                <a:endParaRPr lang="en-US" sz="2000" dirty="0"/>
              </a:p>
              <a:p>
                <a:pPr marL="118872"/>
                <a:r>
                  <a:rPr lang="en-US" sz="2000" dirty="0"/>
                  <a:t>Input: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[6,5,11,2,14,12,9,3]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21FF34-7F1D-47B7-B021-78ABD3FC5A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588" y="1847587"/>
                <a:ext cx="3183190" cy="1631216"/>
              </a:xfrm>
              <a:prstGeom prst="rect">
                <a:avLst/>
              </a:prstGeom>
              <a:blipFill>
                <a:blip r:embed="rId4"/>
                <a:stretch>
                  <a:fillRect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BC944590-ED5B-4200-8BF2-8030B0D7BC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33" y="3610434"/>
            <a:ext cx="2857899" cy="3057952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D3BC73E-5F29-4D90-824D-A4467918B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594056"/>
              </p:ext>
            </p:extLst>
          </p:nvPr>
        </p:nvGraphicFramePr>
        <p:xfrm>
          <a:off x="4083734" y="3179137"/>
          <a:ext cx="3255308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Gill Sans MT (Body)"/>
                        </a:rPr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9CA78AA-D64F-468E-80D5-CDDEE54E7E0B}"/>
              </a:ext>
            </a:extLst>
          </p:cNvPr>
          <p:cNvGraphicFramePr>
            <a:graphicFrameLocks noGrp="1"/>
          </p:cNvGraphicFramePr>
          <p:nvPr/>
        </p:nvGraphicFramePr>
        <p:xfrm>
          <a:off x="7747022" y="3179137"/>
          <a:ext cx="3720352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69330139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0C917FB9-3BBC-4266-82B1-206EE0D11E42}"/>
              </a:ext>
            </a:extLst>
          </p:cNvPr>
          <p:cNvSpPr/>
          <p:nvPr/>
        </p:nvSpPr>
        <p:spPr>
          <a:xfrm>
            <a:off x="8055384" y="469711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7E6C04A2-48F5-4FAD-99D5-A77043188A00}"/>
              </a:ext>
            </a:extLst>
          </p:cNvPr>
          <p:cNvSpPr/>
          <p:nvPr/>
        </p:nvSpPr>
        <p:spPr>
          <a:xfrm>
            <a:off x="6119368" y="3399269"/>
            <a:ext cx="4172114" cy="1262378"/>
          </a:xfrm>
          <a:prstGeom prst="arc">
            <a:avLst>
              <a:gd name="adj1" fmla="val 128855"/>
              <a:gd name="adj2" fmla="val 10750127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90720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277F-DB69-44E7-BFE3-F803E20C2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E4AC5F-4B3E-4446-A24E-A803B0CCDF2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60/66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21FF34-7F1D-47B7-B021-78ABD3FC5A7D}"/>
                  </a:ext>
                </a:extLst>
              </p:cNvPr>
              <p:cNvSpPr/>
              <p:nvPr/>
            </p:nvSpPr>
            <p:spPr>
              <a:xfrm>
                <a:off x="358588" y="1847587"/>
                <a:ext cx="3183190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1887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 dirty="0" smtClean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 7</m:t>
                      </m:r>
                    </m:oMath>
                  </m:oMathPara>
                </a14:m>
                <a:endParaRPr lang="en-US" sz="2000" i="1" dirty="0">
                  <a:solidFill>
                    <a:srgbClr val="E373A3"/>
                  </a:solidFill>
                  <a:latin typeface="Cambria Math" panose="02040503050406030204" pitchFamily="18" charset="0"/>
                </a:endParaRPr>
              </a:p>
              <a:p>
                <a:pPr marL="11887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US" sz="2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7)</m:t>
                      </m:r>
                    </m:oMath>
                  </m:oMathPara>
                </a14:m>
                <a:endParaRPr lang="en-US" sz="2000" dirty="0"/>
              </a:p>
              <a:p>
                <a:pPr marL="118872"/>
                <a:endParaRPr lang="en-US" sz="2000" dirty="0"/>
              </a:p>
              <a:p>
                <a:pPr marL="118872"/>
                <a:r>
                  <a:rPr lang="en-US" sz="2000" dirty="0"/>
                  <a:t>Input: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[6,5,11,2,14,12,9,3]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21FF34-7F1D-47B7-B021-78ABD3FC5A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588" y="1847587"/>
                <a:ext cx="3183190" cy="1631216"/>
              </a:xfrm>
              <a:prstGeom prst="rect">
                <a:avLst/>
              </a:prstGeom>
              <a:blipFill>
                <a:blip r:embed="rId4"/>
                <a:stretch>
                  <a:fillRect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BC944590-ED5B-4200-8BF2-8030B0D7BC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33" y="3610434"/>
            <a:ext cx="2857899" cy="3057952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D3BC73E-5F29-4D90-824D-A4467918B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870145"/>
              </p:ext>
            </p:extLst>
          </p:nvPr>
        </p:nvGraphicFramePr>
        <p:xfrm>
          <a:off x="4083734" y="3179137"/>
          <a:ext cx="3255308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Gill Sans MT (Body)"/>
                        </a:rPr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9CA78AA-D64F-468E-80D5-CDDEE54E7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705802"/>
              </p:ext>
            </p:extLst>
          </p:nvPr>
        </p:nvGraphicFramePr>
        <p:xfrm>
          <a:off x="7747022" y="3179137"/>
          <a:ext cx="3720352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69330139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65BA899D-8710-4981-8D0B-CC9DBE8072DF}"/>
              </a:ext>
            </a:extLst>
          </p:cNvPr>
          <p:cNvSpPr txBox="1"/>
          <p:nvPr/>
        </p:nvSpPr>
        <p:spPr>
          <a:xfrm>
            <a:off x="8022593" y="21191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6949733E-A62A-4012-90F8-04AADF0C8F5C}"/>
              </a:ext>
            </a:extLst>
          </p:cNvPr>
          <p:cNvSpPr/>
          <p:nvPr/>
        </p:nvSpPr>
        <p:spPr>
          <a:xfrm rot="10800000">
            <a:off x="6212541" y="2477256"/>
            <a:ext cx="4107394" cy="1403762"/>
          </a:xfrm>
          <a:prstGeom prst="arc">
            <a:avLst>
              <a:gd name="adj1" fmla="val 128855"/>
              <a:gd name="adj2" fmla="val 10750127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81678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277F-DB69-44E7-BFE3-F803E20C2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E4AC5F-4B3E-4446-A24E-A803B0CCDF2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61/66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21FF34-7F1D-47B7-B021-78ABD3FC5A7D}"/>
                  </a:ext>
                </a:extLst>
              </p:cNvPr>
              <p:cNvSpPr/>
              <p:nvPr/>
            </p:nvSpPr>
            <p:spPr>
              <a:xfrm>
                <a:off x="358588" y="1847587"/>
                <a:ext cx="3183190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1887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 dirty="0" smtClean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 7</m:t>
                      </m:r>
                    </m:oMath>
                  </m:oMathPara>
                </a14:m>
                <a:endParaRPr lang="en-US" sz="2000" i="1" dirty="0">
                  <a:solidFill>
                    <a:srgbClr val="E373A3"/>
                  </a:solidFill>
                  <a:latin typeface="Cambria Math" panose="02040503050406030204" pitchFamily="18" charset="0"/>
                </a:endParaRPr>
              </a:p>
              <a:p>
                <a:pPr marL="11887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US" sz="2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7)</m:t>
                      </m:r>
                    </m:oMath>
                  </m:oMathPara>
                </a14:m>
                <a:endParaRPr lang="en-US" sz="2000" dirty="0"/>
              </a:p>
              <a:p>
                <a:pPr marL="118872"/>
                <a:endParaRPr lang="en-US" sz="2000" dirty="0"/>
              </a:p>
              <a:p>
                <a:pPr marL="118872"/>
                <a:r>
                  <a:rPr lang="en-US" sz="2000" dirty="0"/>
                  <a:t>Input: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[6,5,11,2,14,12,9,3]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21FF34-7F1D-47B7-B021-78ABD3FC5A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588" y="1847587"/>
                <a:ext cx="3183190" cy="1631216"/>
              </a:xfrm>
              <a:prstGeom prst="rect">
                <a:avLst/>
              </a:prstGeom>
              <a:blipFill>
                <a:blip r:embed="rId4"/>
                <a:stretch>
                  <a:fillRect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BC944590-ED5B-4200-8BF2-8030B0D7BC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33" y="3610434"/>
            <a:ext cx="2857899" cy="3057952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D3BC73E-5F29-4D90-824D-A4467918B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959904"/>
              </p:ext>
            </p:extLst>
          </p:nvPr>
        </p:nvGraphicFramePr>
        <p:xfrm>
          <a:off x="4083734" y="3179137"/>
          <a:ext cx="3255308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Gill Sans MT (Body)"/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9CA78AA-D64F-468E-80D5-CDDEE54E7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50669"/>
              </p:ext>
            </p:extLst>
          </p:nvPr>
        </p:nvGraphicFramePr>
        <p:xfrm>
          <a:off x="7747022" y="3179137"/>
          <a:ext cx="3720352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69330139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65BA899D-8710-4981-8D0B-CC9DBE8072DF}"/>
              </a:ext>
            </a:extLst>
          </p:cNvPr>
          <p:cNvSpPr txBox="1"/>
          <p:nvPr/>
        </p:nvSpPr>
        <p:spPr>
          <a:xfrm>
            <a:off x="7398276" y="469711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4AFB3FA3-400D-422C-9558-538CE18418E7}"/>
              </a:ext>
            </a:extLst>
          </p:cNvPr>
          <p:cNvSpPr/>
          <p:nvPr/>
        </p:nvSpPr>
        <p:spPr>
          <a:xfrm>
            <a:off x="6119368" y="3399269"/>
            <a:ext cx="2857899" cy="1262378"/>
          </a:xfrm>
          <a:prstGeom prst="arc">
            <a:avLst>
              <a:gd name="adj1" fmla="val 128855"/>
              <a:gd name="adj2" fmla="val 10750127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434558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FFEBA-DFDD-48F5-705C-BE864F6FD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4FC28-0FBA-BACE-F4BA-BFC52523A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05EA80-0273-31C4-C879-8283FF72639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61/66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0531180-5C91-6084-4213-1738DBEF4939}"/>
                  </a:ext>
                </a:extLst>
              </p:cNvPr>
              <p:cNvSpPr/>
              <p:nvPr/>
            </p:nvSpPr>
            <p:spPr>
              <a:xfrm>
                <a:off x="358588" y="1847587"/>
                <a:ext cx="3183190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1887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 dirty="0" smtClean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 7</m:t>
                      </m:r>
                    </m:oMath>
                  </m:oMathPara>
                </a14:m>
                <a:endParaRPr lang="en-US" sz="2000" i="1" dirty="0">
                  <a:solidFill>
                    <a:srgbClr val="E373A3"/>
                  </a:solidFill>
                  <a:latin typeface="Cambria Math" panose="02040503050406030204" pitchFamily="18" charset="0"/>
                </a:endParaRPr>
              </a:p>
              <a:p>
                <a:pPr marL="11887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US" sz="2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7)</m:t>
                      </m:r>
                    </m:oMath>
                  </m:oMathPara>
                </a14:m>
                <a:endParaRPr lang="en-US" sz="2000" dirty="0"/>
              </a:p>
              <a:p>
                <a:pPr marL="118872"/>
                <a:endParaRPr lang="en-US" sz="2000" dirty="0"/>
              </a:p>
              <a:p>
                <a:pPr marL="118872"/>
                <a:r>
                  <a:rPr lang="en-US" sz="2000" dirty="0"/>
                  <a:t>Input: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[6,5,11,2,14,12,9,3]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21FF34-7F1D-47B7-B021-78ABD3FC5A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588" y="1847587"/>
                <a:ext cx="3183190" cy="1631216"/>
              </a:xfrm>
              <a:prstGeom prst="rect">
                <a:avLst/>
              </a:prstGeom>
              <a:blipFill>
                <a:blip r:embed="rId4"/>
                <a:stretch>
                  <a:fillRect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35A17737-8E76-39F2-75E1-7F5953D195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33" y="3610434"/>
            <a:ext cx="2857899" cy="3057952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22D674ED-52B2-E6CE-573E-3DB100330176}"/>
              </a:ext>
            </a:extLst>
          </p:cNvPr>
          <p:cNvGraphicFramePr>
            <a:graphicFrameLocks noGrp="1"/>
          </p:cNvGraphicFramePr>
          <p:nvPr/>
        </p:nvGraphicFramePr>
        <p:xfrm>
          <a:off x="4083734" y="3179137"/>
          <a:ext cx="3255308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Gill Sans MT (Body)"/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1C18D30-A4C9-44CD-DFD2-970D826983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619360"/>
              </p:ext>
            </p:extLst>
          </p:nvPr>
        </p:nvGraphicFramePr>
        <p:xfrm>
          <a:off x="7747022" y="3179137"/>
          <a:ext cx="3720352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69330139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32C1B52E-093E-2DB1-E91D-CB60623CA735}"/>
              </a:ext>
            </a:extLst>
          </p:cNvPr>
          <p:cNvSpPr txBox="1"/>
          <p:nvPr/>
        </p:nvSpPr>
        <p:spPr>
          <a:xfrm>
            <a:off x="7398288" y="207821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562238C5-24BF-5C13-A964-0DF1A2EF16C6}"/>
              </a:ext>
            </a:extLst>
          </p:cNvPr>
          <p:cNvSpPr/>
          <p:nvPr/>
        </p:nvSpPr>
        <p:spPr>
          <a:xfrm rot="10800000">
            <a:off x="6212541" y="2477256"/>
            <a:ext cx="2671577" cy="1403762"/>
          </a:xfrm>
          <a:prstGeom prst="arc">
            <a:avLst>
              <a:gd name="adj1" fmla="val 128855"/>
              <a:gd name="adj2" fmla="val 10750127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66234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FD28F-BF19-438E-15DF-723DAAAA3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23020-D459-95A5-1613-974DE4B7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A7F20-9936-86A7-A954-3B3D7047C36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61/66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8BAD325-966A-F9EB-00DB-47DF00D5EC28}"/>
                  </a:ext>
                </a:extLst>
              </p:cNvPr>
              <p:cNvSpPr/>
              <p:nvPr/>
            </p:nvSpPr>
            <p:spPr>
              <a:xfrm>
                <a:off x="358588" y="1847587"/>
                <a:ext cx="3183190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1887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 dirty="0" smtClean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 7</m:t>
                      </m:r>
                    </m:oMath>
                  </m:oMathPara>
                </a14:m>
                <a:endParaRPr lang="en-US" sz="2000" i="1" dirty="0">
                  <a:solidFill>
                    <a:srgbClr val="E373A3"/>
                  </a:solidFill>
                  <a:latin typeface="Cambria Math" panose="02040503050406030204" pitchFamily="18" charset="0"/>
                </a:endParaRPr>
              </a:p>
              <a:p>
                <a:pPr marL="11887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US" sz="2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7)</m:t>
                      </m:r>
                    </m:oMath>
                  </m:oMathPara>
                </a14:m>
                <a:endParaRPr lang="en-US" sz="2000" dirty="0"/>
              </a:p>
              <a:p>
                <a:pPr marL="118872"/>
                <a:endParaRPr lang="en-US" sz="2000" dirty="0"/>
              </a:p>
              <a:p>
                <a:pPr marL="118872"/>
                <a:r>
                  <a:rPr lang="en-US" sz="2000" dirty="0"/>
                  <a:t>Input: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[6,5,11,2,14,12,9,3]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21FF34-7F1D-47B7-B021-78ABD3FC5A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588" y="1847587"/>
                <a:ext cx="3183190" cy="1631216"/>
              </a:xfrm>
              <a:prstGeom prst="rect">
                <a:avLst/>
              </a:prstGeom>
              <a:blipFill>
                <a:blip r:embed="rId4"/>
                <a:stretch>
                  <a:fillRect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F504F02E-92C2-DE23-86A8-5FAD955F23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33" y="3610434"/>
            <a:ext cx="2857899" cy="3057952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53712EA-CCAF-875F-E87F-446DEBF74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852007"/>
              </p:ext>
            </p:extLst>
          </p:nvPr>
        </p:nvGraphicFramePr>
        <p:xfrm>
          <a:off x="4083734" y="3179137"/>
          <a:ext cx="3255308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Gill Sans MT (Body)"/>
                        </a:rPr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68CDF43-09FD-D96E-F55D-681A470F3D01}"/>
              </a:ext>
            </a:extLst>
          </p:cNvPr>
          <p:cNvGraphicFramePr>
            <a:graphicFrameLocks noGrp="1"/>
          </p:cNvGraphicFramePr>
          <p:nvPr/>
        </p:nvGraphicFramePr>
        <p:xfrm>
          <a:off x="7747022" y="3179137"/>
          <a:ext cx="3720352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69330139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1D720F03-9123-427D-7ED0-32CBDF92600B}"/>
              </a:ext>
            </a:extLst>
          </p:cNvPr>
          <p:cNvSpPr txBox="1"/>
          <p:nvPr/>
        </p:nvSpPr>
        <p:spPr>
          <a:xfrm>
            <a:off x="8035095" y="469711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FECF2A77-5CEA-314C-F2E0-6F13D1F7D74F}"/>
              </a:ext>
            </a:extLst>
          </p:cNvPr>
          <p:cNvSpPr/>
          <p:nvPr/>
        </p:nvSpPr>
        <p:spPr>
          <a:xfrm>
            <a:off x="6119368" y="3399269"/>
            <a:ext cx="4131537" cy="1262378"/>
          </a:xfrm>
          <a:prstGeom prst="arc">
            <a:avLst>
              <a:gd name="adj1" fmla="val 128855"/>
              <a:gd name="adj2" fmla="val 10750127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82832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C233A-2B71-FEF0-07E9-2BC4637D9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D3766-F0BB-D5B7-CAC5-2C6A640F3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1800ED-CCA2-C889-6444-75CBA05C6EF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61/66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BF096CB-FA84-AAB3-ED50-DAA8A8551C03}"/>
                  </a:ext>
                </a:extLst>
              </p:cNvPr>
              <p:cNvSpPr/>
              <p:nvPr/>
            </p:nvSpPr>
            <p:spPr>
              <a:xfrm>
                <a:off x="358588" y="1847587"/>
                <a:ext cx="3183190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1887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 dirty="0" smtClean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 7</m:t>
                      </m:r>
                    </m:oMath>
                  </m:oMathPara>
                </a14:m>
                <a:endParaRPr lang="en-US" sz="2000" i="1" dirty="0">
                  <a:solidFill>
                    <a:srgbClr val="E373A3"/>
                  </a:solidFill>
                  <a:latin typeface="Cambria Math" panose="02040503050406030204" pitchFamily="18" charset="0"/>
                </a:endParaRPr>
              </a:p>
              <a:p>
                <a:pPr marL="11887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US" sz="2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7)</m:t>
                      </m:r>
                    </m:oMath>
                  </m:oMathPara>
                </a14:m>
                <a:endParaRPr lang="en-US" sz="2000" dirty="0"/>
              </a:p>
              <a:p>
                <a:pPr marL="118872"/>
                <a:endParaRPr lang="en-US" sz="2000" dirty="0"/>
              </a:p>
              <a:p>
                <a:pPr marL="118872"/>
                <a:r>
                  <a:rPr lang="en-US" sz="2000" dirty="0"/>
                  <a:t>Input: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[6,5,11,2,14,12,9,3]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21FF34-7F1D-47B7-B021-78ABD3FC5A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588" y="1847587"/>
                <a:ext cx="3183190" cy="1631216"/>
              </a:xfrm>
              <a:prstGeom prst="rect">
                <a:avLst/>
              </a:prstGeom>
              <a:blipFill>
                <a:blip r:embed="rId4"/>
                <a:stretch>
                  <a:fillRect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04D88BB1-7A09-B210-7C54-A9C414ADF2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33" y="3610434"/>
            <a:ext cx="2857899" cy="3057952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EC72236-D511-0DF6-DBB2-90B5E064A3D7}"/>
              </a:ext>
            </a:extLst>
          </p:cNvPr>
          <p:cNvGraphicFramePr>
            <a:graphicFrameLocks noGrp="1"/>
          </p:cNvGraphicFramePr>
          <p:nvPr/>
        </p:nvGraphicFramePr>
        <p:xfrm>
          <a:off x="4083734" y="3179137"/>
          <a:ext cx="3255308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Gill Sans MT (Body)"/>
                        </a:rPr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121E10B-C59D-C296-D7E9-C3EF50130D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903661"/>
              </p:ext>
            </p:extLst>
          </p:nvPr>
        </p:nvGraphicFramePr>
        <p:xfrm>
          <a:off x="7747022" y="3179137"/>
          <a:ext cx="3720352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69330139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C43E0563-5FCF-1173-E2B4-2E07D4280B6B}"/>
              </a:ext>
            </a:extLst>
          </p:cNvPr>
          <p:cNvSpPr txBox="1"/>
          <p:nvPr/>
        </p:nvSpPr>
        <p:spPr>
          <a:xfrm>
            <a:off x="8035095" y="204850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A93C266E-CA15-A098-9553-9A37BE090373}"/>
              </a:ext>
            </a:extLst>
          </p:cNvPr>
          <p:cNvSpPr/>
          <p:nvPr/>
        </p:nvSpPr>
        <p:spPr>
          <a:xfrm rot="10800000">
            <a:off x="6212540" y="2477256"/>
            <a:ext cx="4131535" cy="1403762"/>
          </a:xfrm>
          <a:prstGeom prst="arc">
            <a:avLst>
              <a:gd name="adj1" fmla="val 128855"/>
              <a:gd name="adj2" fmla="val 10750127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026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26BDA-74AF-F279-D278-D4581A812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15209-F49B-3932-C876-DDD14919E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B2864-AAA6-3E12-5E1E-EB880CB0CB1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61/66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4406ED3-B5FB-84B3-3E35-39FED5793657}"/>
                  </a:ext>
                </a:extLst>
              </p:cNvPr>
              <p:cNvSpPr/>
              <p:nvPr/>
            </p:nvSpPr>
            <p:spPr>
              <a:xfrm>
                <a:off x="358588" y="1847587"/>
                <a:ext cx="3183190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1887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 dirty="0" smtClean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da-DK" sz="2000" i="1" dirty="0">
                              <a:solidFill>
                                <a:srgbClr val="E373A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da-DK" sz="2000" i="1" dirty="0">
                          <a:solidFill>
                            <a:srgbClr val="E373A3"/>
                          </a:solidFill>
                          <a:latin typeface="Cambria Math" panose="02040503050406030204" pitchFamily="18" charset="0"/>
                        </a:rPr>
                        <m:t> 7</m:t>
                      </m:r>
                    </m:oMath>
                  </m:oMathPara>
                </a14:m>
                <a:endParaRPr lang="en-US" sz="2000" i="1" dirty="0">
                  <a:solidFill>
                    <a:srgbClr val="E373A3"/>
                  </a:solidFill>
                  <a:latin typeface="Cambria Math" panose="02040503050406030204" pitchFamily="18" charset="0"/>
                </a:endParaRPr>
              </a:p>
              <a:p>
                <a:pPr marL="11887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US" sz="20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da-DK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7)</m:t>
                      </m:r>
                    </m:oMath>
                  </m:oMathPara>
                </a14:m>
                <a:endParaRPr lang="en-US" sz="2000" dirty="0"/>
              </a:p>
              <a:p>
                <a:pPr marL="118872"/>
                <a:endParaRPr lang="en-US" sz="2000" dirty="0"/>
              </a:p>
              <a:p>
                <a:pPr marL="118872"/>
                <a:r>
                  <a:rPr lang="en-US" sz="2000" dirty="0"/>
                  <a:t>Input: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[6,5,11,2,14,12,9,3]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21FF34-7F1D-47B7-B021-78ABD3FC5A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588" y="1847587"/>
                <a:ext cx="3183190" cy="1631216"/>
              </a:xfrm>
              <a:prstGeom prst="rect">
                <a:avLst/>
              </a:prstGeom>
              <a:blipFill>
                <a:blip r:embed="rId4"/>
                <a:stretch>
                  <a:fillRect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6B4E5279-2B61-CDA2-BB10-A9B6567A05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33" y="3610434"/>
            <a:ext cx="2857899" cy="3057952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B813B82-2F93-A41F-00EA-F9738D716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319930"/>
              </p:ext>
            </p:extLst>
          </p:nvPr>
        </p:nvGraphicFramePr>
        <p:xfrm>
          <a:off x="4083734" y="3179137"/>
          <a:ext cx="3255308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Gill Sans MT (Body)"/>
                        </a:rPr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C4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92D28120-F31D-9A58-987C-A268E225345C}"/>
              </a:ext>
            </a:extLst>
          </p:cNvPr>
          <p:cNvGraphicFramePr>
            <a:graphicFrameLocks noGrp="1"/>
          </p:cNvGraphicFramePr>
          <p:nvPr/>
        </p:nvGraphicFramePr>
        <p:xfrm>
          <a:off x="7747022" y="3179137"/>
          <a:ext cx="3720352" cy="862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044">
                  <a:extLst>
                    <a:ext uri="{9D8B030D-6E8A-4147-A177-3AD203B41FA5}">
                      <a16:colId xmlns:a16="http://schemas.microsoft.com/office/drawing/2014/main" val="663294093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631127384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22749311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994878208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45011341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19722028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2760937662"/>
                    </a:ext>
                  </a:extLst>
                </a:gridCol>
                <a:gridCol w="465044">
                  <a:extLst>
                    <a:ext uri="{9D8B030D-6E8A-4147-A177-3AD203B41FA5}">
                      <a16:colId xmlns:a16="http://schemas.microsoft.com/office/drawing/2014/main" val="1569330139"/>
                    </a:ext>
                  </a:extLst>
                </a:gridCol>
              </a:tblGrid>
              <a:tr h="3964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1043378"/>
                  </a:ext>
                </a:extLst>
              </a:tr>
              <a:tr h="466110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403926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C13AF1BC-5E4A-6819-3E7A-87FAA59909CB}"/>
              </a:ext>
            </a:extLst>
          </p:cNvPr>
          <p:cNvSpPr txBox="1"/>
          <p:nvPr/>
        </p:nvSpPr>
        <p:spPr>
          <a:xfrm>
            <a:off x="7258371" y="477007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3776EA14-753C-3AD8-4C1A-6D6C8206B3A3}"/>
              </a:ext>
            </a:extLst>
          </p:cNvPr>
          <p:cNvSpPr/>
          <p:nvPr/>
        </p:nvSpPr>
        <p:spPr>
          <a:xfrm>
            <a:off x="6119369" y="3399269"/>
            <a:ext cx="2693502" cy="1262378"/>
          </a:xfrm>
          <a:prstGeom prst="arc">
            <a:avLst>
              <a:gd name="adj1" fmla="val 128855"/>
              <a:gd name="adj2" fmla="val 10750127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B2B511-0D05-8E62-F4ED-6E89E87E3C45}"/>
              </a:ext>
            </a:extLst>
          </p:cNvPr>
          <p:cNvSpPr txBox="1"/>
          <p:nvPr/>
        </p:nvSpPr>
        <p:spPr>
          <a:xfrm>
            <a:off x="5832820" y="5586805"/>
            <a:ext cx="32666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Endless loop: Return to slide 57!!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2880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dirty="0"/>
              <a:t>Any Question??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57800"/>
            <a:ext cx="9144000" cy="5334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Have a nice day!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923A1-6B1F-4EB0-9E34-882462EED1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66/66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49793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AUTOUPDATE" val="True"/>
  <p:tag name="PPTPRODUCTIVITY_SLIDE_NUMBERS_FORMAT" val="#/##"/>
  <p:tag name="PPTPRODUCTIVITY_SLIDE_NUMBERS_SKIP_HIDDEN" val="True"/>
  <p:tag name="PPTPRODUCTIVITY_SLIDE_NUMBERS_AUTOUPDATE_APPLY_ALL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12199</TotalTime>
  <Words>4763</Words>
  <Application>Microsoft Office PowerPoint</Application>
  <PresentationFormat>Widescreen</PresentationFormat>
  <Paragraphs>1388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5" baseType="lpstr">
      <vt:lpstr>Arial Rounded MT Bold</vt:lpstr>
      <vt:lpstr>Calibri</vt:lpstr>
      <vt:lpstr>Cambria Math</vt:lpstr>
      <vt:lpstr>Cmss10</vt:lpstr>
      <vt:lpstr>Corbel</vt:lpstr>
      <vt:lpstr>Gill Sans MT</vt:lpstr>
      <vt:lpstr>Gill Sans MT (Body)</vt:lpstr>
      <vt:lpstr>Wingdings 2</vt:lpstr>
      <vt:lpstr>Dividend</vt:lpstr>
      <vt:lpstr>Dictionary Abstract Data Structure Hash functions</vt:lpstr>
      <vt:lpstr>Dictionary</vt:lpstr>
      <vt:lpstr>Definition: map</vt:lpstr>
      <vt:lpstr>Definition: Multimap</vt:lpstr>
      <vt:lpstr>Methods</vt:lpstr>
      <vt:lpstr>Implementing a map</vt:lpstr>
      <vt:lpstr>Lookup Tables</vt:lpstr>
      <vt:lpstr>Example</vt:lpstr>
      <vt:lpstr>Lookup Tables</vt:lpstr>
      <vt:lpstr>Generalization</vt:lpstr>
      <vt:lpstr>Example</vt:lpstr>
      <vt:lpstr>Hash Function</vt:lpstr>
      <vt:lpstr>Hash Function: Collision</vt:lpstr>
      <vt:lpstr>Hash Functions: Example </vt:lpstr>
      <vt:lpstr>Hash functions on integer keys</vt:lpstr>
      <vt:lpstr>Modular Division</vt:lpstr>
      <vt:lpstr>Random Linear Functions</vt:lpstr>
      <vt:lpstr>Example</vt:lpstr>
      <vt:lpstr>Random Polynomial Functions</vt:lpstr>
      <vt:lpstr>Example</vt:lpstr>
      <vt:lpstr>Viewing Keys as Tuples</vt:lpstr>
      <vt:lpstr>Viewing Keys as Tuples: Example</vt:lpstr>
      <vt:lpstr>Hash functions on tuples</vt:lpstr>
      <vt:lpstr>Hash function: Summing Components</vt:lpstr>
      <vt:lpstr>Example</vt:lpstr>
      <vt:lpstr>XORing Components</vt:lpstr>
      <vt:lpstr>Example</vt:lpstr>
      <vt:lpstr>Summing Components: Collision</vt:lpstr>
      <vt:lpstr>Polynomial-Evaluation Functions</vt:lpstr>
      <vt:lpstr>Example</vt:lpstr>
      <vt:lpstr>Tabulation-based hash functions</vt:lpstr>
      <vt:lpstr>Example</vt:lpstr>
      <vt:lpstr>Handling Collisions and Rehashing</vt:lpstr>
      <vt:lpstr>Chaining method</vt:lpstr>
      <vt:lpstr>Linear Probing</vt:lpstr>
      <vt:lpstr>Linear Probing</vt:lpstr>
      <vt:lpstr>Linear Probing</vt:lpstr>
      <vt:lpstr>Linear Probing</vt:lpstr>
      <vt:lpstr>Quadratic Probing</vt:lpstr>
      <vt:lpstr>Quadratic Probing</vt:lpstr>
      <vt:lpstr>Quadratic Probing</vt:lpstr>
      <vt:lpstr>Quadratic Probing</vt:lpstr>
      <vt:lpstr>Double Hashing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Cuckoo Hashing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Any Question??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Models</dc:title>
  <dc:creator>Windows User</dc:creator>
  <cp:lastModifiedBy>Eskandari, Marzieh</cp:lastModifiedBy>
  <cp:revision>424</cp:revision>
  <dcterms:created xsi:type="dcterms:W3CDTF">2020-09-14T20:12:04Z</dcterms:created>
  <dcterms:modified xsi:type="dcterms:W3CDTF">2026-04-19T20:49:46Z</dcterms:modified>
</cp:coreProperties>
</file>