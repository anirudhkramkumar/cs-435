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0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50"/>
  </p:notesMasterIdLst>
  <p:sldIdLst>
    <p:sldId id="262" r:id="rId2"/>
    <p:sldId id="480" r:id="rId3"/>
    <p:sldId id="467" r:id="rId4"/>
    <p:sldId id="258" r:id="rId5"/>
    <p:sldId id="465" r:id="rId6"/>
    <p:sldId id="260" r:id="rId7"/>
    <p:sldId id="410" r:id="rId8"/>
    <p:sldId id="469" r:id="rId9"/>
    <p:sldId id="471" r:id="rId10"/>
    <p:sldId id="472" r:id="rId11"/>
    <p:sldId id="473" r:id="rId12"/>
    <p:sldId id="474" r:id="rId13"/>
    <p:sldId id="411" r:id="rId14"/>
    <p:sldId id="419" r:id="rId15"/>
    <p:sldId id="433" r:id="rId16"/>
    <p:sldId id="437" r:id="rId17"/>
    <p:sldId id="436" r:id="rId18"/>
    <p:sldId id="478" r:id="rId19"/>
    <p:sldId id="477" r:id="rId20"/>
    <p:sldId id="438" r:id="rId21"/>
    <p:sldId id="439" r:id="rId22"/>
    <p:sldId id="441" r:id="rId23"/>
    <p:sldId id="442" r:id="rId24"/>
    <p:sldId id="440" r:id="rId25"/>
    <p:sldId id="443" r:id="rId26"/>
    <p:sldId id="444" r:id="rId27"/>
    <p:sldId id="501" r:id="rId28"/>
    <p:sldId id="458" r:id="rId29"/>
    <p:sldId id="476" r:id="rId30"/>
    <p:sldId id="459" r:id="rId31"/>
    <p:sldId id="460" r:id="rId32"/>
    <p:sldId id="475" r:id="rId33"/>
    <p:sldId id="461" r:id="rId34"/>
    <p:sldId id="462" r:id="rId35"/>
    <p:sldId id="463" r:id="rId36"/>
    <p:sldId id="445" r:id="rId37"/>
    <p:sldId id="446" r:id="rId38"/>
    <p:sldId id="447" r:id="rId39"/>
    <p:sldId id="451" r:id="rId40"/>
    <p:sldId id="449" r:id="rId41"/>
    <p:sldId id="452" r:id="rId42"/>
    <p:sldId id="450" r:id="rId43"/>
    <p:sldId id="453" r:id="rId44"/>
    <p:sldId id="454" r:id="rId45"/>
    <p:sldId id="455" r:id="rId46"/>
    <p:sldId id="468" r:id="rId47"/>
    <p:sldId id="464" r:id="rId48"/>
    <p:sldId id="259" r:id="rId49"/>
  </p:sldIdLst>
  <p:sldSz cx="12192000" cy="6858000"/>
  <p:notesSz cx="6858000" cy="9144000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8428"/>
    <a:srgbClr val="D012C2"/>
    <a:srgbClr val="FFDDFF"/>
    <a:srgbClr val="FFCCFF"/>
    <a:srgbClr val="FCEDE0"/>
    <a:srgbClr val="EBEBEB"/>
    <a:srgbClr val="F7C99F"/>
    <a:srgbClr val="F8D1AE"/>
    <a:srgbClr val="42B82E"/>
    <a:srgbClr val="A9D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74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to select some items to maximize the benefit such that the total weight does not exceed a given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85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to select some items to maximize the benefit such that the total weight does nit exceed a given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0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to select some items to maximize the benefit such that the total weight does nit exceed a given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88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to select some items to maximize the benefit such that the total weight does nit exceed a given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89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to select some items to maximize the benefit such that the total weight does nit exceed a given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1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21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their value per pound: what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71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UTF-8:</a:t>
            </a:r>
            <a:r>
              <a:rPr lang="en-US" dirty="0"/>
              <a:t> A variable-length character encoding that stores Unicode characters as 1 to 4 bytes, backward-compatible with ASCII. It is Deterministic: the same character always has the same byte sequence: A: </a:t>
            </a:r>
            <a:r>
              <a:rPr lang="en-US" dirty="0" err="1"/>
              <a:t>b'A</a:t>
            </a:r>
            <a:r>
              <a:rPr lang="en-US" dirty="0"/>
              <a:t>' → [65] (1 byte)</a:t>
            </a:r>
          </a:p>
          <a:p>
            <a:r>
              <a:rPr lang="en-US" dirty="0"/>
              <a:t>é: b'\xc3\xa9' → [195, 169] (2 bytes)</a:t>
            </a:r>
          </a:p>
          <a:p>
            <a:r>
              <a:rPr lang="ja-JP" altLang="en-US" dirty="0"/>
              <a:t>你</a:t>
            </a:r>
            <a:r>
              <a:rPr lang="en-US" altLang="ja-JP" dirty="0"/>
              <a:t>: </a:t>
            </a:r>
            <a:r>
              <a:rPr lang="en-US" dirty="0"/>
              <a:t>b'\xe4\</a:t>
            </a:r>
            <a:r>
              <a:rPr lang="en-US" dirty="0" err="1"/>
              <a:t>xbd</a:t>
            </a:r>
            <a:r>
              <a:rPr lang="en-US" dirty="0"/>
              <a:t>\xa0' → [228, 189, 160] (3 bytes)</a:t>
            </a:r>
          </a:p>
          <a:p>
            <a:r>
              <a:rPr lang="en-US" dirty="0"/>
              <a:t>🚀: b'\xf0\x9f\x9a\x80' → [240, 159, 154, 128] (4 bytes)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82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some characters that are hardly ever used and </a:t>
            </a:r>
            <a:r>
              <a:rPr lang="en-US" sz="1200"/>
              <a:t>some are</a:t>
            </a:r>
            <a:r>
              <a:rPr lang="en-US" sz="1200">
                <a:solidFill>
                  <a:srgbClr val="FF0000"/>
                </a:solidFill>
              </a:rPr>
              <a:t> </a:t>
            </a:r>
            <a:r>
              <a:rPr lang="en-US" sz="1200" dirty="0">
                <a:solidFill>
                  <a:srgbClr val="FF0000"/>
                </a:solidFill>
              </a:rPr>
              <a:t>used so often</a:t>
            </a:r>
            <a:r>
              <a:rPr lang="en-US" sz="12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5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86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17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17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520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96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53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26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28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168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54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554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111.png"/><Relationship Id="rId10" Type="http://schemas.openxmlformats.org/officeDocument/2006/relationships/image" Target="../media/image8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5.svg"/><Relationship Id="rId11" Type="http://schemas.openxmlformats.org/officeDocument/2006/relationships/image" Target="../media/image12.sv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svg"/><Relationship Id="rId12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1.png"/><Relationship Id="rId11" Type="http://schemas.openxmlformats.org/officeDocument/2006/relationships/image" Target="../media/image7.sv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12" Type="http://schemas.openxmlformats.org/officeDocument/2006/relationships/image" Target="../media/image5.sv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2.sv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7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31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17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90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380.png"/><Relationship Id="rId5" Type="http://schemas.openxmlformats.org/officeDocument/2006/relationships/image" Target="../media/image370.png"/><Relationship Id="rId4" Type="http://schemas.openxmlformats.org/officeDocument/2006/relationships/image" Target="../media/image3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380.png"/><Relationship Id="rId5" Type="http://schemas.openxmlformats.org/officeDocument/2006/relationships/image" Target="../media/image400.png"/><Relationship Id="rId4" Type="http://schemas.openxmlformats.org/officeDocument/2006/relationships/image" Target="../media/image35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1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380.png"/><Relationship Id="rId5" Type="http://schemas.openxmlformats.org/officeDocument/2006/relationships/image" Target="../media/image400.png"/><Relationship Id="rId4" Type="http://schemas.openxmlformats.org/officeDocument/2006/relationships/image" Target="../media/image3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40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380.png"/><Relationship Id="rId5" Type="http://schemas.openxmlformats.org/officeDocument/2006/relationships/image" Target="../media/image430.png"/><Relationship Id="rId4" Type="http://schemas.openxmlformats.org/officeDocument/2006/relationships/image" Target="../media/image350.png"/><Relationship Id="rId9" Type="http://schemas.openxmlformats.org/officeDocument/2006/relationships/image" Target="../media/image45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70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380.png"/><Relationship Id="rId5" Type="http://schemas.openxmlformats.org/officeDocument/2006/relationships/image" Target="../media/image460.png"/><Relationship Id="rId10" Type="http://schemas.openxmlformats.org/officeDocument/2006/relationships/image" Target="../media/image480.png"/><Relationship Id="rId4" Type="http://schemas.openxmlformats.org/officeDocument/2006/relationships/image" Target="../media/image350.png"/><Relationship Id="rId9" Type="http://schemas.openxmlformats.org/officeDocument/2006/relationships/image" Target="../media/image4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image" Target="../media/image4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image" Target="../media/image5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image" Target="../media/image5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image" Target="../media/image5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image" Target="../media/image540.png"/><Relationship Id="rId4" Type="http://schemas.openxmlformats.org/officeDocument/2006/relationships/image" Target="../media/image5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570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image" Target="../media/image58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9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570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tags" Target="../tags/tag91.xml"/><Relationship Id="rId16" Type="http://schemas.openxmlformats.org/officeDocument/2006/relationships/image" Target="../media/image69.png"/><Relationship Id="rId1" Type="http://schemas.openxmlformats.org/officeDocument/2006/relationships/tags" Target="../tags/tag90.xml"/><Relationship Id="rId6" Type="http://schemas.openxmlformats.org/officeDocument/2006/relationships/image" Target="../media/image570.png"/><Relationship Id="rId11" Type="http://schemas.openxmlformats.org/officeDocument/2006/relationships/image" Target="../media/image64.png"/><Relationship Id="rId5" Type="http://schemas.openxmlformats.org/officeDocument/2006/relationships/image" Target="../media/image560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50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3.png"/><Relationship Id="rId12" Type="http://schemas.openxmlformats.org/officeDocument/2006/relationships/image" Target="../media/image65.png"/><Relationship Id="rId17" Type="http://schemas.openxmlformats.org/officeDocument/2006/relationships/image" Target="../media/image74.png"/><Relationship Id="rId2" Type="http://schemas.openxmlformats.org/officeDocument/2006/relationships/tags" Target="../tags/tag93.xml"/><Relationship Id="rId16" Type="http://schemas.openxmlformats.org/officeDocument/2006/relationships/image" Target="../media/image69.png"/><Relationship Id="rId1" Type="http://schemas.openxmlformats.org/officeDocument/2006/relationships/tags" Target="../tags/tag92.xml"/><Relationship Id="rId6" Type="http://schemas.openxmlformats.org/officeDocument/2006/relationships/image" Target="../media/image72.png"/><Relationship Id="rId11" Type="http://schemas.openxmlformats.org/officeDocument/2006/relationships/image" Target="../media/image64.png"/><Relationship Id="rId5" Type="http://schemas.openxmlformats.org/officeDocument/2006/relationships/image" Target="../media/image71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70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Greedy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Marzieh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Eskandari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NJIT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9955-98D5-4DAE-93A2-E3304D34B6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9FB3-2CF9-4E9C-A00D-4E2DAD97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B5F8E-2633-4AF8-BEB0-E42EAC810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3435212"/>
          </a:xfrm>
        </p:spPr>
        <p:txBody>
          <a:bodyPr>
            <a:normAutofit/>
          </a:bodyPr>
          <a:lstStyle/>
          <a:p>
            <a:r>
              <a:rPr lang="en-US" sz="2400" b="1" dirty="0"/>
              <a:t>Main Idea: </a:t>
            </a:r>
            <a:r>
              <a:rPr lang="en-US" sz="2400" dirty="0"/>
              <a:t>Take the best choice now, hope it leads to the global best.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Make a choice</a:t>
            </a:r>
            <a:r>
              <a:rPr lang="en-US" sz="2400" dirty="0"/>
              <a:t> that looks best right now.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Check if the problem is solved.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Repeat</a:t>
            </a:r>
            <a:r>
              <a:rPr lang="en-US" sz="2400" dirty="0"/>
              <a:t> until the solution is complete.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F7E09-2798-4653-BC88-9A1DD8A151D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368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618FB-447C-4C26-84D6-7AA924E133C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95779" y="1705162"/>
                <a:ext cx="11341295" cy="22215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3200" dirty="0"/>
                  <a:t>Given a value of ¢96, and an infinite supply of coins with denominations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D012C2"/>
                        </a:solidFill>
                        <a:latin typeface="Cambria Math" panose="02040503050406030204" pitchFamily="18" charset="0"/>
                      </a:rPr>
                      <m:t>{1, 2,5, 10, 20, 50, 100}</m:t>
                    </m:r>
                  </m:oMath>
                </a14:m>
                <a:r>
                  <a:rPr lang="en-US" sz="3200" dirty="0"/>
                  <a:t>, what is the minimum number of coins needed to make change for ¢96?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79" y="1705162"/>
                <a:ext cx="11341295" cy="2221506"/>
              </a:xfrm>
              <a:prstGeom prst="rect">
                <a:avLst/>
              </a:prstGeom>
              <a:blipFill>
                <a:blip r:embed="rId4"/>
                <a:stretch>
                  <a:fillRect b="-8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1078167" y="4909867"/>
            <a:ext cx="1682005" cy="16820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7703" y="5363864"/>
            <a:ext cx="970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" name="Oval 9"/>
          <p:cNvSpPr/>
          <p:nvPr/>
        </p:nvSpPr>
        <p:spPr>
          <a:xfrm>
            <a:off x="6268886" y="5309272"/>
            <a:ext cx="827951" cy="83222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925" y="5341112"/>
            <a:ext cx="634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7444870" y="5486399"/>
            <a:ext cx="525423" cy="48448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18489" y="5370683"/>
            <a:ext cx="642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3022986" y="5089628"/>
            <a:ext cx="1331636" cy="133163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10504" y="5397976"/>
            <a:ext cx="978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4F56E-989F-4D05-92EA-138811690961}"/>
              </a:ext>
            </a:extLst>
          </p:cNvPr>
          <p:cNvSpPr txBox="1"/>
          <p:nvPr/>
        </p:nvSpPr>
        <p:spPr>
          <a:xfrm>
            <a:off x="9511553" y="5309272"/>
            <a:ext cx="39786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4C1A6C7-D19A-4521-B172-EF36D2AA2E76}"/>
              </a:ext>
            </a:extLst>
          </p:cNvPr>
          <p:cNvSpPr/>
          <p:nvPr/>
        </p:nvSpPr>
        <p:spPr>
          <a:xfrm>
            <a:off x="4582630" y="5049136"/>
            <a:ext cx="1331636" cy="133163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FDB516-3C47-42DC-8036-8D3F47537155}"/>
              </a:ext>
            </a:extLst>
          </p:cNvPr>
          <p:cNvSpPr txBox="1"/>
          <p:nvPr/>
        </p:nvSpPr>
        <p:spPr>
          <a:xfrm>
            <a:off x="4970148" y="5357484"/>
            <a:ext cx="978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43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6" grpId="0" animBg="1"/>
      <p:bldP spid="16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4794925" y="5260156"/>
            <a:ext cx="981411" cy="981411"/>
          </a:xfrm>
          <a:prstGeom prst="ellipse">
            <a:avLst/>
          </a:prstGeom>
          <a:solidFill>
            <a:srgbClr val="FEFEA0"/>
          </a:solidFill>
          <a:ln>
            <a:solidFill>
              <a:srgbClr val="E5E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516D0-1378-4F30-9E42-EB6D4F759B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95779" y="1705162"/>
                <a:ext cx="11464125" cy="22215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3200" dirty="0"/>
                  <a:t>Given a value of ¢85, and an infinite supply of coins with denominations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{1, 5, 10, 12, 20, 50, 100}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what is the minimum number of coins needed to make change for ¢85?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79" y="1705162"/>
                <a:ext cx="11464125" cy="2221506"/>
              </a:xfrm>
              <a:prstGeom prst="rect">
                <a:avLst/>
              </a:prstGeom>
              <a:blipFill>
                <a:blip r:embed="rId4"/>
                <a:stretch>
                  <a:fillRect b="-8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1078167" y="4909867"/>
            <a:ext cx="1682005" cy="16820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7703" y="5363864"/>
            <a:ext cx="970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1374" y="5382056"/>
            <a:ext cx="978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12</a:t>
            </a:r>
          </a:p>
        </p:txBody>
      </p:sp>
      <p:sp>
        <p:nvSpPr>
          <p:cNvPr id="14" name="Oval 13"/>
          <p:cNvSpPr/>
          <p:nvPr/>
        </p:nvSpPr>
        <p:spPr>
          <a:xfrm>
            <a:off x="3022986" y="5089628"/>
            <a:ext cx="1331636" cy="133163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10504" y="5397976"/>
            <a:ext cx="978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8" name="Oval 17"/>
          <p:cNvSpPr/>
          <p:nvPr/>
        </p:nvSpPr>
        <p:spPr>
          <a:xfrm>
            <a:off x="7444870" y="5486399"/>
            <a:ext cx="525423" cy="48448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18489" y="5370683"/>
            <a:ext cx="642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6805697" y="5488673"/>
            <a:ext cx="525423" cy="48448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79316" y="5372957"/>
            <a:ext cx="642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6164254" y="5502321"/>
            <a:ext cx="525423" cy="48448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7873" y="5386605"/>
            <a:ext cx="642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7B6D7-7047-4D4F-BE8B-F277FDEF3950}"/>
              </a:ext>
            </a:extLst>
          </p:cNvPr>
          <p:cNvSpPr txBox="1"/>
          <p:nvPr/>
        </p:nvSpPr>
        <p:spPr>
          <a:xfrm>
            <a:off x="9903520" y="4909867"/>
            <a:ext cx="39786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92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5" grpId="0"/>
      <p:bldP spid="9" grpId="0"/>
      <p:bldP spid="14" grpId="0" animBg="1"/>
      <p:bldP spid="15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516D0-1378-4F30-9E42-EB6D4F759B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5/48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95779" y="1705162"/>
                <a:ext cx="11464125" cy="22215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3200" dirty="0"/>
                  <a:t>Given a value of ¢85, and an infinite supply of coins with denominations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{1, 5, 10, 12, 20, 50, 100}</m:t>
                    </m:r>
                  </m:oMath>
                </a14:m>
                <a:r>
                  <a:rPr lang="en-US" sz="3200" dirty="0"/>
                  <a:t>, what is the minimum number of coins needed to make change for ¢85?</a:t>
                </a:r>
                <a:endParaRPr lang="en-US" sz="3200" dirty="0">
                  <a:latin typeface="+mj-lt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79" y="1705162"/>
                <a:ext cx="11464125" cy="2221506"/>
              </a:xfrm>
              <a:prstGeom prst="rect">
                <a:avLst/>
              </a:prstGeom>
              <a:blipFill>
                <a:blip r:embed="rId4"/>
                <a:stretch>
                  <a:fillRect b="-8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1A7B6D7-7047-4D4F-BE8B-F277FDEF3950}"/>
              </a:ext>
            </a:extLst>
          </p:cNvPr>
          <p:cNvSpPr txBox="1"/>
          <p:nvPr/>
        </p:nvSpPr>
        <p:spPr>
          <a:xfrm>
            <a:off x="9903520" y="4909867"/>
            <a:ext cx="39786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BB31519-CF24-404D-88C1-6B1FFF59C611}"/>
              </a:ext>
            </a:extLst>
          </p:cNvPr>
          <p:cNvSpPr/>
          <p:nvPr/>
        </p:nvSpPr>
        <p:spPr>
          <a:xfrm>
            <a:off x="1078167" y="4909867"/>
            <a:ext cx="1682005" cy="16820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C93C3F-3822-46BC-887F-EDD5AB2BC52B}"/>
              </a:ext>
            </a:extLst>
          </p:cNvPr>
          <p:cNvSpPr txBox="1"/>
          <p:nvPr/>
        </p:nvSpPr>
        <p:spPr>
          <a:xfrm>
            <a:off x="1697703" y="5363864"/>
            <a:ext cx="970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89E904-0167-468C-A95B-171DD41A7B58}"/>
              </a:ext>
            </a:extLst>
          </p:cNvPr>
          <p:cNvSpPr/>
          <p:nvPr/>
        </p:nvSpPr>
        <p:spPr>
          <a:xfrm>
            <a:off x="4713040" y="5186440"/>
            <a:ext cx="1082424" cy="1082424"/>
          </a:xfrm>
          <a:prstGeom prst="ellipse">
            <a:avLst/>
          </a:prstGeom>
          <a:solidFill>
            <a:srgbClr val="F8B2F3"/>
          </a:solidFill>
          <a:ln>
            <a:solidFill>
              <a:srgbClr val="AD0F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B5C365-D31F-4E69-9421-6A622C8C38ED}"/>
              </a:ext>
            </a:extLst>
          </p:cNvPr>
          <p:cNvSpPr txBox="1"/>
          <p:nvPr/>
        </p:nvSpPr>
        <p:spPr>
          <a:xfrm>
            <a:off x="4991374" y="5382056"/>
            <a:ext cx="978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4AFF47-54C5-43E8-A3E4-1ACA03C6B9D0}"/>
              </a:ext>
            </a:extLst>
          </p:cNvPr>
          <p:cNvSpPr/>
          <p:nvPr/>
        </p:nvSpPr>
        <p:spPr>
          <a:xfrm>
            <a:off x="6268886" y="5309272"/>
            <a:ext cx="827951" cy="83222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D53D2-83A2-4407-9D56-B9867F621E4B}"/>
              </a:ext>
            </a:extLst>
          </p:cNvPr>
          <p:cNvSpPr txBox="1"/>
          <p:nvPr/>
        </p:nvSpPr>
        <p:spPr>
          <a:xfrm>
            <a:off x="6519925" y="5341112"/>
            <a:ext cx="634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C28FA3D-998F-4B11-BF76-4F702F10B419}"/>
              </a:ext>
            </a:extLst>
          </p:cNvPr>
          <p:cNvSpPr/>
          <p:nvPr/>
        </p:nvSpPr>
        <p:spPr>
          <a:xfrm>
            <a:off x="3022986" y="5089628"/>
            <a:ext cx="1331636" cy="133163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3092C6-C84E-47D3-94D5-9195FE4032B3}"/>
              </a:ext>
            </a:extLst>
          </p:cNvPr>
          <p:cNvSpPr txBox="1"/>
          <p:nvPr/>
        </p:nvSpPr>
        <p:spPr>
          <a:xfrm>
            <a:off x="3410504" y="5397976"/>
            <a:ext cx="978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695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Greedy Approach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6D156-F8B9-4858-AF46-0020BAC70A1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6/48</a:t>
            </a:r>
          </a:p>
        </p:txBody>
      </p:sp>
      <p:sp>
        <p:nvSpPr>
          <p:cNvPr id="4" name="Rectangle 3"/>
          <p:cNvSpPr/>
          <p:nvPr/>
        </p:nvSpPr>
        <p:spPr>
          <a:xfrm>
            <a:off x="358833" y="2045271"/>
            <a:ext cx="1134129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Sort C in decreasing order</a:t>
            </a: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S = ∅</a:t>
            </a:r>
          </a:p>
          <a:p>
            <a:pPr marL="118872" lvl="0">
              <a:buClr>
                <a:srgbClr val="F0AD00"/>
              </a:buClr>
              <a:buSzPct val="80000"/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while C is not empty:</a:t>
            </a: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if 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C.top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&lt;= V:</a:t>
            </a: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S.add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C.top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    V = V - 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C.top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118872" lvl="0">
              <a:buClr>
                <a:srgbClr val="F0AD00"/>
              </a:buClr>
              <a:buSzPct val="80000"/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    if V == 0:</a:t>
            </a: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        Print S</a:t>
            </a: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        return</a:t>
            </a:r>
          </a:p>
          <a:p>
            <a:pPr marL="118872" lvl="0">
              <a:buClr>
                <a:srgbClr val="F0AD00"/>
              </a:buClr>
              <a:buSzPct val="80000"/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118872" lvl="0">
              <a:buClr>
                <a:srgbClr val="F0AD00"/>
              </a:buClr>
              <a:buSzPct val="80000"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C.delete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1709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Knapsack problem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F63F88-C7FA-4928-A2C4-3C1062A5BF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07170" y="2363409"/>
                <a:ext cx="3989332" cy="3323987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𝑊𝑒𝑖𝑔h𝑡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𝑏𝑒𝑛𝑒𝑓𝑖𝑡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𝑖𝑡𝑒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𝑊𝑒𝑖𝑔h𝑡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Find a subset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, such that:</a:t>
                </a:r>
              </a:p>
              <a:p>
                <a:r>
                  <a:rPr lang="en-US" sz="2000" dirty="0"/>
                  <a:t>The total weight of items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does not exceed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and the total benefit of items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maximized.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70" y="2363409"/>
                <a:ext cx="3989332" cy="3323987"/>
              </a:xfrm>
              <a:prstGeom prst="rect">
                <a:avLst/>
              </a:prstGeom>
              <a:blipFill>
                <a:blip r:embed="rId5"/>
                <a:stretch>
                  <a:fillRect l="-1370" b="-2194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B4A38E-AFEB-47F1-99E8-4116E8228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551840"/>
              </p:ext>
            </p:extLst>
          </p:nvPr>
        </p:nvGraphicFramePr>
        <p:xfrm>
          <a:off x="5822299" y="2018764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FDE04CA-C897-41B1-90FC-2275F07911E3}"/>
              </a:ext>
            </a:extLst>
          </p:cNvPr>
          <p:cNvSpPr txBox="1"/>
          <p:nvPr/>
        </p:nvSpPr>
        <p:spPr>
          <a:xfrm>
            <a:off x="5371791" y="6218211"/>
            <a:ext cx="105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W=20 </a:t>
            </a:r>
            <a:r>
              <a:rPr lang="en-US" dirty="0" err="1"/>
              <a:t>lbs</a:t>
            </a:r>
            <a:endParaRPr lang="en-US" dirty="0"/>
          </a:p>
        </p:txBody>
      </p:sp>
      <p:pic>
        <p:nvPicPr>
          <p:cNvPr id="24" name="Graphic 23" descr="Watch">
            <a:extLst>
              <a:ext uri="{FF2B5EF4-FFF2-40B4-BE49-F238E27FC236}">
                <a16:creationId xmlns:a16="http://schemas.microsoft.com/office/drawing/2014/main" id="{9F0BAC2B-04ED-4423-9BA4-8F70163B9C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380" y="5682657"/>
            <a:ext cx="425881" cy="425881"/>
          </a:xfrm>
          <a:prstGeom prst="rect">
            <a:avLst/>
          </a:prstGeom>
        </p:spPr>
      </p:pic>
      <p:pic>
        <p:nvPicPr>
          <p:cNvPr id="28" name="Graphic 27" descr="Video camera">
            <a:extLst>
              <a:ext uri="{FF2B5EF4-FFF2-40B4-BE49-F238E27FC236}">
                <a16:creationId xmlns:a16="http://schemas.microsoft.com/office/drawing/2014/main" id="{2A1C1356-81A1-4E6C-86E2-040CE736CC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1413" y="4351252"/>
            <a:ext cx="812185" cy="812185"/>
          </a:xfrm>
          <a:prstGeom prst="rect">
            <a:avLst/>
          </a:prstGeom>
        </p:spPr>
      </p:pic>
      <p:pic>
        <p:nvPicPr>
          <p:cNvPr id="29" name="Graphic 28" descr="Laptop">
            <a:extLst>
              <a:ext uri="{FF2B5EF4-FFF2-40B4-BE49-F238E27FC236}">
                <a16:creationId xmlns:a16="http://schemas.microsoft.com/office/drawing/2014/main" id="{3676AD1A-11CF-498D-83C0-430215870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60927" y="4308099"/>
            <a:ext cx="1005858" cy="10058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7867B6B-8022-4C43-B22D-D31B5D74ACE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10142197" y="4698249"/>
            <a:ext cx="701364" cy="180938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354520A-4C5C-4BB7-8CCB-2FDBBCC03905}"/>
              </a:ext>
            </a:extLst>
          </p:cNvPr>
          <p:cNvGrpSpPr/>
          <p:nvPr/>
        </p:nvGrpSpPr>
        <p:grpSpPr>
          <a:xfrm>
            <a:off x="4820897" y="3953080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A022626-0DFF-4D60-8B87-471FF5F6D0F5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Graphic 33" descr="Backpack">
              <a:extLst>
                <a:ext uri="{FF2B5EF4-FFF2-40B4-BE49-F238E27FC236}">
                  <a16:creationId xmlns:a16="http://schemas.microsoft.com/office/drawing/2014/main" id="{5628044A-3E90-4D21-B8F2-9CF605BCD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26763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0,1-Knapsack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F63F88-C7FA-4928-A2C4-3C1062A5BF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563" y="5085086"/>
            <a:ext cx="105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W=20 </a:t>
            </a:r>
            <a:r>
              <a:rPr lang="en-US" dirty="0" err="1"/>
              <a:t>lbs</a:t>
            </a:r>
            <a:endParaRPr lang="en-US" dirty="0"/>
          </a:p>
        </p:txBody>
      </p:sp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B9D1C507-D190-4607-B70C-82C661E7E8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2753" y="4743249"/>
            <a:ext cx="425881" cy="42588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1FCA2D-94C6-401C-923A-8A9BACAE1E18}"/>
              </a:ext>
            </a:extLst>
          </p:cNvPr>
          <p:cNvSpPr txBox="1"/>
          <p:nvPr/>
        </p:nvSpPr>
        <p:spPr>
          <a:xfrm>
            <a:off x="3301890" y="3455075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DD3AD5-0539-4C28-8F17-52AB31BFD109}"/>
              </a:ext>
            </a:extLst>
          </p:cNvPr>
          <p:cNvSpPr txBox="1"/>
          <p:nvPr/>
        </p:nvSpPr>
        <p:spPr>
          <a:xfrm>
            <a:off x="5453294" y="4984464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E0BE2F-D684-490A-918B-8AA192A615A5}"/>
              </a:ext>
            </a:extLst>
          </p:cNvPr>
          <p:cNvSpPr txBox="1"/>
          <p:nvPr/>
        </p:nvSpPr>
        <p:spPr>
          <a:xfrm>
            <a:off x="5065274" y="3455075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A00F36E-BE43-431A-AD27-92824482A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177876"/>
              </p:ext>
            </p:extLst>
          </p:nvPr>
        </p:nvGraphicFramePr>
        <p:xfrm>
          <a:off x="6806245" y="1990418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sp>
        <p:nvSpPr>
          <p:cNvPr id="29" name="Arrow: Down 28">
            <a:extLst>
              <a:ext uri="{FF2B5EF4-FFF2-40B4-BE49-F238E27FC236}">
                <a16:creationId xmlns:a16="http://schemas.microsoft.com/office/drawing/2014/main" id="{40FC41D0-0CDD-4DDD-945C-729AAD274059}"/>
              </a:ext>
            </a:extLst>
          </p:cNvPr>
          <p:cNvSpPr/>
          <p:nvPr/>
        </p:nvSpPr>
        <p:spPr>
          <a:xfrm>
            <a:off x="8652298" y="3937596"/>
            <a:ext cx="201079" cy="347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Video camera">
            <a:extLst>
              <a:ext uri="{FF2B5EF4-FFF2-40B4-BE49-F238E27FC236}">
                <a16:creationId xmlns:a16="http://schemas.microsoft.com/office/drawing/2014/main" id="{6FAD5CD1-668E-4B74-9306-ADF2D398B8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3611" y="2721436"/>
            <a:ext cx="812185" cy="812185"/>
          </a:xfrm>
          <a:prstGeom prst="rect">
            <a:avLst/>
          </a:prstGeom>
        </p:spPr>
      </p:pic>
      <p:pic>
        <p:nvPicPr>
          <p:cNvPr id="35" name="Graphic 34" descr="Laptop">
            <a:extLst>
              <a:ext uri="{FF2B5EF4-FFF2-40B4-BE49-F238E27FC236}">
                <a16:creationId xmlns:a16="http://schemas.microsoft.com/office/drawing/2014/main" id="{F2689213-1EA9-4AB9-81AF-57234F25E6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9725" y="4448560"/>
            <a:ext cx="1005858" cy="10058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5CDF7A3-367D-4487-9018-7FCEC1725225}"/>
              </a:ext>
            </a:extLst>
          </p:cNvPr>
          <p:cNvSpPr txBox="1"/>
          <p:nvPr/>
        </p:nvSpPr>
        <p:spPr>
          <a:xfrm>
            <a:off x="3392872" y="5349483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F028657-E757-4085-9180-1DB79EAB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831799"/>
              </p:ext>
            </p:extLst>
          </p:nvPr>
        </p:nvGraphicFramePr>
        <p:xfrm>
          <a:off x="6756345" y="4388960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91AE4B4B-405B-4483-850D-550F6290815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2876237" y="2222836"/>
            <a:ext cx="701364" cy="180938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60144A7-9675-432D-9508-6A560A066962}"/>
              </a:ext>
            </a:extLst>
          </p:cNvPr>
          <p:cNvSpPr txBox="1"/>
          <p:nvPr/>
        </p:nvSpPr>
        <p:spPr>
          <a:xfrm>
            <a:off x="8898231" y="3909014"/>
            <a:ext cx="85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D67FD0-1E37-41D5-852F-BCA93D199F53}"/>
              </a:ext>
            </a:extLst>
          </p:cNvPr>
          <p:cNvGrpSpPr/>
          <p:nvPr/>
        </p:nvGrpSpPr>
        <p:grpSpPr>
          <a:xfrm>
            <a:off x="224629" y="2806156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E355E6CD-A5F0-404F-82E2-48A82F1D0031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Backpack">
              <a:extLst>
                <a:ext uri="{FF2B5EF4-FFF2-40B4-BE49-F238E27FC236}">
                  <a16:creationId xmlns:a16="http://schemas.microsoft.com/office/drawing/2014/main" id="{56DAB350-1417-40E0-9D25-13DE52D42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4324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9" grpId="0" animBg="1"/>
      <p:bldP spid="38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0,1-Knapsack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F63F88-C7FA-4928-A2C4-3C1062A5BF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9/48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563" y="5085086"/>
            <a:ext cx="96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W=-- </a:t>
            </a:r>
            <a:r>
              <a:rPr lang="en-US" dirty="0" err="1"/>
              <a:t>lbs</a:t>
            </a:r>
            <a:endParaRPr lang="en-US" dirty="0"/>
          </a:p>
        </p:txBody>
      </p:sp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B9D1C507-D190-4607-B70C-82C661E7E8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2753" y="4743249"/>
            <a:ext cx="425881" cy="425881"/>
          </a:xfrm>
          <a:prstGeom prst="rect">
            <a:avLst/>
          </a:prstGeom>
        </p:spPr>
      </p:pic>
      <p:pic>
        <p:nvPicPr>
          <p:cNvPr id="31" name="Graphic 30" descr="Video camera">
            <a:extLst>
              <a:ext uri="{FF2B5EF4-FFF2-40B4-BE49-F238E27FC236}">
                <a16:creationId xmlns:a16="http://schemas.microsoft.com/office/drawing/2014/main" id="{6FAD5CD1-668E-4B74-9306-ADF2D398B8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3611" y="2721436"/>
            <a:ext cx="812185" cy="812185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F028657-E757-4085-9180-1DB79EAB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641714"/>
              </p:ext>
            </p:extLst>
          </p:nvPr>
        </p:nvGraphicFramePr>
        <p:xfrm>
          <a:off x="6899468" y="2721436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91AE4B4B-405B-4483-850D-550F6290815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2876237" y="2222836"/>
            <a:ext cx="701364" cy="180938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65ADAF0-EE38-4EAC-9217-FF3593455639}"/>
              </a:ext>
            </a:extLst>
          </p:cNvPr>
          <p:cNvGrpSpPr/>
          <p:nvPr/>
        </p:nvGrpSpPr>
        <p:grpSpPr>
          <a:xfrm>
            <a:off x="224629" y="2806156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ED57EF6-170E-4B7E-AC3E-31581D848A5B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phic 32" descr="Backpack">
              <a:extLst>
                <a:ext uri="{FF2B5EF4-FFF2-40B4-BE49-F238E27FC236}">
                  <a16:creationId xmlns:a16="http://schemas.microsoft.com/office/drawing/2014/main" id="{6C7B220F-0BAF-4721-A114-30013E6CA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  <p:pic>
        <p:nvPicPr>
          <p:cNvPr id="35" name="Graphic 34" descr="Laptop">
            <a:extLst>
              <a:ext uri="{FF2B5EF4-FFF2-40B4-BE49-F238E27FC236}">
                <a16:creationId xmlns:a16="http://schemas.microsoft.com/office/drawing/2014/main" id="{F2689213-1EA9-4AB9-81AF-57234F25E6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9396" y="3966383"/>
            <a:ext cx="1005858" cy="10058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681E12-876B-4698-A236-1581C73A790C}"/>
              </a:ext>
            </a:extLst>
          </p:cNvPr>
          <p:cNvSpPr txBox="1"/>
          <p:nvPr/>
        </p:nvSpPr>
        <p:spPr>
          <a:xfrm>
            <a:off x="8377775" y="5068520"/>
            <a:ext cx="1327158" cy="36933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Benefit=400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877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0,1-Knapsack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F63F88-C7FA-4928-A2C4-3C1062A5BF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10/48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563" y="5085086"/>
            <a:ext cx="105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W=20 </a:t>
            </a:r>
            <a:r>
              <a:rPr lang="en-US" dirty="0" err="1"/>
              <a:t>lbs</a:t>
            </a:r>
            <a:endParaRPr lang="en-US" dirty="0"/>
          </a:p>
        </p:txBody>
      </p:sp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B9D1C507-D190-4607-B70C-82C661E7E8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2753" y="4743249"/>
            <a:ext cx="425881" cy="42588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1FCA2D-94C6-401C-923A-8A9BACAE1E18}"/>
              </a:ext>
            </a:extLst>
          </p:cNvPr>
          <p:cNvSpPr txBox="1"/>
          <p:nvPr/>
        </p:nvSpPr>
        <p:spPr>
          <a:xfrm>
            <a:off x="3301890" y="3455075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DD3AD5-0539-4C28-8F17-52AB31BFD109}"/>
              </a:ext>
            </a:extLst>
          </p:cNvPr>
          <p:cNvSpPr txBox="1"/>
          <p:nvPr/>
        </p:nvSpPr>
        <p:spPr>
          <a:xfrm>
            <a:off x="5453294" y="4984464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E0BE2F-D684-490A-918B-8AA192A615A5}"/>
              </a:ext>
            </a:extLst>
          </p:cNvPr>
          <p:cNvSpPr txBox="1"/>
          <p:nvPr/>
        </p:nvSpPr>
        <p:spPr>
          <a:xfrm>
            <a:off x="5065274" y="3455075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A00F36E-BE43-431A-AD27-92824482A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55053"/>
              </p:ext>
            </p:extLst>
          </p:nvPr>
        </p:nvGraphicFramePr>
        <p:xfrm>
          <a:off x="6806245" y="1990418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sp>
        <p:nvSpPr>
          <p:cNvPr id="29" name="Arrow: Down 28">
            <a:extLst>
              <a:ext uri="{FF2B5EF4-FFF2-40B4-BE49-F238E27FC236}">
                <a16:creationId xmlns:a16="http://schemas.microsoft.com/office/drawing/2014/main" id="{40FC41D0-0CDD-4DDD-945C-729AAD274059}"/>
              </a:ext>
            </a:extLst>
          </p:cNvPr>
          <p:cNvSpPr/>
          <p:nvPr/>
        </p:nvSpPr>
        <p:spPr>
          <a:xfrm>
            <a:off x="8652298" y="3937596"/>
            <a:ext cx="201079" cy="347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Video camera">
            <a:extLst>
              <a:ext uri="{FF2B5EF4-FFF2-40B4-BE49-F238E27FC236}">
                <a16:creationId xmlns:a16="http://schemas.microsoft.com/office/drawing/2014/main" id="{6FAD5CD1-668E-4B74-9306-ADF2D398B8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3611" y="2721436"/>
            <a:ext cx="812185" cy="812185"/>
          </a:xfrm>
          <a:prstGeom prst="rect">
            <a:avLst/>
          </a:prstGeom>
        </p:spPr>
      </p:pic>
      <p:pic>
        <p:nvPicPr>
          <p:cNvPr id="35" name="Graphic 34" descr="Laptop">
            <a:extLst>
              <a:ext uri="{FF2B5EF4-FFF2-40B4-BE49-F238E27FC236}">
                <a16:creationId xmlns:a16="http://schemas.microsoft.com/office/drawing/2014/main" id="{F2689213-1EA9-4AB9-81AF-57234F25E6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9725" y="4448560"/>
            <a:ext cx="1005858" cy="10058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5CDF7A3-367D-4487-9018-7FCEC1725225}"/>
              </a:ext>
            </a:extLst>
          </p:cNvPr>
          <p:cNvSpPr txBox="1"/>
          <p:nvPr/>
        </p:nvSpPr>
        <p:spPr>
          <a:xfrm>
            <a:off x="3392872" y="5349483"/>
            <a:ext cx="3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F028657-E757-4085-9180-1DB79EAB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238126"/>
              </p:ext>
            </p:extLst>
          </p:nvPr>
        </p:nvGraphicFramePr>
        <p:xfrm>
          <a:off x="6756345" y="4388960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91AE4B4B-405B-4483-850D-550F6290815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2876237" y="2222836"/>
            <a:ext cx="701364" cy="180938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60144A7-9675-432D-9508-6A560A066962}"/>
              </a:ext>
            </a:extLst>
          </p:cNvPr>
          <p:cNvSpPr txBox="1"/>
          <p:nvPr/>
        </p:nvSpPr>
        <p:spPr>
          <a:xfrm>
            <a:off x="8898231" y="3909014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D67FD0-1E37-41D5-852F-BCA93D199F53}"/>
              </a:ext>
            </a:extLst>
          </p:cNvPr>
          <p:cNvGrpSpPr/>
          <p:nvPr/>
        </p:nvGrpSpPr>
        <p:grpSpPr>
          <a:xfrm>
            <a:off x="224629" y="2806156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E355E6CD-A5F0-404F-82E2-48A82F1D0031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Backpack">
              <a:extLst>
                <a:ext uri="{FF2B5EF4-FFF2-40B4-BE49-F238E27FC236}">
                  <a16:creationId xmlns:a16="http://schemas.microsoft.com/office/drawing/2014/main" id="{56DAB350-1417-40E0-9D25-13DE52D42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07470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9" grpId="0" animBg="1"/>
      <p:bldP spid="38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0,1-Knapsack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F63F88-C7FA-4928-A2C4-3C1062A5BF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563" y="5085086"/>
            <a:ext cx="96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W=2 </a:t>
            </a:r>
            <a:r>
              <a:rPr lang="en-US" dirty="0" err="1"/>
              <a:t>lbs</a:t>
            </a:r>
            <a:endParaRPr lang="en-US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F028657-E757-4085-9180-1DB79EAB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45620"/>
              </p:ext>
            </p:extLst>
          </p:nvPr>
        </p:nvGraphicFramePr>
        <p:xfrm>
          <a:off x="6899468" y="2721436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91AE4B4B-405B-4483-850D-550F629081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2876237" y="2222836"/>
            <a:ext cx="701364" cy="180938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65ADAF0-EE38-4EAC-9217-FF3593455639}"/>
              </a:ext>
            </a:extLst>
          </p:cNvPr>
          <p:cNvGrpSpPr/>
          <p:nvPr/>
        </p:nvGrpSpPr>
        <p:grpSpPr>
          <a:xfrm>
            <a:off x="224629" y="2806156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ED57EF6-170E-4B7E-AC3E-31581D848A5B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phic 32" descr="Backpack">
              <a:extLst>
                <a:ext uri="{FF2B5EF4-FFF2-40B4-BE49-F238E27FC236}">
                  <a16:creationId xmlns:a16="http://schemas.microsoft.com/office/drawing/2014/main" id="{6C7B220F-0BAF-4721-A114-30013E6CA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  <p:pic>
        <p:nvPicPr>
          <p:cNvPr id="35" name="Graphic 34" descr="Laptop">
            <a:extLst>
              <a:ext uri="{FF2B5EF4-FFF2-40B4-BE49-F238E27FC236}">
                <a16:creationId xmlns:a16="http://schemas.microsoft.com/office/drawing/2014/main" id="{F2689213-1EA9-4AB9-81AF-57234F25E6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4985" y="4340095"/>
            <a:ext cx="1005858" cy="10058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681E12-876B-4698-A236-1581C73A790C}"/>
              </a:ext>
            </a:extLst>
          </p:cNvPr>
          <p:cNvSpPr txBox="1"/>
          <p:nvPr/>
        </p:nvSpPr>
        <p:spPr>
          <a:xfrm>
            <a:off x="8377775" y="5068520"/>
            <a:ext cx="1327158" cy="36933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Benefit=540</a:t>
            </a:r>
          </a:p>
        </p:txBody>
      </p:sp>
      <p:pic>
        <p:nvPicPr>
          <p:cNvPr id="31" name="Graphic 30" descr="Video camera">
            <a:extLst>
              <a:ext uri="{FF2B5EF4-FFF2-40B4-BE49-F238E27FC236}">
                <a16:creationId xmlns:a16="http://schemas.microsoft.com/office/drawing/2014/main" id="{6FAD5CD1-668E-4B74-9306-ADF2D398B8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6232" y="3708707"/>
            <a:ext cx="812185" cy="812185"/>
          </a:xfrm>
          <a:prstGeom prst="rect">
            <a:avLst/>
          </a:prstGeom>
        </p:spPr>
      </p:pic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B9D1C507-D190-4607-B70C-82C661E7E8E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40134" y="4216991"/>
            <a:ext cx="425881" cy="4258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848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0,1-Knapsack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F63F88-C7FA-4928-A2C4-3C1062A5BF2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12/48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563" y="5085086"/>
            <a:ext cx="96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W=-- </a:t>
            </a:r>
            <a:r>
              <a:rPr lang="en-US" dirty="0" err="1"/>
              <a:t>lbs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5ADAF0-EE38-4EAC-9217-FF3593455639}"/>
              </a:ext>
            </a:extLst>
          </p:cNvPr>
          <p:cNvGrpSpPr/>
          <p:nvPr/>
        </p:nvGrpSpPr>
        <p:grpSpPr>
          <a:xfrm>
            <a:off x="224629" y="2806156"/>
            <a:ext cx="2159499" cy="2447694"/>
            <a:chOff x="224629" y="2806156"/>
            <a:chExt cx="2159499" cy="2447694"/>
          </a:xfrm>
          <a:solidFill>
            <a:schemeClr val="accent5">
              <a:lumMod val="50000"/>
            </a:schemeClr>
          </a:solidFill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ED57EF6-170E-4B7E-AC3E-31581D848A5B}"/>
                </a:ext>
              </a:extLst>
            </p:cNvPr>
            <p:cNvSpPr/>
            <p:nvPr/>
          </p:nvSpPr>
          <p:spPr>
            <a:xfrm>
              <a:off x="677563" y="3267986"/>
              <a:ext cx="1249525" cy="1693628"/>
            </a:xfrm>
            <a:prstGeom prst="round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phic 32" descr="Backpack">
              <a:extLst>
                <a:ext uri="{FF2B5EF4-FFF2-40B4-BE49-F238E27FC236}">
                  <a16:creationId xmlns:a16="http://schemas.microsoft.com/office/drawing/2014/main" id="{6C7B220F-0BAF-4721-A114-30013E6CA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4629" y="2806156"/>
              <a:ext cx="2159499" cy="2447694"/>
            </a:xfrm>
            <a:prstGeom prst="rect">
              <a:avLst/>
            </a:prstGeom>
          </p:spPr>
        </p:pic>
      </p:grpSp>
      <p:pic>
        <p:nvPicPr>
          <p:cNvPr id="35" name="Graphic 34" descr="Laptop">
            <a:extLst>
              <a:ext uri="{FF2B5EF4-FFF2-40B4-BE49-F238E27FC236}">
                <a16:creationId xmlns:a16="http://schemas.microsoft.com/office/drawing/2014/main" id="{F2689213-1EA9-4AB9-81AF-57234F25E6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4985" y="4340095"/>
            <a:ext cx="1005858" cy="10058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681E12-876B-4698-A236-1581C73A790C}"/>
              </a:ext>
            </a:extLst>
          </p:cNvPr>
          <p:cNvSpPr txBox="1"/>
          <p:nvPr/>
        </p:nvSpPr>
        <p:spPr>
          <a:xfrm>
            <a:off x="8377775" y="5068520"/>
            <a:ext cx="1327158" cy="36933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Benefit=580</a:t>
            </a:r>
          </a:p>
        </p:txBody>
      </p:sp>
      <p:pic>
        <p:nvPicPr>
          <p:cNvPr id="31" name="Graphic 30" descr="Video camera">
            <a:extLst>
              <a:ext uri="{FF2B5EF4-FFF2-40B4-BE49-F238E27FC236}">
                <a16:creationId xmlns:a16="http://schemas.microsoft.com/office/drawing/2014/main" id="{6FAD5CD1-668E-4B74-9306-ADF2D398B8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3137" y="2861893"/>
            <a:ext cx="812185" cy="812185"/>
          </a:xfrm>
          <a:prstGeom prst="rect">
            <a:avLst/>
          </a:prstGeom>
        </p:spPr>
      </p:pic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B9D1C507-D190-4607-B70C-82C661E7E8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0134" y="4216991"/>
            <a:ext cx="425881" cy="425881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ADC9945-65D4-4FB0-B75F-52B53F1F1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13189"/>
              </p:ext>
            </p:extLst>
          </p:nvPr>
        </p:nvGraphicFramePr>
        <p:xfrm>
          <a:off x="7056803" y="2692092"/>
          <a:ext cx="428377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9301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630109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Laptop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Watch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  <a:tr h="36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Guitar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360</a:t>
                      </a:r>
                    </a:p>
                  </a:txBody>
                  <a:tcPr>
                    <a:solidFill>
                      <a:srgbClr val="42B8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038528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91AE4B4B-405B-4483-850D-550F6290815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74745">
            <a:off x="951643" y="3114457"/>
            <a:ext cx="701364" cy="18093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EBE980-00DD-4A8E-9685-18438AF875A8}"/>
              </a:ext>
            </a:extLst>
          </p:cNvPr>
          <p:cNvSpPr txBox="1"/>
          <p:nvPr/>
        </p:nvSpPr>
        <p:spPr>
          <a:xfrm>
            <a:off x="4488077" y="6136596"/>
            <a:ext cx="2888932" cy="36933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Dynamic Programming?????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685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Fractional Knapsack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45394-43F8-4592-B01B-E300F11FAAE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13/48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5264143-8124-4C71-B6FA-99886E9AB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372845"/>
              </p:ext>
            </p:extLst>
          </p:nvPr>
        </p:nvGraphicFramePr>
        <p:xfrm>
          <a:off x="4990768" y="1815765"/>
          <a:ext cx="243575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52297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68345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Item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E33FA44-9EA7-40AE-B416-6A71BAD65A0E}"/>
              </a:ext>
            </a:extLst>
          </p:cNvPr>
          <p:cNvSpPr txBox="1"/>
          <p:nvPr/>
        </p:nvSpPr>
        <p:spPr>
          <a:xfrm>
            <a:off x="1251710" y="5215091"/>
            <a:ext cx="132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W=30 </a:t>
            </a:r>
            <a:r>
              <a:rPr lang="en-US" dirty="0" err="1">
                <a:latin typeface="Arial Rounded MT Bold" panose="020F0704030504030204" pitchFamily="34" charset="0"/>
              </a:rPr>
              <a:t>lbs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F7FEC94-751F-4F0D-9456-3F96A9E56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804866"/>
              </p:ext>
            </p:extLst>
          </p:nvPr>
        </p:nvGraphicFramePr>
        <p:xfrm>
          <a:off x="460043" y="3538800"/>
          <a:ext cx="30663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257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141259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  <a:gridCol w="1166846">
                  <a:extLst>
                    <a:ext uri="{9D8B030D-6E8A-4147-A177-3AD203B41FA5}">
                      <a16:colId xmlns:a16="http://schemas.microsoft.com/office/drawing/2014/main" val="2796165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Item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18766A-F4C5-4C2F-AA56-65CBAD225D19}"/>
                  </a:ext>
                </a:extLst>
              </p:cNvPr>
              <p:cNvSpPr txBox="1"/>
              <p:nvPr/>
            </p:nvSpPr>
            <p:spPr>
              <a:xfrm>
                <a:off x="7651934" y="2448798"/>
                <a:ext cx="18405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140+60=2</m:t>
                      </m:r>
                      <m:r>
                        <a:rPr lang="en-US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18766A-F4C5-4C2F-AA56-65CBAD225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934" y="2448798"/>
                <a:ext cx="18405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1A5757-A9E9-4D0F-8DD3-CA5FA912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087427"/>
              </p:ext>
            </p:extLst>
          </p:nvPr>
        </p:nvGraphicFramePr>
        <p:xfrm>
          <a:off x="4990768" y="3452538"/>
          <a:ext cx="243575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52297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683453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Item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F16BC8-37B6-4EA0-A16C-4A7B4D8DFA27}"/>
                  </a:ext>
                </a:extLst>
              </p:cNvPr>
              <p:cNvSpPr txBox="1"/>
              <p:nvPr/>
            </p:nvSpPr>
            <p:spPr>
              <a:xfrm>
                <a:off x="7651934" y="4095814"/>
                <a:ext cx="2932534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50+60+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US" i="1" dirty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r>
                        <a:rPr lang="en-US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140=</m:t>
                      </m:r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215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F16BC8-37B6-4EA0-A16C-4A7B4D8DF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934" y="4095814"/>
                <a:ext cx="2932534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BA82C65-531B-456C-851B-FA0593F77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37273"/>
              </p:ext>
            </p:extLst>
          </p:nvPr>
        </p:nvGraphicFramePr>
        <p:xfrm>
          <a:off x="5027874" y="5089311"/>
          <a:ext cx="25374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548">
                  <a:extLst>
                    <a:ext uri="{9D8B030D-6E8A-4147-A177-3AD203B41FA5}">
                      <a16:colId xmlns:a16="http://schemas.microsoft.com/office/drawing/2014/main" val="2629750578"/>
                    </a:ext>
                  </a:extLst>
                </a:gridCol>
                <a:gridCol w="1773944">
                  <a:extLst>
                    <a:ext uri="{9D8B030D-6E8A-4147-A177-3AD203B41FA5}">
                      <a16:colId xmlns:a16="http://schemas.microsoft.com/office/drawing/2014/main" val="2345230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Item </a:t>
                      </a:r>
                    </a:p>
                  </a:txBody>
                  <a:tcPr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Benefit/Weight</a:t>
                      </a:r>
                    </a:p>
                  </a:txBody>
                  <a:tcPr>
                    <a:solidFill>
                      <a:srgbClr val="ED8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409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8D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8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CED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CE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961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25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77306F0-0373-4B44-8C0A-77414C635384}"/>
                  </a:ext>
                </a:extLst>
              </p:cNvPr>
              <p:cNvSpPr txBox="1"/>
              <p:nvPr/>
            </p:nvSpPr>
            <p:spPr>
              <a:xfrm>
                <a:off x="7651934" y="5732587"/>
                <a:ext cx="2932534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ED8428"/>
                          </a:solidFill>
                          <a:latin typeface="Cambria Math" panose="02040503050406030204" pitchFamily="18" charset="0"/>
                        </a:rPr>
                        <m:t>50+140</m:t>
                      </m:r>
                      <m:r>
                        <a:rPr lang="en-US" i="1" dirty="0">
                          <a:solidFill>
                            <a:srgbClr val="ED84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ED84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i="1" dirty="0">
                          <a:solidFill>
                            <a:srgbClr val="ED8428"/>
                          </a:solidFill>
                          <a:latin typeface="Cambria Math" panose="02040503050406030204" pitchFamily="18" charset="0"/>
                        </a:rPr>
                        <m:t>60=220</m:t>
                      </m:r>
                    </m:oMath>
                  </m:oMathPara>
                </a14:m>
                <a:endParaRPr lang="en-US" dirty="0">
                  <a:solidFill>
                    <a:srgbClr val="ED8428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77306F0-0373-4B44-8C0A-77414C63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934" y="5732587"/>
                <a:ext cx="2932534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31A523-39E0-43A6-8066-7DEF5734B109}"/>
              </a:ext>
            </a:extLst>
          </p:cNvPr>
          <p:cNvCxnSpPr>
            <a:cxnSpLocks/>
          </p:cNvCxnSpPr>
          <p:nvPr/>
        </p:nvCxnSpPr>
        <p:spPr>
          <a:xfrm flipV="1">
            <a:off x="3713922" y="2763042"/>
            <a:ext cx="1176130" cy="1488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84A3E0-F00B-4252-AC19-016BD2898E9F}"/>
              </a:ext>
            </a:extLst>
          </p:cNvPr>
          <p:cNvCxnSpPr/>
          <p:nvPr/>
        </p:nvCxnSpPr>
        <p:spPr>
          <a:xfrm>
            <a:off x="3705308" y="4253947"/>
            <a:ext cx="1106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D8626F2-7138-4E35-91C4-44A8A0618CE5}"/>
              </a:ext>
            </a:extLst>
          </p:cNvPr>
          <p:cNvCxnSpPr/>
          <p:nvPr/>
        </p:nvCxnSpPr>
        <p:spPr>
          <a:xfrm>
            <a:off x="3718229" y="4251767"/>
            <a:ext cx="1093636" cy="1636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9766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234F-AC90-45C6-8498-BF72AE83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B6294-F532-4963-96C2-CE41D69A891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14/48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4C4863B-5B1B-4A44-A267-B3AC9E41CC0A}"/>
                  </a:ext>
                </a:extLst>
              </p:cNvPr>
              <p:cNvSpPr/>
              <p:nvPr/>
            </p:nvSpPr>
            <p:spPr>
              <a:xfrm>
                <a:off x="614314" y="2027208"/>
                <a:ext cx="10181939" cy="44611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6072" lvl="0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for each item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marL="576072" lvl="0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t=0 </a:t>
                </a: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//total weight so far</a:t>
                </a:r>
              </a:p>
              <a:p>
                <a:pPr marL="576072" lvl="0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000" dirty="0">
                    <a:latin typeface="Consolas" panose="020B0609020204030204" pitchFamily="49" charset="0"/>
                  </a:rPr>
                  <a:t>A=∅ </a:t>
                </a:r>
                <a:r>
                  <a:rPr lang="en-US" sz="20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// selected subset</a:t>
                </a:r>
              </a:p>
              <a:p>
                <a:pPr marL="576072" lvl="0" indent="-45720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+mj-lt"/>
                  <a:buAutoNum type="arabicPeriod"/>
                </a:pPr>
                <a:r>
                  <a:rPr lang="en-US" sz="2000" b="1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t&lt;W </a:t>
                </a:r>
                <a:r>
                  <a:rPr lang="en-US" sz="2000" b="1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and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S is not empty </a:t>
                </a:r>
                <a:r>
                  <a:rPr lang="en-US" sz="2000" b="1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do</a:t>
                </a:r>
              </a:p>
              <a:p>
                <a:pPr marL="1033272" lvl="2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 remove an item 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 with the highest value index</a:t>
                </a:r>
              </a:p>
              <a:p>
                <a:pPr marL="1033272" lvl="2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 err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err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err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 dirty="0" err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 err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sz="20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//taking more than 𝑊−𝑡 causes weight overflow</a:t>
                </a:r>
                <a:endParaRPr lang="en-US" sz="20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marL="1033272" lvl="2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2000" dirty="0">
                    <a:solidFill>
                      <a:prstClr val="black"/>
                    </a:solidFill>
                  </a:rPr>
                  <a:t>      </a:t>
                </a:r>
                <a:r>
                  <a:rPr lang="it-IT" sz="2000" dirty="0">
                    <a:latin typeface="Consolas" panose="020B0609020204030204" pitchFamily="49" charset="0"/>
                  </a:rPr>
                  <a:t>Add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𝑡𝑒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000" dirty="0">
                    <a:latin typeface="Consolas" panose="020B0609020204030204" pitchFamily="49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marL="1033272" lvl="2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2000" dirty="0">
                    <a:solidFill>
                      <a:prstClr val="black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 err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black"/>
                  </a:solidFill>
                  <a:latin typeface="Consolas" panose="020B0609020204030204" pitchFamily="49" charset="0"/>
                </a:endParaRPr>
              </a:p>
              <a:p>
                <a:pPr marL="1033272" lvl="2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	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4C4863B-5B1B-4A44-A267-B3AC9E41C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14" y="2027208"/>
                <a:ext cx="10181939" cy="44611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636CFD-0247-413B-8BC2-F73B33F993C8}"/>
                  </a:ext>
                </a:extLst>
              </p:cNvPr>
              <p:cNvSpPr txBox="1"/>
              <p:nvPr/>
            </p:nvSpPr>
            <p:spPr>
              <a:xfrm>
                <a:off x="6486717" y="2027208"/>
                <a:ext cx="5124091" cy="129304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S={item</a:t>
                </a:r>
                <a:r>
                  <a:rPr lang="en-US" baseline="-100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,item</a:t>
                </a:r>
                <a:r>
                  <a:rPr lang="en-US" baseline="-100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,…,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item</a:t>
                </a:r>
                <a:r>
                  <a:rPr lang="en-US" baseline="-25000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};</a:t>
                </a:r>
              </a:p>
              <a:p>
                <a:pPr marL="118872" lvl="0">
                  <a:lnSpc>
                    <a:spcPct val="150000"/>
                  </a:lnSpc>
                  <a:buClr>
                    <a:srgbClr val="F0AD00"/>
                  </a:buClr>
                  <a:buSzPct val="8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represents the amount of item 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that is selected to be placed in the knapsack.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636CFD-0247-413B-8BC2-F73B33F99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717" y="2027208"/>
                <a:ext cx="5124091" cy="1293046"/>
              </a:xfrm>
              <a:prstGeom prst="rect">
                <a:avLst/>
              </a:prstGeom>
              <a:blipFill>
                <a:blip r:embed="rId5"/>
                <a:stretch>
                  <a:fillRect b="-560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9509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F8C-E5CA-4AAB-816C-4BD7F2E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Compression and 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3E43-31F1-4ACE-A739-B92E65EF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3584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Another application of the greedy method is </a:t>
            </a:r>
            <a:r>
              <a:rPr lang="en-US" sz="2400" i="1" dirty="0">
                <a:solidFill>
                  <a:srgbClr val="FF0000"/>
                </a:solidFill>
              </a:rPr>
              <a:t>text compression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 this problem, we are given a string </a:t>
            </a:r>
            <a:r>
              <a:rPr lang="en-US" sz="2400" i="1" dirty="0"/>
              <a:t>X </a:t>
            </a:r>
            <a:r>
              <a:rPr lang="en-US" sz="2400" dirty="0"/>
              <a:t>defined over some alphabet and we want to efficiently </a:t>
            </a:r>
            <a:r>
              <a:rPr lang="en-US" sz="2400" dirty="0">
                <a:solidFill>
                  <a:srgbClr val="00B050"/>
                </a:solidFill>
              </a:rPr>
              <a:t>encode </a:t>
            </a:r>
            <a:r>
              <a:rPr lang="en-US" sz="2400" i="1" dirty="0">
                <a:solidFill>
                  <a:srgbClr val="00B050"/>
                </a:solidFill>
              </a:rPr>
              <a:t>X </a:t>
            </a:r>
            <a:r>
              <a:rPr lang="en-US" sz="2400" dirty="0">
                <a:solidFill>
                  <a:srgbClr val="00B050"/>
                </a:solidFill>
              </a:rPr>
              <a:t>into a small binary string </a:t>
            </a:r>
            <a:r>
              <a:rPr lang="en-US" sz="2400" i="1" dirty="0">
                <a:solidFill>
                  <a:srgbClr val="00B050"/>
                </a:solidFill>
              </a:rPr>
              <a:t>Y </a:t>
            </a:r>
            <a:r>
              <a:rPr lang="en-US" sz="2400" dirty="0"/>
              <a:t>(using only the characters 0 and 1).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C92C-F2FC-4924-A180-438BB5267F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008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F8C-E5CA-4AAB-816C-4BD7F2E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Compression and 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3E43-31F1-4ACE-A739-B92E65EFF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Standard encoding schemes, such as the ASCII and Unicode systems, </a:t>
            </a:r>
            <a:r>
              <a:rPr lang="en-US" sz="2400" dirty="0">
                <a:solidFill>
                  <a:srgbClr val="00B050"/>
                </a:solidFill>
              </a:rPr>
              <a:t>use fixed length binary strings</a:t>
            </a:r>
            <a:r>
              <a:rPr lang="en-US" sz="2400" dirty="0"/>
              <a:t> to encode characters (with 7 bits in the ASCII system and 16 in the Unicode system). </a:t>
            </a:r>
          </a:p>
          <a:p>
            <a:r>
              <a:rPr lang="en-US" sz="2400" dirty="0"/>
              <a:t>For example:    E: 69=1000101    Z: 90=1011010</a:t>
            </a:r>
          </a:p>
          <a:p>
            <a:r>
              <a:rPr lang="en-US" sz="2400" dirty="0"/>
              <a:t>For example, an English document whose length is 100 million characters would require at least 7 megabits to represent in ASCII and 16 megabits to represent in Unicode.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C92C-F2FC-4924-A180-438BB5267F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4922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F8C-E5CA-4AAB-816C-4BD7F2E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Compression and 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3E43-31F1-4ACE-A739-B92E65EF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75193"/>
            <a:ext cx="11138807" cy="2547426"/>
          </a:xfrm>
        </p:spPr>
        <p:txBody>
          <a:bodyPr>
            <a:normAutofit/>
          </a:bodyPr>
          <a:lstStyle/>
          <a:p>
            <a:r>
              <a:rPr lang="en-US" sz="2400" b="1" dirty="0"/>
              <a:t>Fixed-length code:</a:t>
            </a:r>
            <a:r>
              <a:rPr lang="en-US" sz="2400" dirty="0"/>
              <a:t> Standard encoding schemes, such as the ASCII and Unicode systems, </a:t>
            </a:r>
            <a:r>
              <a:rPr lang="en-US" sz="2400" dirty="0">
                <a:solidFill>
                  <a:schemeClr val="tx1"/>
                </a:solidFill>
              </a:rPr>
              <a:t>use fixed length binary strings </a:t>
            </a:r>
            <a:r>
              <a:rPr lang="en-US" sz="2400" dirty="0"/>
              <a:t>to encode characters 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C92C-F2FC-4924-A180-438BB5267F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17/48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3727C-A94D-421E-9004-1E706CB85539}"/>
              </a:ext>
            </a:extLst>
          </p:cNvPr>
          <p:cNvSpPr txBox="1"/>
          <p:nvPr/>
        </p:nvSpPr>
        <p:spPr>
          <a:xfrm>
            <a:off x="2900219" y="4008583"/>
            <a:ext cx="4974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8872" indent="0">
              <a:buNone/>
            </a:pPr>
            <a:r>
              <a:rPr lang="en-US" sz="2000" dirty="0"/>
              <a:t>10001010100011000101110111111000011111110110111011000110011011001001010001101100111111100011001011010000010110001101011100010100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3674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F8C-E5CA-4AAB-816C-4BD7F2E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Compression and 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3E43-31F1-4ACE-A739-B92E65EF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75193"/>
            <a:ext cx="11138807" cy="2547426"/>
          </a:xfrm>
        </p:spPr>
        <p:txBody>
          <a:bodyPr>
            <a:normAutofit/>
          </a:bodyPr>
          <a:lstStyle/>
          <a:p>
            <a:r>
              <a:rPr lang="en-US" sz="2400" b="1" dirty="0"/>
              <a:t>Fixed-length code:</a:t>
            </a:r>
            <a:r>
              <a:rPr lang="en-US" sz="2400" dirty="0"/>
              <a:t> Standard encoding schemes, such as the ASCII and Unicode systems, </a:t>
            </a:r>
            <a:r>
              <a:rPr lang="en-US" sz="2400" dirty="0">
                <a:solidFill>
                  <a:schemeClr val="tx1"/>
                </a:solidFill>
              </a:rPr>
              <a:t>use fixed length binary strings </a:t>
            </a:r>
            <a:r>
              <a:rPr lang="en-US" sz="2400" dirty="0"/>
              <a:t>to encode characters 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C92C-F2FC-4924-A180-438BB5267F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18/48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3727C-A94D-421E-9004-1E706CB85539}"/>
              </a:ext>
            </a:extLst>
          </p:cNvPr>
          <p:cNvSpPr txBox="1"/>
          <p:nvPr/>
        </p:nvSpPr>
        <p:spPr>
          <a:xfrm>
            <a:off x="2900219" y="4008583"/>
            <a:ext cx="4974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8872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100010</a:t>
            </a:r>
            <a:r>
              <a:rPr lang="en-US" sz="2000" dirty="0"/>
              <a:t>10100011000101110111111000011111110110111011000110011011001001010001101100111111100011001011010000010110001101011100010100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556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F8C-E5CA-4AAB-816C-4BD7F2E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Compression and 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3E43-31F1-4ACE-A739-B92E65EF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75192"/>
            <a:ext cx="11138807" cy="4625609"/>
          </a:xfrm>
        </p:spPr>
        <p:txBody>
          <a:bodyPr>
            <a:normAutofit/>
          </a:bodyPr>
          <a:lstStyle/>
          <a:p>
            <a:r>
              <a:rPr lang="en-US" sz="2400" dirty="0"/>
              <a:t>This is a waste of bits, however, since there are some characters that are hardly ever used and others, like the letter “e”, that </a:t>
            </a:r>
            <a:r>
              <a:rPr lang="en-US" sz="2400" dirty="0">
                <a:solidFill>
                  <a:srgbClr val="FF0000"/>
                </a:solidFill>
              </a:rPr>
              <a:t>is used so often</a:t>
            </a:r>
            <a:r>
              <a:rPr lang="en-US" sz="2400" dirty="0"/>
              <a:t> that it is shame to be using the same number of bits for it as the seldomly used characters.</a:t>
            </a:r>
          </a:p>
          <a:p>
            <a:r>
              <a:rPr lang="en-US" sz="2400" b="1" dirty="0"/>
              <a:t>Variable-length code:</a:t>
            </a:r>
            <a:r>
              <a:rPr lang="en-US" sz="2400" dirty="0"/>
              <a:t> In this scheme, the codes for various characters are allowed to have different lengths. Ideally, we would like the </a:t>
            </a:r>
            <a:r>
              <a:rPr lang="en-US" sz="2400" dirty="0">
                <a:solidFill>
                  <a:srgbClr val="00B0F0"/>
                </a:solidFill>
              </a:rPr>
              <a:t>most-frequently </a:t>
            </a:r>
            <a:r>
              <a:rPr lang="en-US" sz="2400" dirty="0">
                <a:solidFill>
                  <a:schemeClr val="tx1"/>
                </a:solidFill>
              </a:rPr>
              <a:t>used characters to use the </a:t>
            </a:r>
            <a:r>
              <a:rPr lang="en-US" sz="2400" dirty="0">
                <a:solidFill>
                  <a:srgbClr val="00B0F0"/>
                </a:solidFill>
              </a:rPr>
              <a:t>fewest number of bits</a:t>
            </a:r>
            <a:r>
              <a:rPr lang="en-US" sz="2400" dirty="0"/>
              <a:t>, and the </a:t>
            </a:r>
            <a:r>
              <a:rPr lang="en-US" sz="2400" dirty="0">
                <a:solidFill>
                  <a:srgbClr val="42B82E"/>
                </a:solidFill>
              </a:rPr>
              <a:t>least-frequently</a:t>
            </a:r>
            <a:r>
              <a:rPr lang="en-US" sz="2400" dirty="0"/>
              <a:t> used characters to use the </a:t>
            </a:r>
            <a:r>
              <a:rPr lang="en-US" sz="2400" dirty="0">
                <a:solidFill>
                  <a:srgbClr val="42B82E"/>
                </a:solidFill>
              </a:rPr>
              <a:t>most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C92C-F2FC-4924-A180-438BB5267F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19/48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479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F8C-E5CA-4AAB-816C-4BD7F2E6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Compression and Huffman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3E43-31F1-4ACE-A739-B92E65EFF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insist that </a:t>
            </a:r>
            <a:r>
              <a:rPr lang="en-US" sz="2400" dirty="0">
                <a:solidFill>
                  <a:srgbClr val="FF0000"/>
                </a:solidFill>
              </a:rPr>
              <a:t>no code word in our scheme is a prefix of any other code word in our scheme</a:t>
            </a:r>
            <a:r>
              <a:rPr lang="en-US" sz="2400" dirty="0"/>
              <a:t>. Such an encoding is a prefix code.</a:t>
            </a:r>
          </a:p>
          <a:p>
            <a:endParaRPr lang="en-US" sz="2400" dirty="0"/>
          </a:p>
          <a:p>
            <a:r>
              <a:rPr lang="en-US" sz="2400" dirty="0"/>
              <a:t>The advantage of using such a prefix code is that decoding can be accomplished by using the greedy strategy of processing the bits of </a:t>
            </a:r>
            <a:r>
              <a:rPr lang="en-US" sz="2400" i="1" dirty="0"/>
              <a:t>Y </a:t>
            </a:r>
            <a:r>
              <a:rPr lang="en-US" sz="2400" dirty="0"/>
              <a:t>in order, </a:t>
            </a:r>
            <a:r>
              <a:rPr lang="en-US" sz="2400" dirty="0">
                <a:solidFill>
                  <a:srgbClr val="00B0F0"/>
                </a:solidFill>
              </a:rPr>
              <a:t>repeatedly matching bits to the first code word they represent</a:t>
            </a:r>
            <a:r>
              <a:rPr lang="en-US" sz="24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AC92C-F2FC-4924-A180-438BB5267F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3530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F775-7D32-4A83-ABFB-3DBBCD44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4AC1B-E923-4B8E-939F-8BC038A0B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i="1" dirty="0"/>
                  <a:t>Huffman Tree:</a:t>
                </a:r>
                <a:r>
                  <a:rPr lang="en-US" sz="2400" b="1" dirty="0"/>
                  <a:t> </a:t>
                </a:r>
                <a:r>
                  <a:rPr lang="en-US" sz="2400" dirty="0"/>
                  <a:t>This method produces a </a:t>
                </a:r>
                <a:r>
                  <a:rPr lang="en-US" sz="2400" dirty="0">
                    <a:solidFill>
                      <a:srgbClr val="00B0F0"/>
                    </a:solidFill>
                  </a:rPr>
                  <a:t>variable-length prefix code</a:t>
                </a:r>
                <a:r>
                  <a:rPr lang="en-US" sz="2400" dirty="0"/>
                  <a:t> for </a:t>
                </a:r>
                <a:r>
                  <a:rPr lang="en-US" sz="2400" i="1" dirty="0"/>
                  <a:t>X </a:t>
                </a:r>
                <a:r>
                  <a:rPr lang="en-US" sz="2400" dirty="0"/>
                  <a:t>based on the construction of a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proper binary tree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T </a:t>
                </a:r>
                <a:r>
                  <a:rPr lang="en-US" sz="2400" dirty="0"/>
                  <a:t>that represents the code.</a:t>
                </a:r>
              </a:p>
              <a:p>
                <a:r>
                  <a:rPr lang="en-US" sz="2400" dirty="0"/>
                  <a:t>Each edge in </a:t>
                </a:r>
                <a:r>
                  <a:rPr lang="en-US" sz="2400" i="1" dirty="0"/>
                  <a:t>T </a:t>
                </a:r>
                <a:r>
                  <a:rPr lang="en-US" sz="2400" dirty="0"/>
                  <a:t>represents a bit in a code word, with each edge to a left child representing a “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” and each edge to a right child representing a “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.” </a:t>
                </a:r>
              </a:p>
              <a:p>
                <a:r>
                  <a:rPr lang="en-US" sz="2400" dirty="0"/>
                  <a:t>Each external node </a:t>
                </a:r>
                <a:r>
                  <a:rPr lang="en-US" sz="2400" i="1" dirty="0"/>
                  <a:t>v </a:t>
                </a:r>
                <a:r>
                  <a:rPr lang="en-US" sz="2400" dirty="0"/>
                  <a:t>is associated with a specific character, and the code word for that character is defined by the sequence of bits associated with the edges in the path from the root of </a:t>
                </a:r>
                <a:r>
                  <a:rPr lang="en-US" sz="2400" i="1" dirty="0"/>
                  <a:t>T </a:t>
                </a:r>
                <a:r>
                  <a:rPr lang="en-US" sz="2400" dirty="0"/>
                  <a:t>to </a:t>
                </a:r>
                <a:r>
                  <a:rPr lang="en-US" sz="2400" i="1" dirty="0"/>
                  <a:t>v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4AC1B-E923-4B8E-939F-8BC038A0B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25B80-1912-4D40-890F-83274AF6830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21/48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144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2C04-6AA7-4364-A301-0ECBB1FC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308ED6-C57D-4643-9515-E833BEB5FE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7"/>
                <a:ext cx="11029615" cy="186671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Encode: text=</a:t>
                </a:r>
                <a:r>
                  <a:rPr lang="en-US" sz="2400" dirty="0">
                    <a:solidFill>
                      <a:srgbClr val="00B050"/>
                    </a:solidFill>
                  </a:rPr>
                  <a:t>“a fast runner need never be afraid of the dark”</a:t>
                </a:r>
              </a:p>
              <a:p>
                <a:r>
                  <a:rPr lang="en-US" sz="2400" dirty="0">
                    <a:solidFill>
                      <a:srgbClr val="7030A0"/>
                    </a:solidFill>
                  </a:rPr>
                  <a:t>|text|=46: Unicode: 46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16=736 bits</a:t>
                </a:r>
              </a:p>
              <a:p>
                <a:endParaRPr lang="en-US" sz="2400" dirty="0">
                  <a:solidFill>
                    <a:srgbClr val="00B050"/>
                  </a:solidFill>
                </a:endParaRPr>
              </a:p>
              <a:p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308ED6-C57D-4643-9515-E833BEB5FE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7"/>
                <a:ext cx="11029615" cy="1866718"/>
              </a:xfrm>
              <a:blipFill>
                <a:blip r:embed="rId4"/>
                <a:stretch>
                  <a:fillRect l="-552" t="-6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3FC92-BED6-4606-A718-0AC5D9DFF3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22/48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BDF241-5ED8-4FDE-88FB-84BFB7795D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7365"/>
          <a:stretch/>
        </p:blipFill>
        <p:spPr>
          <a:xfrm>
            <a:off x="1370447" y="3765782"/>
            <a:ext cx="10731721" cy="17224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2750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5D51-5854-405A-90D9-A6396581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90EC8C-01F9-4623-A539-9AEDF2CDA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26409"/>
          <a:stretch/>
        </p:blipFill>
        <p:spPr>
          <a:xfrm>
            <a:off x="191634" y="1971290"/>
            <a:ext cx="9043806" cy="47192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31ED7-57FB-4C96-8C4A-2A43F3C4D5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23/48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7996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5D51-5854-405A-90D9-A6396581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90EC8C-01F9-4623-A539-9AEDF2CDA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26409"/>
          <a:stretch/>
        </p:blipFill>
        <p:spPr>
          <a:xfrm>
            <a:off x="191634" y="2003096"/>
            <a:ext cx="9043806" cy="47192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31ED7-57FB-4C96-8C4A-2A43F3C4D5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24/48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EAFBE-3D58-46B9-B0BF-D9B15B382EA4}"/>
              </a:ext>
            </a:extLst>
          </p:cNvPr>
          <p:cNvSpPr txBox="1"/>
          <p:nvPr/>
        </p:nvSpPr>
        <p:spPr>
          <a:xfrm>
            <a:off x="1255222" y="228817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EBC50-15E5-40D8-A916-83A05100EFCE}"/>
              </a:ext>
            </a:extLst>
          </p:cNvPr>
          <p:cNvSpPr txBox="1"/>
          <p:nvPr/>
        </p:nvSpPr>
        <p:spPr>
          <a:xfrm>
            <a:off x="3086793" y="298089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012A3-762D-4C79-8D00-20B4BEFFA482}"/>
              </a:ext>
            </a:extLst>
          </p:cNvPr>
          <p:cNvSpPr txBox="1"/>
          <p:nvPr/>
        </p:nvSpPr>
        <p:spPr>
          <a:xfrm>
            <a:off x="559722" y="30418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950C6-F101-4B65-A126-248355BC4A8D}"/>
              </a:ext>
            </a:extLst>
          </p:cNvPr>
          <p:cNvSpPr txBox="1"/>
          <p:nvPr/>
        </p:nvSpPr>
        <p:spPr>
          <a:xfrm>
            <a:off x="887032" y="36900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EF9A1-A96D-47E9-BC1A-AF7FFC8C0A84}"/>
              </a:ext>
            </a:extLst>
          </p:cNvPr>
          <p:cNvSpPr txBox="1"/>
          <p:nvPr/>
        </p:nvSpPr>
        <p:spPr>
          <a:xfrm>
            <a:off x="2219378" y="370664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8F22BC-76AF-4049-B175-77B98442454E}"/>
              </a:ext>
            </a:extLst>
          </p:cNvPr>
          <p:cNvSpPr txBox="1"/>
          <p:nvPr/>
        </p:nvSpPr>
        <p:spPr>
          <a:xfrm>
            <a:off x="4943645" y="370664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6D1C5-4D3F-484F-ACDB-7604207327BB}"/>
              </a:ext>
            </a:extLst>
          </p:cNvPr>
          <p:cNvSpPr txBox="1"/>
          <p:nvPr/>
        </p:nvSpPr>
        <p:spPr>
          <a:xfrm>
            <a:off x="4189958" y="437101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DDFC2-B1EA-405B-9510-2AB16A554A79}"/>
              </a:ext>
            </a:extLst>
          </p:cNvPr>
          <p:cNvSpPr txBox="1"/>
          <p:nvPr/>
        </p:nvSpPr>
        <p:spPr>
          <a:xfrm>
            <a:off x="2540461" y="43627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4AA70-744D-41F6-AEEE-FCB0800C4C1A}"/>
              </a:ext>
            </a:extLst>
          </p:cNvPr>
          <p:cNvSpPr txBox="1"/>
          <p:nvPr/>
        </p:nvSpPr>
        <p:spPr>
          <a:xfrm>
            <a:off x="2882905" y="50304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702E3-F6C0-4965-932C-D47BB6B1AAB8}"/>
              </a:ext>
            </a:extLst>
          </p:cNvPr>
          <p:cNvSpPr txBox="1"/>
          <p:nvPr/>
        </p:nvSpPr>
        <p:spPr>
          <a:xfrm>
            <a:off x="6522257" y="434607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B20A7C-29D2-471D-ACD5-CB5F610B9DBB}"/>
              </a:ext>
            </a:extLst>
          </p:cNvPr>
          <p:cNvSpPr txBox="1"/>
          <p:nvPr/>
        </p:nvSpPr>
        <p:spPr>
          <a:xfrm>
            <a:off x="5743533" y="498330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CA6BB-2A81-4435-855A-3183DDA68A05}"/>
              </a:ext>
            </a:extLst>
          </p:cNvPr>
          <p:cNvSpPr txBox="1"/>
          <p:nvPr/>
        </p:nvSpPr>
        <p:spPr>
          <a:xfrm>
            <a:off x="5214850" y="567603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B42FEE-7E36-4232-9987-4DD5B0D38653}"/>
              </a:ext>
            </a:extLst>
          </p:cNvPr>
          <p:cNvSpPr txBox="1"/>
          <p:nvPr/>
        </p:nvSpPr>
        <p:spPr>
          <a:xfrm>
            <a:off x="6522257" y="567949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EDC0AA-09CF-49FF-AD42-FBDAF0FA6932}"/>
              </a:ext>
            </a:extLst>
          </p:cNvPr>
          <p:cNvSpPr txBox="1"/>
          <p:nvPr/>
        </p:nvSpPr>
        <p:spPr>
          <a:xfrm>
            <a:off x="7861417" y="50339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A5F2F8-986E-4785-9777-3F2CE7F545C1}"/>
              </a:ext>
            </a:extLst>
          </p:cNvPr>
          <p:cNvSpPr txBox="1"/>
          <p:nvPr/>
        </p:nvSpPr>
        <p:spPr>
          <a:xfrm>
            <a:off x="8163103" y="57340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777B81-F8EB-4D2E-B93B-C7F8F61193DA}"/>
              </a:ext>
            </a:extLst>
          </p:cNvPr>
          <p:cNvSpPr txBox="1"/>
          <p:nvPr/>
        </p:nvSpPr>
        <p:spPr>
          <a:xfrm>
            <a:off x="2888502" y="220280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7A269C-54FE-4982-B6F3-719BE0E7FCA8}"/>
              </a:ext>
            </a:extLst>
          </p:cNvPr>
          <p:cNvSpPr txBox="1"/>
          <p:nvPr/>
        </p:nvSpPr>
        <p:spPr>
          <a:xfrm>
            <a:off x="4768680" y="286473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DAB706-2B3D-4B74-AC61-82FD0392260C}"/>
              </a:ext>
            </a:extLst>
          </p:cNvPr>
          <p:cNvSpPr txBox="1"/>
          <p:nvPr/>
        </p:nvSpPr>
        <p:spPr>
          <a:xfrm>
            <a:off x="1078653" y="30418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EE904C-1B74-4953-A327-2294A97F0268}"/>
              </a:ext>
            </a:extLst>
          </p:cNvPr>
          <p:cNvSpPr txBox="1"/>
          <p:nvPr/>
        </p:nvSpPr>
        <p:spPr>
          <a:xfrm>
            <a:off x="1435614" y="367994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DB597E-1541-47F9-9AB5-AA5E41EFB30D}"/>
              </a:ext>
            </a:extLst>
          </p:cNvPr>
          <p:cNvSpPr txBox="1"/>
          <p:nvPr/>
        </p:nvSpPr>
        <p:spPr>
          <a:xfrm>
            <a:off x="2712846" y="368825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C01E5F-936A-42AE-97E6-0DAA293D9BFA}"/>
              </a:ext>
            </a:extLst>
          </p:cNvPr>
          <p:cNvSpPr txBox="1"/>
          <p:nvPr/>
        </p:nvSpPr>
        <p:spPr>
          <a:xfrm>
            <a:off x="3072652" y="437101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9CE0DA-89E5-4D79-BEAF-7580C1816D43}"/>
              </a:ext>
            </a:extLst>
          </p:cNvPr>
          <p:cNvSpPr txBox="1"/>
          <p:nvPr/>
        </p:nvSpPr>
        <p:spPr>
          <a:xfrm>
            <a:off x="3388479" y="50304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35A47D-9275-422D-B895-5D0DC4603CBD}"/>
              </a:ext>
            </a:extLst>
          </p:cNvPr>
          <p:cNvSpPr txBox="1"/>
          <p:nvPr/>
        </p:nvSpPr>
        <p:spPr>
          <a:xfrm>
            <a:off x="6435265" y="356238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BFB68F-C625-4685-9D86-F96AB0609586}"/>
              </a:ext>
            </a:extLst>
          </p:cNvPr>
          <p:cNvSpPr txBox="1"/>
          <p:nvPr/>
        </p:nvSpPr>
        <p:spPr>
          <a:xfrm>
            <a:off x="7676258" y="42468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23CC0-5A6D-46B8-9D63-22ED78A8936C}"/>
              </a:ext>
            </a:extLst>
          </p:cNvPr>
          <p:cNvSpPr txBox="1"/>
          <p:nvPr/>
        </p:nvSpPr>
        <p:spPr>
          <a:xfrm>
            <a:off x="8366991" y="504163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43A2E-6587-49EE-B4FD-161EEA1F83FE}"/>
              </a:ext>
            </a:extLst>
          </p:cNvPr>
          <p:cNvSpPr txBox="1"/>
          <p:nvPr/>
        </p:nvSpPr>
        <p:spPr>
          <a:xfrm>
            <a:off x="8729866" y="57340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2CCBA2-6691-43C8-A477-82FCB6404669}"/>
              </a:ext>
            </a:extLst>
          </p:cNvPr>
          <p:cNvSpPr txBox="1"/>
          <p:nvPr/>
        </p:nvSpPr>
        <p:spPr>
          <a:xfrm>
            <a:off x="7067435" y="567603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6AD069-D238-406D-8145-81AD173691EB}"/>
              </a:ext>
            </a:extLst>
          </p:cNvPr>
          <p:cNvSpPr txBox="1"/>
          <p:nvPr/>
        </p:nvSpPr>
        <p:spPr>
          <a:xfrm>
            <a:off x="5715644" y="57340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FD84A9-896E-4F8E-B1F6-E71E112F6F74}"/>
              </a:ext>
            </a:extLst>
          </p:cNvPr>
          <p:cNvSpPr txBox="1"/>
          <p:nvPr/>
        </p:nvSpPr>
        <p:spPr>
          <a:xfrm>
            <a:off x="6500789" y="497620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8411F2-5A6F-4BD7-884D-2EE7BE856E4F}"/>
              </a:ext>
            </a:extLst>
          </p:cNvPr>
          <p:cNvSpPr txBox="1"/>
          <p:nvPr/>
        </p:nvSpPr>
        <p:spPr>
          <a:xfrm>
            <a:off x="4739192" y="442418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515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5D51-5854-405A-90D9-A6396581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90EC8C-01F9-4623-A539-9AEDF2CDA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26409"/>
          <a:stretch/>
        </p:blipFill>
        <p:spPr>
          <a:xfrm>
            <a:off x="191634" y="1971290"/>
            <a:ext cx="9043806" cy="47192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31ED7-57FB-4C96-8C4A-2A43F3C4D5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25/48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57B08C-CE72-4DF5-A698-C19B0023E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2284"/>
              </p:ext>
            </p:extLst>
          </p:nvPr>
        </p:nvGraphicFramePr>
        <p:xfrm>
          <a:off x="9438995" y="1056426"/>
          <a:ext cx="1730817" cy="5686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563">
                  <a:extLst>
                    <a:ext uri="{9D8B030D-6E8A-4147-A177-3AD203B41FA5}">
                      <a16:colId xmlns:a16="http://schemas.microsoft.com/office/drawing/2014/main" val="3673367863"/>
                    </a:ext>
                  </a:extLst>
                </a:gridCol>
                <a:gridCol w="968254">
                  <a:extLst>
                    <a:ext uri="{9D8B030D-6E8A-4147-A177-3AD203B41FA5}">
                      <a16:colId xmlns:a16="http://schemas.microsoft.com/office/drawing/2014/main" val="2362422856"/>
                    </a:ext>
                  </a:extLst>
                </a:gridCol>
              </a:tblGrid>
              <a:tr h="322494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613042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60275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794318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313135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619287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76888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287790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087783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73564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840601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02171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11531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91066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80081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921833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073947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164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31EAFBE-3D58-46B9-B0BF-D9B15B382EA4}"/>
              </a:ext>
            </a:extLst>
          </p:cNvPr>
          <p:cNvSpPr txBox="1"/>
          <p:nvPr/>
        </p:nvSpPr>
        <p:spPr>
          <a:xfrm>
            <a:off x="1255222" y="22563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EBC50-15E5-40D8-A916-83A05100EFCE}"/>
              </a:ext>
            </a:extLst>
          </p:cNvPr>
          <p:cNvSpPr txBox="1"/>
          <p:nvPr/>
        </p:nvSpPr>
        <p:spPr>
          <a:xfrm>
            <a:off x="3086793" y="29490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012A3-762D-4C79-8D00-20B4BEFFA482}"/>
              </a:ext>
            </a:extLst>
          </p:cNvPr>
          <p:cNvSpPr txBox="1"/>
          <p:nvPr/>
        </p:nvSpPr>
        <p:spPr>
          <a:xfrm>
            <a:off x="559722" y="301005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950C6-F101-4B65-A126-248355BC4A8D}"/>
              </a:ext>
            </a:extLst>
          </p:cNvPr>
          <p:cNvSpPr txBox="1"/>
          <p:nvPr/>
        </p:nvSpPr>
        <p:spPr>
          <a:xfrm>
            <a:off x="887032" y="365821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EF9A1-A96D-47E9-BC1A-AF7FFC8C0A84}"/>
              </a:ext>
            </a:extLst>
          </p:cNvPr>
          <p:cNvSpPr txBox="1"/>
          <p:nvPr/>
        </p:nvSpPr>
        <p:spPr>
          <a:xfrm>
            <a:off x="2219378" y="36748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8F22BC-76AF-4049-B175-77B98442454E}"/>
              </a:ext>
            </a:extLst>
          </p:cNvPr>
          <p:cNvSpPr txBox="1"/>
          <p:nvPr/>
        </p:nvSpPr>
        <p:spPr>
          <a:xfrm>
            <a:off x="4943645" y="36748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6D1C5-4D3F-484F-ACDB-7604207327BB}"/>
              </a:ext>
            </a:extLst>
          </p:cNvPr>
          <p:cNvSpPr txBox="1"/>
          <p:nvPr/>
        </p:nvSpPr>
        <p:spPr>
          <a:xfrm>
            <a:off x="4189958" y="433920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DDFC2-B1EA-405B-9510-2AB16A554A79}"/>
              </a:ext>
            </a:extLst>
          </p:cNvPr>
          <p:cNvSpPr txBox="1"/>
          <p:nvPr/>
        </p:nvSpPr>
        <p:spPr>
          <a:xfrm>
            <a:off x="2540461" y="43308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4AA70-744D-41F6-AEEE-FCB0800C4C1A}"/>
              </a:ext>
            </a:extLst>
          </p:cNvPr>
          <p:cNvSpPr txBox="1"/>
          <p:nvPr/>
        </p:nvSpPr>
        <p:spPr>
          <a:xfrm>
            <a:off x="2882905" y="49986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702E3-F6C0-4965-932C-D47BB6B1AAB8}"/>
              </a:ext>
            </a:extLst>
          </p:cNvPr>
          <p:cNvSpPr txBox="1"/>
          <p:nvPr/>
        </p:nvSpPr>
        <p:spPr>
          <a:xfrm>
            <a:off x="6522257" y="431427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B20A7C-29D2-471D-ACD5-CB5F610B9DBB}"/>
              </a:ext>
            </a:extLst>
          </p:cNvPr>
          <p:cNvSpPr txBox="1"/>
          <p:nvPr/>
        </p:nvSpPr>
        <p:spPr>
          <a:xfrm>
            <a:off x="5743533" y="49515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CA6BB-2A81-4435-855A-3183DDA68A05}"/>
              </a:ext>
            </a:extLst>
          </p:cNvPr>
          <p:cNvSpPr txBox="1"/>
          <p:nvPr/>
        </p:nvSpPr>
        <p:spPr>
          <a:xfrm>
            <a:off x="5214850" y="56442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B42FEE-7E36-4232-9987-4DD5B0D38653}"/>
              </a:ext>
            </a:extLst>
          </p:cNvPr>
          <p:cNvSpPr txBox="1"/>
          <p:nvPr/>
        </p:nvSpPr>
        <p:spPr>
          <a:xfrm>
            <a:off x="6522257" y="564768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EDC0AA-09CF-49FF-AD42-FBDAF0FA6932}"/>
              </a:ext>
            </a:extLst>
          </p:cNvPr>
          <p:cNvSpPr txBox="1"/>
          <p:nvPr/>
        </p:nvSpPr>
        <p:spPr>
          <a:xfrm>
            <a:off x="7861417" y="50021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A5F2F8-986E-4785-9777-3F2CE7F545C1}"/>
              </a:ext>
            </a:extLst>
          </p:cNvPr>
          <p:cNvSpPr txBox="1"/>
          <p:nvPr/>
        </p:nvSpPr>
        <p:spPr>
          <a:xfrm>
            <a:off x="8163103" y="570226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777B81-F8EB-4D2E-B93B-C7F8F61193DA}"/>
              </a:ext>
            </a:extLst>
          </p:cNvPr>
          <p:cNvSpPr txBox="1"/>
          <p:nvPr/>
        </p:nvSpPr>
        <p:spPr>
          <a:xfrm>
            <a:off x="2888502" y="21709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7A269C-54FE-4982-B6F3-719BE0E7FCA8}"/>
              </a:ext>
            </a:extLst>
          </p:cNvPr>
          <p:cNvSpPr txBox="1"/>
          <p:nvPr/>
        </p:nvSpPr>
        <p:spPr>
          <a:xfrm>
            <a:off x="4768680" y="28329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DAB706-2B3D-4B74-AC61-82FD0392260C}"/>
              </a:ext>
            </a:extLst>
          </p:cNvPr>
          <p:cNvSpPr txBox="1"/>
          <p:nvPr/>
        </p:nvSpPr>
        <p:spPr>
          <a:xfrm>
            <a:off x="1078653" y="301005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EE904C-1B74-4953-A327-2294A97F0268}"/>
              </a:ext>
            </a:extLst>
          </p:cNvPr>
          <p:cNvSpPr txBox="1"/>
          <p:nvPr/>
        </p:nvSpPr>
        <p:spPr>
          <a:xfrm>
            <a:off x="1435614" y="364813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DB597E-1541-47F9-9AB5-AA5E41EFB30D}"/>
              </a:ext>
            </a:extLst>
          </p:cNvPr>
          <p:cNvSpPr txBox="1"/>
          <p:nvPr/>
        </p:nvSpPr>
        <p:spPr>
          <a:xfrm>
            <a:off x="2712846" y="36564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C01E5F-936A-42AE-97E6-0DAA293D9BFA}"/>
              </a:ext>
            </a:extLst>
          </p:cNvPr>
          <p:cNvSpPr txBox="1"/>
          <p:nvPr/>
        </p:nvSpPr>
        <p:spPr>
          <a:xfrm>
            <a:off x="3072652" y="433920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9CE0DA-89E5-4D79-BEAF-7580C1816D43}"/>
              </a:ext>
            </a:extLst>
          </p:cNvPr>
          <p:cNvSpPr txBox="1"/>
          <p:nvPr/>
        </p:nvSpPr>
        <p:spPr>
          <a:xfrm>
            <a:off x="3388479" y="49986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35A47D-9275-422D-B895-5D0DC4603CBD}"/>
              </a:ext>
            </a:extLst>
          </p:cNvPr>
          <p:cNvSpPr txBox="1"/>
          <p:nvPr/>
        </p:nvSpPr>
        <p:spPr>
          <a:xfrm>
            <a:off x="6435265" y="353058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BFB68F-C625-4685-9D86-F96AB0609586}"/>
              </a:ext>
            </a:extLst>
          </p:cNvPr>
          <p:cNvSpPr txBox="1"/>
          <p:nvPr/>
        </p:nvSpPr>
        <p:spPr>
          <a:xfrm>
            <a:off x="7676258" y="42149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23CC0-5A6D-46B8-9D63-22ED78A8936C}"/>
              </a:ext>
            </a:extLst>
          </p:cNvPr>
          <p:cNvSpPr txBox="1"/>
          <p:nvPr/>
        </p:nvSpPr>
        <p:spPr>
          <a:xfrm>
            <a:off x="8366991" y="500983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43A2E-6587-49EE-B4FD-161EEA1F83FE}"/>
              </a:ext>
            </a:extLst>
          </p:cNvPr>
          <p:cNvSpPr txBox="1"/>
          <p:nvPr/>
        </p:nvSpPr>
        <p:spPr>
          <a:xfrm>
            <a:off x="8729866" y="570226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2CCBA2-6691-43C8-A477-82FCB6404669}"/>
              </a:ext>
            </a:extLst>
          </p:cNvPr>
          <p:cNvSpPr txBox="1"/>
          <p:nvPr/>
        </p:nvSpPr>
        <p:spPr>
          <a:xfrm>
            <a:off x="7067435" y="56442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6AD069-D238-406D-8145-81AD173691EB}"/>
              </a:ext>
            </a:extLst>
          </p:cNvPr>
          <p:cNvSpPr txBox="1"/>
          <p:nvPr/>
        </p:nvSpPr>
        <p:spPr>
          <a:xfrm>
            <a:off x="5715644" y="570226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FD84A9-896E-4F8E-B1F6-E71E112F6F74}"/>
              </a:ext>
            </a:extLst>
          </p:cNvPr>
          <p:cNvSpPr txBox="1"/>
          <p:nvPr/>
        </p:nvSpPr>
        <p:spPr>
          <a:xfrm>
            <a:off x="6500789" y="49444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8411F2-5A6F-4BD7-884D-2EE7BE856E4F}"/>
              </a:ext>
            </a:extLst>
          </p:cNvPr>
          <p:cNvSpPr txBox="1"/>
          <p:nvPr/>
        </p:nvSpPr>
        <p:spPr>
          <a:xfrm>
            <a:off x="4739192" y="439238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590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2C04-6AA7-4364-A301-0ECBB1FC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8ED6-C57D-4643-9515-E833BEB5F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67" y="1895167"/>
            <a:ext cx="10972800" cy="4625609"/>
          </a:xfrm>
        </p:spPr>
        <p:txBody>
          <a:bodyPr/>
          <a:lstStyle/>
          <a:p>
            <a:pPr marL="118872" indent="0">
              <a:buNone/>
            </a:pPr>
            <a:r>
              <a:rPr lang="en-US" sz="2400" dirty="0"/>
              <a:t>t=</a:t>
            </a:r>
            <a:r>
              <a:rPr lang="en-US" sz="2400" dirty="0">
                <a:solidFill>
                  <a:srgbClr val="00B050"/>
                </a:solidFill>
              </a:rPr>
              <a:t>“a fast runner need never be afraid of the dark”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pPr marL="118872" indent="0">
              <a:buNone/>
            </a:pPr>
            <a:r>
              <a:rPr lang="en-US" dirty="0">
                <a:solidFill>
                  <a:srgbClr val="7030A0"/>
                </a:solidFill>
              </a:rPr>
              <a:t>e=</a:t>
            </a:r>
            <a:r>
              <a:rPr lang="en-US" dirty="0">
                <a:solidFill>
                  <a:srgbClr val="FF0000"/>
                </a:solidFill>
              </a:rPr>
              <a:t>010</a:t>
            </a:r>
            <a:r>
              <a:rPr lang="en-US" dirty="0"/>
              <a:t>00</a:t>
            </a:r>
            <a:r>
              <a:rPr lang="en-US" dirty="0">
                <a:solidFill>
                  <a:srgbClr val="FF0000"/>
                </a:solidFill>
              </a:rPr>
              <a:t>1100</a:t>
            </a:r>
            <a:r>
              <a:rPr lang="en-US" dirty="0"/>
              <a:t>010</a:t>
            </a:r>
            <a:r>
              <a:rPr lang="en-US" dirty="0">
                <a:solidFill>
                  <a:srgbClr val="FF0000"/>
                </a:solidFill>
              </a:rPr>
              <a:t>111011</a:t>
            </a:r>
            <a:r>
              <a:rPr lang="en-US" dirty="0"/>
              <a:t>11110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011</a:t>
            </a:r>
            <a:r>
              <a:rPr lang="en-US" dirty="0">
                <a:solidFill>
                  <a:srgbClr val="FF0000"/>
                </a:solidFill>
              </a:rPr>
              <a:t>111110</a:t>
            </a:r>
            <a:r>
              <a:rPr lang="en-US" dirty="0"/>
              <a:t>1101</a:t>
            </a:r>
            <a:r>
              <a:rPr lang="en-US" dirty="0">
                <a:solidFill>
                  <a:srgbClr val="FF0000"/>
                </a:solidFill>
              </a:rPr>
              <a:t>1101</a:t>
            </a:r>
            <a:r>
              <a:rPr lang="en-US" dirty="0"/>
              <a:t>100</a:t>
            </a:r>
          </a:p>
          <a:p>
            <a:pPr marL="118872" indent="0">
              <a:buNone/>
            </a:pPr>
            <a:r>
              <a:rPr lang="en-US" dirty="0">
                <a:solidFill>
                  <a:srgbClr val="FF0000"/>
                </a:solidFill>
              </a:rPr>
              <a:t>011</a:t>
            </a:r>
            <a:r>
              <a:rPr lang="en-US" dirty="0"/>
              <a:t>00</a:t>
            </a:r>
            <a:r>
              <a:rPr lang="en-US" dirty="0">
                <a:solidFill>
                  <a:srgbClr val="FF0000"/>
                </a:solidFill>
              </a:rPr>
              <a:t>1101</a:t>
            </a:r>
            <a:r>
              <a:rPr lang="en-US" dirty="0"/>
              <a:t>100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1010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1101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111111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011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10110</a:t>
            </a:r>
          </a:p>
          <a:p>
            <a:pPr marL="118872" indent="0">
              <a:buNone/>
            </a:pP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00</a:t>
            </a:r>
            <a:r>
              <a:rPr lang="en-US" dirty="0">
                <a:solidFill>
                  <a:srgbClr val="FF0000"/>
                </a:solidFill>
              </a:rPr>
              <a:t>010</a:t>
            </a:r>
            <a:r>
              <a:rPr lang="en-US" dirty="0"/>
              <a:t>1100</a:t>
            </a:r>
            <a:r>
              <a:rPr lang="en-US" dirty="0">
                <a:solidFill>
                  <a:srgbClr val="FF0000"/>
                </a:solidFill>
              </a:rPr>
              <a:t>011</a:t>
            </a:r>
            <a:r>
              <a:rPr lang="en-US" dirty="0"/>
              <a:t>010</a:t>
            </a:r>
            <a:r>
              <a:rPr lang="en-US" dirty="0">
                <a:solidFill>
                  <a:srgbClr val="FF0000"/>
                </a:solidFill>
              </a:rPr>
              <a:t>111000</a:t>
            </a:r>
            <a:r>
              <a:rPr lang="en-US" dirty="0"/>
              <a:t>1010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111010</a:t>
            </a:r>
            <a:r>
              <a:rPr lang="en-US" dirty="0">
                <a:solidFill>
                  <a:srgbClr val="FF0000"/>
                </a:solidFill>
              </a:rPr>
              <a:t>1100</a:t>
            </a:r>
            <a:r>
              <a:rPr lang="en-US" dirty="0"/>
              <a:t>00</a:t>
            </a:r>
            <a:r>
              <a:rPr lang="en-US" dirty="0">
                <a:solidFill>
                  <a:srgbClr val="FF0000"/>
                </a:solidFill>
              </a:rPr>
              <a:t>11110</a:t>
            </a:r>
          </a:p>
          <a:p>
            <a:pPr marL="118872" indent="0">
              <a:buNone/>
            </a:pPr>
            <a:r>
              <a:rPr lang="en-US" dirty="0"/>
              <a:t>10111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00</a:t>
            </a:r>
            <a:r>
              <a:rPr lang="en-US" dirty="0">
                <a:solidFill>
                  <a:srgbClr val="FF0000"/>
                </a:solidFill>
              </a:rPr>
              <a:t>1010</a:t>
            </a:r>
            <a:r>
              <a:rPr lang="en-US" dirty="0"/>
              <a:t>010</a:t>
            </a:r>
            <a:r>
              <a:rPr lang="en-US" dirty="0">
                <a:solidFill>
                  <a:srgbClr val="FF0000"/>
                </a:solidFill>
              </a:rPr>
              <a:t>011</a:t>
            </a:r>
            <a:r>
              <a:rPr lang="en-US" dirty="0"/>
              <a:t>111001</a:t>
            </a:r>
          </a:p>
          <a:p>
            <a:pPr marL="118872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118872" indent="0">
              <a:buNone/>
            </a:pPr>
            <a:r>
              <a:rPr lang="en-US" dirty="0">
                <a:solidFill>
                  <a:srgbClr val="7030A0"/>
                </a:solidFill>
              </a:rPr>
              <a:t>|t|=736 bits</a:t>
            </a:r>
          </a:p>
          <a:p>
            <a:pPr marL="118872" indent="0">
              <a:buNone/>
            </a:pPr>
            <a:r>
              <a:rPr lang="en-US" dirty="0">
                <a:solidFill>
                  <a:srgbClr val="7030A0"/>
                </a:solidFill>
              </a:rPr>
              <a:t>|e|=174 bits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3FC92-BED6-4606-A718-0AC5D9DFF3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26/48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BAAF73-2726-47C8-8763-99C083106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837653"/>
              </p:ext>
            </p:extLst>
          </p:nvPr>
        </p:nvGraphicFramePr>
        <p:xfrm>
          <a:off x="9438995" y="1056426"/>
          <a:ext cx="1730817" cy="5686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563">
                  <a:extLst>
                    <a:ext uri="{9D8B030D-6E8A-4147-A177-3AD203B41FA5}">
                      <a16:colId xmlns:a16="http://schemas.microsoft.com/office/drawing/2014/main" val="3673367863"/>
                    </a:ext>
                  </a:extLst>
                </a:gridCol>
                <a:gridCol w="968254">
                  <a:extLst>
                    <a:ext uri="{9D8B030D-6E8A-4147-A177-3AD203B41FA5}">
                      <a16:colId xmlns:a16="http://schemas.microsoft.com/office/drawing/2014/main" val="2362422856"/>
                    </a:ext>
                  </a:extLst>
                </a:gridCol>
              </a:tblGrid>
              <a:tr h="322494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613042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60275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794318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313135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619287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76888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287790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087783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73564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840601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021714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11531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91066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80081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921833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073947"/>
                  </a:ext>
                </a:extLst>
              </a:tr>
              <a:tr h="3224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164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29211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27/48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64E316-6965-49AD-A847-DFD4E8DE4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/>
          <a:p>
            <a:r>
              <a:rPr lang="en-US" sz="2400" dirty="0"/>
              <a:t>How to decode?</a:t>
            </a:r>
          </a:p>
          <a:p>
            <a:r>
              <a:rPr lang="en-US" sz="2400" dirty="0"/>
              <a:t>Why Huffman coding is a prefix code?</a:t>
            </a:r>
          </a:p>
          <a:p>
            <a:r>
              <a:rPr lang="en-US" sz="2400" dirty="0"/>
              <a:t>Why Huffman coding is a variable-length?</a:t>
            </a:r>
          </a:p>
          <a:p>
            <a:r>
              <a:rPr lang="en-US" sz="2400" dirty="0"/>
              <a:t>How to make the tree from table of codewords?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5968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28/48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037846-FD53-48A2-B91B-2ECA07BC5BC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690007" y="1952558"/>
          <a:ext cx="361678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707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399399">
                  <a:extLst>
                    <a:ext uri="{9D8B030D-6E8A-4147-A177-3AD203B41FA5}">
                      <a16:colId xmlns:a16="http://schemas.microsoft.com/office/drawing/2014/main" val="4111795231"/>
                    </a:ext>
                  </a:extLst>
                </a:gridCol>
                <a:gridCol w="465965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362418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332833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340229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340229">
                  <a:extLst>
                    <a:ext uri="{9D8B030D-6E8A-4147-A177-3AD203B41FA5}">
                      <a16:colId xmlns:a16="http://schemas.microsoft.com/office/drawing/2014/main" val="2006211796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frequencies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4EC49FA2-C37B-4C1A-9B11-541F50A762F3}"/>
              </a:ext>
            </a:extLst>
          </p:cNvPr>
          <p:cNvSpPr/>
          <p:nvPr/>
        </p:nvSpPr>
        <p:spPr>
          <a:xfrm>
            <a:off x="5510893" y="2261507"/>
            <a:ext cx="285750" cy="97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20A6D40-3216-4789-BD19-CE4B0BD9A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50529"/>
              </p:ext>
            </p:extLst>
          </p:nvPr>
        </p:nvGraphicFramePr>
        <p:xfrm>
          <a:off x="6095999" y="1959775"/>
          <a:ext cx="3739763" cy="778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695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399106">
                  <a:extLst>
                    <a:ext uri="{9D8B030D-6E8A-4147-A177-3AD203B41FA5}">
                      <a16:colId xmlns:a16="http://schemas.microsoft.com/office/drawing/2014/main" val="4111795231"/>
                    </a:ext>
                  </a:extLst>
                </a:gridCol>
                <a:gridCol w="391605">
                  <a:extLst>
                    <a:ext uri="{9D8B030D-6E8A-4147-A177-3AD203B41FA5}">
                      <a16:colId xmlns:a16="http://schemas.microsoft.com/office/drawing/2014/main" val="2231571033"/>
                    </a:ext>
                  </a:extLst>
                </a:gridCol>
                <a:gridCol w="445273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373712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341906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413466">
                  <a:extLst>
                    <a:ext uri="{9D8B030D-6E8A-4147-A177-3AD203B41FA5}">
                      <a16:colId xmlns:a16="http://schemas.microsoft.com/office/drawing/2014/main" val="2006211796"/>
                    </a:ext>
                  </a:extLst>
                </a:gridCol>
              </a:tblGrid>
              <a:tr h="2357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41252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frequencies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9103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29/48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037846-FD53-48A2-B91B-2ECA07BC5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969405"/>
              </p:ext>
            </p:extLst>
          </p:nvPr>
        </p:nvGraphicFramePr>
        <p:xfrm>
          <a:off x="1690007" y="1952558"/>
          <a:ext cx="361678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5707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399399">
                  <a:extLst>
                    <a:ext uri="{9D8B030D-6E8A-4147-A177-3AD203B41FA5}">
                      <a16:colId xmlns:a16="http://schemas.microsoft.com/office/drawing/2014/main" val="4111795231"/>
                    </a:ext>
                  </a:extLst>
                </a:gridCol>
                <a:gridCol w="465965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362418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332833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340229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340229">
                  <a:extLst>
                    <a:ext uri="{9D8B030D-6E8A-4147-A177-3AD203B41FA5}">
                      <a16:colId xmlns:a16="http://schemas.microsoft.com/office/drawing/2014/main" val="2006211796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frequencies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B55C5AE-1936-4521-8599-0F1D537EB466}"/>
              </a:ext>
            </a:extLst>
          </p:cNvPr>
          <p:cNvSpPr/>
          <p:nvPr/>
        </p:nvSpPr>
        <p:spPr>
          <a:xfrm>
            <a:off x="9691007" y="515982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AAF0F-95D5-4077-A2A2-DF31A56F2187}"/>
              </a:ext>
            </a:extLst>
          </p:cNvPr>
          <p:cNvSpPr/>
          <p:nvPr/>
        </p:nvSpPr>
        <p:spPr>
          <a:xfrm>
            <a:off x="8733065" y="515982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3969A9-2A10-45CD-95CF-A02E9AAEB4A3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429750" y="4694464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6BC95-6DDE-456B-876C-ACD32BA7BE7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924926" y="4694464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/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4EC49FA2-C37B-4C1A-9B11-541F50A762F3}"/>
              </a:ext>
            </a:extLst>
          </p:cNvPr>
          <p:cNvSpPr/>
          <p:nvPr/>
        </p:nvSpPr>
        <p:spPr>
          <a:xfrm>
            <a:off x="5510893" y="2261507"/>
            <a:ext cx="285750" cy="97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998510"/>
                  </p:ext>
                </p:extLst>
              </p:nvPr>
            </p:nvGraphicFramePr>
            <p:xfrm>
              <a:off x="6096000" y="1959775"/>
              <a:ext cx="3276551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340229">
                      <a:extLst>
                        <a:ext uri="{9D8B030D-6E8A-4147-A177-3AD203B41FA5}">
                          <a16:colId xmlns:a16="http://schemas.microsoft.com/office/drawing/2014/main" val="2006211796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998510"/>
                  </p:ext>
                </p:extLst>
              </p:nvPr>
            </p:nvGraphicFramePr>
            <p:xfrm>
              <a:off x="6096000" y="1959775"/>
              <a:ext cx="3276551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340229">
                      <a:extLst>
                        <a:ext uri="{9D8B030D-6E8A-4147-A177-3AD203B41FA5}">
                          <a16:colId xmlns:a16="http://schemas.microsoft.com/office/drawing/2014/main" val="20062117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27119" t="-8197" r="-19152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255D58-8407-44C5-829E-09C365C3FCAD}"/>
              </a:ext>
            </a:extLst>
          </p:cNvPr>
          <p:cNvSpPr/>
          <p:nvPr/>
        </p:nvSpPr>
        <p:spPr>
          <a:xfrm>
            <a:off x="8774082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F6A69-98C4-411D-8D8D-87EBE28010F7}"/>
              </a:ext>
            </a:extLst>
          </p:cNvPr>
          <p:cNvSpPr/>
          <p:nvPr/>
        </p:nvSpPr>
        <p:spPr>
          <a:xfrm>
            <a:off x="9740669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80777-0D3F-4E84-984B-C9066681B4A1}"/>
              </a:ext>
            </a:extLst>
          </p:cNvPr>
          <p:cNvSpPr/>
          <p:nvPr/>
        </p:nvSpPr>
        <p:spPr>
          <a:xfrm>
            <a:off x="9642020" y="4406776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08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3" grpId="0" animBg="1"/>
      <p:bldP spid="4" grpId="0"/>
      <p:bldP spid="1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5C5AE-1936-4521-8599-0F1D537EB466}"/>
              </a:ext>
            </a:extLst>
          </p:cNvPr>
          <p:cNvSpPr/>
          <p:nvPr/>
        </p:nvSpPr>
        <p:spPr>
          <a:xfrm>
            <a:off x="9691007" y="515982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AAF0F-95D5-4077-A2A2-DF31A56F2187}"/>
              </a:ext>
            </a:extLst>
          </p:cNvPr>
          <p:cNvSpPr/>
          <p:nvPr/>
        </p:nvSpPr>
        <p:spPr>
          <a:xfrm>
            <a:off x="8733065" y="515982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3969A9-2A10-45CD-95CF-A02E9AAEB4A3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429750" y="4694464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6BC95-6DDE-456B-876C-ACD32BA7BE7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924926" y="4694464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/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4917154"/>
                  </p:ext>
                </p:extLst>
              </p:nvPr>
            </p:nvGraphicFramePr>
            <p:xfrm>
              <a:off x="609600" y="2044875"/>
              <a:ext cx="3276551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340229">
                      <a:extLst>
                        <a:ext uri="{9D8B030D-6E8A-4147-A177-3AD203B41FA5}">
                          <a16:colId xmlns:a16="http://schemas.microsoft.com/office/drawing/2014/main" val="2006211796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4917154"/>
                  </p:ext>
                </p:extLst>
              </p:nvPr>
            </p:nvGraphicFramePr>
            <p:xfrm>
              <a:off x="609600" y="2044875"/>
              <a:ext cx="3276551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340229">
                      <a:extLst>
                        <a:ext uri="{9D8B030D-6E8A-4147-A177-3AD203B41FA5}">
                          <a16:colId xmlns:a16="http://schemas.microsoft.com/office/drawing/2014/main" val="20062117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27119" t="-8197" r="-19152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255D58-8407-44C5-829E-09C365C3FCAD}"/>
              </a:ext>
            </a:extLst>
          </p:cNvPr>
          <p:cNvSpPr/>
          <p:nvPr/>
        </p:nvSpPr>
        <p:spPr>
          <a:xfrm>
            <a:off x="8774082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F6A69-98C4-411D-8D8D-87EBE28010F7}"/>
              </a:ext>
            </a:extLst>
          </p:cNvPr>
          <p:cNvSpPr/>
          <p:nvPr/>
        </p:nvSpPr>
        <p:spPr>
          <a:xfrm>
            <a:off x="9740669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80777-0D3F-4E84-984B-C9066681B4A1}"/>
              </a:ext>
            </a:extLst>
          </p:cNvPr>
          <p:cNvSpPr/>
          <p:nvPr/>
        </p:nvSpPr>
        <p:spPr>
          <a:xfrm>
            <a:off x="9642020" y="4406776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5B6B01-2035-440C-9185-D9375F1A7D9B}"/>
              </a:ext>
            </a:extLst>
          </p:cNvPr>
          <p:cNvSpPr/>
          <p:nvPr/>
        </p:nvSpPr>
        <p:spPr>
          <a:xfrm>
            <a:off x="7458795" y="5186725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58C42E-DC89-4541-AC34-16B2142E86C0}"/>
              </a:ext>
            </a:extLst>
          </p:cNvPr>
          <p:cNvSpPr/>
          <p:nvPr/>
        </p:nvSpPr>
        <p:spPr>
          <a:xfrm>
            <a:off x="6500853" y="518672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1DD7BE-A160-4338-8BFB-ADAB91BCEB62}"/>
              </a:ext>
            </a:extLst>
          </p:cNvPr>
          <p:cNvCxnSpPr>
            <a:stCxn id="27" idx="0"/>
          </p:cNvCxnSpPr>
          <p:nvPr/>
        </p:nvCxnSpPr>
        <p:spPr>
          <a:xfrm flipH="1" flipV="1">
            <a:off x="7197538" y="4721360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3570F6-31C4-4A73-B7B6-018B1772118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692714" y="4721360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/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blipFill>
                <a:blip r:embed="rId6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327DE297-B946-4251-A6C4-A89932313A58}"/>
              </a:ext>
            </a:extLst>
          </p:cNvPr>
          <p:cNvSpPr/>
          <p:nvPr/>
        </p:nvSpPr>
        <p:spPr>
          <a:xfrm>
            <a:off x="4211013" y="2387016"/>
            <a:ext cx="285750" cy="97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3373482"/>
                  </p:ext>
                </p:extLst>
              </p:nvPr>
            </p:nvGraphicFramePr>
            <p:xfrm>
              <a:off x="4796120" y="2089702"/>
              <a:ext cx="29363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3373482"/>
                  </p:ext>
                </p:extLst>
              </p:nvPr>
            </p:nvGraphicFramePr>
            <p:xfrm>
              <a:off x="4796120" y="2089702"/>
              <a:ext cx="29363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43939" t="-8197" r="-29242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780000" t="-8197" r="-3636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592E7E9-F416-4515-892C-576A28BD21C5}"/>
              </a:ext>
            </a:extLst>
          </p:cNvPr>
          <p:cNvSpPr/>
          <p:nvPr/>
        </p:nvSpPr>
        <p:spPr>
          <a:xfrm>
            <a:off x="6541870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E55D5-236A-43EA-A17C-BA69E44AE698}"/>
              </a:ext>
            </a:extLst>
          </p:cNvPr>
          <p:cNvSpPr/>
          <p:nvPr/>
        </p:nvSpPr>
        <p:spPr>
          <a:xfrm>
            <a:off x="7508457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3B7F1-BA6A-4064-BE65-9E294C5104C5}"/>
              </a:ext>
            </a:extLst>
          </p:cNvPr>
          <p:cNvSpPr/>
          <p:nvPr/>
        </p:nvSpPr>
        <p:spPr>
          <a:xfrm>
            <a:off x="7409808" y="4433672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849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1" grpId="0" animBg="1"/>
      <p:bldP spid="32" grpId="0" animBg="1"/>
      <p:bldP spid="34" grpId="0"/>
      <p:bldP spid="35" grpId="0"/>
      <p:bldP spid="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31/48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5C5AE-1936-4521-8599-0F1D537EB466}"/>
              </a:ext>
            </a:extLst>
          </p:cNvPr>
          <p:cNvSpPr/>
          <p:nvPr/>
        </p:nvSpPr>
        <p:spPr>
          <a:xfrm>
            <a:off x="9691007" y="515982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AAF0F-95D5-4077-A2A2-DF31A56F2187}"/>
              </a:ext>
            </a:extLst>
          </p:cNvPr>
          <p:cNvSpPr/>
          <p:nvPr/>
        </p:nvSpPr>
        <p:spPr>
          <a:xfrm>
            <a:off x="8733065" y="515982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3969A9-2A10-45CD-95CF-A02E9AAEB4A3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429750" y="4694464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6BC95-6DDE-456B-876C-ACD32BA7BE7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924926" y="4694464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/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6509317"/>
                  </p:ext>
                </p:extLst>
              </p:nvPr>
            </p:nvGraphicFramePr>
            <p:xfrm>
              <a:off x="609600" y="2044875"/>
              <a:ext cx="29363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6509317"/>
                  </p:ext>
                </p:extLst>
              </p:nvPr>
            </p:nvGraphicFramePr>
            <p:xfrm>
              <a:off x="609600" y="2044875"/>
              <a:ext cx="29363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50769" t="-8197" r="-29692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80000" t="-8197" r="-363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255D58-8407-44C5-829E-09C365C3FCAD}"/>
              </a:ext>
            </a:extLst>
          </p:cNvPr>
          <p:cNvSpPr/>
          <p:nvPr/>
        </p:nvSpPr>
        <p:spPr>
          <a:xfrm>
            <a:off x="8774082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F6A69-98C4-411D-8D8D-87EBE28010F7}"/>
              </a:ext>
            </a:extLst>
          </p:cNvPr>
          <p:cNvSpPr/>
          <p:nvPr/>
        </p:nvSpPr>
        <p:spPr>
          <a:xfrm>
            <a:off x="9740669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80777-0D3F-4E84-984B-C9066681B4A1}"/>
              </a:ext>
            </a:extLst>
          </p:cNvPr>
          <p:cNvSpPr/>
          <p:nvPr/>
        </p:nvSpPr>
        <p:spPr>
          <a:xfrm>
            <a:off x="9642020" y="4406776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5B6B01-2035-440C-9185-D9375F1A7D9B}"/>
              </a:ext>
            </a:extLst>
          </p:cNvPr>
          <p:cNvSpPr/>
          <p:nvPr/>
        </p:nvSpPr>
        <p:spPr>
          <a:xfrm>
            <a:off x="7458795" y="5186725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58C42E-DC89-4541-AC34-16B2142E86C0}"/>
              </a:ext>
            </a:extLst>
          </p:cNvPr>
          <p:cNvSpPr/>
          <p:nvPr/>
        </p:nvSpPr>
        <p:spPr>
          <a:xfrm>
            <a:off x="6500853" y="518672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1DD7BE-A160-4338-8BFB-ADAB91BCEB62}"/>
              </a:ext>
            </a:extLst>
          </p:cNvPr>
          <p:cNvCxnSpPr>
            <a:stCxn id="27" idx="0"/>
          </p:cNvCxnSpPr>
          <p:nvPr/>
        </p:nvCxnSpPr>
        <p:spPr>
          <a:xfrm flipH="1" flipV="1">
            <a:off x="7197538" y="4721360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3570F6-31C4-4A73-B7B6-018B1772118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692714" y="4721360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/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blipFill>
                <a:blip r:embed="rId6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592E7E9-F416-4515-892C-576A28BD21C5}"/>
              </a:ext>
            </a:extLst>
          </p:cNvPr>
          <p:cNvSpPr/>
          <p:nvPr/>
        </p:nvSpPr>
        <p:spPr>
          <a:xfrm>
            <a:off x="6541870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E55D5-236A-43EA-A17C-BA69E44AE698}"/>
              </a:ext>
            </a:extLst>
          </p:cNvPr>
          <p:cNvSpPr/>
          <p:nvPr/>
        </p:nvSpPr>
        <p:spPr>
          <a:xfrm>
            <a:off x="7508457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3B7F1-BA6A-4064-BE65-9E294C5104C5}"/>
              </a:ext>
            </a:extLst>
          </p:cNvPr>
          <p:cNvSpPr/>
          <p:nvPr/>
        </p:nvSpPr>
        <p:spPr>
          <a:xfrm>
            <a:off x="7409808" y="4433672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097ED-0C86-4AE6-9D26-768F1F9573A1}"/>
              </a:ext>
            </a:extLst>
          </p:cNvPr>
          <p:cNvSpPr/>
          <p:nvPr/>
        </p:nvSpPr>
        <p:spPr>
          <a:xfrm>
            <a:off x="10261667" y="446686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2476DB-48FD-4369-AE05-1F810CCBDD93}"/>
              </a:ext>
            </a:extLst>
          </p:cNvPr>
          <p:cNvSpPr/>
          <p:nvPr/>
        </p:nvSpPr>
        <p:spPr>
          <a:xfrm>
            <a:off x="10311328" y="48532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477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32/48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5C5AE-1936-4521-8599-0F1D537EB466}"/>
              </a:ext>
            </a:extLst>
          </p:cNvPr>
          <p:cNvSpPr/>
          <p:nvPr/>
        </p:nvSpPr>
        <p:spPr>
          <a:xfrm>
            <a:off x="9691007" y="515982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AAF0F-95D5-4077-A2A2-DF31A56F2187}"/>
              </a:ext>
            </a:extLst>
          </p:cNvPr>
          <p:cNvSpPr/>
          <p:nvPr/>
        </p:nvSpPr>
        <p:spPr>
          <a:xfrm>
            <a:off x="8733065" y="515982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3969A9-2A10-45CD-95CF-A02E9AAEB4A3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429750" y="4694464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6BC95-6DDE-456B-876C-ACD32BA7BE7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924926" y="4694464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/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649281"/>
                  </p:ext>
                </p:extLst>
              </p:nvPr>
            </p:nvGraphicFramePr>
            <p:xfrm>
              <a:off x="609600" y="2044875"/>
              <a:ext cx="29363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649281"/>
                  </p:ext>
                </p:extLst>
              </p:nvPr>
            </p:nvGraphicFramePr>
            <p:xfrm>
              <a:off x="609600" y="2044875"/>
              <a:ext cx="29363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50769" t="-8197" r="-29692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80000" t="-8197" r="-363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255D58-8407-44C5-829E-09C365C3FCAD}"/>
              </a:ext>
            </a:extLst>
          </p:cNvPr>
          <p:cNvSpPr/>
          <p:nvPr/>
        </p:nvSpPr>
        <p:spPr>
          <a:xfrm>
            <a:off x="8774082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F6A69-98C4-411D-8D8D-87EBE28010F7}"/>
              </a:ext>
            </a:extLst>
          </p:cNvPr>
          <p:cNvSpPr/>
          <p:nvPr/>
        </p:nvSpPr>
        <p:spPr>
          <a:xfrm>
            <a:off x="9740669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80777-0D3F-4E84-984B-C9066681B4A1}"/>
              </a:ext>
            </a:extLst>
          </p:cNvPr>
          <p:cNvSpPr/>
          <p:nvPr/>
        </p:nvSpPr>
        <p:spPr>
          <a:xfrm>
            <a:off x="9642020" y="4406776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5B6B01-2035-440C-9185-D9375F1A7D9B}"/>
              </a:ext>
            </a:extLst>
          </p:cNvPr>
          <p:cNvSpPr/>
          <p:nvPr/>
        </p:nvSpPr>
        <p:spPr>
          <a:xfrm>
            <a:off x="7458795" y="5186725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58C42E-DC89-4541-AC34-16B2142E86C0}"/>
              </a:ext>
            </a:extLst>
          </p:cNvPr>
          <p:cNvSpPr/>
          <p:nvPr/>
        </p:nvSpPr>
        <p:spPr>
          <a:xfrm>
            <a:off x="6500853" y="518672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1DD7BE-A160-4338-8BFB-ADAB91BCEB62}"/>
              </a:ext>
            </a:extLst>
          </p:cNvPr>
          <p:cNvCxnSpPr>
            <a:stCxn id="27" idx="0"/>
          </p:cNvCxnSpPr>
          <p:nvPr/>
        </p:nvCxnSpPr>
        <p:spPr>
          <a:xfrm flipH="1" flipV="1">
            <a:off x="7197538" y="4721360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3570F6-31C4-4A73-B7B6-018B1772118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692714" y="4721360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/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blipFill>
                <a:blip r:embed="rId6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327DE297-B946-4251-A6C4-A89932313A58}"/>
              </a:ext>
            </a:extLst>
          </p:cNvPr>
          <p:cNvSpPr/>
          <p:nvPr/>
        </p:nvSpPr>
        <p:spPr>
          <a:xfrm>
            <a:off x="4211013" y="2387016"/>
            <a:ext cx="285750" cy="97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4796120" y="2089702"/>
              <a:ext cx="2528055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57097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329066"/>
                  </p:ext>
                </p:extLst>
              </p:nvPr>
            </p:nvGraphicFramePr>
            <p:xfrm>
              <a:off x="4796120" y="2089702"/>
              <a:ext cx="2528055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57097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332833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513559" t="-8197" r="-9661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658182" t="-8197" r="-3636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592E7E9-F416-4515-892C-576A28BD21C5}"/>
              </a:ext>
            </a:extLst>
          </p:cNvPr>
          <p:cNvSpPr/>
          <p:nvPr/>
        </p:nvSpPr>
        <p:spPr>
          <a:xfrm>
            <a:off x="6541870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E55D5-236A-43EA-A17C-BA69E44AE698}"/>
              </a:ext>
            </a:extLst>
          </p:cNvPr>
          <p:cNvSpPr/>
          <p:nvPr/>
        </p:nvSpPr>
        <p:spPr>
          <a:xfrm>
            <a:off x="7508457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3B7F1-BA6A-4064-BE65-9E294C5104C5}"/>
              </a:ext>
            </a:extLst>
          </p:cNvPr>
          <p:cNvSpPr/>
          <p:nvPr/>
        </p:nvSpPr>
        <p:spPr>
          <a:xfrm>
            <a:off x="7409808" y="4433672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097ED-0C86-4AE6-9D26-768F1F9573A1}"/>
              </a:ext>
            </a:extLst>
          </p:cNvPr>
          <p:cNvSpPr/>
          <p:nvPr/>
        </p:nvSpPr>
        <p:spPr>
          <a:xfrm>
            <a:off x="10261667" y="446686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C1D593-192E-4DA9-B947-A1228605D6CB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10000410" y="4001503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5200BE-A2C3-4973-AEA8-11EFF0C6C8B6}"/>
              </a:ext>
            </a:extLst>
          </p:cNvPr>
          <p:cNvCxnSpPr>
            <a:cxnSpLocks/>
          </p:cNvCxnSpPr>
          <p:nvPr/>
        </p:nvCxnSpPr>
        <p:spPr>
          <a:xfrm flipV="1">
            <a:off x="9495586" y="4001503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E4E0EF-7939-483A-970D-985C07D4C75D}"/>
                  </a:ext>
                </a:extLst>
              </p:cNvPr>
              <p:cNvSpPr/>
              <p:nvPr/>
            </p:nvSpPr>
            <p:spPr>
              <a:xfrm>
                <a:off x="9788140" y="3789232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E4E0EF-7939-483A-970D-985C07D4C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140" y="3789232"/>
                <a:ext cx="432707" cy="432707"/>
              </a:xfrm>
              <a:prstGeom prst="ellipse">
                <a:avLst/>
              </a:prstGeom>
              <a:blipFill>
                <a:blip r:embed="rId8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D62476DB-48FD-4369-AE05-1F810CCBDD93}"/>
              </a:ext>
            </a:extLst>
          </p:cNvPr>
          <p:cNvSpPr/>
          <p:nvPr/>
        </p:nvSpPr>
        <p:spPr>
          <a:xfrm>
            <a:off x="10311328" y="48532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55A6DB-E3FD-4A3B-A0EB-8E40C66DDB43}"/>
              </a:ext>
            </a:extLst>
          </p:cNvPr>
          <p:cNvSpPr/>
          <p:nvPr/>
        </p:nvSpPr>
        <p:spPr>
          <a:xfrm>
            <a:off x="10212680" y="3713815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027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33/48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5C5AE-1936-4521-8599-0F1D537EB466}"/>
              </a:ext>
            </a:extLst>
          </p:cNvPr>
          <p:cNvSpPr/>
          <p:nvPr/>
        </p:nvSpPr>
        <p:spPr>
          <a:xfrm>
            <a:off x="9691007" y="515982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AAF0F-95D5-4077-A2A2-DF31A56F2187}"/>
              </a:ext>
            </a:extLst>
          </p:cNvPr>
          <p:cNvSpPr/>
          <p:nvPr/>
        </p:nvSpPr>
        <p:spPr>
          <a:xfrm>
            <a:off x="8733065" y="515982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3969A9-2A10-45CD-95CF-A02E9AAEB4A3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429750" y="4694464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6BC95-6DDE-456B-876C-ACD32BA7BE7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924926" y="4694464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/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9600" y="2044875"/>
              <a:ext cx="2603489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2354558"/>
                  </p:ext>
                </p:extLst>
              </p:nvPr>
            </p:nvGraphicFramePr>
            <p:xfrm>
              <a:off x="609600" y="2044875"/>
              <a:ext cx="2603489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86842" t="-8197" r="-8157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16667" t="-8197" r="-333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255D58-8407-44C5-829E-09C365C3FCAD}"/>
              </a:ext>
            </a:extLst>
          </p:cNvPr>
          <p:cNvSpPr/>
          <p:nvPr/>
        </p:nvSpPr>
        <p:spPr>
          <a:xfrm>
            <a:off x="8774082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F6A69-98C4-411D-8D8D-87EBE28010F7}"/>
              </a:ext>
            </a:extLst>
          </p:cNvPr>
          <p:cNvSpPr/>
          <p:nvPr/>
        </p:nvSpPr>
        <p:spPr>
          <a:xfrm>
            <a:off x="9740669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80777-0D3F-4E84-984B-C9066681B4A1}"/>
              </a:ext>
            </a:extLst>
          </p:cNvPr>
          <p:cNvSpPr/>
          <p:nvPr/>
        </p:nvSpPr>
        <p:spPr>
          <a:xfrm>
            <a:off x="9642020" y="4406776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5B6B01-2035-440C-9185-D9375F1A7D9B}"/>
              </a:ext>
            </a:extLst>
          </p:cNvPr>
          <p:cNvSpPr/>
          <p:nvPr/>
        </p:nvSpPr>
        <p:spPr>
          <a:xfrm>
            <a:off x="7458795" y="5186725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58C42E-DC89-4541-AC34-16B2142E86C0}"/>
              </a:ext>
            </a:extLst>
          </p:cNvPr>
          <p:cNvSpPr/>
          <p:nvPr/>
        </p:nvSpPr>
        <p:spPr>
          <a:xfrm>
            <a:off x="6500853" y="518672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1DD7BE-A160-4338-8BFB-ADAB91BCEB62}"/>
              </a:ext>
            </a:extLst>
          </p:cNvPr>
          <p:cNvCxnSpPr>
            <a:stCxn id="27" idx="0"/>
          </p:cNvCxnSpPr>
          <p:nvPr/>
        </p:nvCxnSpPr>
        <p:spPr>
          <a:xfrm flipH="1" flipV="1">
            <a:off x="7197538" y="4721360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3570F6-31C4-4A73-B7B6-018B1772118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692714" y="4721360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/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blipFill>
                <a:blip r:embed="rId6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327DE297-B946-4251-A6C4-A89932313A58}"/>
              </a:ext>
            </a:extLst>
          </p:cNvPr>
          <p:cNvSpPr/>
          <p:nvPr/>
        </p:nvSpPr>
        <p:spPr>
          <a:xfrm>
            <a:off x="3449012" y="2387016"/>
            <a:ext cx="285750" cy="97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4034119" y="2089702"/>
              <a:ext cx="21952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57097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9993043"/>
                  </p:ext>
                </p:extLst>
              </p:nvPr>
            </p:nvGraphicFramePr>
            <p:xfrm>
              <a:off x="4034119" y="2089702"/>
              <a:ext cx="2195222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57097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362418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02667" t="-8197" r="-8266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503333" t="-8197" r="-3333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592E7E9-F416-4515-892C-576A28BD21C5}"/>
              </a:ext>
            </a:extLst>
          </p:cNvPr>
          <p:cNvSpPr/>
          <p:nvPr/>
        </p:nvSpPr>
        <p:spPr>
          <a:xfrm>
            <a:off x="6541870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E55D5-236A-43EA-A17C-BA69E44AE698}"/>
              </a:ext>
            </a:extLst>
          </p:cNvPr>
          <p:cNvSpPr/>
          <p:nvPr/>
        </p:nvSpPr>
        <p:spPr>
          <a:xfrm>
            <a:off x="7508457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3B7F1-BA6A-4064-BE65-9E294C5104C5}"/>
              </a:ext>
            </a:extLst>
          </p:cNvPr>
          <p:cNvSpPr/>
          <p:nvPr/>
        </p:nvSpPr>
        <p:spPr>
          <a:xfrm>
            <a:off x="7409808" y="4433672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097ED-0C86-4AE6-9D26-768F1F9573A1}"/>
              </a:ext>
            </a:extLst>
          </p:cNvPr>
          <p:cNvSpPr/>
          <p:nvPr/>
        </p:nvSpPr>
        <p:spPr>
          <a:xfrm>
            <a:off x="10261667" y="446686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C1D593-192E-4DA9-B947-A1228605D6CB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10000410" y="4001503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5200BE-A2C3-4973-AEA8-11EFF0C6C8B6}"/>
              </a:ext>
            </a:extLst>
          </p:cNvPr>
          <p:cNvCxnSpPr>
            <a:cxnSpLocks/>
          </p:cNvCxnSpPr>
          <p:nvPr/>
        </p:nvCxnSpPr>
        <p:spPr>
          <a:xfrm flipV="1">
            <a:off x="9495586" y="4001503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E4E0EF-7939-483A-970D-985C07D4C75D}"/>
                  </a:ext>
                </a:extLst>
              </p:cNvPr>
              <p:cNvSpPr/>
              <p:nvPr/>
            </p:nvSpPr>
            <p:spPr>
              <a:xfrm>
                <a:off x="9788140" y="3789232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E4E0EF-7939-483A-970D-985C07D4C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140" y="3789232"/>
                <a:ext cx="432707" cy="432707"/>
              </a:xfrm>
              <a:prstGeom prst="ellipse">
                <a:avLst/>
              </a:prstGeom>
              <a:blipFill>
                <a:blip r:embed="rId8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D62476DB-48FD-4369-AE05-1F810CCBDD93}"/>
              </a:ext>
            </a:extLst>
          </p:cNvPr>
          <p:cNvSpPr/>
          <p:nvPr/>
        </p:nvSpPr>
        <p:spPr>
          <a:xfrm>
            <a:off x="10311328" y="48532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55A6DB-E3FD-4A3B-A0EB-8E40C66DDB43}"/>
              </a:ext>
            </a:extLst>
          </p:cNvPr>
          <p:cNvSpPr/>
          <p:nvPr/>
        </p:nvSpPr>
        <p:spPr>
          <a:xfrm>
            <a:off x="10212680" y="3713815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6AC14F-FDDA-4F14-A5ED-7CEB4E433059}"/>
              </a:ext>
            </a:extLst>
          </p:cNvPr>
          <p:cNvSpPr/>
          <p:nvPr/>
        </p:nvSpPr>
        <p:spPr>
          <a:xfrm>
            <a:off x="8038420" y="4511691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6012E1-BBC4-424D-B04A-8DE2D026B878}"/>
              </a:ext>
            </a:extLst>
          </p:cNvPr>
          <p:cNvCxnSpPr>
            <a:stCxn id="38" idx="0"/>
          </p:cNvCxnSpPr>
          <p:nvPr/>
        </p:nvCxnSpPr>
        <p:spPr>
          <a:xfrm flipH="1" flipV="1">
            <a:off x="7777163" y="4046326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021DA68-9E90-4E2E-8F3E-B8832BA0B4A4}"/>
              </a:ext>
            </a:extLst>
          </p:cNvPr>
          <p:cNvCxnSpPr>
            <a:cxnSpLocks/>
          </p:cNvCxnSpPr>
          <p:nvPr/>
        </p:nvCxnSpPr>
        <p:spPr>
          <a:xfrm flipV="1">
            <a:off x="7272339" y="4046326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6055D53-E6BD-4F14-A6CB-1AC27DD72881}"/>
                  </a:ext>
                </a:extLst>
              </p:cNvPr>
              <p:cNvSpPr/>
              <p:nvPr/>
            </p:nvSpPr>
            <p:spPr>
              <a:xfrm>
                <a:off x="7564893" y="3834055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6055D53-E6BD-4F14-A6CB-1AC27DD72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893" y="3834055"/>
                <a:ext cx="432707" cy="432707"/>
              </a:xfrm>
              <a:prstGeom prst="ellipse">
                <a:avLst/>
              </a:prstGeom>
              <a:blipFill>
                <a:blip r:embed="rId9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CC3579C0-4328-4030-9F16-CEFEA76630B0}"/>
              </a:ext>
            </a:extLst>
          </p:cNvPr>
          <p:cNvSpPr/>
          <p:nvPr/>
        </p:nvSpPr>
        <p:spPr>
          <a:xfrm>
            <a:off x="7989433" y="3758638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A4A6178-4725-4072-A8CE-007CAD6CC1A3}"/>
              </a:ext>
            </a:extLst>
          </p:cNvPr>
          <p:cNvSpPr/>
          <p:nvPr/>
        </p:nvSpPr>
        <p:spPr>
          <a:xfrm>
            <a:off x="8079116" y="487632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1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8" grpId="0" animBg="1"/>
      <p:bldP spid="43" grpId="0" animBg="1"/>
      <p:bldP spid="44" grpId="0"/>
      <p:bldP spid="4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395-4A1E-4509-8189-2870F788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62777-89F0-4257-B2DE-44986D105C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34/48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5C5AE-1936-4521-8599-0F1D537EB466}"/>
              </a:ext>
            </a:extLst>
          </p:cNvPr>
          <p:cNvSpPr/>
          <p:nvPr/>
        </p:nvSpPr>
        <p:spPr>
          <a:xfrm>
            <a:off x="9691007" y="515982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AAF0F-95D5-4077-A2A2-DF31A56F2187}"/>
              </a:ext>
            </a:extLst>
          </p:cNvPr>
          <p:cNvSpPr/>
          <p:nvPr/>
        </p:nvSpPr>
        <p:spPr>
          <a:xfrm>
            <a:off x="8733065" y="515982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3969A9-2A10-45CD-95CF-A02E9AAEB4A3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429750" y="4694464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16BC95-6DDE-456B-876C-ACD32BA7BE7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924926" y="4694464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/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1A620E-3E46-4ECE-A82D-F48C07DE3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80" y="4482193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9600" y="2044875"/>
              <a:ext cx="2241071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20A6D40-3216-4789-BD19-CE4B0BD9A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96348"/>
                  </p:ext>
                </p:extLst>
              </p:nvPr>
            </p:nvGraphicFramePr>
            <p:xfrm>
              <a:off x="609600" y="2044875"/>
              <a:ext cx="2241071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399399">
                      <a:extLst>
                        <a:ext uri="{9D8B030D-6E8A-4147-A177-3AD203B41FA5}">
                          <a16:colId xmlns:a16="http://schemas.microsoft.com/office/drawing/2014/main" val="4111795231"/>
                        </a:ext>
                      </a:extLst>
                    </a:gridCol>
                    <a:gridCol w="46596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50769" t="-8197" r="-12153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80519" t="-8197" r="-2597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9255D58-8407-44C5-829E-09C365C3FCAD}"/>
              </a:ext>
            </a:extLst>
          </p:cNvPr>
          <p:cNvSpPr/>
          <p:nvPr/>
        </p:nvSpPr>
        <p:spPr>
          <a:xfrm>
            <a:off x="8774082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F6A69-98C4-411D-8D8D-87EBE28010F7}"/>
              </a:ext>
            </a:extLst>
          </p:cNvPr>
          <p:cNvSpPr/>
          <p:nvPr/>
        </p:nvSpPr>
        <p:spPr>
          <a:xfrm>
            <a:off x="9740669" y="5546213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80777-0D3F-4E84-984B-C9066681B4A1}"/>
              </a:ext>
            </a:extLst>
          </p:cNvPr>
          <p:cNvSpPr/>
          <p:nvPr/>
        </p:nvSpPr>
        <p:spPr>
          <a:xfrm>
            <a:off x="9642020" y="4406776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5B6B01-2035-440C-9185-D9375F1A7D9B}"/>
              </a:ext>
            </a:extLst>
          </p:cNvPr>
          <p:cNvSpPr/>
          <p:nvPr/>
        </p:nvSpPr>
        <p:spPr>
          <a:xfrm>
            <a:off x="7458795" y="5186725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58C42E-DC89-4541-AC34-16B2142E86C0}"/>
              </a:ext>
            </a:extLst>
          </p:cNvPr>
          <p:cNvSpPr/>
          <p:nvPr/>
        </p:nvSpPr>
        <p:spPr>
          <a:xfrm>
            <a:off x="6500853" y="518672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1DD7BE-A160-4338-8BFB-ADAB91BCEB62}"/>
              </a:ext>
            </a:extLst>
          </p:cNvPr>
          <p:cNvCxnSpPr>
            <a:stCxn id="27" idx="0"/>
          </p:cNvCxnSpPr>
          <p:nvPr/>
        </p:nvCxnSpPr>
        <p:spPr>
          <a:xfrm flipH="1" flipV="1">
            <a:off x="7197538" y="4721360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3570F6-31C4-4A73-B7B6-018B1772118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692714" y="4721360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/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8A5E43-6BDC-4F21-A702-F4E84FC3B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268" y="4509089"/>
                <a:ext cx="432707" cy="432707"/>
              </a:xfrm>
              <a:prstGeom prst="ellipse">
                <a:avLst/>
              </a:prstGeom>
              <a:blipFill>
                <a:blip r:embed="rId6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327DE297-B946-4251-A6C4-A89932313A58}"/>
              </a:ext>
            </a:extLst>
          </p:cNvPr>
          <p:cNvSpPr/>
          <p:nvPr/>
        </p:nvSpPr>
        <p:spPr>
          <a:xfrm>
            <a:off x="3171106" y="2387016"/>
            <a:ext cx="285750" cy="97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56213" y="2089702"/>
              <a:ext cx="1832804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57097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4FE1C4B-C2DC-43A5-BFA6-77B24B1DB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3328669"/>
                  </p:ext>
                </p:extLst>
              </p:nvPr>
            </p:nvGraphicFramePr>
            <p:xfrm>
              <a:off x="3756213" y="2089702"/>
              <a:ext cx="1832804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5707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57097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02667" t="-8197" r="-2667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frequencies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A592E7E9-F416-4515-892C-576A28BD21C5}"/>
              </a:ext>
            </a:extLst>
          </p:cNvPr>
          <p:cNvSpPr/>
          <p:nvPr/>
        </p:nvSpPr>
        <p:spPr>
          <a:xfrm>
            <a:off x="6541870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1E55D5-236A-43EA-A17C-BA69E44AE698}"/>
              </a:ext>
            </a:extLst>
          </p:cNvPr>
          <p:cNvSpPr/>
          <p:nvPr/>
        </p:nvSpPr>
        <p:spPr>
          <a:xfrm>
            <a:off x="7508457" y="557310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3B7F1-BA6A-4064-BE65-9E294C5104C5}"/>
              </a:ext>
            </a:extLst>
          </p:cNvPr>
          <p:cNvSpPr/>
          <p:nvPr/>
        </p:nvSpPr>
        <p:spPr>
          <a:xfrm>
            <a:off x="7409808" y="4433672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097ED-0C86-4AE6-9D26-768F1F9573A1}"/>
              </a:ext>
            </a:extLst>
          </p:cNvPr>
          <p:cNvSpPr/>
          <p:nvPr/>
        </p:nvSpPr>
        <p:spPr>
          <a:xfrm>
            <a:off x="10261667" y="4466868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C1D593-192E-4DA9-B947-A1228605D6CB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10000410" y="4001503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5200BE-A2C3-4973-AEA8-11EFF0C6C8B6}"/>
              </a:ext>
            </a:extLst>
          </p:cNvPr>
          <p:cNvCxnSpPr>
            <a:cxnSpLocks/>
          </p:cNvCxnSpPr>
          <p:nvPr/>
        </p:nvCxnSpPr>
        <p:spPr>
          <a:xfrm flipV="1">
            <a:off x="9495586" y="4001503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E4E0EF-7939-483A-970D-985C07D4C75D}"/>
                  </a:ext>
                </a:extLst>
              </p:cNvPr>
              <p:cNvSpPr/>
              <p:nvPr/>
            </p:nvSpPr>
            <p:spPr>
              <a:xfrm>
                <a:off x="9788140" y="3789232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E4E0EF-7939-483A-970D-985C07D4C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140" y="3789232"/>
                <a:ext cx="432707" cy="432707"/>
              </a:xfrm>
              <a:prstGeom prst="ellipse">
                <a:avLst/>
              </a:prstGeom>
              <a:blipFill>
                <a:blip r:embed="rId8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D62476DB-48FD-4369-AE05-1F810CCBDD93}"/>
              </a:ext>
            </a:extLst>
          </p:cNvPr>
          <p:cNvSpPr/>
          <p:nvPr/>
        </p:nvSpPr>
        <p:spPr>
          <a:xfrm>
            <a:off x="10311328" y="485325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55A6DB-E3FD-4A3B-A0EB-8E40C66DDB43}"/>
              </a:ext>
            </a:extLst>
          </p:cNvPr>
          <p:cNvSpPr/>
          <p:nvPr/>
        </p:nvSpPr>
        <p:spPr>
          <a:xfrm>
            <a:off x="10212680" y="3713815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6AC14F-FDDA-4F14-A5ED-7CEB4E433059}"/>
              </a:ext>
            </a:extLst>
          </p:cNvPr>
          <p:cNvSpPr/>
          <p:nvPr/>
        </p:nvSpPr>
        <p:spPr>
          <a:xfrm>
            <a:off x="8038420" y="4511691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6012E1-BBC4-424D-B04A-8DE2D026B878}"/>
              </a:ext>
            </a:extLst>
          </p:cNvPr>
          <p:cNvCxnSpPr>
            <a:stCxn id="38" idx="0"/>
          </p:cNvCxnSpPr>
          <p:nvPr/>
        </p:nvCxnSpPr>
        <p:spPr>
          <a:xfrm flipH="1" flipV="1">
            <a:off x="7777163" y="4046326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021DA68-9E90-4E2E-8F3E-B8832BA0B4A4}"/>
              </a:ext>
            </a:extLst>
          </p:cNvPr>
          <p:cNvCxnSpPr>
            <a:cxnSpLocks/>
          </p:cNvCxnSpPr>
          <p:nvPr/>
        </p:nvCxnSpPr>
        <p:spPr>
          <a:xfrm flipV="1">
            <a:off x="7272339" y="4046326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6055D53-E6BD-4F14-A6CB-1AC27DD72881}"/>
                  </a:ext>
                </a:extLst>
              </p:cNvPr>
              <p:cNvSpPr/>
              <p:nvPr/>
            </p:nvSpPr>
            <p:spPr>
              <a:xfrm>
                <a:off x="7564893" y="3834055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6055D53-E6BD-4F14-A6CB-1AC27DD72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893" y="3834055"/>
                <a:ext cx="432707" cy="432707"/>
              </a:xfrm>
              <a:prstGeom prst="ellipse">
                <a:avLst/>
              </a:prstGeom>
              <a:blipFill>
                <a:blip r:embed="rId9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CC3579C0-4328-4030-9F16-CEFEA76630B0}"/>
              </a:ext>
            </a:extLst>
          </p:cNvPr>
          <p:cNvSpPr/>
          <p:nvPr/>
        </p:nvSpPr>
        <p:spPr>
          <a:xfrm>
            <a:off x="7989433" y="3758638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A4A6178-4725-4072-A8CE-007CAD6CC1A3}"/>
              </a:ext>
            </a:extLst>
          </p:cNvPr>
          <p:cNvSpPr/>
          <p:nvPr/>
        </p:nvSpPr>
        <p:spPr>
          <a:xfrm>
            <a:off x="8079116" y="487632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FAC43AD-FCE1-4813-B5E4-37C83BCAFC22}"/>
              </a:ext>
            </a:extLst>
          </p:cNvPr>
          <p:cNvCxnSpPr>
            <a:cxnSpLocks/>
            <a:stCxn id="37" idx="1"/>
          </p:cNvCxnSpPr>
          <p:nvPr/>
        </p:nvCxnSpPr>
        <p:spPr>
          <a:xfrm flipH="1" flipV="1">
            <a:off x="8897756" y="3060210"/>
            <a:ext cx="953752" cy="7923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35B2ED9-EC85-4A7B-A63D-70825592FCB7}"/>
              </a:ext>
            </a:extLst>
          </p:cNvPr>
          <p:cNvCxnSpPr>
            <a:cxnSpLocks/>
            <a:stCxn id="43" idx="7"/>
          </p:cNvCxnSpPr>
          <p:nvPr/>
        </p:nvCxnSpPr>
        <p:spPr>
          <a:xfrm flipV="1">
            <a:off x="7934232" y="3060209"/>
            <a:ext cx="963523" cy="8372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7A28EC4-AA8D-470C-9F81-725286A67CAF}"/>
                  </a:ext>
                </a:extLst>
              </p:cNvPr>
              <p:cNvSpPr/>
              <p:nvPr/>
            </p:nvSpPr>
            <p:spPr>
              <a:xfrm>
                <a:off x="8685485" y="2847937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7A28EC4-AA8D-470C-9F81-725286A67C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485" y="2847937"/>
                <a:ext cx="432707" cy="432707"/>
              </a:xfrm>
              <a:prstGeom prst="ellipse">
                <a:avLst/>
              </a:prstGeom>
              <a:blipFill>
                <a:blip r:embed="rId10"/>
                <a:stretch>
                  <a:fillRect l="-3947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58A2032D-22CF-4F2D-9643-9A2E8AD4FBC9}"/>
              </a:ext>
            </a:extLst>
          </p:cNvPr>
          <p:cNvSpPr/>
          <p:nvPr/>
        </p:nvSpPr>
        <p:spPr>
          <a:xfrm>
            <a:off x="9051516" y="2772520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794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8" grpId="0" animBg="1"/>
      <p:bldP spid="4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9F57-3594-4C01-9EB5-71DB3B4D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A96A-C7A2-483C-84D3-D35A4349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659984"/>
          </a:xfrm>
        </p:spPr>
        <p:txBody>
          <a:bodyPr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sz="2400" dirty="0"/>
              <a:t>Input: A set, </a:t>
            </a:r>
            <a:r>
              <a:rPr lang="en-US" sz="2400" i="1" dirty="0"/>
              <a:t>C</a:t>
            </a:r>
            <a:r>
              <a:rPr lang="en-US" sz="2400" dirty="0"/>
              <a:t>, of </a:t>
            </a:r>
            <a:r>
              <a:rPr lang="en-US" sz="2400" i="1" dirty="0"/>
              <a:t>d </a:t>
            </a:r>
            <a:r>
              <a:rPr lang="en-US" sz="2400" dirty="0"/>
              <a:t>characters, each with a given frequency, 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c</a:t>
            </a:r>
            <a:r>
              <a:rPr lang="en-US" sz="2400" dirty="0"/>
              <a:t>)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Output: a Huffman tree</a:t>
            </a:r>
          </a:p>
          <a:p>
            <a:pPr marL="118872" indent="0"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9F43C-B2EF-4A7C-A23F-850CB504F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35/48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45EB81-18A6-4467-9649-019CEA8C59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365"/>
          <a:stretch/>
        </p:blipFill>
        <p:spPr>
          <a:xfrm>
            <a:off x="1370447" y="3765782"/>
            <a:ext cx="10731721" cy="17224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521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9F57-3594-4C01-9EB5-71DB3B4D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045324"/>
                <a:ext cx="11029615" cy="2041647"/>
              </a:xfrm>
            </p:spPr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Input: A set, </a:t>
                </a:r>
                <a:r>
                  <a:rPr lang="en-US" sz="2400" i="1" dirty="0"/>
                  <a:t>C</a:t>
                </a:r>
                <a:r>
                  <a:rPr lang="en-US" sz="2400" dirty="0"/>
                  <a:t>, of </a:t>
                </a:r>
                <a:r>
                  <a:rPr lang="en-US" sz="2400" i="1" dirty="0"/>
                  <a:t>d </a:t>
                </a:r>
                <a:r>
                  <a:rPr lang="en-US" sz="2400" dirty="0"/>
                  <a:t>characters, each with a given frequency,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</a:t>
                </a:r>
                <a:r>
                  <a:rPr lang="en-US" sz="2400" i="1" dirty="0"/>
                  <a:t>c</a:t>
                </a:r>
                <a:r>
                  <a:rPr lang="en-US" sz="2400" dirty="0"/>
                  <a:t>)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Output: a Huffman tree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For each character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create a single-node binary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storing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c</a:t>
                </a:r>
                <a:r>
                  <a:rPr lang="en-US" sz="24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045324"/>
                <a:ext cx="11029615" cy="2041647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9F43C-B2EF-4A7C-A23F-850CB504F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36/48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5A32DA-6DF2-4786-AD7D-5FD35A29AA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5608" y="4527913"/>
          <a:ext cx="106528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640">
                  <a:extLst>
                    <a:ext uri="{9D8B030D-6E8A-4147-A177-3AD203B41FA5}">
                      <a16:colId xmlns:a16="http://schemas.microsoft.com/office/drawing/2014/main" val="1321420794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2405230821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682389798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3624821953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037215502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561192732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959178032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861086930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510159340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871650870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3368676202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413474880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946631196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3093274823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99072727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755967171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3603182554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932788788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490967748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4105620686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556571676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3684359321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365590667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934594924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548643115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2979331664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113889930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2627843515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4288792654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3504695799"/>
                    </a:ext>
                  </a:extLst>
                </a:gridCol>
                <a:gridCol w="343640">
                  <a:extLst>
                    <a:ext uri="{9D8B030D-6E8A-4147-A177-3AD203B41FA5}">
                      <a16:colId xmlns:a16="http://schemas.microsoft.com/office/drawing/2014/main" val="4099239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0749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9241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9F57-3594-4C01-9EB5-71DB3B4D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Input: A set, </a:t>
                </a:r>
                <a:r>
                  <a:rPr lang="en-US" sz="2400" i="1" dirty="0"/>
                  <a:t>C</a:t>
                </a:r>
                <a:r>
                  <a:rPr lang="en-US" sz="2400" dirty="0"/>
                  <a:t>, of </a:t>
                </a:r>
                <a:r>
                  <a:rPr lang="en-US" sz="2400" i="1" dirty="0"/>
                  <a:t>d </a:t>
                </a:r>
                <a:r>
                  <a:rPr lang="en-US" sz="2400" dirty="0"/>
                  <a:t>characters, each with a given frequency,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</a:t>
                </a:r>
                <a:r>
                  <a:rPr lang="en-US" sz="2400" i="1" dirty="0"/>
                  <a:t>c</a:t>
                </a:r>
                <a:r>
                  <a:rPr lang="en-US" sz="2400" dirty="0"/>
                  <a:t>)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Output: a Huffman tree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For each character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create a single-node binary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storing </a:t>
                </a:r>
                <a:r>
                  <a:rPr lang="en-US" sz="2400" i="1" dirty="0"/>
                  <a:t>c</a:t>
                </a:r>
                <a:r>
                  <a:rPr lang="en-US" sz="24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For each character 𝑐∈𝐶, insert c into a priority queue (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MinHeap</a:t>
                </a:r>
                <a:r>
                  <a:rPr lang="en-US" sz="2400" dirty="0">
                    <a:solidFill>
                      <a:srgbClr val="FF0000"/>
                    </a:solidFill>
                  </a:rPr>
                  <a:t>) 𝑄 based on their frequencies, f(c).</a:t>
                </a:r>
              </a:p>
              <a:p>
                <a:pPr marL="633222" indent="-514350">
                  <a:buFont typeface="+mj-lt"/>
                  <a:buAutoNum type="arabicPeriod"/>
                </a:pPr>
                <a:endParaRPr lang="en-US" sz="2400" dirty="0"/>
              </a:p>
              <a:p>
                <a:pPr marL="633222" indent="-514350">
                  <a:buFont typeface="+mj-lt"/>
                  <a:buAutoNum type="arabicPeriod"/>
                </a:pPr>
                <a:endParaRPr lang="en-US" sz="2400" dirty="0"/>
              </a:p>
              <a:p>
                <a:pPr marL="633222" indent="-51435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4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9F43C-B2EF-4A7C-A23F-850CB504F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37/48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D9C90B-317E-4F0B-BD1F-11C4620005C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91393" y="4695758"/>
          <a:ext cx="792752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470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7720197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20782396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371397909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4874487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26427263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31654771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45873620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27114477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77929003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06972739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987189311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5007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9F57-3594-4C01-9EB5-71DB3B4D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Input: A set, </a:t>
                </a:r>
                <a:r>
                  <a:rPr lang="en-US" sz="2400" i="1" dirty="0"/>
                  <a:t>C</a:t>
                </a:r>
                <a:r>
                  <a:rPr lang="en-US" sz="2400" dirty="0"/>
                  <a:t>, of </a:t>
                </a:r>
                <a:r>
                  <a:rPr lang="en-US" sz="2400" i="1" dirty="0"/>
                  <a:t>d </a:t>
                </a:r>
                <a:r>
                  <a:rPr lang="en-US" sz="2400" dirty="0"/>
                  <a:t>characters, each with a given frequency,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</a:t>
                </a:r>
                <a:r>
                  <a:rPr lang="en-US" sz="2400" i="1" dirty="0"/>
                  <a:t>c</a:t>
                </a:r>
                <a:r>
                  <a:rPr lang="en-US" sz="2400" dirty="0"/>
                  <a:t>)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Output: a Huffman tree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For each character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create a single-node binary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storing </a:t>
                </a:r>
                <a:r>
                  <a:rPr lang="en-US" sz="2400" i="1" dirty="0"/>
                  <a:t>c</a:t>
                </a:r>
                <a:r>
                  <a:rPr lang="en-US" sz="24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For each character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insert </a:t>
                </a:r>
                <a:r>
                  <a:rPr lang="en-US" sz="2400" i="1" dirty="0"/>
                  <a:t>c </a:t>
                </a:r>
                <a:r>
                  <a:rPr lang="en-US" sz="2400" dirty="0"/>
                  <a:t>into a priority queue (</a:t>
                </a:r>
                <a:r>
                  <a:rPr lang="en-US" sz="2400" dirty="0" err="1"/>
                  <a:t>MinHeap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based on their frequencies, </a:t>
                </a:r>
                <a:r>
                  <a:rPr lang="en-US" sz="2400" i="1" dirty="0"/>
                  <a:t>f(c)</a:t>
                </a:r>
                <a:r>
                  <a:rPr lang="en-US" sz="24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𝑟𝑒𝑚𝑜𝑣𝑒𝑀𝑖𝑛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633222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𝑟𝑒𝑚𝑜𝑣𝑒𝑀𝑖𝑛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Create a new binary tree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T </a:t>
                </a:r>
                <a:r>
                  <a:rPr lang="en-US" sz="2400" dirty="0">
                    <a:solidFill>
                      <a:srgbClr val="FF0000"/>
                    </a:solidFill>
                  </a:rPr>
                  <a:t>with left subtree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right subtree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.</a:t>
                </a:r>
                <a:endParaRPr lang="en-US" sz="2400" dirty="0"/>
              </a:p>
              <a:p>
                <a:pPr marL="633222" indent="-51435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2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9F43C-B2EF-4A7C-A23F-850CB504F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38/48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2799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39/48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7B94BB5-5199-4DAA-B16E-F33B5B87B71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07721" y="1994862"/>
          <a:ext cx="792752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470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7720197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20782396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371397909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4874487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26427263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31654771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45873620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27114477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77929003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06972739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987189311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73041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40/48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7B94BB5-5199-4DAA-B16E-F33B5B87B71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07721" y="1994862"/>
          <a:ext cx="792752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470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7720197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20782396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371397909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4874487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26427263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31654771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45873620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27114477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77929003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06972739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987189311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A4581D-2FE1-41D4-A26E-AF9401A32154}"/>
                  </a:ext>
                </a:extLst>
              </p:cNvPr>
              <p:cNvSpPr/>
              <p:nvPr/>
            </p:nvSpPr>
            <p:spPr>
              <a:xfrm>
                <a:off x="5755811" y="3244334"/>
                <a:ext cx="883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A4581D-2FE1-41D4-A26E-AF9401A32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811" y="3244334"/>
                <a:ext cx="8833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585514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41/48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3492F9-B5C8-4E45-8B7B-ED5E96F367F2}"/>
                  </a:ext>
                </a:extLst>
              </p:cNvPr>
              <p:cNvSpPr/>
              <p:nvPr/>
            </p:nvSpPr>
            <p:spPr>
              <a:xfrm>
                <a:off x="5755811" y="3244334"/>
                <a:ext cx="9139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3492F9-B5C8-4E45-8B7B-ED5E96F367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811" y="3244334"/>
                <a:ext cx="91390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676F5B6-2476-4F3F-B354-02E376AE7AA3}"/>
                  </a:ext>
                </a:extLst>
              </p:cNvPr>
              <p:cNvSpPr/>
              <p:nvPr/>
            </p:nvSpPr>
            <p:spPr>
              <a:xfrm>
                <a:off x="5755811" y="3521333"/>
                <a:ext cx="8960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676F5B6-2476-4F3F-B354-02E376AE7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811" y="3521333"/>
                <a:ext cx="8960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F1A1E1-B106-4862-8727-072F975FA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75767"/>
              </p:ext>
            </p:extLst>
          </p:nvPr>
        </p:nvGraphicFramePr>
        <p:xfrm>
          <a:off x="1907721" y="1994862"/>
          <a:ext cx="792752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470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7720197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20782396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371397909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4874487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26427263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31654771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45873620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27114477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77929003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06972739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987189311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00045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42/48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71E70-C37D-4785-8785-C8CB73452369}"/>
              </a:ext>
            </a:extLst>
          </p:cNvPr>
          <p:cNvSpPr/>
          <p:nvPr/>
        </p:nvSpPr>
        <p:spPr>
          <a:xfrm>
            <a:off x="7976507" y="431074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88760-5CFF-499C-849F-34F3E8E81096}"/>
              </a:ext>
            </a:extLst>
          </p:cNvPr>
          <p:cNvSpPr/>
          <p:nvPr/>
        </p:nvSpPr>
        <p:spPr>
          <a:xfrm>
            <a:off x="7018565" y="4310743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A848AD-3D0B-4FBB-A632-CFF55F82A5F2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7715250" y="3845379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906379-10B9-423F-8025-973C4F0148D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210426" y="3845379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/>
              <p:nvPr/>
            </p:nvSpPr>
            <p:spPr>
              <a:xfrm>
                <a:off x="7502980" y="3633108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980" y="3633108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/>
              <p:nvPr/>
            </p:nvSpPr>
            <p:spPr>
              <a:xfrm>
                <a:off x="7048383" y="4751615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383" y="4751615"/>
                <a:ext cx="4653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/>
              <p:nvPr/>
            </p:nvSpPr>
            <p:spPr>
              <a:xfrm>
                <a:off x="8037680" y="4776109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680" y="4776109"/>
                <a:ext cx="4523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BBBCA4A-8326-4851-8127-58669620A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614788"/>
              </p:ext>
            </p:extLst>
          </p:nvPr>
        </p:nvGraphicFramePr>
        <p:xfrm>
          <a:off x="1907721" y="1994862"/>
          <a:ext cx="792752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470">
                  <a:extLst>
                    <a:ext uri="{9D8B030D-6E8A-4147-A177-3AD203B41FA5}">
                      <a16:colId xmlns:a16="http://schemas.microsoft.com/office/drawing/2014/main" val="26233555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2653488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8662445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65828612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8964917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77201972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20782396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371397909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34874487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264272630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31654771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45873620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1271144773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3779290035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4069727398"/>
                    </a:ext>
                  </a:extLst>
                </a:gridCol>
                <a:gridCol w="495470">
                  <a:extLst>
                    <a:ext uri="{9D8B030D-6E8A-4147-A177-3AD203B41FA5}">
                      <a16:colId xmlns:a16="http://schemas.microsoft.com/office/drawing/2014/main" val="2987189311"/>
                    </a:ext>
                  </a:extLst>
                </a:gridCol>
              </a:tblGrid>
              <a:tr h="3638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71937"/>
                  </a:ext>
                </a:extLst>
              </a:tr>
              <a:tr h="363885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21315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3D4BA18E-0EA5-41CB-8C6B-59C9F9B9665A}"/>
              </a:ext>
            </a:extLst>
          </p:cNvPr>
          <p:cNvSpPr/>
          <p:nvPr/>
        </p:nvSpPr>
        <p:spPr>
          <a:xfrm>
            <a:off x="7899342" y="3551464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94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/>
      <p:bldP spid="15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9F57-3594-4C01-9EB5-71DB3B4D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Input: A set, </a:t>
                </a:r>
                <a:r>
                  <a:rPr lang="en-US" sz="2400" i="1" dirty="0"/>
                  <a:t>C</a:t>
                </a:r>
                <a:r>
                  <a:rPr lang="en-US" sz="2400" dirty="0"/>
                  <a:t>, of </a:t>
                </a:r>
                <a:r>
                  <a:rPr lang="en-US" sz="2400" i="1" dirty="0"/>
                  <a:t>d </a:t>
                </a:r>
                <a:r>
                  <a:rPr lang="en-US" sz="2400" dirty="0"/>
                  <a:t>characters, each with a given frequency,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</a:t>
                </a:r>
                <a:r>
                  <a:rPr lang="en-US" sz="2400" i="1" dirty="0"/>
                  <a:t>c</a:t>
                </a:r>
                <a:r>
                  <a:rPr lang="en-US" sz="2400" dirty="0"/>
                  <a:t>)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Output: a Huffman tree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For each character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create a single-node binary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storing </a:t>
                </a:r>
                <a:r>
                  <a:rPr lang="en-US" sz="2400" i="1" dirty="0"/>
                  <a:t>c</a:t>
                </a:r>
                <a:r>
                  <a:rPr lang="en-US" sz="24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For each character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insert </a:t>
                </a:r>
                <a:r>
                  <a:rPr lang="en-US" sz="2400" i="1" dirty="0"/>
                  <a:t>c </a:t>
                </a:r>
                <a:r>
                  <a:rPr lang="en-US" sz="2400" dirty="0"/>
                  <a:t>into a priority queue (</a:t>
                </a:r>
                <a:r>
                  <a:rPr lang="en-US" sz="2400" dirty="0" err="1"/>
                  <a:t>MinHeap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based on their frequencies, </a:t>
                </a:r>
                <a:r>
                  <a:rPr lang="en-US" sz="2400" i="1" dirty="0"/>
                  <a:t>f(c)</a:t>
                </a:r>
                <a:r>
                  <a:rPr lang="en-US" sz="24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𝑟𝑒𝑚𝑜𝑣𝑒𝑀𝑖𝑛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400" dirty="0"/>
              </a:p>
              <a:p>
                <a:pPr marL="633222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𝑟𝑒𝑚𝑜𝑣𝑒𝑀𝑖𝑛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sz="2400" dirty="0"/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Create a new binary tree </a:t>
                </a:r>
                <a:r>
                  <a:rPr lang="en-US" sz="2400" i="1" dirty="0"/>
                  <a:t>T </a:t>
                </a:r>
                <a:r>
                  <a:rPr lang="en-US" sz="2400" dirty="0"/>
                  <a:t>with left subtree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/>
                  <a:t> and right subtree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</a:rPr>
                  <a:t>Insert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a new element </a:t>
                </a:r>
                <a:r>
                  <a:rPr lang="en-US" sz="2400" dirty="0">
                    <a:solidFill>
                      <a:srgbClr val="FF0000"/>
                    </a:solidFill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</a:rPr>
                  <a:t>with key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f</a:t>
                </a:r>
                <a:r>
                  <a:rPr lang="en-US" sz="24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) + </a:t>
                </a:r>
                <a:r>
                  <a:rPr lang="en-US" sz="2400" i="1" dirty="0">
                    <a:solidFill>
                      <a:srgbClr val="FF0000"/>
                    </a:solidFill>
                  </a:rPr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FF0000"/>
                    </a:solidFill>
                  </a:rPr>
                  <a:t>)</a:t>
                </a:r>
                <a:r>
                  <a:rPr lang="en-US" sz="2400" dirty="0">
                    <a:solidFill>
                      <a:srgbClr val="FF0000"/>
                    </a:solidFill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8A96A-C7A2-483C-84D3-D35A43494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12106" b="-14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9F43C-B2EF-4A7C-A23F-850CB504F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43/48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232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44/48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71E70-C37D-4785-8785-C8CB73452369}"/>
              </a:ext>
            </a:extLst>
          </p:cNvPr>
          <p:cNvSpPr/>
          <p:nvPr/>
        </p:nvSpPr>
        <p:spPr>
          <a:xfrm>
            <a:off x="7976507" y="431074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88760-5CFF-499C-849F-34F3E8E81096}"/>
              </a:ext>
            </a:extLst>
          </p:cNvPr>
          <p:cNvSpPr/>
          <p:nvPr/>
        </p:nvSpPr>
        <p:spPr>
          <a:xfrm>
            <a:off x="7018565" y="4310743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A848AD-3D0B-4FBB-A632-CFF55F82A5F2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7715250" y="3845379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906379-10B9-423F-8025-973C4F0148D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210426" y="3845379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/>
              <p:nvPr/>
            </p:nvSpPr>
            <p:spPr>
              <a:xfrm>
                <a:off x="7502980" y="3633108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980" y="3633108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/>
              <p:nvPr/>
            </p:nvSpPr>
            <p:spPr>
              <a:xfrm>
                <a:off x="7048383" y="4751615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383" y="4751615"/>
                <a:ext cx="4653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/>
              <p:nvPr/>
            </p:nvSpPr>
            <p:spPr>
              <a:xfrm>
                <a:off x="8037680" y="4776109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680" y="4776109"/>
                <a:ext cx="4523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7B94BB5-5199-4DAA-B16E-F33B5B87B7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374867"/>
                  </p:ext>
                </p:extLst>
              </p:nvPr>
            </p:nvGraphicFramePr>
            <p:xfrm>
              <a:off x="1907721" y="1994862"/>
              <a:ext cx="7927525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6325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38964917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772019728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4207823963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2371397909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348744870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264272630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316547715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458736205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271144773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779290035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4069727398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924099797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2987189311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7B94BB5-5199-4DAA-B16E-F33B5B87B7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374867"/>
                  </p:ext>
                </p:extLst>
              </p:nvPr>
            </p:nvGraphicFramePr>
            <p:xfrm>
              <a:off x="1907721" y="1994862"/>
              <a:ext cx="7927525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6325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38964917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772019728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4207823963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2371397909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348744870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264272630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316547715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458736205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1271144773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3779290035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4069727398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924099797"/>
                        </a:ext>
                      </a:extLst>
                    </a:gridCol>
                    <a:gridCol w="466325">
                      <a:extLst>
                        <a:ext uri="{9D8B030D-6E8A-4147-A177-3AD203B41FA5}">
                          <a16:colId xmlns:a16="http://schemas.microsoft.com/office/drawing/2014/main" val="29871893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592208" t="-8197" r="-2597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EC5EAB4-02E6-47C8-922F-3308176DCAE9}"/>
              </a:ext>
            </a:extLst>
          </p:cNvPr>
          <p:cNvSpPr/>
          <p:nvPr/>
        </p:nvSpPr>
        <p:spPr>
          <a:xfrm>
            <a:off x="7899342" y="3551464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9852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45/48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71E70-C37D-4785-8785-C8CB73452369}"/>
              </a:ext>
            </a:extLst>
          </p:cNvPr>
          <p:cNvSpPr/>
          <p:nvPr/>
        </p:nvSpPr>
        <p:spPr>
          <a:xfrm>
            <a:off x="7976507" y="431074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88760-5CFF-499C-849F-34F3E8E81096}"/>
              </a:ext>
            </a:extLst>
          </p:cNvPr>
          <p:cNvSpPr/>
          <p:nvPr/>
        </p:nvSpPr>
        <p:spPr>
          <a:xfrm>
            <a:off x="7018565" y="4310743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A848AD-3D0B-4FBB-A632-CFF55F82A5F2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7715250" y="3845379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906379-10B9-423F-8025-973C4F0148D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210426" y="3845379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/>
              <p:nvPr/>
            </p:nvSpPr>
            <p:spPr>
              <a:xfrm>
                <a:off x="7502980" y="3633108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980" y="3633108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/>
              <p:nvPr/>
            </p:nvSpPr>
            <p:spPr>
              <a:xfrm>
                <a:off x="7048383" y="4751615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383" y="4751615"/>
                <a:ext cx="4653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/>
              <p:nvPr/>
            </p:nvSpPr>
            <p:spPr>
              <a:xfrm>
                <a:off x="8037680" y="4776109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680" y="4776109"/>
                <a:ext cx="4523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7B94BB5-5199-4DAA-B16E-F33B5B87B7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165653"/>
                  </p:ext>
                </p:extLst>
              </p:nvPr>
            </p:nvGraphicFramePr>
            <p:xfrm>
              <a:off x="612818" y="1982201"/>
              <a:ext cx="9704200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5210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38964917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77201972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207823963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2371397909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348744870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45873620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271144773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19680908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245270126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77929003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76864094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39248160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42710529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27408839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55988863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069727398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7B94BB5-5199-4DAA-B16E-F33B5B87B7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165653"/>
                  </p:ext>
                </p:extLst>
              </p:nvPr>
            </p:nvGraphicFramePr>
            <p:xfrm>
              <a:off x="612818" y="1982201"/>
              <a:ext cx="9704200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5210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38964917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77201972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207823963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2371397909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348744870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45873620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271144773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19680908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245270126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77929003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768640945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39248160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3427105298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27408839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155988863"/>
                        </a:ext>
                      </a:extLst>
                    </a:gridCol>
                    <a:gridCol w="485210">
                      <a:extLst>
                        <a:ext uri="{9D8B030D-6E8A-4147-A177-3AD203B41FA5}">
                          <a16:colId xmlns:a16="http://schemas.microsoft.com/office/drawing/2014/main" val="406972739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897500" t="-8197" r="-9975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10127" t="-8197" r="-91012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295000" t="-8197" r="-6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593750" t="-8197" r="-30125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892500" t="-8197" r="-250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EC5EAB4-02E6-47C8-922F-3308176DCAE9}"/>
              </a:ext>
            </a:extLst>
          </p:cNvPr>
          <p:cNvSpPr/>
          <p:nvPr/>
        </p:nvSpPr>
        <p:spPr>
          <a:xfrm>
            <a:off x="7899342" y="3551464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46992B-72D9-4F5E-8AD3-3461B8B685D2}"/>
              </a:ext>
            </a:extLst>
          </p:cNvPr>
          <p:cNvSpPr/>
          <p:nvPr/>
        </p:nvSpPr>
        <p:spPr>
          <a:xfrm>
            <a:off x="6213653" y="4286250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6DB0A0-62A8-4237-9225-D841C04BD7A2}"/>
              </a:ext>
            </a:extLst>
          </p:cNvPr>
          <p:cNvSpPr/>
          <p:nvPr/>
        </p:nvSpPr>
        <p:spPr>
          <a:xfrm>
            <a:off x="5255711" y="428624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F4FC2A-B921-4624-BA8C-8D7568D69E9E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5952396" y="3820885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359AE-4DF1-4DBA-9ED6-4B763B3F4096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447572" y="3820885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CE0B0FF-45A2-424B-851E-A1AD09FF8A55}"/>
                  </a:ext>
                </a:extLst>
              </p:cNvPr>
              <p:cNvSpPr/>
              <p:nvPr/>
            </p:nvSpPr>
            <p:spPr>
              <a:xfrm>
                <a:off x="5740126" y="3608614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CE0B0FF-45A2-424B-851E-A1AD09FF8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126" y="3608614"/>
                <a:ext cx="432707" cy="432707"/>
              </a:xfrm>
              <a:prstGeom prst="ellipse">
                <a:avLst/>
              </a:prstGeom>
              <a:blipFill>
                <a:blip r:embed="rId8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AB3BBD4-4AE8-456D-B104-890D042CF932}"/>
                  </a:ext>
                </a:extLst>
              </p:cNvPr>
              <p:cNvSpPr/>
              <p:nvPr/>
            </p:nvSpPr>
            <p:spPr>
              <a:xfrm>
                <a:off x="5285529" y="4727121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AB3BBD4-4AE8-456D-B104-890D042CF9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529" y="4727121"/>
                <a:ext cx="4653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572ED1-12D1-40DF-8FD7-B0C3721F93C0}"/>
                  </a:ext>
                </a:extLst>
              </p:cNvPr>
              <p:cNvSpPr/>
              <p:nvPr/>
            </p:nvSpPr>
            <p:spPr>
              <a:xfrm>
                <a:off x="6274826" y="4751615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572ED1-12D1-40DF-8FD7-B0C3721F9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826" y="4751615"/>
                <a:ext cx="45230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2EEF9B3D-32EA-484A-878B-C7F09D64D785}"/>
              </a:ext>
            </a:extLst>
          </p:cNvPr>
          <p:cNvSpPr/>
          <p:nvPr/>
        </p:nvSpPr>
        <p:spPr>
          <a:xfrm>
            <a:off x="6136488" y="35269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DE17D7-BDD2-429C-937F-F859FDFCE484}"/>
              </a:ext>
            </a:extLst>
          </p:cNvPr>
          <p:cNvSpPr/>
          <p:nvPr/>
        </p:nvSpPr>
        <p:spPr>
          <a:xfrm>
            <a:off x="4436148" y="4286250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90DFF0-68C0-4491-AF12-798F2B9CEC59}"/>
              </a:ext>
            </a:extLst>
          </p:cNvPr>
          <p:cNvSpPr/>
          <p:nvPr/>
        </p:nvSpPr>
        <p:spPr>
          <a:xfrm>
            <a:off x="3478206" y="428624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EB11F3-88DD-45A5-BB3E-95AAA6B84D70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4174891" y="3820885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714422-99B1-413B-BF04-BA35221E4E02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3670067" y="3820885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74AE8CB-82C6-4C7D-B519-90A17224A0B3}"/>
                  </a:ext>
                </a:extLst>
              </p:cNvPr>
              <p:cNvSpPr/>
              <p:nvPr/>
            </p:nvSpPr>
            <p:spPr>
              <a:xfrm>
                <a:off x="3962621" y="3608614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74AE8CB-82C6-4C7D-B519-90A17224A0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621" y="3608614"/>
                <a:ext cx="432707" cy="432707"/>
              </a:xfrm>
              <a:prstGeom prst="ellipse">
                <a:avLst/>
              </a:prstGeom>
              <a:blipFill>
                <a:blip r:embed="rId11"/>
                <a:stretch>
                  <a:fillRect l="-26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6CEC343-2604-4359-BDBE-225C44DBB2D6}"/>
                  </a:ext>
                </a:extLst>
              </p:cNvPr>
              <p:cNvSpPr/>
              <p:nvPr/>
            </p:nvSpPr>
            <p:spPr>
              <a:xfrm>
                <a:off x="3508024" y="4727121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6CEC343-2604-4359-BDBE-225C44DBB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024" y="4727121"/>
                <a:ext cx="46532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B328D9E-33F7-4313-A6E4-E74D9B8411DB}"/>
                  </a:ext>
                </a:extLst>
              </p:cNvPr>
              <p:cNvSpPr/>
              <p:nvPr/>
            </p:nvSpPr>
            <p:spPr>
              <a:xfrm>
                <a:off x="4497321" y="4751615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B328D9E-33F7-4313-A6E4-E74D9B841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321" y="4751615"/>
                <a:ext cx="45230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B87FBDF0-80D1-4443-866E-93723E43119B}"/>
              </a:ext>
            </a:extLst>
          </p:cNvPr>
          <p:cNvSpPr/>
          <p:nvPr/>
        </p:nvSpPr>
        <p:spPr>
          <a:xfrm>
            <a:off x="4358983" y="35269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D980F4-2E4E-4E00-8148-3EA5F687D524}"/>
              </a:ext>
            </a:extLst>
          </p:cNvPr>
          <p:cNvSpPr/>
          <p:nvPr/>
        </p:nvSpPr>
        <p:spPr>
          <a:xfrm>
            <a:off x="2470120" y="4286250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D2AAE2-C9BA-4C40-8327-92C7C48C37D5}"/>
              </a:ext>
            </a:extLst>
          </p:cNvPr>
          <p:cNvSpPr/>
          <p:nvPr/>
        </p:nvSpPr>
        <p:spPr>
          <a:xfrm>
            <a:off x="1512178" y="428624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30C93A-CAB7-4ACE-AC05-A56B02686A02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2208863" y="3820885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F45DB2-4C1A-4439-8154-B59A10F79A0D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704039" y="3820885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1894764-2754-4AE1-B6DA-EBAFAB1DABAF}"/>
                  </a:ext>
                </a:extLst>
              </p:cNvPr>
              <p:cNvSpPr/>
              <p:nvPr/>
            </p:nvSpPr>
            <p:spPr>
              <a:xfrm>
                <a:off x="1996593" y="3608614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1894764-2754-4AE1-B6DA-EBAFAB1DAB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93" y="3608614"/>
                <a:ext cx="432707" cy="432707"/>
              </a:xfrm>
              <a:prstGeom prst="ellipse">
                <a:avLst/>
              </a:prstGeom>
              <a:blipFill>
                <a:blip r:embed="rId14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A4169D-4A2F-4816-A5F3-CCBDC615DDE3}"/>
                  </a:ext>
                </a:extLst>
              </p:cNvPr>
              <p:cNvSpPr/>
              <p:nvPr/>
            </p:nvSpPr>
            <p:spPr>
              <a:xfrm>
                <a:off x="1541996" y="4727121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A4169D-4A2F-4816-A5F3-CCBDC615D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996" y="4727121"/>
                <a:ext cx="46532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FF1EBB0-AF51-48BE-AE57-2E87C137C054}"/>
                  </a:ext>
                </a:extLst>
              </p:cNvPr>
              <p:cNvSpPr/>
              <p:nvPr/>
            </p:nvSpPr>
            <p:spPr>
              <a:xfrm>
                <a:off x="2531293" y="4751615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FF1EBB0-AF51-48BE-AE57-2E87C137C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293" y="4751615"/>
                <a:ext cx="45230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99E3C935-08BC-4E87-AF2A-D2654F76A1B0}"/>
              </a:ext>
            </a:extLst>
          </p:cNvPr>
          <p:cNvSpPr/>
          <p:nvPr/>
        </p:nvSpPr>
        <p:spPr>
          <a:xfrm>
            <a:off x="2392955" y="35269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2906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CB9-3496-48D2-B566-61CB5593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a Huffman tree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9046A-9DF9-4F46-966E-D9DA3E2DCE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46/48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71E70-C37D-4785-8785-C8CB73452369}"/>
              </a:ext>
            </a:extLst>
          </p:cNvPr>
          <p:cNvSpPr/>
          <p:nvPr/>
        </p:nvSpPr>
        <p:spPr>
          <a:xfrm>
            <a:off x="8311242" y="431074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88760-5CFF-499C-849F-34F3E8E81096}"/>
              </a:ext>
            </a:extLst>
          </p:cNvPr>
          <p:cNvSpPr/>
          <p:nvPr/>
        </p:nvSpPr>
        <p:spPr>
          <a:xfrm>
            <a:off x="7353300" y="4310743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A848AD-3D0B-4FBB-A632-CFF55F82A5F2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8049985" y="3845379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906379-10B9-423F-8025-973C4F0148D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545161" y="3845379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/>
              <p:nvPr/>
            </p:nvSpPr>
            <p:spPr>
              <a:xfrm>
                <a:off x="7837715" y="3633108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2B6C15-7BE8-4CDF-8591-E6FC2F231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15" y="3633108"/>
                <a:ext cx="432707" cy="432707"/>
              </a:xfrm>
              <a:prstGeom prst="ellipse">
                <a:avLst/>
              </a:prstGeom>
              <a:blipFill>
                <a:blip r:embed="rId4"/>
                <a:stretch>
                  <a:fillRect l="-26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/>
              <p:nvPr/>
            </p:nvSpPr>
            <p:spPr>
              <a:xfrm>
                <a:off x="7383118" y="4751615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97BFFDF-EDCE-4A68-9B5D-FBAB6D60A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118" y="4751615"/>
                <a:ext cx="4653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/>
              <p:nvPr/>
            </p:nvSpPr>
            <p:spPr>
              <a:xfrm>
                <a:off x="8372415" y="4776109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91CC58D-6284-4D1A-B549-A8C2A8977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415" y="4776109"/>
                <a:ext cx="4523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7B94BB5-5199-4DAA-B16E-F33B5B87B7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045412"/>
                  </p:ext>
                </p:extLst>
              </p:nvPr>
            </p:nvGraphicFramePr>
            <p:xfrm>
              <a:off x="587299" y="1891575"/>
              <a:ext cx="11023509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4929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38964917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772019728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4207823963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2371397909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348744870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45873620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271144773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888638621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77929003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580139593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2048358070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647991684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5076022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63619965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30891666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42237763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299072590"/>
                        </a:ext>
                      </a:extLst>
                    </a:gridCol>
                  </a:tblGrid>
                  <a:tr h="3638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3885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7B94BB5-5199-4DAA-B16E-F33B5B87B7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045412"/>
                  </p:ext>
                </p:extLst>
              </p:nvPr>
            </p:nvGraphicFramePr>
            <p:xfrm>
              <a:off x="587299" y="1891575"/>
              <a:ext cx="11023509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4929">
                      <a:extLst>
                        <a:ext uri="{9D8B030D-6E8A-4147-A177-3AD203B41FA5}">
                          <a16:colId xmlns:a16="http://schemas.microsoft.com/office/drawing/2014/main" val="262335550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226534881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866244528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6582861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38964917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772019728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4207823963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2371397909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348744870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45873620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271144773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888638621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77929003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580139593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2048358070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647991684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5076022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636199652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330891666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422377635"/>
                        </a:ext>
                      </a:extLst>
                    </a:gridCol>
                    <a:gridCol w="524929">
                      <a:extLst>
                        <a:ext uri="{9D8B030D-6E8A-4147-A177-3AD203B41FA5}">
                          <a16:colId xmlns:a16="http://schemas.microsoft.com/office/drawing/2014/main" val="129907259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02326" t="-8197" r="-110465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90805" t="-8197" r="-99195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203488" t="-8197" r="-80348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303488" t="-8197" r="-70348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503488" t="-8197" r="-50348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004651" t="-8197" r="-232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1719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91213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EC5EAB4-02E6-47C8-922F-3308176DCAE9}"/>
              </a:ext>
            </a:extLst>
          </p:cNvPr>
          <p:cNvSpPr/>
          <p:nvPr/>
        </p:nvSpPr>
        <p:spPr>
          <a:xfrm>
            <a:off x="8234077" y="3551464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46992B-72D9-4F5E-8AD3-3461B8B685D2}"/>
              </a:ext>
            </a:extLst>
          </p:cNvPr>
          <p:cNvSpPr/>
          <p:nvPr/>
        </p:nvSpPr>
        <p:spPr>
          <a:xfrm>
            <a:off x="6213653" y="4286250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6DB0A0-62A8-4237-9225-D841C04BD7A2}"/>
              </a:ext>
            </a:extLst>
          </p:cNvPr>
          <p:cNvSpPr/>
          <p:nvPr/>
        </p:nvSpPr>
        <p:spPr>
          <a:xfrm>
            <a:off x="5255711" y="428624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F4FC2A-B921-4624-BA8C-8D7568D69E9E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5952396" y="3820885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D359AE-4DF1-4DBA-9ED6-4B763B3F4096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447572" y="3820885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CE0B0FF-45A2-424B-851E-A1AD09FF8A55}"/>
                  </a:ext>
                </a:extLst>
              </p:cNvPr>
              <p:cNvSpPr/>
              <p:nvPr/>
            </p:nvSpPr>
            <p:spPr>
              <a:xfrm>
                <a:off x="5740126" y="3608614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CE0B0FF-45A2-424B-851E-A1AD09FF8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126" y="3608614"/>
                <a:ext cx="432707" cy="432707"/>
              </a:xfrm>
              <a:prstGeom prst="ellipse">
                <a:avLst/>
              </a:prstGeom>
              <a:blipFill>
                <a:blip r:embed="rId8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AB3BBD4-4AE8-456D-B104-890D042CF932}"/>
                  </a:ext>
                </a:extLst>
              </p:cNvPr>
              <p:cNvSpPr/>
              <p:nvPr/>
            </p:nvSpPr>
            <p:spPr>
              <a:xfrm>
                <a:off x="5285529" y="4727121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AB3BBD4-4AE8-456D-B104-890D042CF9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529" y="4727121"/>
                <a:ext cx="4653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572ED1-12D1-40DF-8FD7-B0C3721F93C0}"/>
                  </a:ext>
                </a:extLst>
              </p:cNvPr>
              <p:cNvSpPr/>
              <p:nvPr/>
            </p:nvSpPr>
            <p:spPr>
              <a:xfrm>
                <a:off x="6274826" y="4751615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572ED1-12D1-40DF-8FD7-B0C3721F9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826" y="4751615"/>
                <a:ext cx="45230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2EEF9B3D-32EA-484A-878B-C7F09D64D785}"/>
              </a:ext>
            </a:extLst>
          </p:cNvPr>
          <p:cNvSpPr/>
          <p:nvPr/>
        </p:nvSpPr>
        <p:spPr>
          <a:xfrm>
            <a:off x="6136488" y="35269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DE17D7-BDD2-429C-937F-F859FDFCE484}"/>
              </a:ext>
            </a:extLst>
          </p:cNvPr>
          <p:cNvSpPr/>
          <p:nvPr/>
        </p:nvSpPr>
        <p:spPr>
          <a:xfrm>
            <a:off x="4436148" y="4286250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90DFF0-68C0-4491-AF12-798F2B9CEC59}"/>
              </a:ext>
            </a:extLst>
          </p:cNvPr>
          <p:cNvSpPr/>
          <p:nvPr/>
        </p:nvSpPr>
        <p:spPr>
          <a:xfrm>
            <a:off x="3478206" y="428624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EB11F3-88DD-45A5-BB3E-95AAA6B84D70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4174891" y="3820885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714422-99B1-413B-BF04-BA35221E4E02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3670067" y="3820885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74AE8CB-82C6-4C7D-B519-90A17224A0B3}"/>
                  </a:ext>
                </a:extLst>
              </p:cNvPr>
              <p:cNvSpPr/>
              <p:nvPr/>
            </p:nvSpPr>
            <p:spPr>
              <a:xfrm>
                <a:off x="3962621" y="3608614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74AE8CB-82C6-4C7D-B519-90A17224A0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621" y="3608614"/>
                <a:ext cx="432707" cy="432707"/>
              </a:xfrm>
              <a:prstGeom prst="ellipse">
                <a:avLst/>
              </a:prstGeom>
              <a:blipFill>
                <a:blip r:embed="rId11"/>
                <a:stretch>
                  <a:fillRect l="-26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6CEC343-2604-4359-BDBE-225C44DBB2D6}"/>
                  </a:ext>
                </a:extLst>
              </p:cNvPr>
              <p:cNvSpPr/>
              <p:nvPr/>
            </p:nvSpPr>
            <p:spPr>
              <a:xfrm>
                <a:off x="3508024" y="4727121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6CEC343-2604-4359-BDBE-225C44DBB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024" y="4727121"/>
                <a:ext cx="46532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B328D9E-33F7-4313-A6E4-E74D9B8411DB}"/>
                  </a:ext>
                </a:extLst>
              </p:cNvPr>
              <p:cNvSpPr/>
              <p:nvPr/>
            </p:nvSpPr>
            <p:spPr>
              <a:xfrm>
                <a:off x="4497321" y="4751615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B328D9E-33F7-4313-A6E4-E74D9B841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321" y="4751615"/>
                <a:ext cx="45230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B87FBDF0-80D1-4443-866E-93723E43119B}"/>
              </a:ext>
            </a:extLst>
          </p:cNvPr>
          <p:cNvSpPr/>
          <p:nvPr/>
        </p:nvSpPr>
        <p:spPr>
          <a:xfrm>
            <a:off x="4358983" y="35269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D980F4-2E4E-4E00-8148-3EA5F687D524}"/>
              </a:ext>
            </a:extLst>
          </p:cNvPr>
          <p:cNvSpPr/>
          <p:nvPr/>
        </p:nvSpPr>
        <p:spPr>
          <a:xfrm>
            <a:off x="2470120" y="4286250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D2AAE2-C9BA-4C40-8327-92C7C48C37D5}"/>
              </a:ext>
            </a:extLst>
          </p:cNvPr>
          <p:cNvSpPr/>
          <p:nvPr/>
        </p:nvSpPr>
        <p:spPr>
          <a:xfrm>
            <a:off x="1512178" y="4286249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30C93A-CAB7-4ACE-AC05-A56B02686A02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2208863" y="3820885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F45DB2-4C1A-4439-8154-B59A10F79A0D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704039" y="3820885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1894764-2754-4AE1-B6DA-EBAFAB1DABAF}"/>
                  </a:ext>
                </a:extLst>
              </p:cNvPr>
              <p:cNvSpPr/>
              <p:nvPr/>
            </p:nvSpPr>
            <p:spPr>
              <a:xfrm>
                <a:off x="1996593" y="3608614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1894764-2754-4AE1-B6DA-EBAFAB1DAB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593" y="3608614"/>
                <a:ext cx="432707" cy="432707"/>
              </a:xfrm>
              <a:prstGeom prst="ellipse">
                <a:avLst/>
              </a:prstGeom>
              <a:blipFill>
                <a:blip r:embed="rId14"/>
                <a:stretch>
                  <a:fillRect l="-394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A4169D-4A2F-4816-A5F3-CCBDC615DDE3}"/>
                  </a:ext>
                </a:extLst>
              </p:cNvPr>
              <p:cNvSpPr/>
              <p:nvPr/>
            </p:nvSpPr>
            <p:spPr>
              <a:xfrm>
                <a:off x="1541996" y="4727121"/>
                <a:ext cx="465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A4169D-4A2F-4816-A5F3-CCBDC615D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996" y="4727121"/>
                <a:ext cx="46532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FF1EBB0-AF51-48BE-AE57-2E87C137C054}"/>
                  </a:ext>
                </a:extLst>
              </p:cNvPr>
              <p:cNvSpPr/>
              <p:nvPr/>
            </p:nvSpPr>
            <p:spPr>
              <a:xfrm>
                <a:off x="2531293" y="4751615"/>
                <a:ext cx="45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FF1EBB0-AF51-48BE-AE57-2E87C137C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293" y="4751615"/>
                <a:ext cx="45230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99E3C935-08BC-4E87-AF2A-D2654F76A1B0}"/>
              </a:ext>
            </a:extLst>
          </p:cNvPr>
          <p:cNvSpPr/>
          <p:nvPr/>
        </p:nvSpPr>
        <p:spPr>
          <a:xfrm>
            <a:off x="2392955" y="35269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B155FE-F8BF-4737-B944-BEC88E100BD5}"/>
              </a:ext>
            </a:extLst>
          </p:cNvPr>
          <p:cNvSpPr/>
          <p:nvPr/>
        </p:nvSpPr>
        <p:spPr>
          <a:xfrm>
            <a:off x="6795408" y="3573234"/>
            <a:ext cx="383721" cy="38372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448CC6B-F8B7-4FCA-BA7C-91ADD4E98982}"/>
                  </a:ext>
                </a:extLst>
              </p:cNvPr>
              <p:cNvSpPr/>
              <p:nvPr/>
            </p:nvSpPr>
            <p:spPr>
              <a:xfrm>
                <a:off x="6825226" y="4014106"/>
                <a:ext cx="4383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448CC6B-F8B7-4FCA-BA7C-91ADD4E989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226" y="4014106"/>
                <a:ext cx="4383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73FA4BA-5F6F-4F73-B1DA-333872A1DCB5}"/>
              </a:ext>
            </a:extLst>
          </p:cNvPr>
          <p:cNvCxnSpPr/>
          <p:nvPr/>
        </p:nvCxnSpPr>
        <p:spPr>
          <a:xfrm flipH="1" flipV="1">
            <a:off x="7483928" y="3148690"/>
            <a:ext cx="453118" cy="4653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82B075-7229-45FF-89EB-E27E3B123146}"/>
              </a:ext>
            </a:extLst>
          </p:cNvPr>
          <p:cNvCxnSpPr>
            <a:cxnSpLocks/>
          </p:cNvCxnSpPr>
          <p:nvPr/>
        </p:nvCxnSpPr>
        <p:spPr>
          <a:xfrm flipV="1">
            <a:off x="6979104" y="3099706"/>
            <a:ext cx="504824" cy="4653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00B7892-890A-44F5-B53F-62F148978605}"/>
                  </a:ext>
                </a:extLst>
              </p:cNvPr>
              <p:cNvSpPr/>
              <p:nvPr/>
            </p:nvSpPr>
            <p:spPr>
              <a:xfrm>
                <a:off x="7271658" y="2862943"/>
                <a:ext cx="432707" cy="4327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00B7892-890A-44F5-B53F-62F1489786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658" y="2862943"/>
                <a:ext cx="432707" cy="432707"/>
              </a:xfrm>
              <a:prstGeom prst="ellipse">
                <a:avLst/>
              </a:prstGeom>
              <a:blipFill>
                <a:blip r:embed="rId18"/>
                <a:stretch>
                  <a:fillRect l="-3947" b="-131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B1BF3000-414A-44F1-BDC0-0356BE6567AE}"/>
              </a:ext>
            </a:extLst>
          </p:cNvPr>
          <p:cNvSpPr/>
          <p:nvPr/>
        </p:nvSpPr>
        <p:spPr>
          <a:xfrm>
            <a:off x="7668020" y="2781299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4146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5D51-5854-405A-90D9-A6396581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90EC8C-01F9-4623-A539-9AEDF2CDA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2800350" y="1786717"/>
            <a:ext cx="6694632" cy="4747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31ED7-57FB-4C96-8C4A-2A43F3C4D58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47/48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0322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EA92E-D77C-4BC4-9D4C-9AED79241C9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48/48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194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13518</TotalTime>
  <Words>2595</Words>
  <Application>Microsoft Office PowerPoint</Application>
  <PresentationFormat>Widescreen</PresentationFormat>
  <Paragraphs>1079</Paragraphs>
  <Slides>48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游ゴシック</vt:lpstr>
      <vt:lpstr>Arial Rounded MT Bold</vt:lpstr>
      <vt:lpstr>Calibri</vt:lpstr>
      <vt:lpstr>Cambria Math</vt:lpstr>
      <vt:lpstr>Consolas</vt:lpstr>
      <vt:lpstr>Corbel</vt:lpstr>
      <vt:lpstr>Gill Sans MT</vt:lpstr>
      <vt:lpstr>Tahoma</vt:lpstr>
      <vt:lpstr>Wingdings 2</vt:lpstr>
      <vt:lpstr>Dividend</vt:lpstr>
      <vt:lpstr>Greedy Algorithms</vt:lpstr>
      <vt:lpstr>Greedy Approach</vt:lpstr>
      <vt:lpstr>Introduction</vt:lpstr>
      <vt:lpstr>Introduction</vt:lpstr>
      <vt:lpstr>Introduction</vt:lpstr>
      <vt:lpstr>Greedy Approach</vt:lpstr>
      <vt:lpstr>Knapsack problem</vt:lpstr>
      <vt:lpstr>0,1-Knapsack</vt:lpstr>
      <vt:lpstr>0,1-Knapsack</vt:lpstr>
      <vt:lpstr>0,1-Knapsack</vt:lpstr>
      <vt:lpstr>0,1-Knapsack</vt:lpstr>
      <vt:lpstr>0,1-Knapsack</vt:lpstr>
      <vt:lpstr>Fractional Knapsack</vt:lpstr>
      <vt:lpstr>Algorithm</vt:lpstr>
      <vt:lpstr>Text Compression and Huffman Coding</vt:lpstr>
      <vt:lpstr>Text Compression and Huffman Coding</vt:lpstr>
      <vt:lpstr>Text Compression and Huffman Coding</vt:lpstr>
      <vt:lpstr>Text Compression and Huffman Coding</vt:lpstr>
      <vt:lpstr>Text Compression and Huffman Coding</vt:lpstr>
      <vt:lpstr>Text Compression and Huffman Coding</vt:lpstr>
      <vt:lpstr>Huffman Coding</vt:lpstr>
      <vt:lpstr>Example</vt:lpstr>
      <vt:lpstr>Example</vt:lpstr>
      <vt:lpstr>Example</vt:lpstr>
      <vt:lpstr>Example</vt:lpstr>
      <vt:lpstr>Example</vt:lpstr>
      <vt:lpstr>Questions!</vt:lpstr>
      <vt:lpstr>Example</vt:lpstr>
      <vt:lpstr>Example</vt:lpstr>
      <vt:lpstr>Example</vt:lpstr>
      <vt:lpstr>Example</vt:lpstr>
      <vt:lpstr>Example</vt:lpstr>
      <vt:lpstr>Example</vt:lpstr>
      <vt:lpstr>Example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Construct a Huffman tree </vt:lpstr>
      <vt:lpstr>Example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473</cp:revision>
  <dcterms:created xsi:type="dcterms:W3CDTF">2020-09-14T20:12:04Z</dcterms:created>
  <dcterms:modified xsi:type="dcterms:W3CDTF">2025-11-23T13:39:50Z</dcterms:modified>
</cp:coreProperties>
</file>